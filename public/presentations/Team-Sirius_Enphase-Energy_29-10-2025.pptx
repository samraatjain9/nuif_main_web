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79" r:id="rId4"/>
    <p:sldId id="275" r:id="rId5"/>
    <p:sldId id="274" r:id="rId6"/>
    <p:sldId id="271" r:id="rId7"/>
    <p:sldId id="273" r:id="rId8"/>
    <p:sldId id="261" r:id="rId9"/>
    <p:sldId id="276" r:id="rId10"/>
    <p:sldId id="259" r:id="rId11"/>
    <p:sldId id="277" r:id="rId12"/>
    <p:sldId id="266" r:id="rId13"/>
    <p:sldId id="267" r:id="rId14"/>
    <p:sldId id="268" r:id="rId15"/>
    <p:sldId id="269" r:id="rId16"/>
    <p:sldId id="270" r:id="rId17"/>
    <p:sldId id="272" r:id="rId18"/>
    <p:sldId id="281" r:id="rId19"/>
  </p:sldIdLst>
  <p:sldSz cx="18288000" cy="10287000"/>
  <p:notesSz cx="6858000" cy="9144000"/>
  <p:embeddedFontLst>
    <p:embeddedFont>
      <p:font typeface="Cormorant Garamond" pitchFamily="2" charset="77"/>
      <p:regular r:id="rId21"/>
    </p:embeddedFont>
    <p:embeddedFont>
      <p:font typeface="Montserrat" pitchFamily="2" charset="77"/>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8"/>
    <p:restoredTop sz="94694"/>
  </p:normalViewPr>
  <p:slideViewPr>
    <p:cSldViewPr snapToGrid="0">
      <p:cViewPr varScale="1">
        <p:scale>
          <a:sx n="80" d="100"/>
          <a:sy n="80" d="100"/>
        </p:scale>
        <p:origin x="632" y="2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oleObject" Target="https://newcastle-my.sharepoint.com/personal/c2016467_newcastle_ac_uk/Documents/Enphase%20DCF%20-%20Deniz.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georgechatterton/Downloads/Team%20Sirius%20DCF%20-%20Enphase.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030938320209973"/>
          <c:y val="0.60895312499999998"/>
          <c:w val="0.16646464895013124"/>
          <c:h val="0.24969697342519687"/>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00D-4B0B-88BE-6A00DE1A913F}"/>
              </c:ext>
            </c:extLst>
          </c:dPt>
          <c:dPt>
            <c:idx val="1"/>
            <c:bubble3D val="0"/>
            <c:spPr>
              <a:solidFill>
                <a:schemeClr val="tx2">
                  <a:lumMod val="20000"/>
                  <a:lumOff val="80000"/>
                </a:schemeClr>
              </a:solidFill>
              <a:ln w="19050">
                <a:solidFill>
                  <a:schemeClr val="lt1"/>
                </a:solidFill>
              </a:ln>
              <a:effectLst/>
            </c:spPr>
            <c:extLst>
              <c:ext xmlns:c16="http://schemas.microsoft.com/office/drawing/2014/chart" uri="{C3380CC4-5D6E-409C-BE32-E72D297353CC}">
                <c16:uniqueId val="{00000003-100D-4B0B-88BE-6A00DE1A913F}"/>
              </c:ext>
            </c:extLst>
          </c:dPt>
          <c:dPt>
            <c:idx val="2"/>
            <c:bubble3D val="0"/>
            <c:spPr>
              <a:solidFill>
                <a:schemeClr val="tx2">
                  <a:lumMod val="40000"/>
                  <a:lumOff val="60000"/>
                </a:schemeClr>
              </a:solidFill>
              <a:ln w="19050">
                <a:solidFill>
                  <a:schemeClr val="lt1"/>
                </a:solidFill>
              </a:ln>
              <a:effectLst/>
            </c:spPr>
            <c:extLst>
              <c:ext xmlns:c16="http://schemas.microsoft.com/office/drawing/2014/chart" uri="{C3380CC4-5D6E-409C-BE32-E72D297353CC}">
                <c16:uniqueId val="{00000005-100D-4B0B-88BE-6A00DE1A913F}"/>
              </c:ext>
            </c:extLst>
          </c:dPt>
          <c:cat>
            <c:strRef>
              <c:f>Sheet1!$A$2:$A$4</c:f>
              <c:strCache>
                <c:ptCount val="3"/>
                <c:pt idx="0">
                  <c:v>USA</c:v>
                </c:pt>
                <c:pt idx="1">
                  <c:v>Europe </c:v>
                </c:pt>
                <c:pt idx="2">
                  <c:v>Rest of World </c:v>
                </c:pt>
              </c:strCache>
            </c:strRef>
          </c:cat>
          <c:val>
            <c:numRef>
              <c:f>Sheet1!$B$2:$B$4</c:f>
              <c:numCache>
                <c:formatCode>General</c:formatCode>
                <c:ptCount val="3"/>
                <c:pt idx="0">
                  <c:v>70.3</c:v>
                </c:pt>
                <c:pt idx="1">
                  <c:v>11</c:v>
                </c:pt>
                <c:pt idx="2">
                  <c:v>18.7</c:v>
                </c:pt>
              </c:numCache>
            </c:numRef>
          </c:val>
          <c:extLst>
            <c:ext xmlns:c16="http://schemas.microsoft.com/office/drawing/2014/chart" uri="{C3380CC4-5D6E-409C-BE32-E72D297353CC}">
              <c16:uniqueId val="{00000006-100D-4B0B-88BE-6A00DE1A913F}"/>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2209265091863517"/>
          <c:y val="0.86802509842519671"/>
          <c:w val="0.18418864829396325"/>
          <c:h val="3.1974901574803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n-GB"/>
              <a:t>Total (cumulative) active capacity in queues</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n-US"/>
        </a:p>
      </c:txPr>
    </c:title>
    <c:autoTitleDeleted val="0"/>
    <c:plotArea>
      <c:layout/>
      <c:barChart>
        <c:barDir val="col"/>
        <c:grouping val="stacked"/>
        <c:varyColors val="0"/>
        <c:ser>
          <c:idx val="0"/>
          <c:order val="0"/>
          <c:tx>
            <c:strRef>
              <c:f>Graphs!$B$27</c:f>
              <c:strCache>
                <c:ptCount val="1"/>
                <c:pt idx="0">
                  <c:v>Entered queues in year shown</c:v>
                </c:pt>
              </c:strCache>
            </c:strRef>
          </c:tx>
          <c:spPr>
            <a:solidFill>
              <a:schemeClr val="accent5">
                <a:lumMod val="60000"/>
                <a:lumOff val="40000"/>
              </a:schemeClr>
            </a:solidFill>
            <a:ln>
              <a:noFill/>
            </a:ln>
            <a:effectLst/>
          </c:spPr>
          <c:invertIfNegative val="0"/>
          <c:dLbls>
            <c:dLbl>
              <c:idx val="0"/>
              <c:layout>
                <c:manualLayout>
                  <c:x val="0"/>
                  <c:y val="-7.87037037037037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85F-40E7-80D6-FFB71F82B10C}"/>
                </c:ext>
              </c:extLst>
            </c:dLbl>
            <c:dLbl>
              <c:idx val="1"/>
              <c:layout>
                <c:manualLayout>
                  <c:x val="0"/>
                  <c:y val="-8.79629629629630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85F-40E7-80D6-FFB71F82B10C}"/>
                </c:ext>
              </c:extLst>
            </c:dLbl>
            <c:dLbl>
              <c:idx val="2"/>
              <c:layout>
                <c:manualLayout>
                  <c:x val="-5.1039842370311005E-17"/>
                  <c:y val="-8.33333333333334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85F-40E7-80D6-FFB71F82B10C}"/>
                </c:ext>
              </c:extLst>
            </c:dLbl>
            <c:dLbl>
              <c:idx val="3"/>
              <c:layout>
                <c:manualLayout>
                  <c:x val="-5.1039842370311005E-17"/>
                  <c:y val="-9.72222222222222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85F-40E7-80D6-FFB71F82B10C}"/>
                </c:ext>
              </c:extLst>
            </c:dLbl>
            <c:dLbl>
              <c:idx val="4"/>
              <c:layout>
                <c:manualLayout>
                  <c:x val="1.7900136407496183E-3"/>
                  <c:y val="-0.1302546757989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85F-40E7-80D6-FFB71F82B10C}"/>
                </c:ext>
              </c:extLst>
            </c:dLbl>
            <c:dLbl>
              <c:idx val="5"/>
              <c:layout>
                <c:manualLayout>
                  <c:x val="0"/>
                  <c:y val="-0.151400375475308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85F-40E7-80D6-FFB71F82B10C}"/>
                </c:ext>
              </c:extLst>
            </c:dLbl>
            <c:dLbl>
              <c:idx val="6"/>
              <c:layout>
                <c:manualLayout>
                  <c:x val="0"/>
                  <c:y val="-0.187436233910088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85F-40E7-80D6-FFB71F82B10C}"/>
                </c:ext>
              </c:extLst>
            </c:dLbl>
            <c:dLbl>
              <c:idx val="7"/>
              <c:layout>
                <c:manualLayout>
                  <c:x val="1.7900136407496183E-3"/>
                  <c:y val="-0.2502487788195584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85F-40E7-80D6-FFB71F82B10C}"/>
                </c:ext>
              </c:extLst>
            </c:dLbl>
            <c:dLbl>
              <c:idx val="8"/>
              <c:layout>
                <c:manualLayout>
                  <c:x val="-1.3126615059053234E-16"/>
                  <c:y val="-0.367615811790358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85F-40E7-80D6-FFB71F82B10C}"/>
                </c:ext>
              </c:extLst>
            </c:dLbl>
            <c:dLbl>
              <c:idx val="9"/>
              <c:layout>
                <c:manualLayout>
                  <c:x val="-1.7900136407496183E-3"/>
                  <c:y val="-0.4680901700724294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85F-40E7-80D6-FFB71F82B10C}"/>
                </c:ext>
              </c:extLst>
            </c:dLbl>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Graphs!$A$28:$A$37</c:f>
              <c:numCache>
                <c:formatCode>General</c:formatCode>
                <c:ptCount val="10"/>
                <c:pt idx="0">
                  <c:v>2014</c:v>
                </c:pt>
                <c:pt idx="1">
                  <c:v>2015</c:v>
                </c:pt>
                <c:pt idx="2">
                  <c:v>2016</c:v>
                </c:pt>
                <c:pt idx="3">
                  <c:v>2017</c:v>
                </c:pt>
                <c:pt idx="4">
                  <c:v>2018</c:v>
                </c:pt>
                <c:pt idx="5">
                  <c:v>2019</c:v>
                </c:pt>
                <c:pt idx="6">
                  <c:v>2020</c:v>
                </c:pt>
                <c:pt idx="7">
                  <c:v>2021</c:v>
                </c:pt>
                <c:pt idx="8">
                  <c:v>2022</c:v>
                </c:pt>
                <c:pt idx="9">
                  <c:v>2023</c:v>
                </c:pt>
              </c:numCache>
            </c:numRef>
          </c:cat>
          <c:val>
            <c:numRef>
              <c:f>Graphs!$B$28:$B$37</c:f>
              <c:numCache>
                <c:formatCode>General</c:formatCode>
                <c:ptCount val="10"/>
                <c:pt idx="0">
                  <c:v>127</c:v>
                </c:pt>
                <c:pt idx="1">
                  <c:v>136</c:v>
                </c:pt>
                <c:pt idx="2">
                  <c:v>202</c:v>
                </c:pt>
                <c:pt idx="3">
                  <c:v>234</c:v>
                </c:pt>
                <c:pt idx="4">
                  <c:v>277</c:v>
                </c:pt>
                <c:pt idx="5">
                  <c:v>299</c:v>
                </c:pt>
                <c:pt idx="6">
                  <c:v>349</c:v>
                </c:pt>
                <c:pt idx="7">
                  <c:v>561</c:v>
                </c:pt>
                <c:pt idx="8">
                  <c:v>759</c:v>
                </c:pt>
                <c:pt idx="9">
                  <c:v>908</c:v>
                </c:pt>
              </c:numCache>
            </c:numRef>
          </c:val>
          <c:extLst>
            <c:ext xmlns:c16="http://schemas.microsoft.com/office/drawing/2014/chart" uri="{C3380CC4-5D6E-409C-BE32-E72D297353CC}">
              <c16:uniqueId val="{0000000A-485F-40E7-80D6-FFB71F82B10C}"/>
            </c:ext>
          </c:extLst>
        </c:ser>
        <c:ser>
          <c:idx val="1"/>
          <c:order val="1"/>
          <c:tx>
            <c:strRef>
              <c:f>Graphs!$C$27</c:f>
              <c:strCache>
                <c:ptCount val="1"/>
                <c:pt idx="0">
                  <c:v>Entered queues in earlier year</c:v>
                </c:pt>
              </c:strCache>
            </c:strRef>
          </c:tx>
          <c:spPr>
            <a:solidFill>
              <a:schemeClr val="accent5">
                <a:lumMod val="50000"/>
              </a:schemeClr>
            </a:solidFill>
            <a:ln>
              <a:noFill/>
            </a:ln>
            <a:effectLst/>
          </c:spPr>
          <c:invertIfNegative val="0"/>
          <c:dLbls>
            <c:dLbl>
              <c:idx val="0"/>
              <c:layout>
                <c:manualLayout>
                  <c:x val="0"/>
                  <c:y val="-0.1064814814814815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85F-40E7-80D6-FFB71F82B10C}"/>
                </c:ext>
              </c:extLst>
            </c:dLbl>
            <c:dLbl>
              <c:idx val="1"/>
              <c:layout>
                <c:manualLayout>
                  <c:x val="-2.7840235629232072E-3"/>
                  <c:y val="-0.106481481481481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85F-40E7-80D6-FFB71F82B10C}"/>
                </c:ext>
              </c:extLst>
            </c:dLbl>
            <c:dLbl>
              <c:idx val="2"/>
              <c:layout>
                <c:manualLayout>
                  <c:x val="-5.1039842370311005E-17"/>
                  <c:y val="-0.1064814814814814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85F-40E7-80D6-FFB71F82B10C}"/>
                </c:ext>
              </c:extLst>
            </c:dLbl>
            <c:dLbl>
              <c:idx val="3"/>
              <c:layout>
                <c:manualLayout>
                  <c:x val="-5.1039842370311005E-17"/>
                  <c:y val="-0.1157407407407407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85F-40E7-80D6-FFB71F82B10C}"/>
                </c:ext>
              </c:extLst>
            </c:dLbl>
            <c:dLbl>
              <c:idx val="4"/>
              <c:layout>
                <c:manualLayout>
                  <c:x val="0"/>
                  <c:y val="-0.1157407407407407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85F-40E7-80D6-FFB71F82B10C}"/>
                </c:ext>
              </c:extLst>
            </c:dLbl>
            <c:dLbl>
              <c:idx val="5"/>
              <c:layout>
                <c:manualLayout>
                  <c:x val="-9.9395088146191405E-4"/>
                  <c:y val="-0.1296295502667497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85F-40E7-80D6-FFB71F82B10C}"/>
                </c:ext>
              </c:extLst>
            </c:dLbl>
            <c:dLbl>
              <c:idx val="6"/>
              <c:layout>
                <c:manualLayout>
                  <c:x val="0"/>
                  <c:y val="-0.1388888888888889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85F-40E7-80D6-FFB71F82B10C}"/>
                </c:ext>
              </c:extLst>
            </c:dLbl>
            <c:dLbl>
              <c:idx val="7"/>
              <c:layout>
                <c:manualLayout>
                  <c:x val="2.5860764000373224E-3"/>
                  <c:y val="-0.147523054361064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85F-40E7-80D6-FFB71F82B10C}"/>
                </c:ext>
              </c:extLst>
            </c:dLbl>
            <c:dLbl>
              <c:idx val="8"/>
              <c:layout>
                <c:manualLayout>
                  <c:x val="0"/>
                  <c:y val="-0.2083333333333333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85F-40E7-80D6-FFB71F82B10C}"/>
                </c:ext>
              </c:extLst>
            </c:dLbl>
            <c:dLbl>
              <c:idx val="9"/>
              <c:layout>
                <c:manualLayout>
                  <c:x val="-2.7840235629232072E-3"/>
                  <c:y val="-0.2453703703703703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85F-40E7-80D6-FFB71F82B10C}"/>
                </c:ext>
              </c:extLst>
            </c:dLbl>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Graphs!$A$28:$A$37</c:f>
              <c:numCache>
                <c:formatCode>General</c:formatCode>
                <c:ptCount val="10"/>
                <c:pt idx="0">
                  <c:v>2014</c:v>
                </c:pt>
                <c:pt idx="1">
                  <c:v>2015</c:v>
                </c:pt>
                <c:pt idx="2">
                  <c:v>2016</c:v>
                </c:pt>
                <c:pt idx="3">
                  <c:v>2017</c:v>
                </c:pt>
                <c:pt idx="4">
                  <c:v>2018</c:v>
                </c:pt>
                <c:pt idx="5">
                  <c:v>2019</c:v>
                </c:pt>
                <c:pt idx="6">
                  <c:v>2020</c:v>
                </c:pt>
                <c:pt idx="7">
                  <c:v>2021</c:v>
                </c:pt>
                <c:pt idx="8">
                  <c:v>2022</c:v>
                </c:pt>
                <c:pt idx="9">
                  <c:v>2023</c:v>
                </c:pt>
              </c:numCache>
            </c:numRef>
          </c:cat>
          <c:val>
            <c:numRef>
              <c:f>Graphs!$C$28:$C$37</c:f>
              <c:numCache>
                <c:formatCode>General</c:formatCode>
                <c:ptCount val="10"/>
                <c:pt idx="0">
                  <c:v>198</c:v>
                </c:pt>
                <c:pt idx="1">
                  <c:v>227</c:v>
                </c:pt>
                <c:pt idx="2">
                  <c:v>219</c:v>
                </c:pt>
                <c:pt idx="3">
                  <c:v>272</c:v>
                </c:pt>
                <c:pt idx="4">
                  <c:v>362</c:v>
                </c:pt>
                <c:pt idx="5">
                  <c:v>434</c:v>
                </c:pt>
                <c:pt idx="6">
                  <c:v>613</c:v>
                </c:pt>
                <c:pt idx="7">
                  <c:v>810</c:v>
                </c:pt>
                <c:pt idx="8">
                  <c:v>1282</c:v>
                </c:pt>
                <c:pt idx="9">
                  <c:v>1690</c:v>
                </c:pt>
              </c:numCache>
            </c:numRef>
          </c:val>
          <c:extLst>
            <c:ext xmlns:c16="http://schemas.microsoft.com/office/drawing/2014/chart" uri="{C3380CC4-5D6E-409C-BE32-E72D297353CC}">
              <c16:uniqueId val="{00000015-485F-40E7-80D6-FFB71F82B10C}"/>
            </c:ext>
          </c:extLst>
        </c:ser>
        <c:dLbls>
          <c:showLegendKey val="0"/>
          <c:showVal val="1"/>
          <c:showCatName val="0"/>
          <c:showSerName val="0"/>
          <c:showPercent val="0"/>
          <c:showBubbleSize val="0"/>
        </c:dLbls>
        <c:gapWidth val="150"/>
        <c:overlap val="100"/>
        <c:axId val="1369120584"/>
        <c:axId val="1369122024"/>
      </c:barChart>
      <c:catAx>
        <c:axId val="1369120584"/>
        <c:scaling>
          <c:orientation val="minMax"/>
        </c:scaling>
        <c:delete val="0"/>
        <c:axPos val="b"/>
        <c:title>
          <c:tx>
            <c:rich>
              <a:bodyPr rot="0" spcFirstLastPara="1" vertOverflow="ellipsis" vert="horz" wrap="square" anchor="ctr" anchorCtr="1"/>
              <a:lstStyle/>
              <a:p>
                <a:pPr>
                  <a:defRPr sz="1000" b="0" i="0" u="none" strike="noStrike" kern="1200" baseline="0">
                    <a:solidFill>
                      <a:srgbClr val="002060"/>
                    </a:solidFill>
                    <a:latin typeface="+mn-lt"/>
                    <a:ea typeface="+mn-ea"/>
                    <a:cs typeface="+mn-cs"/>
                  </a:defRPr>
                </a:pPr>
                <a:r>
                  <a:rPr lang="en-GB"/>
                  <a:t>Year</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0206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369122024"/>
        <c:crosses val="autoZero"/>
        <c:auto val="1"/>
        <c:lblAlgn val="ctr"/>
        <c:lblOffset val="100"/>
        <c:noMultiLvlLbl val="0"/>
      </c:catAx>
      <c:valAx>
        <c:axId val="1369122024"/>
        <c:scaling>
          <c:orientation val="minMax"/>
        </c:scaling>
        <c:delete val="0"/>
        <c:axPos val="l"/>
        <c:title>
          <c:tx>
            <c:rich>
              <a:bodyPr rot="-5400000" spcFirstLastPara="1" vertOverflow="ellipsis" vert="horz" wrap="square" anchor="ctr" anchorCtr="1"/>
              <a:lstStyle/>
              <a:p>
                <a:pPr>
                  <a:defRPr sz="1000" b="0" i="0" u="none" strike="noStrike" kern="1200" baseline="0">
                    <a:solidFill>
                      <a:srgbClr val="002060"/>
                    </a:solidFill>
                    <a:latin typeface="+mn-lt"/>
                    <a:ea typeface="+mn-ea"/>
                    <a:cs typeface="+mn-cs"/>
                  </a:defRPr>
                </a:pPr>
                <a:r>
                  <a:rPr lang="en-GB"/>
                  <a:t>Capacity (GW)</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00206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3691205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rgbClr val="002060"/>
          </a:solidFill>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n-GB"/>
              <a:t>EU Solar Capacity Deployment Projections</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n-US"/>
        </a:p>
      </c:txPr>
    </c:title>
    <c:autoTitleDeleted val="0"/>
    <c:plotArea>
      <c:layout/>
      <c:barChart>
        <c:barDir val="col"/>
        <c:grouping val="clustered"/>
        <c:varyColors val="0"/>
        <c:ser>
          <c:idx val="0"/>
          <c:order val="0"/>
          <c:tx>
            <c:strRef>
              <c:f>Sheet3!$A$11</c:f>
              <c:strCache>
                <c:ptCount val="1"/>
                <c:pt idx="0">
                  <c:v>Historical data</c:v>
                </c:pt>
              </c:strCache>
            </c:strRef>
          </c:tx>
          <c:spPr>
            <a:solidFill>
              <a:schemeClr val="accent1"/>
            </a:solidFill>
            <a:ln>
              <a:noFill/>
            </a:ln>
            <a:effectLst/>
          </c:spPr>
          <c:invertIfNegative val="0"/>
          <c:dPt>
            <c:idx val="0"/>
            <c:invertIfNegative val="0"/>
            <c:bubble3D val="0"/>
            <c:spPr>
              <a:solidFill>
                <a:schemeClr val="accent3"/>
              </a:solidFill>
              <a:ln>
                <a:noFill/>
              </a:ln>
              <a:effectLst/>
            </c:spPr>
            <c:extLst>
              <c:ext xmlns:c16="http://schemas.microsoft.com/office/drawing/2014/chart" uri="{C3380CC4-5D6E-409C-BE32-E72D297353CC}">
                <c16:uniqueId val="{00000001-2E31-4D3D-823B-B8812E252981}"/>
              </c:ext>
            </c:extLst>
          </c:dPt>
          <c:cat>
            <c:numRef>
              <c:f>Sheet3!$B$10:$F$10</c:f>
              <c:numCache>
                <c:formatCode>General</c:formatCode>
                <c:ptCount val="5"/>
                <c:pt idx="0">
                  <c:v>2024</c:v>
                </c:pt>
                <c:pt idx="1">
                  <c:v>2025</c:v>
                </c:pt>
                <c:pt idx="2">
                  <c:v>2026</c:v>
                </c:pt>
                <c:pt idx="3">
                  <c:v>2027</c:v>
                </c:pt>
                <c:pt idx="4">
                  <c:v>2028</c:v>
                </c:pt>
              </c:numCache>
            </c:numRef>
          </c:cat>
          <c:val>
            <c:numRef>
              <c:f>Sheet3!$B$11:$F$11</c:f>
              <c:numCache>
                <c:formatCode>General</c:formatCode>
                <c:ptCount val="5"/>
                <c:pt idx="0">
                  <c:v>65.5</c:v>
                </c:pt>
                <c:pt idx="1">
                  <c:v>0</c:v>
                </c:pt>
                <c:pt idx="2">
                  <c:v>0</c:v>
                </c:pt>
                <c:pt idx="3">
                  <c:v>0</c:v>
                </c:pt>
                <c:pt idx="4">
                  <c:v>0</c:v>
                </c:pt>
              </c:numCache>
            </c:numRef>
          </c:val>
          <c:extLst>
            <c:ext xmlns:c16="http://schemas.microsoft.com/office/drawing/2014/chart" uri="{C3380CC4-5D6E-409C-BE32-E72D297353CC}">
              <c16:uniqueId val="{00000002-2E31-4D3D-823B-B8812E252981}"/>
            </c:ext>
          </c:extLst>
        </c:ser>
        <c:ser>
          <c:idx val="1"/>
          <c:order val="1"/>
          <c:tx>
            <c:strRef>
              <c:f>Sheet3!$A$12</c:f>
              <c:strCache>
                <c:ptCount val="1"/>
                <c:pt idx="0">
                  <c:v>Low Scenario</c:v>
                </c:pt>
              </c:strCache>
            </c:strRef>
          </c:tx>
          <c:spPr>
            <a:solidFill>
              <a:schemeClr val="accent5">
                <a:lumMod val="50000"/>
              </a:schemeClr>
            </a:solidFill>
            <a:ln>
              <a:noFill/>
            </a:ln>
            <a:effectLst/>
          </c:spPr>
          <c:invertIfNegative val="0"/>
          <c:cat>
            <c:numRef>
              <c:f>Sheet3!$B$10:$F$10</c:f>
              <c:numCache>
                <c:formatCode>General</c:formatCode>
                <c:ptCount val="5"/>
                <c:pt idx="0">
                  <c:v>2024</c:v>
                </c:pt>
                <c:pt idx="1">
                  <c:v>2025</c:v>
                </c:pt>
                <c:pt idx="2">
                  <c:v>2026</c:v>
                </c:pt>
                <c:pt idx="3">
                  <c:v>2027</c:v>
                </c:pt>
                <c:pt idx="4">
                  <c:v>2028</c:v>
                </c:pt>
              </c:numCache>
            </c:numRef>
          </c:cat>
          <c:val>
            <c:numRef>
              <c:f>Sheet3!$B$12:$F$12</c:f>
              <c:numCache>
                <c:formatCode>General</c:formatCode>
                <c:ptCount val="5"/>
                <c:pt idx="0">
                  <c:v>0</c:v>
                </c:pt>
                <c:pt idx="1">
                  <c:v>54.3</c:v>
                </c:pt>
                <c:pt idx="2">
                  <c:v>53.6</c:v>
                </c:pt>
                <c:pt idx="3">
                  <c:v>52.4</c:v>
                </c:pt>
                <c:pt idx="4">
                  <c:v>51</c:v>
                </c:pt>
              </c:numCache>
            </c:numRef>
          </c:val>
          <c:extLst>
            <c:ext xmlns:c16="http://schemas.microsoft.com/office/drawing/2014/chart" uri="{C3380CC4-5D6E-409C-BE32-E72D297353CC}">
              <c16:uniqueId val="{00000003-2E31-4D3D-823B-B8812E252981}"/>
            </c:ext>
          </c:extLst>
        </c:ser>
        <c:ser>
          <c:idx val="2"/>
          <c:order val="2"/>
          <c:tx>
            <c:strRef>
              <c:f>Sheet3!$A$13</c:f>
              <c:strCache>
                <c:ptCount val="1"/>
                <c:pt idx="0">
                  <c:v>Medium Scenario</c:v>
                </c:pt>
              </c:strCache>
            </c:strRef>
          </c:tx>
          <c:spPr>
            <a:solidFill>
              <a:schemeClr val="accent5">
                <a:lumMod val="75000"/>
              </a:schemeClr>
            </a:solidFill>
            <a:ln>
              <a:noFill/>
            </a:ln>
            <a:effectLst/>
          </c:spPr>
          <c:invertIfNegative val="0"/>
          <c:cat>
            <c:numRef>
              <c:f>Sheet3!$B$10:$F$10</c:f>
              <c:numCache>
                <c:formatCode>General</c:formatCode>
                <c:ptCount val="5"/>
                <c:pt idx="0">
                  <c:v>2024</c:v>
                </c:pt>
                <c:pt idx="1">
                  <c:v>2025</c:v>
                </c:pt>
                <c:pt idx="2">
                  <c:v>2026</c:v>
                </c:pt>
                <c:pt idx="3">
                  <c:v>2027</c:v>
                </c:pt>
                <c:pt idx="4">
                  <c:v>2028</c:v>
                </c:pt>
              </c:numCache>
            </c:numRef>
          </c:cat>
          <c:val>
            <c:numRef>
              <c:f>Sheet3!$B$13:$F$13</c:f>
              <c:numCache>
                <c:formatCode>General</c:formatCode>
                <c:ptCount val="5"/>
                <c:pt idx="0">
                  <c:v>0</c:v>
                </c:pt>
                <c:pt idx="1">
                  <c:v>70</c:v>
                </c:pt>
                <c:pt idx="2">
                  <c:v>72.3</c:v>
                </c:pt>
                <c:pt idx="3">
                  <c:v>76.5</c:v>
                </c:pt>
                <c:pt idx="4">
                  <c:v>81.5</c:v>
                </c:pt>
              </c:numCache>
            </c:numRef>
          </c:val>
          <c:extLst>
            <c:ext xmlns:c16="http://schemas.microsoft.com/office/drawing/2014/chart" uri="{C3380CC4-5D6E-409C-BE32-E72D297353CC}">
              <c16:uniqueId val="{00000004-2E31-4D3D-823B-B8812E252981}"/>
            </c:ext>
          </c:extLst>
        </c:ser>
        <c:ser>
          <c:idx val="3"/>
          <c:order val="3"/>
          <c:tx>
            <c:strRef>
              <c:f>Sheet3!$A$14</c:f>
              <c:strCache>
                <c:ptCount val="1"/>
                <c:pt idx="0">
                  <c:v>High Scenario</c:v>
                </c:pt>
              </c:strCache>
            </c:strRef>
          </c:tx>
          <c:spPr>
            <a:solidFill>
              <a:schemeClr val="accent5">
                <a:lumMod val="60000"/>
                <a:lumOff val="40000"/>
              </a:schemeClr>
            </a:solidFill>
            <a:ln>
              <a:noFill/>
            </a:ln>
            <a:effectLst/>
          </c:spPr>
          <c:invertIfNegative val="0"/>
          <c:cat>
            <c:numRef>
              <c:f>Sheet3!$B$10:$F$10</c:f>
              <c:numCache>
                <c:formatCode>General</c:formatCode>
                <c:ptCount val="5"/>
                <c:pt idx="0">
                  <c:v>2024</c:v>
                </c:pt>
                <c:pt idx="1">
                  <c:v>2025</c:v>
                </c:pt>
                <c:pt idx="2">
                  <c:v>2026</c:v>
                </c:pt>
                <c:pt idx="3">
                  <c:v>2027</c:v>
                </c:pt>
                <c:pt idx="4">
                  <c:v>2028</c:v>
                </c:pt>
              </c:numCache>
            </c:numRef>
          </c:cat>
          <c:val>
            <c:numRef>
              <c:f>Sheet3!$B$14:$F$14</c:f>
              <c:numCache>
                <c:formatCode>General</c:formatCode>
                <c:ptCount val="5"/>
                <c:pt idx="0">
                  <c:v>0</c:v>
                </c:pt>
                <c:pt idx="1">
                  <c:v>81.400000000000006</c:v>
                </c:pt>
                <c:pt idx="2">
                  <c:v>89.5</c:v>
                </c:pt>
                <c:pt idx="3">
                  <c:v>98.9</c:v>
                </c:pt>
                <c:pt idx="4">
                  <c:v>112.2</c:v>
                </c:pt>
              </c:numCache>
            </c:numRef>
          </c:val>
          <c:extLst>
            <c:ext xmlns:c16="http://schemas.microsoft.com/office/drawing/2014/chart" uri="{C3380CC4-5D6E-409C-BE32-E72D297353CC}">
              <c16:uniqueId val="{00000005-2E31-4D3D-823B-B8812E252981}"/>
            </c:ext>
          </c:extLst>
        </c:ser>
        <c:dLbls>
          <c:showLegendKey val="0"/>
          <c:showVal val="0"/>
          <c:showCatName val="0"/>
          <c:showSerName val="0"/>
          <c:showPercent val="0"/>
          <c:showBubbleSize val="0"/>
        </c:dLbls>
        <c:gapWidth val="219"/>
        <c:overlap val="-27"/>
        <c:axId val="1329780384"/>
        <c:axId val="1329782904"/>
      </c:barChart>
      <c:catAx>
        <c:axId val="1329780384"/>
        <c:scaling>
          <c:orientation val="minMax"/>
        </c:scaling>
        <c:delete val="0"/>
        <c:axPos val="b"/>
        <c:title>
          <c:tx>
            <c:rich>
              <a:bodyPr rot="0" spcFirstLastPara="1" vertOverflow="ellipsis" vert="horz" wrap="square" anchor="ctr" anchorCtr="1"/>
              <a:lstStyle/>
              <a:p>
                <a:pPr>
                  <a:defRPr sz="1000" b="0" i="0" u="none" strike="noStrike" kern="1200" baseline="0">
                    <a:solidFill>
                      <a:srgbClr val="002060"/>
                    </a:solidFill>
                    <a:latin typeface="+mn-lt"/>
                    <a:ea typeface="+mn-ea"/>
                    <a:cs typeface="+mn-cs"/>
                  </a:defRPr>
                </a:pPr>
                <a:r>
                  <a:rPr lang="en-GB"/>
                  <a:t>Year</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0206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329782904"/>
        <c:crosses val="autoZero"/>
        <c:auto val="1"/>
        <c:lblAlgn val="ctr"/>
        <c:lblOffset val="100"/>
        <c:noMultiLvlLbl val="0"/>
      </c:catAx>
      <c:valAx>
        <c:axId val="1329782904"/>
        <c:scaling>
          <c:orientation val="minMax"/>
        </c:scaling>
        <c:delete val="0"/>
        <c:axPos val="l"/>
        <c:title>
          <c:tx>
            <c:rich>
              <a:bodyPr rot="-5400000" spcFirstLastPara="1" vertOverflow="ellipsis" vert="horz" wrap="square" anchor="ctr" anchorCtr="1"/>
              <a:lstStyle/>
              <a:p>
                <a:pPr>
                  <a:defRPr sz="1000" b="0" i="0" u="none" strike="noStrike" kern="1200" baseline="0">
                    <a:solidFill>
                      <a:srgbClr val="002060"/>
                    </a:solidFill>
                    <a:latin typeface="+mn-lt"/>
                    <a:ea typeface="+mn-ea"/>
                    <a:cs typeface="+mn-cs"/>
                  </a:defRPr>
                </a:pPr>
                <a:r>
                  <a:rPr lang="en-GB"/>
                  <a:t>GW</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00206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3297803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002060"/>
          </a:solidFill>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n-GB"/>
              <a:t>EV/EBITDA (LTM)</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n-US"/>
        </a:p>
      </c:txPr>
    </c:title>
    <c:autoTitleDeleted val="0"/>
    <c:plotArea>
      <c:layout/>
      <c:barChart>
        <c:barDir val="col"/>
        <c:grouping val="clustered"/>
        <c:varyColors val="0"/>
        <c:ser>
          <c:idx val="0"/>
          <c:order val="0"/>
          <c:tx>
            <c:strRef>
              <c:f>'[Enphase DCF.xlsx]PE Comps'!$C$19</c:f>
              <c:strCache>
                <c:ptCount val="1"/>
                <c:pt idx="0">
                  <c:v>EV/EBITDA</c:v>
                </c:pt>
              </c:strCache>
            </c:strRef>
          </c:tx>
          <c:spPr>
            <a:solidFill>
              <a:srgbClr val="002060"/>
            </a:solidFill>
            <a:ln>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206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'[1]PE Comps'!$A$20:$A$23</c:f>
              <c:strCache>
                <c:ptCount val="4"/>
                <c:pt idx="0">
                  <c:v>Enphase Energy Inc</c:v>
                </c:pt>
                <c:pt idx="1">
                  <c:v>Array Technologies Inc</c:v>
                </c:pt>
                <c:pt idx="2">
                  <c:v>First Solar Inc</c:v>
                </c:pt>
                <c:pt idx="3">
                  <c:v>Shoals Technologies Group-A</c:v>
                </c:pt>
              </c:strCache>
            </c:strRef>
          </c:cat>
          <c:val>
            <c:numRef>
              <c:f>'[1]PE Comps'!$C$20:$C$23</c:f>
              <c:numCache>
                <c:formatCode>0"x"</c:formatCode>
                <c:ptCount val="4"/>
                <c:pt idx="0">
                  <c:v>12.81</c:v>
                </c:pt>
                <c:pt idx="1">
                  <c:v>12.16</c:v>
                </c:pt>
                <c:pt idx="2">
                  <c:v>13.07</c:v>
                </c:pt>
                <c:pt idx="3">
                  <c:v>30.54</c:v>
                </c:pt>
              </c:numCache>
            </c:numRef>
          </c:val>
          <c:extLst>
            <c:ext xmlns:c16="http://schemas.microsoft.com/office/drawing/2014/chart" uri="{C3380CC4-5D6E-409C-BE32-E72D297353CC}">
              <c16:uniqueId val="{00000000-01F5-40CF-844A-54D0CA91BD26}"/>
            </c:ext>
          </c:extLst>
        </c:ser>
        <c:dLbls>
          <c:showLegendKey val="0"/>
          <c:showVal val="1"/>
          <c:showCatName val="0"/>
          <c:showSerName val="0"/>
          <c:showPercent val="0"/>
          <c:showBubbleSize val="0"/>
        </c:dLbls>
        <c:gapWidth val="219"/>
        <c:axId val="1241499856"/>
        <c:axId val="1118170400"/>
      </c:barChart>
      <c:lineChart>
        <c:grouping val="standard"/>
        <c:varyColors val="0"/>
        <c:ser>
          <c:idx val="1"/>
          <c:order val="1"/>
          <c:tx>
            <c:strRef>
              <c:f>'[Enphase DCF.xlsx]PE Comps'!$D$19</c:f>
              <c:strCache>
                <c:ptCount val="1"/>
                <c:pt idx="0">
                  <c:v>Median</c:v>
                </c:pt>
              </c:strCache>
            </c:strRef>
          </c:tx>
          <c:spPr>
            <a:ln w="15875" cap="rnd">
              <a:solidFill>
                <a:srgbClr val="0070C0"/>
              </a:solidFill>
              <a:prstDash val="sysDash"/>
              <a:round/>
            </a:ln>
            <a:effectLst/>
          </c:spPr>
          <c:marker>
            <c:symbol val="none"/>
          </c:marker>
          <c:dLbls>
            <c:delete val="1"/>
          </c:dLbls>
          <c:cat>
            <c:strRef>
              <c:f>'[1]PE Comps'!$A$20:$A$23</c:f>
              <c:strCache>
                <c:ptCount val="4"/>
                <c:pt idx="0">
                  <c:v>Enphase Energy Inc</c:v>
                </c:pt>
                <c:pt idx="1">
                  <c:v>Array Technologies Inc</c:v>
                </c:pt>
                <c:pt idx="2">
                  <c:v>First Solar Inc</c:v>
                </c:pt>
                <c:pt idx="3">
                  <c:v>Shoals Technologies Group-A</c:v>
                </c:pt>
              </c:strCache>
            </c:strRef>
          </c:cat>
          <c:val>
            <c:numRef>
              <c:f>'[1]PE Comps'!$D$20:$D$23</c:f>
              <c:numCache>
                <c:formatCode>0"x"</c:formatCode>
                <c:ptCount val="4"/>
                <c:pt idx="0">
                  <c:v>12.940000000000001</c:v>
                </c:pt>
                <c:pt idx="1">
                  <c:v>12.940000000000001</c:v>
                </c:pt>
                <c:pt idx="2">
                  <c:v>12.940000000000001</c:v>
                </c:pt>
                <c:pt idx="3">
                  <c:v>12.940000000000001</c:v>
                </c:pt>
              </c:numCache>
            </c:numRef>
          </c:val>
          <c:smooth val="0"/>
          <c:extLst>
            <c:ext xmlns:c16="http://schemas.microsoft.com/office/drawing/2014/chart" uri="{C3380CC4-5D6E-409C-BE32-E72D297353CC}">
              <c16:uniqueId val="{00000001-01F5-40CF-844A-54D0CA91BD26}"/>
            </c:ext>
          </c:extLst>
        </c:ser>
        <c:dLbls>
          <c:showLegendKey val="0"/>
          <c:showVal val="1"/>
          <c:showCatName val="0"/>
          <c:showSerName val="0"/>
          <c:showPercent val="0"/>
          <c:showBubbleSize val="0"/>
        </c:dLbls>
        <c:marker val="1"/>
        <c:smooth val="0"/>
        <c:axId val="1241499856"/>
        <c:axId val="1118170400"/>
      </c:lineChart>
      <c:catAx>
        <c:axId val="1241499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118170400"/>
        <c:crosses val="autoZero"/>
        <c:auto val="1"/>
        <c:lblAlgn val="ctr"/>
        <c:lblOffset val="100"/>
        <c:noMultiLvlLbl val="0"/>
      </c:catAx>
      <c:valAx>
        <c:axId val="1118170400"/>
        <c:scaling>
          <c:orientation val="minMax"/>
        </c:scaling>
        <c:delete val="0"/>
        <c:axPos val="l"/>
        <c:numFmt formatCode="0&quot;x&quot;"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2414998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00206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ln>
                  <a:noFill/>
                </a:ln>
                <a:solidFill>
                  <a:srgbClr val="002060"/>
                </a:solidFill>
                <a:latin typeface="+mn-lt"/>
                <a:ea typeface="+mn-ea"/>
                <a:cs typeface="+mn-cs"/>
              </a:defRPr>
            </a:pPr>
            <a:r>
              <a:rPr lang="en-GB" dirty="0">
                <a:ln>
                  <a:noFill/>
                </a:ln>
                <a:solidFill>
                  <a:srgbClr val="002060"/>
                </a:solidFill>
              </a:rPr>
              <a:t>P/E (LTM)</a:t>
            </a:r>
          </a:p>
        </c:rich>
      </c:tx>
      <c:overlay val="0"/>
      <c:spPr>
        <a:noFill/>
        <a:ln>
          <a:noFill/>
        </a:ln>
        <a:effectLst/>
      </c:spPr>
      <c:txPr>
        <a:bodyPr rot="0" spcFirstLastPara="1" vertOverflow="ellipsis" vert="horz" wrap="square" anchor="ctr" anchorCtr="1"/>
        <a:lstStyle/>
        <a:p>
          <a:pPr>
            <a:defRPr sz="1400" b="0" i="0" u="none" strike="noStrike" kern="1200" spc="0" baseline="0">
              <a:ln>
                <a:noFill/>
              </a:ln>
              <a:solidFill>
                <a:srgbClr val="002060"/>
              </a:solidFill>
              <a:latin typeface="+mn-lt"/>
              <a:ea typeface="+mn-ea"/>
              <a:cs typeface="+mn-cs"/>
            </a:defRPr>
          </a:pPr>
          <a:endParaRPr lang="en-US"/>
        </a:p>
      </c:txPr>
    </c:title>
    <c:autoTitleDeleted val="0"/>
    <c:plotArea>
      <c:layout/>
      <c:barChart>
        <c:barDir val="col"/>
        <c:grouping val="clustered"/>
        <c:varyColors val="0"/>
        <c:ser>
          <c:idx val="0"/>
          <c:order val="0"/>
          <c:tx>
            <c:strRef>
              <c:f>Comps!$D$1</c:f>
              <c:strCache>
                <c:ptCount val="1"/>
                <c:pt idx="0">
                  <c:v>PE</c:v>
                </c:pt>
              </c:strCache>
            </c:strRef>
          </c:tx>
          <c:spPr>
            <a:solidFill>
              <a:srgbClr val="002060"/>
            </a:solidFill>
            <a:ln>
              <a:solidFill>
                <a:srgbClr val="0070C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00206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Comps!$B$2:$B$5</c:f>
              <c:strCache>
                <c:ptCount val="4"/>
                <c:pt idx="0">
                  <c:v>Enphase Energy Inc</c:v>
                </c:pt>
                <c:pt idx="1">
                  <c:v>Array Technologies Inc</c:v>
                </c:pt>
                <c:pt idx="2">
                  <c:v>First Solar Inc</c:v>
                </c:pt>
                <c:pt idx="3">
                  <c:v>Shoals Technologies Group -A</c:v>
                </c:pt>
              </c:strCache>
            </c:strRef>
          </c:cat>
          <c:val>
            <c:numRef>
              <c:f>Comps!$D$2:$D$5</c:f>
              <c:numCache>
                <c:formatCode>0"x"</c:formatCode>
                <c:ptCount val="4"/>
                <c:pt idx="0">
                  <c:v>19.84</c:v>
                </c:pt>
                <c:pt idx="1">
                  <c:v>46.12</c:v>
                </c:pt>
                <c:pt idx="2">
                  <c:v>19.59</c:v>
                </c:pt>
                <c:pt idx="3">
                  <c:v>70.48</c:v>
                </c:pt>
              </c:numCache>
            </c:numRef>
          </c:val>
          <c:extLst>
            <c:ext xmlns:c16="http://schemas.microsoft.com/office/drawing/2014/chart" uri="{C3380CC4-5D6E-409C-BE32-E72D297353CC}">
              <c16:uniqueId val="{00000000-7737-734A-9F45-BF5332ED0B9C}"/>
            </c:ext>
          </c:extLst>
        </c:ser>
        <c:dLbls>
          <c:showLegendKey val="0"/>
          <c:showVal val="1"/>
          <c:showCatName val="0"/>
          <c:showSerName val="0"/>
          <c:showPercent val="0"/>
          <c:showBubbleSize val="0"/>
        </c:dLbls>
        <c:gapWidth val="219"/>
        <c:axId val="1150864848"/>
        <c:axId val="1150865208"/>
      </c:barChart>
      <c:lineChart>
        <c:grouping val="standard"/>
        <c:varyColors val="0"/>
        <c:ser>
          <c:idx val="1"/>
          <c:order val="1"/>
          <c:tx>
            <c:strRef>
              <c:f>Comps!$E$1</c:f>
              <c:strCache>
                <c:ptCount val="1"/>
                <c:pt idx="0">
                  <c:v>Median</c:v>
                </c:pt>
              </c:strCache>
            </c:strRef>
          </c:tx>
          <c:spPr>
            <a:ln w="15875" cap="rnd">
              <a:solidFill>
                <a:srgbClr val="0070C0"/>
              </a:solidFill>
              <a:prstDash val="sysDash"/>
              <a:round/>
            </a:ln>
            <a:effectLst/>
          </c:spPr>
          <c:marker>
            <c:symbol val="none"/>
          </c:marker>
          <c:dLbls>
            <c:delete val="1"/>
          </c:dLbls>
          <c:cat>
            <c:strRef>
              <c:f>Comps!$B$2:$B$5</c:f>
              <c:strCache>
                <c:ptCount val="4"/>
                <c:pt idx="0">
                  <c:v>Enphase Energy Inc</c:v>
                </c:pt>
                <c:pt idx="1">
                  <c:v>Array Technologies Inc</c:v>
                </c:pt>
                <c:pt idx="2">
                  <c:v>First Solar Inc</c:v>
                </c:pt>
                <c:pt idx="3">
                  <c:v>Shoals Technologies Group -A</c:v>
                </c:pt>
              </c:strCache>
            </c:strRef>
          </c:cat>
          <c:val>
            <c:numRef>
              <c:f>Comps!$E$2:$E$5</c:f>
              <c:numCache>
                <c:formatCode>0"x"</c:formatCode>
                <c:ptCount val="4"/>
                <c:pt idx="0">
                  <c:v>32.979999999999997</c:v>
                </c:pt>
                <c:pt idx="1">
                  <c:v>32.979999999999997</c:v>
                </c:pt>
                <c:pt idx="2">
                  <c:v>32.979999999999997</c:v>
                </c:pt>
                <c:pt idx="3">
                  <c:v>32.979999999999997</c:v>
                </c:pt>
              </c:numCache>
            </c:numRef>
          </c:val>
          <c:smooth val="0"/>
          <c:extLst>
            <c:ext xmlns:c16="http://schemas.microsoft.com/office/drawing/2014/chart" uri="{C3380CC4-5D6E-409C-BE32-E72D297353CC}">
              <c16:uniqueId val="{00000001-7737-734A-9F45-BF5332ED0B9C}"/>
            </c:ext>
          </c:extLst>
        </c:ser>
        <c:dLbls>
          <c:showLegendKey val="0"/>
          <c:showVal val="1"/>
          <c:showCatName val="0"/>
          <c:showSerName val="0"/>
          <c:showPercent val="0"/>
          <c:showBubbleSize val="0"/>
        </c:dLbls>
        <c:marker val="1"/>
        <c:smooth val="0"/>
        <c:axId val="1150864848"/>
        <c:axId val="1150865208"/>
      </c:lineChart>
      <c:catAx>
        <c:axId val="1150864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150865208"/>
        <c:crosses val="autoZero"/>
        <c:auto val="1"/>
        <c:lblAlgn val="ctr"/>
        <c:lblOffset val="100"/>
        <c:noMultiLvlLbl val="0"/>
      </c:catAx>
      <c:valAx>
        <c:axId val="1150865208"/>
        <c:scaling>
          <c:orientation val="minMax"/>
        </c:scaling>
        <c:delete val="0"/>
        <c:axPos val="l"/>
        <c:numFmt formatCode="0&quot;x&quot;"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crossAx val="11508648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575D32-BA50-4A00-9584-3B153FC9F6A4}"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GB"/>
        </a:p>
      </dgm:t>
    </dgm:pt>
    <dgm:pt modelId="{CE117DBE-B773-4CAE-BC08-63D2B08563BB}">
      <dgm:prSet phldrT="[Text]" phldr="0"/>
      <dgm:spPr>
        <a:solidFill>
          <a:srgbClr val="002060"/>
        </a:solidFill>
      </dgm:spPr>
      <dgm:t>
        <a:bodyPr/>
        <a:lstStyle/>
        <a:p>
          <a:r>
            <a:rPr lang="en-GB">
              <a:latin typeface="Times New Roman" panose="02020603050405020304" pitchFamily="18" charset="0"/>
              <a:cs typeface="Times New Roman" panose="02020603050405020304" pitchFamily="18" charset="0"/>
            </a:rPr>
            <a:t>Micro inverters </a:t>
          </a:r>
        </a:p>
      </dgm:t>
    </dgm:pt>
    <dgm:pt modelId="{1C0038D2-EF13-45A1-8989-0D361B0C0531}" type="parTrans" cxnId="{00DFEF8E-66E1-468B-BB4C-8716EEEDF53A}">
      <dgm:prSet/>
      <dgm:spPr/>
      <dgm:t>
        <a:bodyPr/>
        <a:lstStyle/>
        <a:p>
          <a:endParaRPr lang="en-GB"/>
        </a:p>
      </dgm:t>
    </dgm:pt>
    <dgm:pt modelId="{3FB7287D-89F8-4B40-A71E-58D0476C2759}" type="sibTrans" cxnId="{00DFEF8E-66E1-468B-BB4C-8716EEEDF53A}">
      <dgm:prSet/>
      <dgm:spPr>
        <a:ln>
          <a:solidFill>
            <a:srgbClr val="002060"/>
          </a:solidFill>
        </a:ln>
      </dgm:spPr>
      <dgm:t>
        <a:bodyPr/>
        <a:lstStyle/>
        <a:p>
          <a:endParaRPr lang="en-GB">
            <a:latin typeface="Times New Roman" panose="02020603050405020304" pitchFamily="18" charset="0"/>
            <a:cs typeface="Times New Roman" panose="02020603050405020304" pitchFamily="18" charset="0"/>
          </a:endParaRPr>
        </a:p>
      </dgm:t>
    </dgm:pt>
    <dgm:pt modelId="{759A80EF-6F56-4DD1-9C34-D1210D48BE25}">
      <dgm:prSet phldrT="[Text]" phldr="0"/>
      <dgm:spPr>
        <a:solidFill>
          <a:srgbClr val="002060"/>
        </a:solidFill>
      </dgm:spPr>
      <dgm:t>
        <a:bodyPr/>
        <a:lstStyle/>
        <a:p>
          <a:r>
            <a:rPr lang="en-GB">
              <a:latin typeface="Times New Roman" panose="02020603050405020304" pitchFamily="18" charset="0"/>
              <a:cs typeface="Times New Roman" panose="02020603050405020304" pitchFamily="18" charset="0"/>
            </a:rPr>
            <a:t>Home energy management software </a:t>
          </a:r>
        </a:p>
      </dgm:t>
    </dgm:pt>
    <dgm:pt modelId="{BA059853-2D00-480F-B198-F606F83D7B62}" type="parTrans" cxnId="{54702726-7959-431C-BCFB-092BB2416A9F}">
      <dgm:prSet/>
      <dgm:spPr/>
      <dgm:t>
        <a:bodyPr/>
        <a:lstStyle/>
        <a:p>
          <a:endParaRPr lang="en-GB"/>
        </a:p>
      </dgm:t>
    </dgm:pt>
    <dgm:pt modelId="{5C7E2236-7ABC-43DF-AF40-5CB4E7CD3509}" type="sibTrans" cxnId="{54702726-7959-431C-BCFB-092BB2416A9F}">
      <dgm:prSet/>
      <dgm:spPr>
        <a:ln>
          <a:solidFill>
            <a:srgbClr val="002060"/>
          </a:solidFill>
        </a:ln>
      </dgm:spPr>
      <dgm:t>
        <a:bodyPr/>
        <a:lstStyle/>
        <a:p>
          <a:endParaRPr lang="en-GB">
            <a:latin typeface="Times New Roman" panose="02020603050405020304" pitchFamily="18" charset="0"/>
            <a:cs typeface="Times New Roman" panose="02020603050405020304" pitchFamily="18" charset="0"/>
          </a:endParaRPr>
        </a:p>
      </dgm:t>
    </dgm:pt>
    <dgm:pt modelId="{400969D2-729D-4C9A-B7E0-D9B07A5AF4B4}">
      <dgm:prSet phldrT="[Text]" phldr="0"/>
      <dgm:spPr>
        <a:solidFill>
          <a:srgbClr val="002060"/>
        </a:solidFill>
      </dgm:spPr>
      <dgm:t>
        <a:bodyPr/>
        <a:lstStyle/>
        <a:p>
          <a:r>
            <a:rPr lang="en-GB">
              <a:latin typeface="Times New Roman" panose="02020603050405020304" pitchFamily="18" charset="0"/>
              <a:cs typeface="Times New Roman" panose="02020603050405020304" pitchFamily="18" charset="0"/>
            </a:rPr>
            <a:t>Accessory products</a:t>
          </a:r>
        </a:p>
      </dgm:t>
    </dgm:pt>
    <dgm:pt modelId="{1441127A-6A4B-4F69-9C72-DED59C5DAB81}" type="parTrans" cxnId="{1CB23E1B-EB8E-49B9-AC4F-8B8FD839938F}">
      <dgm:prSet/>
      <dgm:spPr/>
      <dgm:t>
        <a:bodyPr/>
        <a:lstStyle/>
        <a:p>
          <a:endParaRPr lang="en-GB"/>
        </a:p>
      </dgm:t>
    </dgm:pt>
    <dgm:pt modelId="{E1BFED8A-69DE-40C8-B64A-E2C5995250F9}" type="sibTrans" cxnId="{1CB23E1B-EB8E-49B9-AC4F-8B8FD839938F}">
      <dgm:prSet/>
      <dgm:spPr>
        <a:ln>
          <a:solidFill>
            <a:srgbClr val="002060"/>
          </a:solidFill>
        </a:ln>
      </dgm:spPr>
      <dgm:t>
        <a:bodyPr/>
        <a:lstStyle/>
        <a:p>
          <a:endParaRPr lang="en-GB">
            <a:latin typeface="Times New Roman" panose="02020603050405020304" pitchFamily="18" charset="0"/>
            <a:cs typeface="Times New Roman" panose="02020603050405020304" pitchFamily="18" charset="0"/>
          </a:endParaRPr>
        </a:p>
      </dgm:t>
    </dgm:pt>
    <dgm:pt modelId="{649C1396-D741-4C9F-A8A3-DA6504D6A7AD}">
      <dgm:prSet phldrT="[Text]" phldr="0"/>
      <dgm:spPr>
        <a:solidFill>
          <a:srgbClr val="002060"/>
        </a:solidFill>
      </dgm:spPr>
      <dgm:t>
        <a:bodyPr/>
        <a:lstStyle/>
        <a:p>
          <a:r>
            <a:rPr lang="en-GB">
              <a:latin typeface="Times New Roman" panose="02020603050405020304" pitchFamily="18" charset="0"/>
              <a:cs typeface="Times New Roman" panose="02020603050405020304" pitchFamily="18" charset="0"/>
            </a:rPr>
            <a:t>Energy storage/batteries </a:t>
          </a:r>
        </a:p>
      </dgm:t>
    </dgm:pt>
    <dgm:pt modelId="{7ECBCADA-1FFA-4498-81F4-15F720238E25}" type="parTrans" cxnId="{4B23EB60-FC63-41F1-B37A-0F74BE6A9745}">
      <dgm:prSet/>
      <dgm:spPr/>
      <dgm:t>
        <a:bodyPr/>
        <a:lstStyle/>
        <a:p>
          <a:endParaRPr lang="en-GB"/>
        </a:p>
      </dgm:t>
    </dgm:pt>
    <dgm:pt modelId="{6BEA0827-4AF3-468E-9B7E-2E113DCBAF76}" type="sibTrans" cxnId="{4B23EB60-FC63-41F1-B37A-0F74BE6A9745}">
      <dgm:prSet/>
      <dgm:spPr>
        <a:ln>
          <a:solidFill>
            <a:srgbClr val="002060"/>
          </a:solidFill>
        </a:ln>
      </dgm:spPr>
      <dgm:t>
        <a:bodyPr/>
        <a:lstStyle/>
        <a:p>
          <a:endParaRPr lang="en-GB">
            <a:latin typeface="Times New Roman" panose="02020603050405020304" pitchFamily="18" charset="0"/>
            <a:cs typeface="Times New Roman" panose="02020603050405020304" pitchFamily="18" charset="0"/>
          </a:endParaRPr>
        </a:p>
      </dgm:t>
    </dgm:pt>
    <dgm:pt modelId="{C769012D-9104-450F-9124-88FA472F5E4F}" type="pres">
      <dgm:prSet presAssocID="{86575D32-BA50-4A00-9584-3B153FC9F6A4}" presName="cycle" presStyleCnt="0">
        <dgm:presLayoutVars>
          <dgm:dir/>
          <dgm:resizeHandles val="exact"/>
        </dgm:presLayoutVars>
      </dgm:prSet>
      <dgm:spPr/>
    </dgm:pt>
    <dgm:pt modelId="{2C419275-E8E2-412A-87BA-C0BAC40D5385}" type="pres">
      <dgm:prSet presAssocID="{CE117DBE-B773-4CAE-BC08-63D2B08563BB}" presName="node" presStyleLbl="node1" presStyleIdx="0" presStyleCnt="4">
        <dgm:presLayoutVars>
          <dgm:bulletEnabled val="1"/>
        </dgm:presLayoutVars>
      </dgm:prSet>
      <dgm:spPr/>
    </dgm:pt>
    <dgm:pt modelId="{0A99C4AF-2A81-41D1-ACB5-A32A3135F520}" type="pres">
      <dgm:prSet presAssocID="{CE117DBE-B773-4CAE-BC08-63D2B08563BB}" presName="spNode" presStyleCnt="0"/>
      <dgm:spPr/>
    </dgm:pt>
    <dgm:pt modelId="{0188F912-8398-4F22-8B6A-FAD7CFAB9FE4}" type="pres">
      <dgm:prSet presAssocID="{3FB7287D-89F8-4B40-A71E-58D0476C2759}" presName="sibTrans" presStyleLbl="sibTrans1D1" presStyleIdx="0" presStyleCnt="4"/>
      <dgm:spPr/>
    </dgm:pt>
    <dgm:pt modelId="{C34C2E38-7645-4344-AE68-FD5745734362}" type="pres">
      <dgm:prSet presAssocID="{759A80EF-6F56-4DD1-9C34-D1210D48BE25}" presName="node" presStyleLbl="node1" presStyleIdx="1" presStyleCnt="4">
        <dgm:presLayoutVars>
          <dgm:bulletEnabled val="1"/>
        </dgm:presLayoutVars>
      </dgm:prSet>
      <dgm:spPr/>
    </dgm:pt>
    <dgm:pt modelId="{87285B1B-8141-496A-B3AF-DE18C8452A65}" type="pres">
      <dgm:prSet presAssocID="{759A80EF-6F56-4DD1-9C34-D1210D48BE25}" presName="spNode" presStyleCnt="0"/>
      <dgm:spPr/>
    </dgm:pt>
    <dgm:pt modelId="{06C3C36E-A207-4721-A5AA-590C4A19E589}" type="pres">
      <dgm:prSet presAssocID="{5C7E2236-7ABC-43DF-AF40-5CB4E7CD3509}" presName="sibTrans" presStyleLbl="sibTrans1D1" presStyleIdx="1" presStyleCnt="4"/>
      <dgm:spPr/>
    </dgm:pt>
    <dgm:pt modelId="{6EC57501-CB97-42C5-BE95-AC2580B8DB73}" type="pres">
      <dgm:prSet presAssocID="{400969D2-729D-4C9A-B7E0-D9B07A5AF4B4}" presName="node" presStyleLbl="node1" presStyleIdx="2" presStyleCnt="4">
        <dgm:presLayoutVars>
          <dgm:bulletEnabled val="1"/>
        </dgm:presLayoutVars>
      </dgm:prSet>
      <dgm:spPr/>
    </dgm:pt>
    <dgm:pt modelId="{5251D40C-935F-48DC-8137-B62D3AE7B843}" type="pres">
      <dgm:prSet presAssocID="{400969D2-729D-4C9A-B7E0-D9B07A5AF4B4}" presName="spNode" presStyleCnt="0"/>
      <dgm:spPr/>
    </dgm:pt>
    <dgm:pt modelId="{70009FA7-D1CA-42E9-B540-914D6C045CAB}" type="pres">
      <dgm:prSet presAssocID="{E1BFED8A-69DE-40C8-B64A-E2C5995250F9}" presName="sibTrans" presStyleLbl="sibTrans1D1" presStyleIdx="2" presStyleCnt="4"/>
      <dgm:spPr/>
    </dgm:pt>
    <dgm:pt modelId="{BFF59E1F-AF5A-4566-A37A-D686A2B52F0F}" type="pres">
      <dgm:prSet presAssocID="{649C1396-D741-4C9F-A8A3-DA6504D6A7AD}" presName="node" presStyleLbl="node1" presStyleIdx="3" presStyleCnt="4">
        <dgm:presLayoutVars>
          <dgm:bulletEnabled val="1"/>
        </dgm:presLayoutVars>
      </dgm:prSet>
      <dgm:spPr/>
    </dgm:pt>
    <dgm:pt modelId="{B071A9A7-689D-45DF-A1F7-E55268381DEC}" type="pres">
      <dgm:prSet presAssocID="{649C1396-D741-4C9F-A8A3-DA6504D6A7AD}" presName="spNode" presStyleCnt="0"/>
      <dgm:spPr/>
    </dgm:pt>
    <dgm:pt modelId="{AD36FA05-E172-445A-9750-F1DB72A4CD9B}" type="pres">
      <dgm:prSet presAssocID="{6BEA0827-4AF3-468E-9B7E-2E113DCBAF76}" presName="sibTrans" presStyleLbl="sibTrans1D1" presStyleIdx="3" presStyleCnt="4"/>
      <dgm:spPr/>
    </dgm:pt>
  </dgm:ptLst>
  <dgm:cxnLst>
    <dgm:cxn modelId="{4A39A404-F2CB-44D7-BD06-FB8189EE1D9B}" type="presOf" srcId="{6BEA0827-4AF3-468E-9B7E-2E113DCBAF76}" destId="{AD36FA05-E172-445A-9750-F1DB72A4CD9B}" srcOrd="0" destOrd="0" presId="urn:microsoft.com/office/officeart/2005/8/layout/cycle6"/>
    <dgm:cxn modelId="{4CBE7D05-A5DA-466D-B91E-89D642E9C135}" type="presOf" srcId="{E1BFED8A-69DE-40C8-B64A-E2C5995250F9}" destId="{70009FA7-D1CA-42E9-B540-914D6C045CAB}" srcOrd="0" destOrd="0" presId="urn:microsoft.com/office/officeart/2005/8/layout/cycle6"/>
    <dgm:cxn modelId="{1CB23E1B-EB8E-49B9-AC4F-8B8FD839938F}" srcId="{86575D32-BA50-4A00-9584-3B153FC9F6A4}" destId="{400969D2-729D-4C9A-B7E0-D9B07A5AF4B4}" srcOrd="2" destOrd="0" parTransId="{1441127A-6A4B-4F69-9C72-DED59C5DAB81}" sibTransId="{E1BFED8A-69DE-40C8-B64A-E2C5995250F9}"/>
    <dgm:cxn modelId="{54702726-7959-431C-BCFB-092BB2416A9F}" srcId="{86575D32-BA50-4A00-9584-3B153FC9F6A4}" destId="{759A80EF-6F56-4DD1-9C34-D1210D48BE25}" srcOrd="1" destOrd="0" parTransId="{BA059853-2D00-480F-B198-F606F83D7B62}" sibTransId="{5C7E2236-7ABC-43DF-AF40-5CB4E7CD3509}"/>
    <dgm:cxn modelId="{855C3E31-60B6-4923-BCFC-C3D91A48A5A0}" type="presOf" srcId="{3FB7287D-89F8-4B40-A71E-58D0476C2759}" destId="{0188F912-8398-4F22-8B6A-FAD7CFAB9FE4}" srcOrd="0" destOrd="0" presId="urn:microsoft.com/office/officeart/2005/8/layout/cycle6"/>
    <dgm:cxn modelId="{4B23EB60-FC63-41F1-B37A-0F74BE6A9745}" srcId="{86575D32-BA50-4A00-9584-3B153FC9F6A4}" destId="{649C1396-D741-4C9F-A8A3-DA6504D6A7AD}" srcOrd="3" destOrd="0" parTransId="{7ECBCADA-1FFA-4498-81F4-15F720238E25}" sibTransId="{6BEA0827-4AF3-468E-9B7E-2E113DCBAF76}"/>
    <dgm:cxn modelId="{8D168F70-FFB5-4828-AB19-55A50A5694A1}" type="presOf" srcId="{400969D2-729D-4C9A-B7E0-D9B07A5AF4B4}" destId="{6EC57501-CB97-42C5-BE95-AC2580B8DB73}" srcOrd="0" destOrd="0" presId="urn:microsoft.com/office/officeart/2005/8/layout/cycle6"/>
    <dgm:cxn modelId="{67A61986-B7A1-463E-B2AF-1FE900380BF4}" type="presOf" srcId="{649C1396-D741-4C9F-A8A3-DA6504D6A7AD}" destId="{BFF59E1F-AF5A-4566-A37A-D686A2B52F0F}" srcOrd="0" destOrd="0" presId="urn:microsoft.com/office/officeart/2005/8/layout/cycle6"/>
    <dgm:cxn modelId="{00DFEF8E-66E1-468B-BB4C-8716EEEDF53A}" srcId="{86575D32-BA50-4A00-9584-3B153FC9F6A4}" destId="{CE117DBE-B773-4CAE-BC08-63D2B08563BB}" srcOrd="0" destOrd="0" parTransId="{1C0038D2-EF13-45A1-8989-0D361B0C0531}" sibTransId="{3FB7287D-89F8-4B40-A71E-58D0476C2759}"/>
    <dgm:cxn modelId="{F79A9B9B-58D9-48B0-A533-C9AA813F86A2}" type="presOf" srcId="{5C7E2236-7ABC-43DF-AF40-5CB4E7CD3509}" destId="{06C3C36E-A207-4721-A5AA-590C4A19E589}" srcOrd="0" destOrd="0" presId="urn:microsoft.com/office/officeart/2005/8/layout/cycle6"/>
    <dgm:cxn modelId="{0025E8D5-F30B-41EB-A75F-CC5E90BB9C84}" type="presOf" srcId="{CE117DBE-B773-4CAE-BC08-63D2B08563BB}" destId="{2C419275-E8E2-412A-87BA-C0BAC40D5385}" srcOrd="0" destOrd="0" presId="urn:microsoft.com/office/officeart/2005/8/layout/cycle6"/>
    <dgm:cxn modelId="{F80D6BE6-DCCB-4579-9D3D-997FBF11612D}" type="presOf" srcId="{759A80EF-6F56-4DD1-9C34-D1210D48BE25}" destId="{C34C2E38-7645-4344-AE68-FD5745734362}" srcOrd="0" destOrd="0" presId="urn:microsoft.com/office/officeart/2005/8/layout/cycle6"/>
    <dgm:cxn modelId="{EDAB4BE7-F8C5-4FCA-95F3-28D904698430}" type="presOf" srcId="{86575D32-BA50-4A00-9584-3B153FC9F6A4}" destId="{C769012D-9104-450F-9124-88FA472F5E4F}" srcOrd="0" destOrd="0" presId="urn:microsoft.com/office/officeart/2005/8/layout/cycle6"/>
    <dgm:cxn modelId="{F5F65FEF-AD49-48AB-9EB2-9630E7EAB646}" type="presParOf" srcId="{C769012D-9104-450F-9124-88FA472F5E4F}" destId="{2C419275-E8E2-412A-87BA-C0BAC40D5385}" srcOrd="0" destOrd="0" presId="urn:microsoft.com/office/officeart/2005/8/layout/cycle6"/>
    <dgm:cxn modelId="{5F9C146E-B43E-4CE9-892E-3D187D134557}" type="presParOf" srcId="{C769012D-9104-450F-9124-88FA472F5E4F}" destId="{0A99C4AF-2A81-41D1-ACB5-A32A3135F520}" srcOrd="1" destOrd="0" presId="urn:microsoft.com/office/officeart/2005/8/layout/cycle6"/>
    <dgm:cxn modelId="{310F5E16-B339-4BB3-8D50-8C171EC9BFDC}" type="presParOf" srcId="{C769012D-9104-450F-9124-88FA472F5E4F}" destId="{0188F912-8398-4F22-8B6A-FAD7CFAB9FE4}" srcOrd="2" destOrd="0" presId="urn:microsoft.com/office/officeart/2005/8/layout/cycle6"/>
    <dgm:cxn modelId="{7015B264-9A95-4F8F-AAFD-CF6BE4A17874}" type="presParOf" srcId="{C769012D-9104-450F-9124-88FA472F5E4F}" destId="{C34C2E38-7645-4344-AE68-FD5745734362}" srcOrd="3" destOrd="0" presId="urn:microsoft.com/office/officeart/2005/8/layout/cycle6"/>
    <dgm:cxn modelId="{31EEC406-33D5-400F-8EB3-A89AD3AB85EC}" type="presParOf" srcId="{C769012D-9104-450F-9124-88FA472F5E4F}" destId="{87285B1B-8141-496A-B3AF-DE18C8452A65}" srcOrd="4" destOrd="0" presId="urn:microsoft.com/office/officeart/2005/8/layout/cycle6"/>
    <dgm:cxn modelId="{8405DA07-1AD0-4CBD-BB5E-67F6F8917019}" type="presParOf" srcId="{C769012D-9104-450F-9124-88FA472F5E4F}" destId="{06C3C36E-A207-4721-A5AA-590C4A19E589}" srcOrd="5" destOrd="0" presId="urn:microsoft.com/office/officeart/2005/8/layout/cycle6"/>
    <dgm:cxn modelId="{3E1B6A20-CE28-4F02-9003-73EF5837620F}" type="presParOf" srcId="{C769012D-9104-450F-9124-88FA472F5E4F}" destId="{6EC57501-CB97-42C5-BE95-AC2580B8DB73}" srcOrd="6" destOrd="0" presId="urn:microsoft.com/office/officeart/2005/8/layout/cycle6"/>
    <dgm:cxn modelId="{962991BE-2267-4F30-81CF-C876175AFD17}" type="presParOf" srcId="{C769012D-9104-450F-9124-88FA472F5E4F}" destId="{5251D40C-935F-48DC-8137-B62D3AE7B843}" srcOrd="7" destOrd="0" presId="urn:microsoft.com/office/officeart/2005/8/layout/cycle6"/>
    <dgm:cxn modelId="{853D2583-1CE7-4257-9036-CD6AD0A27594}" type="presParOf" srcId="{C769012D-9104-450F-9124-88FA472F5E4F}" destId="{70009FA7-D1CA-42E9-B540-914D6C045CAB}" srcOrd="8" destOrd="0" presId="urn:microsoft.com/office/officeart/2005/8/layout/cycle6"/>
    <dgm:cxn modelId="{DC3BD4A6-B9CA-49FF-BFD8-2777B9F4DD96}" type="presParOf" srcId="{C769012D-9104-450F-9124-88FA472F5E4F}" destId="{BFF59E1F-AF5A-4566-A37A-D686A2B52F0F}" srcOrd="9" destOrd="0" presId="urn:microsoft.com/office/officeart/2005/8/layout/cycle6"/>
    <dgm:cxn modelId="{CC96005F-44A5-48C7-B853-E7FE6E0946E8}" type="presParOf" srcId="{C769012D-9104-450F-9124-88FA472F5E4F}" destId="{B071A9A7-689D-45DF-A1F7-E55268381DEC}" srcOrd="10" destOrd="0" presId="urn:microsoft.com/office/officeart/2005/8/layout/cycle6"/>
    <dgm:cxn modelId="{60644EC6-E1BE-4196-9F38-973DF4097162}" type="presParOf" srcId="{C769012D-9104-450F-9124-88FA472F5E4F}" destId="{AD36FA05-E172-445A-9750-F1DB72A4CD9B}" srcOrd="11"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73BAC7-48F7-42AD-A1FE-2DF7B80418E1}"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GB"/>
        </a:p>
      </dgm:t>
    </dgm:pt>
    <dgm:pt modelId="{A6BD796C-C41E-4BA8-9B10-B40BAC687FAD}">
      <dgm:prSet phldrT="[Text]" phldr="0"/>
      <dgm:spPr>
        <a:solidFill>
          <a:srgbClr val="002060"/>
        </a:solidFill>
      </dgm:spPr>
      <dgm:t>
        <a:bodyPr/>
        <a:lstStyle/>
        <a:p>
          <a:r>
            <a:rPr lang="en-GB" dirty="0">
              <a:latin typeface="Times New Roman" panose="02020603050405020304" pitchFamily="18" charset="0"/>
              <a:cs typeface="Times New Roman" panose="02020603050405020304" pitchFamily="18" charset="0"/>
            </a:rPr>
            <a:t>Inputs </a:t>
          </a:r>
        </a:p>
      </dgm:t>
    </dgm:pt>
    <dgm:pt modelId="{9C827813-B2A7-40F4-9F94-A0CAC55623F9}" type="parTrans" cxnId="{C049910A-035C-43E9-ADEF-73E47052C6E2}">
      <dgm:prSet/>
      <dgm:spPr/>
      <dgm:t>
        <a:bodyPr/>
        <a:lstStyle/>
        <a:p>
          <a:endParaRPr lang="en-GB"/>
        </a:p>
      </dgm:t>
    </dgm:pt>
    <dgm:pt modelId="{E8E45919-0CEF-4A0C-80DA-BC7D433EA050}" type="sibTrans" cxnId="{C049910A-035C-43E9-ADEF-73E47052C6E2}">
      <dgm:prSet/>
      <dgm:spPr/>
      <dgm:t>
        <a:bodyPr/>
        <a:lstStyle/>
        <a:p>
          <a:endParaRPr lang="en-GB"/>
        </a:p>
      </dgm:t>
    </dgm:pt>
    <dgm:pt modelId="{8ED3C064-8457-4CC2-81D7-1D3E2256ABDC}">
      <dgm:prSet phldrT="[Text]" phldr="0"/>
      <dgm:spPr>
        <a:solidFill>
          <a:srgbClr val="002060"/>
        </a:solidFill>
      </dgm:spPr>
      <dgm:t>
        <a:bodyPr/>
        <a:lstStyle/>
        <a:p>
          <a:r>
            <a:rPr lang="en-GB">
              <a:latin typeface="Times New Roman" panose="02020603050405020304" pitchFamily="18" charset="0"/>
              <a:cs typeface="Times New Roman" panose="02020603050405020304" pitchFamily="18" charset="0"/>
            </a:rPr>
            <a:t>Production</a:t>
          </a:r>
        </a:p>
      </dgm:t>
    </dgm:pt>
    <dgm:pt modelId="{82B14D65-2C7D-44A3-8A98-DADA3B2696AF}" type="parTrans" cxnId="{DC1EA625-C97A-4771-A34B-888D5DFA1CD7}">
      <dgm:prSet/>
      <dgm:spPr/>
      <dgm:t>
        <a:bodyPr/>
        <a:lstStyle/>
        <a:p>
          <a:endParaRPr lang="en-GB"/>
        </a:p>
      </dgm:t>
    </dgm:pt>
    <dgm:pt modelId="{81840223-1318-405F-9C76-8EF4EA2EE8C8}" type="sibTrans" cxnId="{DC1EA625-C97A-4771-A34B-888D5DFA1CD7}">
      <dgm:prSet/>
      <dgm:spPr/>
      <dgm:t>
        <a:bodyPr/>
        <a:lstStyle/>
        <a:p>
          <a:endParaRPr lang="en-GB"/>
        </a:p>
      </dgm:t>
    </dgm:pt>
    <dgm:pt modelId="{90A6FA19-0BEA-4B5C-AB4B-0DA3A81E1F50}">
      <dgm:prSet phldrT="[Text]" phldr="0"/>
      <dgm:spPr>
        <a:solidFill>
          <a:srgbClr val="002060"/>
        </a:solidFill>
      </dgm:spPr>
      <dgm:t>
        <a:bodyPr/>
        <a:lstStyle/>
        <a:p>
          <a:r>
            <a:rPr lang="en-GB" dirty="0"/>
            <a:t>Distribution and </a:t>
          </a:r>
          <a:r>
            <a:rPr lang="en-GB" dirty="0">
              <a:latin typeface="Times New Roman" panose="02020603050405020304" pitchFamily="18" charset="0"/>
              <a:cs typeface="Times New Roman" panose="02020603050405020304" pitchFamily="18" charset="0"/>
            </a:rPr>
            <a:t>retail</a:t>
          </a:r>
        </a:p>
      </dgm:t>
    </dgm:pt>
    <dgm:pt modelId="{A2EDBEE3-2DF9-4F65-9C89-BAF8F02A9D83}" type="parTrans" cxnId="{C049D1A2-4F1D-431A-8142-ADDF338954C6}">
      <dgm:prSet/>
      <dgm:spPr/>
      <dgm:t>
        <a:bodyPr/>
        <a:lstStyle/>
        <a:p>
          <a:endParaRPr lang="en-GB"/>
        </a:p>
      </dgm:t>
    </dgm:pt>
    <dgm:pt modelId="{1B43B0B5-ABAB-49DF-AA6E-6059EB4614F4}" type="sibTrans" cxnId="{C049D1A2-4F1D-431A-8142-ADDF338954C6}">
      <dgm:prSet/>
      <dgm:spPr/>
      <dgm:t>
        <a:bodyPr/>
        <a:lstStyle/>
        <a:p>
          <a:endParaRPr lang="en-GB"/>
        </a:p>
      </dgm:t>
    </dgm:pt>
    <dgm:pt modelId="{D62B89C3-41D5-47E4-B69D-FB59ADDAE7F2}" type="pres">
      <dgm:prSet presAssocID="{1773BAC7-48F7-42AD-A1FE-2DF7B80418E1}" presName="Name0" presStyleCnt="0">
        <dgm:presLayoutVars>
          <dgm:dir/>
          <dgm:animLvl val="lvl"/>
          <dgm:resizeHandles val="exact"/>
        </dgm:presLayoutVars>
      </dgm:prSet>
      <dgm:spPr/>
    </dgm:pt>
    <dgm:pt modelId="{9B57C497-1C9C-4946-BAC9-33E682BF61AD}" type="pres">
      <dgm:prSet presAssocID="{A6BD796C-C41E-4BA8-9B10-B40BAC687FAD}" presName="parTxOnly" presStyleLbl="node1" presStyleIdx="0" presStyleCnt="3">
        <dgm:presLayoutVars>
          <dgm:chMax val="0"/>
          <dgm:chPref val="0"/>
          <dgm:bulletEnabled val="1"/>
        </dgm:presLayoutVars>
      </dgm:prSet>
      <dgm:spPr/>
    </dgm:pt>
    <dgm:pt modelId="{B9277364-1BD2-4DBA-B65B-74C2B7F13B30}" type="pres">
      <dgm:prSet presAssocID="{E8E45919-0CEF-4A0C-80DA-BC7D433EA050}" presName="parTxOnlySpace" presStyleCnt="0"/>
      <dgm:spPr/>
    </dgm:pt>
    <dgm:pt modelId="{393BE281-9D4F-4FCB-BD53-4D320A4DDF64}" type="pres">
      <dgm:prSet presAssocID="{8ED3C064-8457-4CC2-81D7-1D3E2256ABDC}" presName="parTxOnly" presStyleLbl="node1" presStyleIdx="1" presStyleCnt="3">
        <dgm:presLayoutVars>
          <dgm:chMax val="0"/>
          <dgm:chPref val="0"/>
          <dgm:bulletEnabled val="1"/>
        </dgm:presLayoutVars>
      </dgm:prSet>
      <dgm:spPr/>
    </dgm:pt>
    <dgm:pt modelId="{B01C3D20-F4CB-4C88-AC7F-FEA1DE082D8F}" type="pres">
      <dgm:prSet presAssocID="{81840223-1318-405F-9C76-8EF4EA2EE8C8}" presName="parTxOnlySpace" presStyleCnt="0"/>
      <dgm:spPr/>
    </dgm:pt>
    <dgm:pt modelId="{2241D222-76B8-44A0-9EA9-2AE4D0627C66}" type="pres">
      <dgm:prSet presAssocID="{90A6FA19-0BEA-4B5C-AB4B-0DA3A81E1F50}" presName="parTxOnly" presStyleLbl="node1" presStyleIdx="2" presStyleCnt="3">
        <dgm:presLayoutVars>
          <dgm:chMax val="0"/>
          <dgm:chPref val="0"/>
          <dgm:bulletEnabled val="1"/>
        </dgm:presLayoutVars>
      </dgm:prSet>
      <dgm:spPr/>
    </dgm:pt>
  </dgm:ptLst>
  <dgm:cxnLst>
    <dgm:cxn modelId="{C049910A-035C-43E9-ADEF-73E47052C6E2}" srcId="{1773BAC7-48F7-42AD-A1FE-2DF7B80418E1}" destId="{A6BD796C-C41E-4BA8-9B10-B40BAC687FAD}" srcOrd="0" destOrd="0" parTransId="{9C827813-B2A7-40F4-9F94-A0CAC55623F9}" sibTransId="{E8E45919-0CEF-4A0C-80DA-BC7D433EA050}"/>
    <dgm:cxn modelId="{8F38380D-C463-45FA-A81E-CC0167243E61}" type="presOf" srcId="{1773BAC7-48F7-42AD-A1FE-2DF7B80418E1}" destId="{D62B89C3-41D5-47E4-B69D-FB59ADDAE7F2}" srcOrd="0" destOrd="0" presId="urn:microsoft.com/office/officeart/2005/8/layout/chevron1"/>
    <dgm:cxn modelId="{DC1EA625-C97A-4771-A34B-888D5DFA1CD7}" srcId="{1773BAC7-48F7-42AD-A1FE-2DF7B80418E1}" destId="{8ED3C064-8457-4CC2-81D7-1D3E2256ABDC}" srcOrd="1" destOrd="0" parTransId="{82B14D65-2C7D-44A3-8A98-DADA3B2696AF}" sibTransId="{81840223-1318-405F-9C76-8EF4EA2EE8C8}"/>
    <dgm:cxn modelId="{62B8C0A2-DEC3-473C-A043-E3432F7F5F37}" type="presOf" srcId="{90A6FA19-0BEA-4B5C-AB4B-0DA3A81E1F50}" destId="{2241D222-76B8-44A0-9EA9-2AE4D0627C66}" srcOrd="0" destOrd="0" presId="urn:microsoft.com/office/officeart/2005/8/layout/chevron1"/>
    <dgm:cxn modelId="{C049D1A2-4F1D-431A-8142-ADDF338954C6}" srcId="{1773BAC7-48F7-42AD-A1FE-2DF7B80418E1}" destId="{90A6FA19-0BEA-4B5C-AB4B-0DA3A81E1F50}" srcOrd="2" destOrd="0" parTransId="{A2EDBEE3-2DF9-4F65-9C89-BAF8F02A9D83}" sibTransId="{1B43B0B5-ABAB-49DF-AA6E-6059EB4614F4}"/>
    <dgm:cxn modelId="{9C4DB1C6-C7A0-4494-AA83-3353D8C51C4D}" type="presOf" srcId="{A6BD796C-C41E-4BA8-9B10-B40BAC687FAD}" destId="{9B57C497-1C9C-4946-BAC9-33E682BF61AD}" srcOrd="0" destOrd="0" presId="urn:microsoft.com/office/officeart/2005/8/layout/chevron1"/>
    <dgm:cxn modelId="{362315EF-CEE6-42E8-BB52-A36B072D1E86}" type="presOf" srcId="{8ED3C064-8457-4CC2-81D7-1D3E2256ABDC}" destId="{393BE281-9D4F-4FCB-BD53-4D320A4DDF64}" srcOrd="0" destOrd="0" presId="urn:microsoft.com/office/officeart/2005/8/layout/chevron1"/>
    <dgm:cxn modelId="{326BF0AE-8F09-4141-98D6-3398AB177CF0}" type="presParOf" srcId="{D62B89C3-41D5-47E4-B69D-FB59ADDAE7F2}" destId="{9B57C497-1C9C-4946-BAC9-33E682BF61AD}" srcOrd="0" destOrd="0" presId="urn:microsoft.com/office/officeart/2005/8/layout/chevron1"/>
    <dgm:cxn modelId="{14578B6E-DA90-4195-9B9B-386055738042}" type="presParOf" srcId="{D62B89C3-41D5-47E4-B69D-FB59ADDAE7F2}" destId="{B9277364-1BD2-4DBA-B65B-74C2B7F13B30}" srcOrd="1" destOrd="0" presId="urn:microsoft.com/office/officeart/2005/8/layout/chevron1"/>
    <dgm:cxn modelId="{71BCCF29-F9C9-40B5-98D0-7D42D7D98949}" type="presParOf" srcId="{D62B89C3-41D5-47E4-B69D-FB59ADDAE7F2}" destId="{393BE281-9D4F-4FCB-BD53-4D320A4DDF64}" srcOrd="2" destOrd="0" presId="urn:microsoft.com/office/officeart/2005/8/layout/chevron1"/>
    <dgm:cxn modelId="{338C7FB1-5CB8-478F-8475-45D44862291B}" type="presParOf" srcId="{D62B89C3-41D5-47E4-B69D-FB59ADDAE7F2}" destId="{B01C3D20-F4CB-4C88-AC7F-FEA1DE082D8F}" srcOrd="3" destOrd="0" presId="urn:microsoft.com/office/officeart/2005/8/layout/chevron1"/>
    <dgm:cxn modelId="{5796D606-953B-424E-BE78-3B346E1A734F}" type="presParOf" srcId="{D62B89C3-41D5-47E4-B69D-FB59ADDAE7F2}" destId="{2241D222-76B8-44A0-9EA9-2AE4D0627C66}"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428C20-615A-4A87-A30B-FFE0708EF6B3}"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GB"/>
        </a:p>
      </dgm:t>
    </dgm:pt>
    <dgm:pt modelId="{9BDE8D4F-2D3C-48E1-A50A-B19D791988E4}">
      <dgm:prSet phldrT="[Text]" phldr="0"/>
      <dgm:spPr/>
      <dgm:t>
        <a:bodyPr/>
        <a:lstStyle/>
        <a:p>
          <a:pPr rtl="0"/>
          <a:r>
            <a:rPr lang="en-GB">
              <a:latin typeface="Times New Roman" panose="02020603050405020304" pitchFamily="18" charset="0"/>
              <a:cs typeface="Times New Roman" panose="02020603050405020304" pitchFamily="18" charset="0"/>
            </a:rPr>
            <a:t>Prolonged Macro &amp; Demand Slump</a:t>
          </a:r>
        </a:p>
      </dgm:t>
    </dgm:pt>
    <dgm:pt modelId="{21D53E8C-695D-4797-8F93-D82312D04388}" type="parTrans" cxnId="{313A85CD-38FC-4CA2-BDF0-A7DD475C4E9E}">
      <dgm:prSet/>
      <dgm:spPr/>
      <dgm:t>
        <a:bodyPr/>
        <a:lstStyle/>
        <a:p>
          <a:endParaRPr lang="en-GB"/>
        </a:p>
      </dgm:t>
    </dgm:pt>
    <dgm:pt modelId="{A4BB60C1-6CF9-4B57-975E-792258722C16}" type="sibTrans" cxnId="{313A85CD-38FC-4CA2-BDF0-A7DD475C4E9E}">
      <dgm:prSet/>
      <dgm:spPr/>
      <dgm:t>
        <a:bodyPr/>
        <a:lstStyle/>
        <a:p>
          <a:endParaRPr lang="en-GB"/>
        </a:p>
      </dgm:t>
    </dgm:pt>
    <dgm:pt modelId="{49DFA2CF-A28F-4522-8243-A02EA7ABDD45}">
      <dgm:prSet phldrT="[Text]" phldr="0"/>
      <dgm:spPr/>
      <dgm:t>
        <a:bodyPr/>
        <a:lstStyle/>
        <a:p>
          <a:pPr rtl="0"/>
          <a:r>
            <a:rPr lang="en-GB" sz="1200">
              <a:solidFill>
                <a:srgbClr val="050608"/>
              </a:solidFill>
              <a:latin typeface="Times New Roman" panose="02020603050405020304" pitchFamily="18" charset="0"/>
              <a:cs typeface="Times New Roman" panose="02020603050405020304" pitchFamily="18" charset="0"/>
            </a:rPr>
            <a:t>Persistent high interest rates and solar oversupply continue to suppress volume and margins, overshadowing ENPH's solid ecosystem strategy. </a:t>
          </a:r>
          <a:endParaRPr lang="en-GB">
            <a:latin typeface="Times New Roman" panose="02020603050405020304" pitchFamily="18" charset="0"/>
            <a:cs typeface="Times New Roman" panose="02020603050405020304" pitchFamily="18" charset="0"/>
          </a:endParaRPr>
        </a:p>
      </dgm:t>
    </dgm:pt>
    <dgm:pt modelId="{4141487E-97A6-411F-85DF-5F3EF1CDE819}" type="parTrans" cxnId="{320FB520-093E-4FFF-B78C-C16803603ABD}">
      <dgm:prSet/>
      <dgm:spPr/>
      <dgm:t>
        <a:bodyPr/>
        <a:lstStyle/>
        <a:p>
          <a:endParaRPr lang="en-GB"/>
        </a:p>
      </dgm:t>
    </dgm:pt>
    <dgm:pt modelId="{6A36961C-CDCD-42F7-A43C-240D14E4B92E}" type="sibTrans" cxnId="{320FB520-093E-4FFF-B78C-C16803603ABD}">
      <dgm:prSet/>
      <dgm:spPr/>
      <dgm:t>
        <a:bodyPr/>
        <a:lstStyle/>
        <a:p>
          <a:endParaRPr lang="en-GB"/>
        </a:p>
      </dgm:t>
    </dgm:pt>
    <dgm:pt modelId="{089D1E9D-E3D7-4732-B473-ADC47F2BFD02}">
      <dgm:prSet phldrT="[Text]" phldr="0"/>
      <dgm:spPr/>
      <dgm:t>
        <a:bodyPr/>
        <a:lstStyle/>
        <a:p>
          <a:pPr rtl="0"/>
          <a:r>
            <a:rPr lang="en-GB" sz="1200">
              <a:solidFill>
                <a:srgbClr val="050608"/>
              </a:solidFill>
              <a:latin typeface="Times New Roman" panose="02020603050405020304" pitchFamily="18" charset="0"/>
              <a:cs typeface="Times New Roman" panose="02020603050405020304" pitchFamily="18" charset="0"/>
            </a:rPr>
            <a:t>ENPH's focus is on preserving margin and pushing the higher-value solar-plus-storage bundle to increase revenue per customer.</a:t>
          </a:r>
          <a:endParaRPr lang="en-GB">
            <a:latin typeface="Times New Roman" panose="02020603050405020304" pitchFamily="18" charset="0"/>
            <a:cs typeface="Times New Roman" panose="02020603050405020304" pitchFamily="18" charset="0"/>
          </a:endParaRPr>
        </a:p>
      </dgm:t>
    </dgm:pt>
    <dgm:pt modelId="{238E76B7-426F-4D69-9C03-BC18344F96D6}" type="parTrans" cxnId="{67B0C1E1-3C7B-4EEC-80EF-0283964E2171}">
      <dgm:prSet/>
      <dgm:spPr/>
      <dgm:t>
        <a:bodyPr/>
        <a:lstStyle/>
        <a:p>
          <a:endParaRPr lang="en-GB"/>
        </a:p>
      </dgm:t>
    </dgm:pt>
    <dgm:pt modelId="{5EC253D1-1C7C-42DF-AB18-8D3BAEC1696E}" type="sibTrans" cxnId="{67B0C1E1-3C7B-4EEC-80EF-0283964E2171}">
      <dgm:prSet/>
      <dgm:spPr/>
      <dgm:t>
        <a:bodyPr/>
        <a:lstStyle/>
        <a:p>
          <a:endParaRPr lang="en-GB"/>
        </a:p>
      </dgm:t>
    </dgm:pt>
    <dgm:pt modelId="{C9EFE349-5FB9-43B2-881D-259612C6D97B}">
      <dgm:prSet phldrT="[Text]" phldr="0"/>
      <dgm:spPr/>
      <dgm:t>
        <a:bodyPr/>
        <a:lstStyle/>
        <a:p>
          <a:pPr rtl="0"/>
          <a:r>
            <a:rPr lang="en-GB">
              <a:latin typeface="Times New Roman" panose="02020603050405020304" pitchFamily="18" charset="0"/>
              <a:cs typeface="Times New Roman" panose="02020603050405020304" pitchFamily="18" charset="0"/>
            </a:rPr>
            <a:t>Major Legal Overhang</a:t>
          </a:r>
        </a:p>
      </dgm:t>
    </dgm:pt>
    <dgm:pt modelId="{E0FD01F7-4169-42A7-A8AC-C7C0B2B84396}" type="parTrans" cxnId="{B1A03127-C0A0-43C3-8D10-B9630A1D4117}">
      <dgm:prSet/>
      <dgm:spPr/>
      <dgm:t>
        <a:bodyPr/>
        <a:lstStyle/>
        <a:p>
          <a:endParaRPr lang="en-GB"/>
        </a:p>
      </dgm:t>
    </dgm:pt>
    <dgm:pt modelId="{566E2CEE-8A2A-4F0F-8CD1-B65EC945A918}" type="sibTrans" cxnId="{B1A03127-C0A0-43C3-8D10-B9630A1D4117}">
      <dgm:prSet/>
      <dgm:spPr/>
      <dgm:t>
        <a:bodyPr/>
        <a:lstStyle/>
        <a:p>
          <a:endParaRPr lang="en-GB"/>
        </a:p>
      </dgm:t>
    </dgm:pt>
    <dgm:pt modelId="{95A99FB9-ECFE-4B21-B564-2D79D177C845}">
      <dgm:prSet phldrT="[Text]" phldr="0"/>
      <dgm:spPr/>
      <dgm:t>
        <a:bodyPr/>
        <a:lstStyle/>
        <a:p>
          <a:pPr rtl="0"/>
          <a:r>
            <a:rPr lang="en-GB" sz="1200">
              <a:solidFill>
                <a:srgbClr val="050608"/>
              </a:solidFill>
              <a:latin typeface="Times New Roman" panose="02020603050405020304" pitchFamily="18" charset="0"/>
              <a:cs typeface="Times New Roman" panose="02020603050405020304" pitchFamily="18" charset="0"/>
            </a:rPr>
            <a:t>The ongoing securities lawsuit and SEC investigation concerning past channel stuffing allegations create a significant credibility and financial overhang. </a:t>
          </a:r>
          <a:endParaRPr lang="en-GB">
            <a:latin typeface="Times New Roman" panose="02020603050405020304" pitchFamily="18" charset="0"/>
            <a:cs typeface="Times New Roman" panose="02020603050405020304" pitchFamily="18" charset="0"/>
          </a:endParaRPr>
        </a:p>
      </dgm:t>
    </dgm:pt>
    <dgm:pt modelId="{C3E9A564-FD0A-4C07-B9EC-4BFFD24583E4}" type="parTrans" cxnId="{A874DD08-EDF1-4CB6-87FC-73FD81431A47}">
      <dgm:prSet/>
      <dgm:spPr/>
      <dgm:t>
        <a:bodyPr/>
        <a:lstStyle/>
        <a:p>
          <a:endParaRPr lang="en-GB"/>
        </a:p>
      </dgm:t>
    </dgm:pt>
    <dgm:pt modelId="{6596C56B-2A75-41FB-9973-AC7B6BAE4954}" type="sibTrans" cxnId="{A874DD08-EDF1-4CB6-87FC-73FD81431A47}">
      <dgm:prSet/>
      <dgm:spPr/>
      <dgm:t>
        <a:bodyPr/>
        <a:lstStyle/>
        <a:p>
          <a:endParaRPr lang="en-GB"/>
        </a:p>
      </dgm:t>
    </dgm:pt>
    <dgm:pt modelId="{75125042-D6B2-4A76-98A2-AE357F04CB30}">
      <dgm:prSet phldrT="[Text]" phldr="0"/>
      <dgm:spPr/>
      <dgm:t>
        <a:bodyPr/>
        <a:lstStyle/>
        <a:p>
          <a:pPr rtl="0"/>
          <a:r>
            <a:rPr lang="en-GB" sz="1200">
              <a:solidFill>
                <a:srgbClr val="050608"/>
              </a:solidFill>
              <a:latin typeface="Times New Roman" panose="02020603050405020304" pitchFamily="18" charset="0"/>
              <a:cs typeface="Times New Roman" panose="02020603050405020304" pitchFamily="18" charset="0"/>
            </a:rPr>
            <a:t>The company is defending itself vigorously and has operationally rectified the core issue by right-sizing European distributor inventory.</a:t>
          </a:r>
          <a:endParaRPr lang="en-GB">
            <a:latin typeface="Times New Roman" panose="02020603050405020304" pitchFamily="18" charset="0"/>
            <a:cs typeface="Times New Roman" panose="02020603050405020304" pitchFamily="18" charset="0"/>
          </a:endParaRPr>
        </a:p>
      </dgm:t>
    </dgm:pt>
    <dgm:pt modelId="{FE8D0267-64C9-4A62-A804-25FC539DE72D}" type="parTrans" cxnId="{07C5A56B-6930-43D6-AD83-347539A68F4F}">
      <dgm:prSet/>
      <dgm:spPr/>
      <dgm:t>
        <a:bodyPr/>
        <a:lstStyle/>
        <a:p>
          <a:endParaRPr lang="en-GB"/>
        </a:p>
      </dgm:t>
    </dgm:pt>
    <dgm:pt modelId="{3460A3B3-6922-4E17-86BF-DC5FCFD1C76C}" type="sibTrans" cxnId="{07C5A56B-6930-43D6-AD83-347539A68F4F}">
      <dgm:prSet/>
      <dgm:spPr/>
      <dgm:t>
        <a:bodyPr/>
        <a:lstStyle/>
        <a:p>
          <a:endParaRPr lang="en-GB"/>
        </a:p>
      </dgm:t>
    </dgm:pt>
    <dgm:pt modelId="{D6A6E19C-DCE1-414B-AD69-8E611ABBB75E}">
      <dgm:prSet phldrT="[Text]" phldr="0"/>
      <dgm:spPr/>
      <dgm:t>
        <a:bodyPr/>
        <a:lstStyle/>
        <a:p>
          <a:pPr rtl="0"/>
          <a:r>
            <a:rPr lang="en-GB">
              <a:latin typeface="Times New Roman" panose="02020603050405020304" pitchFamily="18" charset="0"/>
              <a:cs typeface="Times New Roman" panose="02020603050405020304" pitchFamily="18" charset="0"/>
            </a:rPr>
            <a:t>Geopolitical Trade Escalation</a:t>
          </a:r>
        </a:p>
      </dgm:t>
    </dgm:pt>
    <dgm:pt modelId="{B2A68EDF-3837-4CBD-BBF1-D14DD79F2807}" type="parTrans" cxnId="{5119A3FB-B19B-4F6D-8E05-7EB750622533}">
      <dgm:prSet/>
      <dgm:spPr/>
      <dgm:t>
        <a:bodyPr/>
        <a:lstStyle/>
        <a:p>
          <a:endParaRPr lang="en-GB"/>
        </a:p>
      </dgm:t>
    </dgm:pt>
    <dgm:pt modelId="{42378116-069E-46FA-AD7F-C336B526E437}" type="sibTrans" cxnId="{5119A3FB-B19B-4F6D-8E05-7EB750622533}">
      <dgm:prSet/>
      <dgm:spPr/>
      <dgm:t>
        <a:bodyPr/>
        <a:lstStyle/>
        <a:p>
          <a:endParaRPr lang="en-GB"/>
        </a:p>
      </dgm:t>
    </dgm:pt>
    <dgm:pt modelId="{866C7E4A-BFAA-4A49-A68A-50C746719638}">
      <dgm:prSet phldrT="[Text]" phldr="0"/>
      <dgm:spPr/>
      <dgm:t>
        <a:bodyPr/>
        <a:lstStyle/>
        <a:p>
          <a:pPr rtl="0"/>
          <a:r>
            <a:rPr lang="en-GB" sz="1200">
              <a:solidFill>
                <a:srgbClr val="050608"/>
              </a:solidFill>
              <a:latin typeface="Times New Roman" panose="02020603050405020304" pitchFamily="18" charset="0"/>
              <a:cs typeface="Times New Roman" panose="02020603050405020304" pitchFamily="18" charset="0"/>
            </a:rPr>
            <a:t>Current administration is likely to expand tariffs, directly impacting supply chain costs and complexity.</a:t>
          </a:r>
          <a:endParaRPr lang="en-GB">
            <a:latin typeface="Times New Roman" panose="02020603050405020304" pitchFamily="18" charset="0"/>
            <a:cs typeface="Times New Roman" panose="02020603050405020304" pitchFamily="18" charset="0"/>
          </a:endParaRPr>
        </a:p>
      </dgm:t>
    </dgm:pt>
    <dgm:pt modelId="{69B06A6D-A6DF-4B29-B297-C4BA4A317676}" type="parTrans" cxnId="{0F2137A9-6834-4E44-A9C0-272C945BA0BD}">
      <dgm:prSet/>
      <dgm:spPr/>
      <dgm:t>
        <a:bodyPr/>
        <a:lstStyle/>
        <a:p>
          <a:endParaRPr lang="en-GB"/>
        </a:p>
      </dgm:t>
    </dgm:pt>
    <dgm:pt modelId="{B462C716-A45A-4B2E-A82E-F0E83C01F001}" type="sibTrans" cxnId="{0F2137A9-6834-4E44-A9C0-272C945BA0BD}">
      <dgm:prSet/>
      <dgm:spPr/>
      <dgm:t>
        <a:bodyPr/>
        <a:lstStyle/>
        <a:p>
          <a:endParaRPr lang="en-GB"/>
        </a:p>
      </dgm:t>
    </dgm:pt>
    <dgm:pt modelId="{F10CD84C-9F92-4B0E-A52E-579C999FFE25}">
      <dgm:prSet phldrT="[Text]" phldr="0"/>
      <dgm:spPr/>
      <dgm:t>
        <a:bodyPr/>
        <a:lstStyle/>
        <a:p>
          <a:pPr rtl="0"/>
          <a:r>
            <a:rPr lang="en-GB" sz="1200">
              <a:solidFill>
                <a:srgbClr val="050608"/>
              </a:solidFill>
              <a:latin typeface="Times New Roman" panose="02020603050405020304" pitchFamily="18" charset="0"/>
              <a:cs typeface="Times New Roman" panose="02020603050405020304" pitchFamily="18" charset="0"/>
            </a:rPr>
            <a:t>ENPH's diversified manufacturing footprint (U.S., Mexico, Romania, India) provides a crucial "local-for-local" buffer against regional trade disputes.</a:t>
          </a:r>
          <a:endParaRPr lang="en-GB">
            <a:latin typeface="Times New Roman" panose="02020603050405020304" pitchFamily="18" charset="0"/>
            <a:cs typeface="Times New Roman" panose="02020603050405020304" pitchFamily="18" charset="0"/>
          </a:endParaRPr>
        </a:p>
      </dgm:t>
    </dgm:pt>
    <dgm:pt modelId="{664987FB-946D-4B16-AD16-D9C2E1C1EB67}" type="parTrans" cxnId="{1BA99F32-1BA3-4AEF-B4A4-D2C2B6DE7D64}">
      <dgm:prSet/>
      <dgm:spPr/>
      <dgm:t>
        <a:bodyPr/>
        <a:lstStyle/>
        <a:p>
          <a:endParaRPr lang="en-GB"/>
        </a:p>
      </dgm:t>
    </dgm:pt>
    <dgm:pt modelId="{7517284C-BD42-4E1E-A40F-11222253D556}" type="sibTrans" cxnId="{1BA99F32-1BA3-4AEF-B4A4-D2C2B6DE7D64}">
      <dgm:prSet/>
      <dgm:spPr/>
      <dgm:t>
        <a:bodyPr/>
        <a:lstStyle/>
        <a:p>
          <a:endParaRPr lang="en-GB"/>
        </a:p>
      </dgm:t>
    </dgm:pt>
    <dgm:pt modelId="{45BB7885-215C-4BBF-86BD-C2C720E50E40}">
      <dgm:prSet phldr="0"/>
      <dgm:spPr/>
      <dgm:t>
        <a:bodyPr/>
        <a:lstStyle/>
        <a:p>
          <a:pPr rtl="0"/>
          <a:r>
            <a:rPr lang="en-GB" sz="2200">
              <a:latin typeface="Times New Roman" panose="02020603050405020304" pitchFamily="18" charset="0"/>
              <a:cs typeface="Times New Roman" panose="02020603050405020304" pitchFamily="18" charset="0"/>
            </a:rPr>
            <a:t>Execution in Saturated Markets</a:t>
          </a:r>
        </a:p>
      </dgm:t>
    </dgm:pt>
    <dgm:pt modelId="{2E7FF8DE-CD8A-4DCB-BE07-94CA5458F30A}" type="parTrans" cxnId="{99F2FA81-F0E2-4F72-92BB-953131A622B2}">
      <dgm:prSet/>
      <dgm:spPr/>
      <dgm:t>
        <a:bodyPr/>
        <a:lstStyle/>
        <a:p>
          <a:endParaRPr lang="en-GB"/>
        </a:p>
      </dgm:t>
    </dgm:pt>
    <dgm:pt modelId="{FFCEBB7F-FF6E-4B00-94F9-FBA87AAEF4C1}" type="sibTrans" cxnId="{99F2FA81-F0E2-4F72-92BB-953131A622B2}">
      <dgm:prSet/>
      <dgm:spPr/>
      <dgm:t>
        <a:bodyPr/>
        <a:lstStyle/>
        <a:p>
          <a:endParaRPr lang="en-GB"/>
        </a:p>
      </dgm:t>
    </dgm:pt>
    <dgm:pt modelId="{1D8EC449-7431-48FE-9C0E-7A703F49D698}">
      <dgm:prSet phldr="0"/>
      <dgm:spPr/>
      <dgm:t>
        <a:bodyPr/>
        <a:lstStyle/>
        <a:p>
          <a:pPr rtl="0"/>
          <a:r>
            <a:rPr lang="en-GB" sz="1200" dirty="0">
              <a:solidFill>
                <a:srgbClr val="050608"/>
              </a:solidFill>
              <a:latin typeface="Times New Roman" panose="02020603050405020304" pitchFamily="18" charset="0"/>
              <a:cs typeface="Times New Roman" panose="02020603050405020304" pitchFamily="18" charset="0"/>
            </a:rPr>
            <a:t>Core markets (Europe, California) are saturated and hyper-competitive, which risks damaging market share and pricing power. </a:t>
          </a:r>
          <a:endParaRPr lang="en-GB" sz="1800" dirty="0">
            <a:latin typeface="Times New Roman" panose="02020603050405020304" pitchFamily="18" charset="0"/>
            <a:cs typeface="Times New Roman" panose="02020603050405020304" pitchFamily="18" charset="0"/>
          </a:endParaRPr>
        </a:p>
      </dgm:t>
    </dgm:pt>
    <dgm:pt modelId="{3DFA9379-F898-4851-90B0-1006134026D3}" type="parTrans" cxnId="{900E98C8-AFD3-4885-B5DF-F6F653C03025}">
      <dgm:prSet/>
      <dgm:spPr/>
      <dgm:t>
        <a:bodyPr/>
        <a:lstStyle/>
        <a:p>
          <a:endParaRPr lang="en-GB"/>
        </a:p>
      </dgm:t>
    </dgm:pt>
    <dgm:pt modelId="{D9BA8329-1D6C-412B-A378-9DA4E8A9F406}" type="sibTrans" cxnId="{900E98C8-AFD3-4885-B5DF-F6F653C03025}">
      <dgm:prSet/>
      <dgm:spPr/>
      <dgm:t>
        <a:bodyPr/>
        <a:lstStyle/>
        <a:p>
          <a:endParaRPr lang="en-GB"/>
        </a:p>
      </dgm:t>
    </dgm:pt>
    <dgm:pt modelId="{DBF8C32E-5344-4999-B9F4-DA41F77B73D1}">
      <dgm:prSet phldr="0"/>
      <dgm:spPr/>
      <dgm:t>
        <a:bodyPr/>
        <a:lstStyle/>
        <a:p>
          <a:pPr rtl="0"/>
          <a:r>
            <a:rPr lang="en-GB" sz="1200" dirty="0">
              <a:solidFill>
                <a:srgbClr val="050608"/>
              </a:solidFill>
              <a:latin typeface="Times New Roman" panose="02020603050405020304" pitchFamily="18" charset="0"/>
              <a:cs typeface="Times New Roman" panose="02020603050405020304" pitchFamily="18" charset="0"/>
            </a:rPr>
            <a:t>Strategy hinges on increasing battery attachment rates in the U.S. and geographic expansion into less-penetrated European countries.</a:t>
          </a:r>
        </a:p>
      </dgm:t>
    </dgm:pt>
    <dgm:pt modelId="{71390EDA-5225-4D30-B717-3D5D21B7AF19}" type="parTrans" cxnId="{EEFA72F3-9BCE-4123-8236-7C49CE897E51}">
      <dgm:prSet/>
      <dgm:spPr/>
      <dgm:t>
        <a:bodyPr/>
        <a:lstStyle/>
        <a:p>
          <a:endParaRPr lang="en-GB"/>
        </a:p>
      </dgm:t>
    </dgm:pt>
    <dgm:pt modelId="{7CF6395D-A74F-4EC2-920C-4D581094C5DC}" type="sibTrans" cxnId="{EEFA72F3-9BCE-4123-8236-7C49CE897E51}">
      <dgm:prSet/>
      <dgm:spPr/>
      <dgm:t>
        <a:bodyPr/>
        <a:lstStyle/>
        <a:p>
          <a:endParaRPr lang="en-GB"/>
        </a:p>
      </dgm:t>
    </dgm:pt>
    <dgm:pt modelId="{1DC20E9D-1E07-4F3F-9656-81FF5E5280EB}" type="pres">
      <dgm:prSet presAssocID="{03428C20-615A-4A87-A30B-FFE0708EF6B3}" presName="Name0" presStyleCnt="0">
        <dgm:presLayoutVars>
          <dgm:chPref val="3"/>
          <dgm:dir/>
          <dgm:animLvl val="lvl"/>
          <dgm:resizeHandles/>
        </dgm:presLayoutVars>
      </dgm:prSet>
      <dgm:spPr/>
    </dgm:pt>
    <dgm:pt modelId="{CA7E78BA-50C3-4F41-B5EC-3F5D584C619C}" type="pres">
      <dgm:prSet presAssocID="{9BDE8D4F-2D3C-48E1-A50A-B19D791988E4}" presName="horFlow" presStyleCnt="0"/>
      <dgm:spPr/>
    </dgm:pt>
    <dgm:pt modelId="{4FEB5DA8-F4E5-4328-A131-3833A606B208}" type="pres">
      <dgm:prSet presAssocID="{9BDE8D4F-2D3C-48E1-A50A-B19D791988E4}" presName="bigChev" presStyleLbl="node1" presStyleIdx="0" presStyleCnt="4"/>
      <dgm:spPr/>
    </dgm:pt>
    <dgm:pt modelId="{02D87554-3D37-43C2-8749-AD54F955E5B0}" type="pres">
      <dgm:prSet presAssocID="{4141487E-97A6-411F-85DF-5F3EF1CDE819}" presName="parTrans" presStyleCnt="0"/>
      <dgm:spPr/>
    </dgm:pt>
    <dgm:pt modelId="{07090747-195E-4019-AE6A-D7647BBE91C4}" type="pres">
      <dgm:prSet presAssocID="{49DFA2CF-A28F-4522-8243-A02EA7ABDD45}" presName="node" presStyleLbl="alignAccFollowNode1" presStyleIdx="0" presStyleCnt="8">
        <dgm:presLayoutVars>
          <dgm:bulletEnabled val="1"/>
        </dgm:presLayoutVars>
      </dgm:prSet>
      <dgm:spPr/>
    </dgm:pt>
    <dgm:pt modelId="{896DF335-BBDB-4646-8449-E30A16154F8B}" type="pres">
      <dgm:prSet presAssocID="{6A36961C-CDCD-42F7-A43C-240D14E4B92E}" presName="sibTrans" presStyleCnt="0"/>
      <dgm:spPr/>
    </dgm:pt>
    <dgm:pt modelId="{3929E8BA-C819-4895-ADE2-BE6F2480F74F}" type="pres">
      <dgm:prSet presAssocID="{089D1E9D-E3D7-4732-B473-ADC47F2BFD02}" presName="node" presStyleLbl="alignAccFollowNode1" presStyleIdx="1" presStyleCnt="8">
        <dgm:presLayoutVars>
          <dgm:bulletEnabled val="1"/>
        </dgm:presLayoutVars>
      </dgm:prSet>
      <dgm:spPr/>
    </dgm:pt>
    <dgm:pt modelId="{298096BE-BF32-45FB-AC31-1A151812A728}" type="pres">
      <dgm:prSet presAssocID="{9BDE8D4F-2D3C-48E1-A50A-B19D791988E4}" presName="vSp" presStyleCnt="0"/>
      <dgm:spPr/>
    </dgm:pt>
    <dgm:pt modelId="{035D95CD-CECA-4FE0-9333-0B7C182737F7}" type="pres">
      <dgm:prSet presAssocID="{C9EFE349-5FB9-43B2-881D-259612C6D97B}" presName="horFlow" presStyleCnt="0"/>
      <dgm:spPr/>
    </dgm:pt>
    <dgm:pt modelId="{4030B03C-E6B1-45BC-8CA6-652791682304}" type="pres">
      <dgm:prSet presAssocID="{C9EFE349-5FB9-43B2-881D-259612C6D97B}" presName="bigChev" presStyleLbl="node1" presStyleIdx="1" presStyleCnt="4"/>
      <dgm:spPr/>
    </dgm:pt>
    <dgm:pt modelId="{A05699E0-9B8B-4499-B835-CF566EB08CB8}" type="pres">
      <dgm:prSet presAssocID="{C3E9A564-FD0A-4C07-B9EC-4BFFD24583E4}" presName="parTrans" presStyleCnt="0"/>
      <dgm:spPr/>
    </dgm:pt>
    <dgm:pt modelId="{A1C5D559-28D9-48CD-B30A-E69A37A68A3E}" type="pres">
      <dgm:prSet presAssocID="{95A99FB9-ECFE-4B21-B564-2D79D177C845}" presName="node" presStyleLbl="alignAccFollowNode1" presStyleIdx="2" presStyleCnt="8">
        <dgm:presLayoutVars>
          <dgm:bulletEnabled val="1"/>
        </dgm:presLayoutVars>
      </dgm:prSet>
      <dgm:spPr/>
    </dgm:pt>
    <dgm:pt modelId="{AD761218-29D8-41CA-9483-C073EB855CE0}" type="pres">
      <dgm:prSet presAssocID="{6596C56B-2A75-41FB-9973-AC7B6BAE4954}" presName="sibTrans" presStyleCnt="0"/>
      <dgm:spPr/>
    </dgm:pt>
    <dgm:pt modelId="{22B8EF3A-224B-46BF-84D5-9F8CCF91F334}" type="pres">
      <dgm:prSet presAssocID="{75125042-D6B2-4A76-98A2-AE357F04CB30}" presName="node" presStyleLbl="alignAccFollowNode1" presStyleIdx="3" presStyleCnt="8">
        <dgm:presLayoutVars>
          <dgm:bulletEnabled val="1"/>
        </dgm:presLayoutVars>
      </dgm:prSet>
      <dgm:spPr/>
    </dgm:pt>
    <dgm:pt modelId="{111CBE22-ED26-4F87-B2C6-FB552CFE7F84}" type="pres">
      <dgm:prSet presAssocID="{C9EFE349-5FB9-43B2-881D-259612C6D97B}" presName="vSp" presStyleCnt="0"/>
      <dgm:spPr/>
    </dgm:pt>
    <dgm:pt modelId="{9596D7EC-5224-4F10-B813-B340AD722F51}" type="pres">
      <dgm:prSet presAssocID="{D6A6E19C-DCE1-414B-AD69-8E611ABBB75E}" presName="horFlow" presStyleCnt="0"/>
      <dgm:spPr/>
    </dgm:pt>
    <dgm:pt modelId="{10ED5AAA-501E-4F48-B65C-906FC1533513}" type="pres">
      <dgm:prSet presAssocID="{D6A6E19C-DCE1-414B-AD69-8E611ABBB75E}" presName="bigChev" presStyleLbl="node1" presStyleIdx="2" presStyleCnt="4"/>
      <dgm:spPr/>
    </dgm:pt>
    <dgm:pt modelId="{93DFCB76-EEC5-45A1-AE5A-F3D586CA3FEF}" type="pres">
      <dgm:prSet presAssocID="{69B06A6D-A6DF-4B29-B297-C4BA4A317676}" presName="parTrans" presStyleCnt="0"/>
      <dgm:spPr/>
    </dgm:pt>
    <dgm:pt modelId="{2482B1CA-6567-457B-84F1-EC099EB7022B}" type="pres">
      <dgm:prSet presAssocID="{866C7E4A-BFAA-4A49-A68A-50C746719638}" presName="node" presStyleLbl="alignAccFollowNode1" presStyleIdx="4" presStyleCnt="8">
        <dgm:presLayoutVars>
          <dgm:bulletEnabled val="1"/>
        </dgm:presLayoutVars>
      </dgm:prSet>
      <dgm:spPr/>
    </dgm:pt>
    <dgm:pt modelId="{CFDC7D26-A7EA-4518-81BF-0911EE61AD01}" type="pres">
      <dgm:prSet presAssocID="{B462C716-A45A-4B2E-A82E-F0E83C01F001}" presName="sibTrans" presStyleCnt="0"/>
      <dgm:spPr/>
    </dgm:pt>
    <dgm:pt modelId="{54667C93-1B16-4BEA-843E-BD15D1E7EB7B}" type="pres">
      <dgm:prSet presAssocID="{F10CD84C-9F92-4B0E-A52E-579C999FFE25}" presName="node" presStyleLbl="alignAccFollowNode1" presStyleIdx="5" presStyleCnt="8">
        <dgm:presLayoutVars>
          <dgm:bulletEnabled val="1"/>
        </dgm:presLayoutVars>
      </dgm:prSet>
      <dgm:spPr/>
    </dgm:pt>
    <dgm:pt modelId="{312F5C6B-9F34-4B25-AF51-980C446AF0C1}" type="pres">
      <dgm:prSet presAssocID="{D6A6E19C-DCE1-414B-AD69-8E611ABBB75E}" presName="vSp" presStyleCnt="0"/>
      <dgm:spPr/>
    </dgm:pt>
    <dgm:pt modelId="{4B573973-6261-4FBB-A15A-EDA20569750E}" type="pres">
      <dgm:prSet presAssocID="{45BB7885-215C-4BBF-86BD-C2C720E50E40}" presName="horFlow" presStyleCnt="0"/>
      <dgm:spPr/>
    </dgm:pt>
    <dgm:pt modelId="{39CCDFD6-D1F4-4347-B28A-663FC2DA4E71}" type="pres">
      <dgm:prSet presAssocID="{45BB7885-215C-4BBF-86BD-C2C720E50E40}" presName="bigChev" presStyleLbl="node1" presStyleIdx="3" presStyleCnt="4"/>
      <dgm:spPr/>
    </dgm:pt>
    <dgm:pt modelId="{426CFB96-83DF-463A-885E-44881CBD881C}" type="pres">
      <dgm:prSet presAssocID="{3DFA9379-F898-4851-90B0-1006134026D3}" presName="parTrans" presStyleCnt="0"/>
      <dgm:spPr/>
    </dgm:pt>
    <dgm:pt modelId="{438EE792-AD2F-4BD1-9BF4-E16E3B59FED1}" type="pres">
      <dgm:prSet presAssocID="{1D8EC449-7431-48FE-9C0E-7A703F49D698}" presName="node" presStyleLbl="alignAccFollowNode1" presStyleIdx="6" presStyleCnt="8">
        <dgm:presLayoutVars>
          <dgm:bulletEnabled val="1"/>
        </dgm:presLayoutVars>
      </dgm:prSet>
      <dgm:spPr/>
    </dgm:pt>
    <dgm:pt modelId="{C609C823-3DB7-4DB9-8F3F-C739F9E4A709}" type="pres">
      <dgm:prSet presAssocID="{D9BA8329-1D6C-412B-A378-9DA4E8A9F406}" presName="sibTrans" presStyleCnt="0"/>
      <dgm:spPr/>
    </dgm:pt>
    <dgm:pt modelId="{186E478A-C103-4E12-8F37-CF7E7F56240E}" type="pres">
      <dgm:prSet presAssocID="{DBF8C32E-5344-4999-B9F4-DA41F77B73D1}" presName="node" presStyleLbl="alignAccFollowNode1" presStyleIdx="7" presStyleCnt="8">
        <dgm:presLayoutVars>
          <dgm:bulletEnabled val="1"/>
        </dgm:presLayoutVars>
      </dgm:prSet>
      <dgm:spPr/>
    </dgm:pt>
  </dgm:ptLst>
  <dgm:cxnLst>
    <dgm:cxn modelId="{A874DD08-EDF1-4CB6-87FC-73FD81431A47}" srcId="{C9EFE349-5FB9-43B2-881D-259612C6D97B}" destId="{95A99FB9-ECFE-4B21-B564-2D79D177C845}" srcOrd="0" destOrd="0" parTransId="{C3E9A564-FD0A-4C07-B9EC-4BFFD24583E4}" sibTransId="{6596C56B-2A75-41FB-9973-AC7B6BAE4954}"/>
    <dgm:cxn modelId="{A997A020-64E9-459D-B0B6-C999907E8299}" type="presOf" srcId="{1D8EC449-7431-48FE-9C0E-7A703F49D698}" destId="{438EE792-AD2F-4BD1-9BF4-E16E3B59FED1}" srcOrd="0" destOrd="0" presId="urn:microsoft.com/office/officeart/2005/8/layout/lProcess3"/>
    <dgm:cxn modelId="{320FB520-093E-4FFF-B78C-C16803603ABD}" srcId="{9BDE8D4F-2D3C-48E1-A50A-B19D791988E4}" destId="{49DFA2CF-A28F-4522-8243-A02EA7ABDD45}" srcOrd="0" destOrd="0" parTransId="{4141487E-97A6-411F-85DF-5F3EF1CDE819}" sibTransId="{6A36961C-CDCD-42F7-A43C-240D14E4B92E}"/>
    <dgm:cxn modelId="{B1A03127-C0A0-43C3-8D10-B9630A1D4117}" srcId="{03428C20-615A-4A87-A30B-FFE0708EF6B3}" destId="{C9EFE349-5FB9-43B2-881D-259612C6D97B}" srcOrd="1" destOrd="0" parTransId="{E0FD01F7-4169-42A7-A8AC-C7C0B2B84396}" sibTransId="{566E2CEE-8A2A-4F0F-8CD1-B65EC945A918}"/>
    <dgm:cxn modelId="{1BB40B31-B255-4D91-A61F-A52017813534}" type="presOf" srcId="{C9EFE349-5FB9-43B2-881D-259612C6D97B}" destId="{4030B03C-E6B1-45BC-8CA6-652791682304}" srcOrd="0" destOrd="0" presId="urn:microsoft.com/office/officeart/2005/8/layout/lProcess3"/>
    <dgm:cxn modelId="{1BA99F32-1BA3-4AEF-B4A4-D2C2B6DE7D64}" srcId="{D6A6E19C-DCE1-414B-AD69-8E611ABBB75E}" destId="{F10CD84C-9F92-4B0E-A52E-579C999FFE25}" srcOrd="1" destOrd="0" parTransId="{664987FB-946D-4B16-AD16-D9C2E1C1EB67}" sibTransId="{7517284C-BD42-4E1E-A40F-11222253D556}"/>
    <dgm:cxn modelId="{02A63A33-8562-4981-9761-8AB7BA2E7E3C}" type="presOf" srcId="{75125042-D6B2-4A76-98A2-AE357F04CB30}" destId="{22B8EF3A-224B-46BF-84D5-9F8CCF91F334}" srcOrd="0" destOrd="0" presId="urn:microsoft.com/office/officeart/2005/8/layout/lProcess3"/>
    <dgm:cxn modelId="{F0AC0136-1DC6-40E9-BCCD-824B518E1B6F}" type="presOf" srcId="{9BDE8D4F-2D3C-48E1-A50A-B19D791988E4}" destId="{4FEB5DA8-F4E5-4328-A131-3833A606B208}" srcOrd="0" destOrd="0" presId="urn:microsoft.com/office/officeart/2005/8/layout/lProcess3"/>
    <dgm:cxn modelId="{893A5346-2382-40F9-962A-0654346B01BD}" type="presOf" srcId="{03428C20-615A-4A87-A30B-FFE0708EF6B3}" destId="{1DC20E9D-1E07-4F3F-9656-81FF5E5280EB}" srcOrd="0" destOrd="0" presId="urn:microsoft.com/office/officeart/2005/8/layout/lProcess3"/>
    <dgm:cxn modelId="{4F4E6754-41F5-45F2-8FA5-A49B5F1A2099}" type="presOf" srcId="{95A99FB9-ECFE-4B21-B564-2D79D177C845}" destId="{A1C5D559-28D9-48CD-B30A-E69A37A68A3E}" srcOrd="0" destOrd="0" presId="urn:microsoft.com/office/officeart/2005/8/layout/lProcess3"/>
    <dgm:cxn modelId="{07C5A56B-6930-43D6-AD83-347539A68F4F}" srcId="{C9EFE349-5FB9-43B2-881D-259612C6D97B}" destId="{75125042-D6B2-4A76-98A2-AE357F04CB30}" srcOrd="1" destOrd="0" parTransId="{FE8D0267-64C9-4A62-A804-25FC539DE72D}" sibTransId="{3460A3B3-6922-4E17-86BF-DC5FCFD1C76C}"/>
    <dgm:cxn modelId="{99F2FA81-F0E2-4F72-92BB-953131A622B2}" srcId="{03428C20-615A-4A87-A30B-FFE0708EF6B3}" destId="{45BB7885-215C-4BBF-86BD-C2C720E50E40}" srcOrd="3" destOrd="0" parTransId="{2E7FF8DE-CD8A-4DCB-BE07-94CA5458F30A}" sibTransId="{FFCEBB7F-FF6E-4B00-94F9-FBA87AAEF4C1}"/>
    <dgm:cxn modelId="{0F2137A9-6834-4E44-A9C0-272C945BA0BD}" srcId="{D6A6E19C-DCE1-414B-AD69-8E611ABBB75E}" destId="{866C7E4A-BFAA-4A49-A68A-50C746719638}" srcOrd="0" destOrd="0" parTransId="{69B06A6D-A6DF-4B29-B297-C4BA4A317676}" sibTransId="{B462C716-A45A-4B2E-A82E-F0E83C01F001}"/>
    <dgm:cxn modelId="{657C29AA-5F2C-4AF9-8E9B-6ABBE6A5BAC7}" type="presOf" srcId="{089D1E9D-E3D7-4732-B473-ADC47F2BFD02}" destId="{3929E8BA-C819-4895-ADE2-BE6F2480F74F}" srcOrd="0" destOrd="0" presId="urn:microsoft.com/office/officeart/2005/8/layout/lProcess3"/>
    <dgm:cxn modelId="{900E98C8-AFD3-4885-B5DF-F6F653C03025}" srcId="{45BB7885-215C-4BBF-86BD-C2C720E50E40}" destId="{1D8EC449-7431-48FE-9C0E-7A703F49D698}" srcOrd="0" destOrd="0" parTransId="{3DFA9379-F898-4851-90B0-1006134026D3}" sibTransId="{D9BA8329-1D6C-412B-A378-9DA4E8A9F406}"/>
    <dgm:cxn modelId="{F54BFDC9-9C69-4BC4-AA3E-08DCDF6331B7}" type="presOf" srcId="{866C7E4A-BFAA-4A49-A68A-50C746719638}" destId="{2482B1CA-6567-457B-84F1-EC099EB7022B}" srcOrd="0" destOrd="0" presId="urn:microsoft.com/office/officeart/2005/8/layout/lProcess3"/>
    <dgm:cxn modelId="{B10D92CB-7434-4F61-9BBD-4714E83B7FEE}" type="presOf" srcId="{D6A6E19C-DCE1-414B-AD69-8E611ABBB75E}" destId="{10ED5AAA-501E-4F48-B65C-906FC1533513}" srcOrd="0" destOrd="0" presId="urn:microsoft.com/office/officeart/2005/8/layout/lProcess3"/>
    <dgm:cxn modelId="{313A85CD-38FC-4CA2-BDF0-A7DD475C4E9E}" srcId="{03428C20-615A-4A87-A30B-FFE0708EF6B3}" destId="{9BDE8D4F-2D3C-48E1-A50A-B19D791988E4}" srcOrd="0" destOrd="0" parTransId="{21D53E8C-695D-4797-8F93-D82312D04388}" sibTransId="{A4BB60C1-6CF9-4B57-975E-792258722C16}"/>
    <dgm:cxn modelId="{67B0C1E1-3C7B-4EEC-80EF-0283964E2171}" srcId="{9BDE8D4F-2D3C-48E1-A50A-B19D791988E4}" destId="{089D1E9D-E3D7-4732-B473-ADC47F2BFD02}" srcOrd="1" destOrd="0" parTransId="{238E76B7-426F-4D69-9C03-BC18344F96D6}" sibTransId="{5EC253D1-1C7C-42DF-AB18-8D3BAEC1696E}"/>
    <dgm:cxn modelId="{D302C3E2-965C-47B8-A50C-E8FBDD5CB040}" type="presOf" srcId="{49DFA2CF-A28F-4522-8243-A02EA7ABDD45}" destId="{07090747-195E-4019-AE6A-D7647BBE91C4}" srcOrd="0" destOrd="0" presId="urn:microsoft.com/office/officeart/2005/8/layout/lProcess3"/>
    <dgm:cxn modelId="{C2AA95E3-FA92-4514-A2F6-B7246B2479A8}" type="presOf" srcId="{45BB7885-215C-4BBF-86BD-C2C720E50E40}" destId="{39CCDFD6-D1F4-4347-B28A-663FC2DA4E71}" srcOrd="0" destOrd="0" presId="urn:microsoft.com/office/officeart/2005/8/layout/lProcess3"/>
    <dgm:cxn modelId="{F24432F1-C2CA-4908-B809-EAD6AF0B9781}" type="presOf" srcId="{DBF8C32E-5344-4999-B9F4-DA41F77B73D1}" destId="{186E478A-C103-4E12-8F37-CF7E7F56240E}" srcOrd="0" destOrd="0" presId="urn:microsoft.com/office/officeart/2005/8/layout/lProcess3"/>
    <dgm:cxn modelId="{F0E73DF3-CEDB-41C1-A63C-1E5DC5FB1A6F}" type="presOf" srcId="{F10CD84C-9F92-4B0E-A52E-579C999FFE25}" destId="{54667C93-1B16-4BEA-843E-BD15D1E7EB7B}" srcOrd="0" destOrd="0" presId="urn:microsoft.com/office/officeart/2005/8/layout/lProcess3"/>
    <dgm:cxn modelId="{EEFA72F3-9BCE-4123-8236-7C49CE897E51}" srcId="{45BB7885-215C-4BBF-86BD-C2C720E50E40}" destId="{DBF8C32E-5344-4999-B9F4-DA41F77B73D1}" srcOrd="1" destOrd="0" parTransId="{71390EDA-5225-4D30-B717-3D5D21B7AF19}" sibTransId="{7CF6395D-A74F-4EC2-920C-4D581094C5DC}"/>
    <dgm:cxn modelId="{5119A3FB-B19B-4F6D-8E05-7EB750622533}" srcId="{03428C20-615A-4A87-A30B-FFE0708EF6B3}" destId="{D6A6E19C-DCE1-414B-AD69-8E611ABBB75E}" srcOrd="2" destOrd="0" parTransId="{B2A68EDF-3837-4CBD-BBF1-D14DD79F2807}" sibTransId="{42378116-069E-46FA-AD7F-C336B526E437}"/>
    <dgm:cxn modelId="{2A3DF9E0-74CE-4110-BBB1-224B99BA9B54}" type="presParOf" srcId="{1DC20E9D-1E07-4F3F-9656-81FF5E5280EB}" destId="{CA7E78BA-50C3-4F41-B5EC-3F5D584C619C}" srcOrd="0" destOrd="0" presId="urn:microsoft.com/office/officeart/2005/8/layout/lProcess3"/>
    <dgm:cxn modelId="{0A5C6694-3C4D-4850-929D-45AED3EAD6AB}" type="presParOf" srcId="{CA7E78BA-50C3-4F41-B5EC-3F5D584C619C}" destId="{4FEB5DA8-F4E5-4328-A131-3833A606B208}" srcOrd="0" destOrd="0" presId="urn:microsoft.com/office/officeart/2005/8/layout/lProcess3"/>
    <dgm:cxn modelId="{1ACC818F-3425-42DD-A518-69ECF58A8D89}" type="presParOf" srcId="{CA7E78BA-50C3-4F41-B5EC-3F5D584C619C}" destId="{02D87554-3D37-43C2-8749-AD54F955E5B0}" srcOrd="1" destOrd="0" presId="urn:microsoft.com/office/officeart/2005/8/layout/lProcess3"/>
    <dgm:cxn modelId="{602ECBC1-0E2A-4992-AEF3-1C1D54C1E28B}" type="presParOf" srcId="{CA7E78BA-50C3-4F41-B5EC-3F5D584C619C}" destId="{07090747-195E-4019-AE6A-D7647BBE91C4}" srcOrd="2" destOrd="0" presId="urn:microsoft.com/office/officeart/2005/8/layout/lProcess3"/>
    <dgm:cxn modelId="{C712243B-8C50-4D0F-9956-759229C099B3}" type="presParOf" srcId="{CA7E78BA-50C3-4F41-B5EC-3F5D584C619C}" destId="{896DF335-BBDB-4646-8449-E30A16154F8B}" srcOrd="3" destOrd="0" presId="urn:microsoft.com/office/officeart/2005/8/layout/lProcess3"/>
    <dgm:cxn modelId="{DD90F083-3A99-4A82-9EFE-6D100A8F8D0D}" type="presParOf" srcId="{CA7E78BA-50C3-4F41-B5EC-3F5D584C619C}" destId="{3929E8BA-C819-4895-ADE2-BE6F2480F74F}" srcOrd="4" destOrd="0" presId="urn:microsoft.com/office/officeart/2005/8/layout/lProcess3"/>
    <dgm:cxn modelId="{03D201B4-71C1-4B35-BAEB-115B7ADFD3B6}" type="presParOf" srcId="{1DC20E9D-1E07-4F3F-9656-81FF5E5280EB}" destId="{298096BE-BF32-45FB-AC31-1A151812A728}" srcOrd="1" destOrd="0" presId="urn:microsoft.com/office/officeart/2005/8/layout/lProcess3"/>
    <dgm:cxn modelId="{DA1277C8-6C5C-4467-84D7-4D71B92D79FD}" type="presParOf" srcId="{1DC20E9D-1E07-4F3F-9656-81FF5E5280EB}" destId="{035D95CD-CECA-4FE0-9333-0B7C182737F7}" srcOrd="2" destOrd="0" presId="urn:microsoft.com/office/officeart/2005/8/layout/lProcess3"/>
    <dgm:cxn modelId="{8ABE7F10-2D6D-40C1-9DF8-137110DB1990}" type="presParOf" srcId="{035D95CD-CECA-4FE0-9333-0B7C182737F7}" destId="{4030B03C-E6B1-45BC-8CA6-652791682304}" srcOrd="0" destOrd="0" presId="urn:microsoft.com/office/officeart/2005/8/layout/lProcess3"/>
    <dgm:cxn modelId="{5FE96883-C5D1-47EE-91B7-555F62EB1DEF}" type="presParOf" srcId="{035D95CD-CECA-4FE0-9333-0B7C182737F7}" destId="{A05699E0-9B8B-4499-B835-CF566EB08CB8}" srcOrd="1" destOrd="0" presId="urn:microsoft.com/office/officeart/2005/8/layout/lProcess3"/>
    <dgm:cxn modelId="{B74BDD39-2500-4A14-B384-23E6CE0397FC}" type="presParOf" srcId="{035D95CD-CECA-4FE0-9333-0B7C182737F7}" destId="{A1C5D559-28D9-48CD-B30A-E69A37A68A3E}" srcOrd="2" destOrd="0" presId="urn:microsoft.com/office/officeart/2005/8/layout/lProcess3"/>
    <dgm:cxn modelId="{09986251-1DDC-4AC5-A048-C6BBA973D3ED}" type="presParOf" srcId="{035D95CD-CECA-4FE0-9333-0B7C182737F7}" destId="{AD761218-29D8-41CA-9483-C073EB855CE0}" srcOrd="3" destOrd="0" presId="urn:microsoft.com/office/officeart/2005/8/layout/lProcess3"/>
    <dgm:cxn modelId="{7AEE3DB5-0946-40D3-A912-2C66053AB55D}" type="presParOf" srcId="{035D95CD-CECA-4FE0-9333-0B7C182737F7}" destId="{22B8EF3A-224B-46BF-84D5-9F8CCF91F334}" srcOrd="4" destOrd="0" presId="urn:microsoft.com/office/officeart/2005/8/layout/lProcess3"/>
    <dgm:cxn modelId="{CFF21CB3-9E7D-4B79-8985-B180D3998536}" type="presParOf" srcId="{1DC20E9D-1E07-4F3F-9656-81FF5E5280EB}" destId="{111CBE22-ED26-4F87-B2C6-FB552CFE7F84}" srcOrd="3" destOrd="0" presId="urn:microsoft.com/office/officeart/2005/8/layout/lProcess3"/>
    <dgm:cxn modelId="{3A0F81F7-7261-4AF3-A056-67B816A5054A}" type="presParOf" srcId="{1DC20E9D-1E07-4F3F-9656-81FF5E5280EB}" destId="{9596D7EC-5224-4F10-B813-B340AD722F51}" srcOrd="4" destOrd="0" presId="urn:microsoft.com/office/officeart/2005/8/layout/lProcess3"/>
    <dgm:cxn modelId="{2B32EAB0-6106-4175-9CB2-6F708F56C0D2}" type="presParOf" srcId="{9596D7EC-5224-4F10-B813-B340AD722F51}" destId="{10ED5AAA-501E-4F48-B65C-906FC1533513}" srcOrd="0" destOrd="0" presId="urn:microsoft.com/office/officeart/2005/8/layout/lProcess3"/>
    <dgm:cxn modelId="{17824C7B-BB81-4665-BE3E-C044C0D8208D}" type="presParOf" srcId="{9596D7EC-5224-4F10-B813-B340AD722F51}" destId="{93DFCB76-EEC5-45A1-AE5A-F3D586CA3FEF}" srcOrd="1" destOrd="0" presId="urn:microsoft.com/office/officeart/2005/8/layout/lProcess3"/>
    <dgm:cxn modelId="{93BF32F5-9407-4D7D-B3C0-DEC0BDD68601}" type="presParOf" srcId="{9596D7EC-5224-4F10-B813-B340AD722F51}" destId="{2482B1CA-6567-457B-84F1-EC099EB7022B}" srcOrd="2" destOrd="0" presId="urn:microsoft.com/office/officeart/2005/8/layout/lProcess3"/>
    <dgm:cxn modelId="{19C8608F-9EA7-4258-B4C0-25493149468D}" type="presParOf" srcId="{9596D7EC-5224-4F10-B813-B340AD722F51}" destId="{CFDC7D26-A7EA-4518-81BF-0911EE61AD01}" srcOrd="3" destOrd="0" presId="urn:microsoft.com/office/officeart/2005/8/layout/lProcess3"/>
    <dgm:cxn modelId="{C2ABA241-2C80-4F4B-95A7-40FE5F698FFA}" type="presParOf" srcId="{9596D7EC-5224-4F10-B813-B340AD722F51}" destId="{54667C93-1B16-4BEA-843E-BD15D1E7EB7B}" srcOrd="4" destOrd="0" presId="urn:microsoft.com/office/officeart/2005/8/layout/lProcess3"/>
    <dgm:cxn modelId="{F216199B-67C0-448A-A3D1-AEE827A94508}" type="presParOf" srcId="{1DC20E9D-1E07-4F3F-9656-81FF5E5280EB}" destId="{312F5C6B-9F34-4B25-AF51-980C446AF0C1}" srcOrd="5" destOrd="0" presId="urn:microsoft.com/office/officeart/2005/8/layout/lProcess3"/>
    <dgm:cxn modelId="{3D653336-5A3C-4AA1-B576-14F077C03459}" type="presParOf" srcId="{1DC20E9D-1E07-4F3F-9656-81FF5E5280EB}" destId="{4B573973-6261-4FBB-A15A-EDA20569750E}" srcOrd="6" destOrd="0" presId="urn:microsoft.com/office/officeart/2005/8/layout/lProcess3"/>
    <dgm:cxn modelId="{83C4194D-98E3-4BB3-B19E-F41ECC6FAA45}" type="presParOf" srcId="{4B573973-6261-4FBB-A15A-EDA20569750E}" destId="{39CCDFD6-D1F4-4347-B28A-663FC2DA4E71}" srcOrd="0" destOrd="0" presId="urn:microsoft.com/office/officeart/2005/8/layout/lProcess3"/>
    <dgm:cxn modelId="{EA2BE565-63C1-4EEF-B355-DFD7BA4E970B}" type="presParOf" srcId="{4B573973-6261-4FBB-A15A-EDA20569750E}" destId="{426CFB96-83DF-463A-885E-44881CBD881C}" srcOrd="1" destOrd="0" presId="urn:microsoft.com/office/officeart/2005/8/layout/lProcess3"/>
    <dgm:cxn modelId="{798F7F93-0F1F-4E1F-9DAD-73B42FA92A1A}" type="presParOf" srcId="{4B573973-6261-4FBB-A15A-EDA20569750E}" destId="{438EE792-AD2F-4BD1-9BF4-E16E3B59FED1}" srcOrd="2" destOrd="0" presId="urn:microsoft.com/office/officeart/2005/8/layout/lProcess3"/>
    <dgm:cxn modelId="{08256019-E399-4C2B-AA60-D27AF6E23E8C}" type="presParOf" srcId="{4B573973-6261-4FBB-A15A-EDA20569750E}" destId="{C609C823-3DB7-4DB9-8F3F-C739F9E4A709}" srcOrd="3" destOrd="0" presId="urn:microsoft.com/office/officeart/2005/8/layout/lProcess3"/>
    <dgm:cxn modelId="{3E6BE137-E64C-47F0-A0F2-743CD2B15C69}" type="presParOf" srcId="{4B573973-6261-4FBB-A15A-EDA20569750E}" destId="{186E478A-C103-4E12-8F37-CF7E7F56240E}" srcOrd="4" destOrd="0" presId="urn:microsoft.com/office/officeart/2005/8/layout/l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19275-E8E2-412A-87BA-C0BAC40D5385}">
      <dsp:nvSpPr>
        <dsp:cNvPr id="0" name=""/>
        <dsp:cNvSpPr/>
      </dsp:nvSpPr>
      <dsp:spPr>
        <a:xfrm>
          <a:off x="1973305" y="1802"/>
          <a:ext cx="1106629" cy="719309"/>
        </a:xfrm>
        <a:prstGeom prst="round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latin typeface="Times New Roman" panose="02020603050405020304" pitchFamily="18" charset="0"/>
              <a:cs typeface="Times New Roman" panose="02020603050405020304" pitchFamily="18" charset="0"/>
            </a:rPr>
            <a:t>Micro inverters </a:t>
          </a:r>
        </a:p>
      </dsp:txBody>
      <dsp:txXfrm>
        <a:off x="2008419" y="36916"/>
        <a:ext cx="1036401" cy="649081"/>
      </dsp:txXfrm>
    </dsp:sp>
    <dsp:sp modelId="{0188F912-8398-4F22-8B6A-FAD7CFAB9FE4}">
      <dsp:nvSpPr>
        <dsp:cNvPr id="0" name=""/>
        <dsp:cNvSpPr/>
      </dsp:nvSpPr>
      <dsp:spPr>
        <a:xfrm>
          <a:off x="1338479" y="361456"/>
          <a:ext cx="2376281" cy="2376281"/>
        </a:xfrm>
        <a:custGeom>
          <a:avLst/>
          <a:gdLst/>
          <a:ahLst/>
          <a:cxnLst/>
          <a:rect l="0" t="0" r="0" b="0"/>
          <a:pathLst>
            <a:path>
              <a:moveTo>
                <a:pt x="1749423" y="140934"/>
              </a:moveTo>
              <a:arcTo wR="1188140" hR="1188140" stAng="17891428" swAng="2625264"/>
            </a:path>
          </a:pathLst>
        </a:custGeom>
        <a:noFill/>
        <a:ln w="9525" cap="flat" cmpd="sng" algn="ctr">
          <a:solidFill>
            <a:srgbClr val="002060"/>
          </a:solidFill>
          <a:prstDash val="solid"/>
        </a:ln>
        <a:effectLst/>
      </dsp:spPr>
      <dsp:style>
        <a:lnRef idx="1">
          <a:scrgbClr r="0" g="0" b="0"/>
        </a:lnRef>
        <a:fillRef idx="0">
          <a:scrgbClr r="0" g="0" b="0"/>
        </a:fillRef>
        <a:effectRef idx="0">
          <a:scrgbClr r="0" g="0" b="0"/>
        </a:effectRef>
        <a:fontRef idx="minor"/>
      </dsp:style>
    </dsp:sp>
    <dsp:sp modelId="{C34C2E38-7645-4344-AE68-FD5745734362}">
      <dsp:nvSpPr>
        <dsp:cNvPr id="0" name=""/>
        <dsp:cNvSpPr/>
      </dsp:nvSpPr>
      <dsp:spPr>
        <a:xfrm>
          <a:off x="3161445" y="1189942"/>
          <a:ext cx="1106629" cy="719309"/>
        </a:xfrm>
        <a:prstGeom prst="round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latin typeface="Times New Roman" panose="02020603050405020304" pitchFamily="18" charset="0"/>
              <a:cs typeface="Times New Roman" panose="02020603050405020304" pitchFamily="18" charset="0"/>
            </a:rPr>
            <a:t>Home energy management software </a:t>
          </a:r>
        </a:p>
      </dsp:txBody>
      <dsp:txXfrm>
        <a:off x="3196559" y="1225056"/>
        <a:ext cx="1036401" cy="649081"/>
      </dsp:txXfrm>
    </dsp:sp>
    <dsp:sp modelId="{06C3C36E-A207-4721-A5AA-590C4A19E589}">
      <dsp:nvSpPr>
        <dsp:cNvPr id="0" name=""/>
        <dsp:cNvSpPr/>
      </dsp:nvSpPr>
      <dsp:spPr>
        <a:xfrm>
          <a:off x="1338479" y="361456"/>
          <a:ext cx="2376281" cy="2376281"/>
        </a:xfrm>
        <a:custGeom>
          <a:avLst/>
          <a:gdLst/>
          <a:ahLst/>
          <a:cxnLst/>
          <a:rect l="0" t="0" r="0" b="0"/>
          <a:pathLst>
            <a:path>
              <a:moveTo>
                <a:pt x="2317775" y="1556383"/>
              </a:moveTo>
              <a:arcTo wR="1188140" hR="1188140" stAng="1083308" swAng="2625264"/>
            </a:path>
          </a:pathLst>
        </a:custGeom>
        <a:noFill/>
        <a:ln w="9525" cap="flat" cmpd="sng" algn="ctr">
          <a:solidFill>
            <a:srgbClr val="002060"/>
          </a:solidFill>
          <a:prstDash val="solid"/>
        </a:ln>
        <a:effectLst/>
      </dsp:spPr>
      <dsp:style>
        <a:lnRef idx="1">
          <a:scrgbClr r="0" g="0" b="0"/>
        </a:lnRef>
        <a:fillRef idx="0">
          <a:scrgbClr r="0" g="0" b="0"/>
        </a:fillRef>
        <a:effectRef idx="0">
          <a:scrgbClr r="0" g="0" b="0"/>
        </a:effectRef>
        <a:fontRef idx="minor"/>
      </dsp:style>
    </dsp:sp>
    <dsp:sp modelId="{6EC57501-CB97-42C5-BE95-AC2580B8DB73}">
      <dsp:nvSpPr>
        <dsp:cNvPr id="0" name=""/>
        <dsp:cNvSpPr/>
      </dsp:nvSpPr>
      <dsp:spPr>
        <a:xfrm>
          <a:off x="1973305" y="2378083"/>
          <a:ext cx="1106629" cy="719309"/>
        </a:xfrm>
        <a:prstGeom prst="round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latin typeface="Times New Roman" panose="02020603050405020304" pitchFamily="18" charset="0"/>
              <a:cs typeface="Times New Roman" panose="02020603050405020304" pitchFamily="18" charset="0"/>
            </a:rPr>
            <a:t>Accessory products</a:t>
          </a:r>
        </a:p>
      </dsp:txBody>
      <dsp:txXfrm>
        <a:off x="2008419" y="2413197"/>
        <a:ext cx="1036401" cy="649081"/>
      </dsp:txXfrm>
    </dsp:sp>
    <dsp:sp modelId="{70009FA7-D1CA-42E9-B540-914D6C045CAB}">
      <dsp:nvSpPr>
        <dsp:cNvPr id="0" name=""/>
        <dsp:cNvSpPr/>
      </dsp:nvSpPr>
      <dsp:spPr>
        <a:xfrm>
          <a:off x="1338479" y="361456"/>
          <a:ext cx="2376281" cy="2376281"/>
        </a:xfrm>
        <a:custGeom>
          <a:avLst/>
          <a:gdLst/>
          <a:ahLst/>
          <a:cxnLst/>
          <a:rect l="0" t="0" r="0" b="0"/>
          <a:pathLst>
            <a:path>
              <a:moveTo>
                <a:pt x="626857" y="2235346"/>
              </a:moveTo>
              <a:arcTo wR="1188140" hR="1188140" stAng="7091428" swAng="2625264"/>
            </a:path>
          </a:pathLst>
        </a:custGeom>
        <a:noFill/>
        <a:ln w="9525" cap="flat" cmpd="sng" algn="ctr">
          <a:solidFill>
            <a:srgbClr val="002060"/>
          </a:solidFill>
          <a:prstDash val="solid"/>
        </a:ln>
        <a:effectLst/>
      </dsp:spPr>
      <dsp:style>
        <a:lnRef idx="1">
          <a:scrgbClr r="0" g="0" b="0"/>
        </a:lnRef>
        <a:fillRef idx="0">
          <a:scrgbClr r="0" g="0" b="0"/>
        </a:fillRef>
        <a:effectRef idx="0">
          <a:scrgbClr r="0" g="0" b="0"/>
        </a:effectRef>
        <a:fontRef idx="minor"/>
      </dsp:style>
    </dsp:sp>
    <dsp:sp modelId="{BFF59E1F-AF5A-4566-A37A-D686A2B52F0F}">
      <dsp:nvSpPr>
        <dsp:cNvPr id="0" name=""/>
        <dsp:cNvSpPr/>
      </dsp:nvSpPr>
      <dsp:spPr>
        <a:xfrm>
          <a:off x="785164" y="1189942"/>
          <a:ext cx="1106629" cy="719309"/>
        </a:xfrm>
        <a:prstGeom prst="roundRect">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latin typeface="Times New Roman" panose="02020603050405020304" pitchFamily="18" charset="0"/>
              <a:cs typeface="Times New Roman" panose="02020603050405020304" pitchFamily="18" charset="0"/>
            </a:rPr>
            <a:t>Energy storage/batteries </a:t>
          </a:r>
        </a:p>
      </dsp:txBody>
      <dsp:txXfrm>
        <a:off x="820278" y="1225056"/>
        <a:ext cx="1036401" cy="649081"/>
      </dsp:txXfrm>
    </dsp:sp>
    <dsp:sp modelId="{AD36FA05-E172-445A-9750-F1DB72A4CD9B}">
      <dsp:nvSpPr>
        <dsp:cNvPr id="0" name=""/>
        <dsp:cNvSpPr/>
      </dsp:nvSpPr>
      <dsp:spPr>
        <a:xfrm>
          <a:off x="1338479" y="361456"/>
          <a:ext cx="2376281" cy="2376281"/>
        </a:xfrm>
        <a:custGeom>
          <a:avLst/>
          <a:gdLst/>
          <a:ahLst/>
          <a:cxnLst/>
          <a:rect l="0" t="0" r="0" b="0"/>
          <a:pathLst>
            <a:path>
              <a:moveTo>
                <a:pt x="58505" y="819897"/>
              </a:moveTo>
              <a:arcTo wR="1188140" hR="1188140" stAng="11883308" swAng="2625264"/>
            </a:path>
          </a:pathLst>
        </a:custGeom>
        <a:noFill/>
        <a:ln w="9525" cap="flat" cmpd="sng" algn="ctr">
          <a:solidFill>
            <a:srgbClr val="002060"/>
          </a:solidFill>
          <a:prstDash val="solid"/>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57C497-1C9C-4946-BAC9-33E682BF61AD}">
      <dsp:nvSpPr>
        <dsp:cNvPr id="0" name=""/>
        <dsp:cNvSpPr/>
      </dsp:nvSpPr>
      <dsp:spPr>
        <a:xfrm>
          <a:off x="2173" y="1115202"/>
          <a:ext cx="2648009" cy="1059203"/>
        </a:xfrm>
        <a:prstGeom prst="chevron">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GB" sz="2300" kern="1200" dirty="0">
              <a:latin typeface="Times New Roman" panose="02020603050405020304" pitchFamily="18" charset="0"/>
              <a:cs typeface="Times New Roman" panose="02020603050405020304" pitchFamily="18" charset="0"/>
            </a:rPr>
            <a:t>Inputs </a:t>
          </a:r>
        </a:p>
      </dsp:txBody>
      <dsp:txXfrm>
        <a:off x="531775" y="1115202"/>
        <a:ext cx="1588806" cy="1059203"/>
      </dsp:txXfrm>
    </dsp:sp>
    <dsp:sp modelId="{393BE281-9D4F-4FCB-BD53-4D320A4DDF64}">
      <dsp:nvSpPr>
        <dsp:cNvPr id="0" name=""/>
        <dsp:cNvSpPr/>
      </dsp:nvSpPr>
      <dsp:spPr>
        <a:xfrm>
          <a:off x="2385382" y="1115202"/>
          <a:ext cx="2648009" cy="1059203"/>
        </a:xfrm>
        <a:prstGeom prst="chevron">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GB" sz="2300" kern="1200">
              <a:latin typeface="Times New Roman" panose="02020603050405020304" pitchFamily="18" charset="0"/>
              <a:cs typeface="Times New Roman" panose="02020603050405020304" pitchFamily="18" charset="0"/>
            </a:rPr>
            <a:t>Production</a:t>
          </a:r>
        </a:p>
      </dsp:txBody>
      <dsp:txXfrm>
        <a:off x="2914984" y="1115202"/>
        <a:ext cx="1588806" cy="1059203"/>
      </dsp:txXfrm>
    </dsp:sp>
    <dsp:sp modelId="{2241D222-76B8-44A0-9EA9-2AE4D0627C66}">
      <dsp:nvSpPr>
        <dsp:cNvPr id="0" name=""/>
        <dsp:cNvSpPr/>
      </dsp:nvSpPr>
      <dsp:spPr>
        <a:xfrm>
          <a:off x="4768590" y="1115202"/>
          <a:ext cx="2648009" cy="1059203"/>
        </a:xfrm>
        <a:prstGeom prst="chevron">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GB" sz="2300" kern="1200" dirty="0"/>
            <a:t>Distribution and </a:t>
          </a:r>
          <a:r>
            <a:rPr lang="en-GB" sz="2300" kern="1200" dirty="0">
              <a:latin typeface="Times New Roman" panose="02020603050405020304" pitchFamily="18" charset="0"/>
              <a:cs typeface="Times New Roman" panose="02020603050405020304" pitchFamily="18" charset="0"/>
            </a:rPr>
            <a:t>retail</a:t>
          </a:r>
        </a:p>
      </dsp:txBody>
      <dsp:txXfrm>
        <a:off x="5298192" y="1115202"/>
        <a:ext cx="1588806" cy="10592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EB5DA8-F4E5-4328-A131-3833A606B208}">
      <dsp:nvSpPr>
        <dsp:cNvPr id="0" name=""/>
        <dsp:cNvSpPr/>
      </dsp:nvSpPr>
      <dsp:spPr>
        <a:xfrm>
          <a:off x="1495294" y="3377"/>
          <a:ext cx="3685728" cy="147429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14605" rIns="0" bIns="14605" numCol="1" spcCol="1270" anchor="ctr" anchorCtr="0">
          <a:noAutofit/>
        </a:bodyPr>
        <a:lstStyle/>
        <a:p>
          <a:pPr marL="0" lvl="0" indent="0" algn="ctr" defTabSz="1022350" rtl="0">
            <a:lnSpc>
              <a:spcPct val="90000"/>
            </a:lnSpc>
            <a:spcBef>
              <a:spcPct val="0"/>
            </a:spcBef>
            <a:spcAft>
              <a:spcPct val="35000"/>
            </a:spcAft>
            <a:buNone/>
          </a:pPr>
          <a:r>
            <a:rPr lang="en-GB" sz="2300" kern="1200">
              <a:latin typeface="Times New Roman" panose="02020603050405020304" pitchFamily="18" charset="0"/>
              <a:cs typeface="Times New Roman" panose="02020603050405020304" pitchFamily="18" charset="0"/>
            </a:rPr>
            <a:t>Prolonged Macro &amp; Demand Slump</a:t>
          </a:r>
        </a:p>
      </dsp:txBody>
      <dsp:txXfrm>
        <a:off x="2232440" y="3377"/>
        <a:ext cx="2211437" cy="1474291"/>
      </dsp:txXfrm>
    </dsp:sp>
    <dsp:sp modelId="{07090747-195E-4019-AE6A-D7647BBE91C4}">
      <dsp:nvSpPr>
        <dsp:cNvPr id="0" name=""/>
        <dsp:cNvSpPr/>
      </dsp:nvSpPr>
      <dsp:spPr>
        <a:xfrm>
          <a:off x="4701878" y="128692"/>
          <a:ext cx="3059154" cy="1223661"/>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rtl="0">
            <a:lnSpc>
              <a:spcPct val="90000"/>
            </a:lnSpc>
            <a:spcBef>
              <a:spcPct val="0"/>
            </a:spcBef>
            <a:spcAft>
              <a:spcPct val="35000"/>
            </a:spcAft>
            <a:buNone/>
          </a:pPr>
          <a:r>
            <a:rPr lang="en-GB" sz="1300" kern="1200">
              <a:solidFill>
                <a:srgbClr val="050608"/>
              </a:solidFill>
              <a:latin typeface="Times New Roman" panose="02020603050405020304" pitchFamily="18" charset="0"/>
              <a:cs typeface="Times New Roman" panose="02020603050405020304" pitchFamily="18" charset="0"/>
            </a:rPr>
            <a:t>Persistent high interest rates and solar oversupply continue to suppress volume and margins, overshadowing ENPH's solid ecosystem strategy. </a:t>
          </a:r>
          <a:endParaRPr lang="en-GB" sz="1300" kern="1200">
            <a:latin typeface="Times New Roman" panose="02020603050405020304" pitchFamily="18" charset="0"/>
            <a:cs typeface="Times New Roman" panose="02020603050405020304" pitchFamily="18" charset="0"/>
          </a:endParaRPr>
        </a:p>
      </dsp:txBody>
      <dsp:txXfrm>
        <a:off x="5313709" y="128692"/>
        <a:ext cx="1835493" cy="1223661"/>
      </dsp:txXfrm>
    </dsp:sp>
    <dsp:sp modelId="{3929E8BA-C819-4895-ADE2-BE6F2480F74F}">
      <dsp:nvSpPr>
        <dsp:cNvPr id="0" name=""/>
        <dsp:cNvSpPr/>
      </dsp:nvSpPr>
      <dsp:spPr>
        <a:xfrm>
          <a:off x="7332751" y="128692"/>
          <a:ext cx="3059154" cy="1223661"/>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rtl="0">
            <a:lnSpc>
              <a:spcPct val="90000"/>
            </a:lnSpc>
            <a:spcBef>
              <a:spcPct val="0"/>
            </a:spcBef>
            <a:spcAft>
              <a:spcPct val="35000"/>
            </a:spcAft>
            <a:buNone/>
          </a:pPr>
          <a:r>
            <a:rPr lang="en-GB" sz="1300" kern="1200">
              <a:solidFill>
                <a:srgbClr val="050608"/>
              </a:solidFill>
              <a:latin typeface="Times New Roman" panose="02020603050405020304" pitchFamily="18" charset="0"/>
              <a:cs typeface="Times New Roman" panose="02020603050405020304" pitchFamily="18" charset="0"/>
            </a:rPr>
            <a:t>ENPH's focus is on preserving margin and pushing the higher-value solar-plus-storage bundle to increase revenue per customer.</a:t>
          </a:r>
          <a:endParaRPr lang="en-GB" sz="1300" kern="1200">
            <a:latin typeface="Times New Roman" panose="02020603050405020304" pitchFamily="18" charset="0"/>
            <a:cs typeface="Times New Roman" panose="02020603050405020304" pitchFamily="18" charset="0"/>
          </a:endParaRPr>
        </a:p>
      </dsp:txBody>
      <dsp:txXfrm>
        <a:off x="7944582" y="128692"/>
        <a:ext cx="1835493" cy="1223661"/>
      </dsp:txXfrm>
    </dsp:sp>
    <dsp:sp modelId="{4030B03C-E6B1-45BC-8CA6-652791682304}">
      <dsp:nvSpPr>
        <dsp:cNvPr id="0" name=""/>
        <dsp:cNvSpPr/>
      </dsp:nvSpPr>
      <dsp:spPr>
        <a:xfrm>
          <a:off x="1495294" y="1684069"/>
          <a:ext cx="3685728" cy="147429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14605" rIns="0" bIns="14605" numCol="1" spcCol="1270" anchor="ctr" anchorCtr="0">
          <a:noAutofit/>
        </a:bodyPr>
        <a:lstStyle/>
        <a:p>
          <a:pPr marL="0" lvl="0" indent="0" algn="ctr" defTabSz="1022350" rtl="0">
            <a:lnSpc>
              <a:spcPct val="90000"/>
            </a:lnSpc>
            <a:spcBef>
              <a:spcPct val="0"/>
            </a:spcBef>
            <a:spcAft>
              <a:spcPct val="35000"/>
            </a:spcAft>
            <a:buNone/>
          </a:pPr>
          <a:r>
            <a:rPr lang="en-GB" sz="2300" kern="1200">
              <a:latin typeface="Times New Roman" panose="02020603050405020304" pitchFamily="18" charset="0"/>
              <a:cs typeface="Times New Roman" panose="02020603050405020304" pitchFamily="18" charset="0"/>
            </a:rPr>
            <a:t>Major Legal Overhang</a:t>
          </a:r>
        </a:p>
      </dsp:txBody>
      <dsp:txXfrm>
        <a:off x="2232440" y="1684069"/>
        <a:ext cx="2211437" cy="1474291"/>
      </dsp:txXfrm>
    </dsp:sp>
    <dsp:sp modelId="{A1C5D559-28D9-48CD-B30A-E69A37A68A3E}">
      <dsp:nvSpPr>
        <dsp:cNvPr id="0" name=""/>
        <dsp:cNvSpPr/>
      </dsp:nvSpPr>
      <dsp:spPr>
        <a:xfrm>
          <a:off x="4701878" y="1809384"/>
          <a:ext cx="3059154" cy="1223661"/>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rtl="0">
            <a:lnSpc>
              <a:spcPct val="90000"/>
            </a:lnSpc>
            <a:spcBef>
              <a:spcPct val="0"/>
            </a:spcBef>
            <a:spcAft>
              <a:spcPct val="35000"/>
            </a:spcAft>
            <a:buNone/>
          </a:pPr>
          <a:r>
            <a:rPr lang="en-GB" sz="1300" kern="1200">
              <a:solidFill>
                <a:srgbClr val="050608"/>
              </a:solidFill>
              <a:latin typeface="Times New Roman" panose="02020603050405020304" pitchFamily="18" charset="0"/>
              <a:cs typeface="Times New Roman" panose="02020603050405020304" pitchFamily="18" charset="0"/>
            </a:rPr>
            <a:t>The ongoing securities lawsuit and SEC investigation concerning past channel stuffing allegations create a significant credibility and financial overhang. </a:t>
          </a:r>
          <a:endParaRPr lang="en-GB" sz="1300" kern="1200">
            <a:latin typeface="Times New Roman" panose="02020603050405020304" pitchFamily="18" charset="0"/>
            <a:cs typeface="Times New Roman" panose="02020603050405020304" pitchFamily="18" charset="0"/>
          </a:endParaRPr>
        </a:p>
      </dsp:txBody>
      <dsp:txXfrm>
        <a:off x="5313709" y="1809384"/>
        <a:ext cx="1835493" cy="1223661"/>
      </dsp:txXfrm>
    </dsp:sp>
    <dsp:sp modelId="{22B8EF3A-224B-46BF-84D5-9F8CCF91F334}">
      <dsp:nvSpPr>
        <dsp:cNvPr id="0" name=""/>
        <dsp:cNvSpPr/>
      </dsp:nvSpPr>
      <dsp:spPr>
        <a:xfrm>
          <a:off x="7332751" y="1809384"/>
          <a:ext cx="3059154" cy="1223661"/>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rtl="0">
            <a:lnSpc>
              <a:spcPct val="90000"/>
            </a:lnSpc>
            <a:spcBef>
              <a:spcPct val="0"/>
            </a:spcBef>
            <a:spcAft>
              <a:spcPct val="35000"/>
            </a:spcAft>
            <a:buNone/>
          </a:pPr>
          <a:r>
            <a:rPr lang="en-GB" sz="1300" kern="1200">
              <a:solidFill>
                <a:srgbClr val="050608"/>
              </a:solidFill>
              <a:latin typeface="Times New Roman" panose="02020603050405020304" pitchFamily="18" charset="0"/>
              <a:cs typeface="Times New Roman" panose="02020603050405020304" pitchFamily="18" charset="0"/>
            </a:rPr>
            <a:t>The company is defending itself vigorously and has operationally rectified the core issue by right-sizing European distributor inventory.</a:t>
          </a:r>
          <a:endParaRPr lang="en-GB" sz="1300" kern="1200">
            <a:latin typeface="Times New Roman" panose="02020603050405020304" pitchFamily="18" charset="0"/>
            <a:cs typeface="Times New Roman" panose="02020603050405020304" pitchFamily="18" charset="0"/>
          </a:endParaRPr>
        </a:p>
      </dsp:txBody>
      <dsp:txXfrm>
        <a:off x="7944582" y="1809384"/>
        <a:ext cx="1835493" cy="1223661"/>
      </dsp:txXfrm>
    </dsp:sp>
    <dsp:sp modelId="{10ED5AAA-501E-4F48-B65C-906FC1533513}">
      <dsp:nvSpPr>
        <dsp:cNvPr id="0" name=""/>
        <dsp:cNvSpPr/>
      </dsp:nvSpPr>
      <dsp:spPr>
        <a:xfrm>
          <a:off x="1495294" y="3364761"/>
          <a:ext cx="3685728" cy="147429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14605" rIns="0" bIns="14605" numCol="1" spcCol="1270" anchor="ctr" anchorCtr="0">
          <a:noAutofit/>
        </a:bodyPr>
        <a:lstStyle/>
        <a:p>
          <a:pPr marL="0" lvl="0" indent="0" algn="ctr" defTabSz="1022350" rtl="0">
            <a:lnSpc>
              <a:spcPct val="90000"/>
            </a:lnSpc>
            <a:spcBef>
              <a:spcPct val="0"/>
            </a:spcBef>
            <a:spcAft>
              <a:spcPct val="35000"/>
            </a:spcAft>
            <a:buNone/>
          </a:pPr>
          <a:r>
            <a:rPr lang="en-GB" sz="2300" kern="1200">
              <a:latin typeface="Times New Roman" panose="02020603050405020304" pitchFamily="18" charset="0"/>
              <a:cs typeface="Times New Roman" panose="02020603050405020304" pitchFamily="18" charset="0"/>
            </a:rPr>
            <a:t>Geopolitical Trade Escalation</a:t>
          </a:r>
        </a:p>
      </dsp:txBody>
      <dsp:txXfrm>
        <a:off x="2232440" y="3364761"/>
        <a:ext cx="2211437" cy="1474291"/>
      </dsp:txXfrm>
    </dsp:sp>
    <dsp:sp modelId="{2482B1CA-6567-457B-84F1-EC099EB7022B}">
      <dsp:nvSpPr>
        <dsp:cNvPr id="0" name=""/>
        <dsp:cNvSpPr/>
      </dsp:nvSpPr>
      <dsp:spPr>
        <a:xfrm>
          <a:off x="4701878" y="3490076"/>
          <a:ext cx="3059154" cy="1223661"/>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rtl="0">
            <a:lnSpc>
              <a:spcPct val="90000"/>
            </a:lnSpc>
            <a:spcBef>
              <a:spcPct val="0"/>
            </a:spcBef>
            <a:spcAft>
              <a:spcPct val="35000"/>
            </a:spcAft>
            <a:buNone/>
          </a:pPr>
          <a:r>
            <a:rPr lang="en-GB" sz="1300" kern="1200">
              <a:solidFill>
                <a:srgbClr val="050608"/>
              </a:solidFill>
              <a:latin typeface="Times New Roman" panose="02020603050405020304" pitchFamily="18" charset="0"/>
              <a:cs typeface="Times New Roman" panose="02020603050405020304" pitchFamily="18" charset="0"/>
            </a:rPr>
            <a:t>Current administration is likely to expand tariffs, directly impacting supply chain costs and complexity.</a:t>
          </a:r>
          <a:endParaRPr lang="en-GB" sz="1300" kern="1200">
            <a:latin typeface="Times New Roman" panose="02020603050405020304" pitchFamily="18" charset="0"/>
            <a:cs typeface="Times New Roman" panose="02020603050405020304" pitchFamily="18" charset="0"/>
          </a:endParaRPr>
        </a:p>
      </dsp:txBody>
      <dsp:txXfrm>
        <a:off x="5313709" y="3490076"/>
        <a:ext cx="1835493" cy="1223661"/>
      </dsp:txXfrm>
    </dsp:sp>
    <dsp:sp modelId="{54667C93-1B16-4BEA-843E-BD15D1E7EB7B}">
      <dsp:nvSpPr>
        <dsp:cNvPr id="0" name=""/>
        <dsp:cNvSpPr/>
      </dsp:nvSpPr>
      <dsp:spPr>
        <a:xfrm>
          <a:off x="7332751" y="3490076"/>
          <a:ext cx="3059154" cy="1223661"/>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rtl="0">
            <a:lnSpc>
              <a:spcPct val="90000"/>
            </a:lnSpc>
            <a:spcBef>
              <a:spcPct val="0"/>
            </a:spcBef>
            <a:spcAft>
              <a:spcPct val="35000"/>
            </a:spcAft>
            <a:buNone/>
          </a:pPr>
          <a:r>
            <a:rPr lang="en-GB" sz="1300" kern="1200">
              <a:solidFill>
                <a:srgbClr val="050608"/>
              </a:solidFill>
              <a:latin typeface="Times New Roman" panose="02020603050405020304" pitchFamily="18" charset="0"/>
              <a:cs typeface="Times New Roman" panose="02020603050405020304" pitchFamily="18" charset="0"/>
            </a:rPr>
            <a:t>ENPH's diversified manufacturing footprint (U.S., Mexico, Romania, India) provides a crucial "local-for-local" buffer against regional trade disputes.</a:t>
          </a:r>
          <a:endParaRPr lang="en-GB" sz="1300" kern="1200">
            <a:latin typeface="Times New Roman" panose="02020603050405020304" pitchFamily="18" charset="0"/>
            <a:cs typeface="Times New Roman" panose="02020603050405020304" pitchFamily="18" charset="0"/>
          </a:endParaRPr>
        </a:p>
      </dsp:txBody>
      <dsp:txXfrm>
        <a:off x="7944582" y="3490076"/>
        <a:ext cx="1835493" cy="1223661"/>
      </dsp:txXfrm>
    </dsp:sp>
    <dsp:sp modelId="{39CCDFD6-D1F4-4347-B28A-663FC2DA4E71}">
      <dsp:nvSpPr>
        <dsp:cNvPr id="0" name=""/>
        <dsp:cNvSpPr/>
      </dsp:nvSpPr>
      <dsp:spPr>
        <a:xfrm>
          <a:off x="1495294" y="5045454"/>
          <a:ext cx="3685728" cy="147429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14605" rIns="0" bIns="14605" numCol="1" spcCol="1270" anchor="ctr" anchorCtr="0">
          <a:noAutofit/>
        </a:bodyPr>
        <a:lstStyle/>
        <a:p>
          <a:pPr marL="0" lvl="0" indent="0" algn="ctr" defTabSz="1022350" rtl="0">
            <a:lnSpc>
              <a:spcPct val="90000"/>
            </a:lnSpc>
            <a:spcBef>
              <a:spcPct val="0"/>
            </a:spcBef>
            <a:spcAft>
              <a:spcPct val="35000"/>
            </a:spcAft>
            <a:buNone/>
          </a:pPr>
          <a:r>
            <a:rPr lang="en-GB" sz="2300" kern="1200">
              <a:latin typeface="Times New Roman" panose="02020603050405020304" pitchFamily="18" charset="0"/>
              <a:cs typeface="Times New Roman" panose="02020603050405020304" pitchFamily="18" charset="0"/>
            </a:rPr>
            <a:t>Execution in Saturated Markets</a:t>
          </a:r>
        </a:p>
      </dsp:txBody>
      <dsp:txXfrm>
        <a:off x="2232440" y="5045454"/>
        <a:ext cx="2211437" cy="1474291"/>
      </dsp:txXfrm>
    </dsp:sp>
    <dsp:sp modelId="{438EE792-AD2F-4BD1-9BF4-E16E3B59FED1}">
      <dsp:nvSpPr>
        <dsp:cNvPr id="0" name=""/>
        <dsp:cNvSpPr/>
      </dsp:nvSpPr>
      <dsp:spPr>
        <a:xfrm>
          <a:off x="4701878" y="5170768"/>
          <a:ext cx="3059154" cy="1223661"/>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rtl="0">
            <a:lnSpc>
              <a:spcPct val="90000"/>
            </a:lnSpc>
            <a:spcBef>
              <a:spcPct val="0"/>
            </a:spcBef>
            <a:spcAft>
              <a:spcPct val="35000"/>
            </a:spcAft>
            <a:buNone/>
          </a:pPr>
          <a:r>
            <a:rPr lang="en-GB" sz="1300" kern="1200" dirty="0">
              <a:solidFill>
                <a:srgbClr val="050608"/>
              </a:solidFill>
              <a:latin typeface="Times New Roman" panose="02020603050405020304" pitchFamily="18" charset="0"/>
              <a:cs typeface="Times New Roman" panose="02020603050405020304" pitchFamily="18" charset="0"/>
            </a:rPr>
            <a:t>Core markets (Europe, California) are saturated and hyper-competitive, which risks damaging market share and pricing power. </a:t>
          </a:r>
          <a:endParaRPr lang="en-GB" sz="1300" kern="1200" dirty="0">
            <a:latin typeface="Times New Roman" panose="02020603050405020304" pitchFamily="18" charset="0"/>
            <a:cs typeface="Times New Roman" panose="02020603050405020304" pitchFamily="18" charset="0"/>
          </a:endParaRPr>
        </a:p>
      </dsp:txBody>
      <dsp:txXfrm>
        <a:off x="5313709" y="5170768"/>
        <a:ext cx="1835493" cy="1223661"/>
      </dsp:txXfrm>
    </dsp:sp>
    <dsp:sp modelId="{186E478A-C103-4E12-8F37-CF7E7F56240E}">
      <dsp:nvSpPr>
        <dsp:cNvPr id="0" name=""/>
        <dsp:cNvSpPr/>
      </dsp:nvSpPr>
      <dsp:spPr>
        <a:xfrm>
          <a:off x="7332751" y="5170768"/>
          <a:ext cx="3059154" cy="1223661"/>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rtl="0">
            <a:lnSpc>
              <a:spcPct val="90000"/>
            </a:lnSpc>
            <a:spcBef>
              <a:spcPct val="0"/>
            </a:spcBef>
            <a:spcAft>
              <a:spcPct val="35000"/>
            </a:spcAft>
            <a:buNone/>
          </a:pPr>
          <a:r>
            <a:rPr lang="en-GB" sz="1300" kern="1200" dirty="0">
              <a:solidFill>
                <a:srgbClr val="050608"/>
              </a:solidFill>
              <a:latin typeface="Times New Roman" panose="02020603050405020304" pitchFamily="18" charset="0"/>
              <a:cs typeface="Times New Roman" panose="02020603050405020304" pitchFamily="18" charset="0"/>
            </a:rPr>
            <a:t>Strategy hinges on increasing battery attachment rates in the U.S. and geographic expansion into less-penetrated European countries.</a:t>
          </a:r>
        </a:p>
      </dsp:txBody>
      <dsp:txXfrm>
        <a:off x="7944582" y="5170768"/>
        <a:ext cx="1835493" cy="1223661"/>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A8F916-2D8E-4B24-A66B-C9917EFFBA0A}" type="datetimeFigureOut">
              <a:rPr lang="en-GB" smtClean="0"/>
              <a:t>25/11/2025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B2E11C-64A3-44B0-8549-F8F3A4BCD169}" type="slidenum">
              <a:rPr lang="en-GB" smtClean="0"/>
              <a:t>‹#›</a:t>
            </a:fld>
            <a:endParaRPr lang="en-GB"/>
          </a:p>
        </p:txBody>
      </p:sp>
    </p:spTree>
    <p:extLst>
      <p:ext uri="{BB962C8B-B14F-4D97-AF65-F5344CB8AC3E}">
        <p14:creationId xmlns:p14="http://schemas.microsoft.com/office/powerpoint/2010/main" val="2493832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2B2E11C-64A3-44B0-8549-F8F3A4BCD169}" type="slidenum">
              <a:rPr lang="en-GB" smtClean="0"/>
              <a:t>14</a:t>
            </a:fld>
            <a:endParaRPr lang="en-GB"/>
          </a:p>
        </p:txBody>
      </p:sp>
    </p:spTree>
    <p:extLst>
      <p:ext uri="{BB962C8B-B14F-4D97-AF65-F5344CB8AC3E}">
        <p14:creationId xmlns:p14="http://schemas.microsoft.com/office/powerpoint/2010/main" val="3826593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14.jpe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eur03.safelinks.protection.outlook.com/?url=https%3A%2F%2Femp.lbl.gov%2Fsites%2Fdefault%2Ffiles%2F2024-04%2FQueued%252520Up%2525202024%252520Edition_0.pdf&amp;data=05%7C02%7CA.Mughal2%40newcastle.ac.uk%7C5a00f0911a8649bc4e3c08de173bfd74%7C9c5012c9b61644c2a91766814fbe3e87%7C1%7C0%7C638973743584663118%7CUnknown%7CTWFpbGZsb3d8eyJFbXB0eU1hcGkiOnRydWUsIlYiOiIwLjAuMDAwMCIsIlAiOiJXaW4zMiIsIkFOIjoiTWFpbCIsIldUIjoyfQ%3D%3D%7C0%7C%7C%7C&amp;sdata=w%2ByudDkeKH7j3WoX4Q27d4inmXyFJgxxcMt6Y%2BRY22k%3D&amp;reserved=0" TargetMode="External"/><Relationship Id="rId3" Type="http://schemas.openxmlformats.org/officeDocument/2006/relationships/hyperlink" Target="https://eur03.safelinks.protection.outlook.com/?url=https%3A%2F%2Fnewsroom.enphase.com%2Fnews-releases%2Fnews-release-details%2Fenphase-energy-acquires-solarleadfactory%2F&amp;data=05%7C02%7CA.Mughal2%40newcastle.ac.uk%7C5a00f0911a8649bc4e3c08de173bfd74%7C9c5012c9b61644c2a91766814fbe3e87%7C1%7C0%7C638973743584484691%7CUnknown%7CTWFpbGZsb3d8eyJFbXB0eU1hcGkiOnRydWUsIlYiOiIwLjAuMDAwMCIsIlAiOiJXaW4zMiIsIkFOIjoiTWFpbCIsIldUIjoyfQ%3D%3D%7C0%7C%7C%7C&amp;sdata=FSdBfsK%2B%2FiGEaetXJnBOQeUIb3CmssGa2xpUn8q53Rk%3D&amp;reserved=0" TargetMode="External"/><Relationship Id="rId7" Type="http://schemas.openxmlformats.org/officeDocument/2006/relationships/hyperlink" Target="https://eur03.safelinks.protection.outlook.com/?url=https%3A%2F%2Finvestor.enphase.com%2Fnews-releases%2Fnews-release-details%2Fenphase-energy-reports-financial-results-second-quarter-2025&amp;data=05%7C02%7CA.Mughal2%40newcastle.ac.uk%7C5a00f0911a8649bc4e3c08de173bfd74%7C9c5012c9b61644c2a91766814fbe3e87%7C1%7C0%7C638973743584615578%7CUnknown%7CTWFpbGZsb3d8eyJFbXB0eU1hcGkiOnRydWUsIlYiOiIwLjAuMDAwMCIsIlAiOiJXaW4zMiIsIkFOIjoiTWFpbCIsIldUIjoyfQ%3D%3D%7C0%7C%7C%7C&amp;sdata=8k64NYQ5%2FqyFCPKy2i277ucRqIx3Fbxo1lgQkXrrO44%3D&amp;reserved=0"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eur03.safelinks.protection.outlook.com/?url=https%3A%2F%2Finvestor.enphase.com%2Fnews-releases%2Fnews-release-details%2Fenphase-energy-reports-financial-results-first-quarter-2025&amp;data=05%7C02%7CA.Mughal2%40newcastle.ac.uk%7C5a00f0911a8649bc4e3c08de173bfd74%7C9c5012c9b61644c2a91766814fbe3e87%7C1%7C0%7C638973743584570382%7CUnknown%7CTWFpbGZsb3d8eyJFbXB0eU1hcGkiOnRydWUsIlYiOiIwLjAuMDAwMCIsIlAiOiJXaW4zMiIsIkFOIjoiTWFpbCIsIldUIjoyfQ%3D%3D%7C0%7C%7C%7C&amp;sdata=Jy1xyKpwknwmxB6ODCFIvrIBg%2FBS988%2B6ibOzen8h9k%3D&amp;reserved=0" TargetMode="External"/><Relationship Id="rId5" Type="http://schemas.openxmlformats.org/officeDocument/2006/relationships/hyperlink" Target="https://eur03.safelinks.protection.outlook.com/?url=https%3A%2F%2Fwww.lazard.com%2Fresearch%2F&amp;data=05%7C02%7CA.Mughal2%40newcastle.ac.uk%7C5a00f0911a8649bc4e3c08de173bfd74%7C9c5012c9b61644c2a91766814fbe3e87%7C1%7C0%7C638973743584549349%7CUnknown%7CTWFpbGZsb3d8eyJFbXB0eU1hcGkiOnRydWUsIlYiOiIwLjAuMDAwMCIsIlAiOiJXaW4zMiIsIkFOIjoiTWFpbCIsIldUIjoyfQ%3D%3D%7C0%7C%7C%7C&amp;sdata=etVQw2e%2FahjL%2BF4xKliuCcmzE%2BvF%2Bhe%2B2fk6pAsYXsM%3D&amp;reserved=0" TargetMode="External"/><Relationship Id="rId4" Type="http://schemas.openxmlformats.org/officeDocument/2006/relationships/hyperlink" Target="https://eur03.safelinks.protection.outlook.com/?url=https%3A%2F%2Fwww.iea.org%2Freports%2Frenewables-2024&amp;data=05%7C02%7CA.Mughal2%40newcastle.ac.uk%7C5a00f0911a8649bc4e3c08de173bfd74%7C9c5012c9b61644c2a91766814fbe3e87%7C1%7C0%7C638973743584521407%7CUnknown%7CTWFpbGZsb3d8eyJFbXB0eU1hcGkiOnRydWUsIlYiOiIwLjAuMDAwMCIsIlAiOiJXaW4zMiIsIkFOIjoiTWFpbCIsIldUIjoyfQ%3D%3D%7C0%7C%7C%7C&amp;sdata=izQbqA5JqZVZFDe%2BHbVYH3s%2F%2BSisYJMnV5jMyjmods8%3D&amp;reserved=0"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sp>
        <p:nvSpPr>
          <p:cNvPr id="2" name="Freeform 2"/>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p>
        </p:txBody>
      </p:sp>
      <p:sp>
        <p:nvSpPr>
          <p:cNvPr id="3" name="TextBox 3"/>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4" name="TextBox 4"/>
          <p:cNvSpPr txBox="1"/>
          <p:nvPr/>
        </p:nvSpPr>
        <p:spPr>
          <a:xfrm>
            <a:off x="5750455" y="362348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5" name="TextBox 5"/>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6" name="Group 6"/>
          <p:cNvGrpSpPr/>
          <p:nvPr/>
        </p:nvGrpSpPr>
        <p:grpSpPr>
          <a:xfrm>
            <a:off x="13429278" y="487185"/>
            <a:ext cx="3545243" cy="4793050"/>
            <a:chOff x="0" y="0"/>
            <a:chExt cx="4726991" cy="6390734"/>
          </a:xfrm>
        </p:grpSpPr>
        <p:sp>
          <p:nvSpPr>
            <p:cNvPr id="7" name="TextBox 7"/>
            <p:cNvSpPr txBox="1"/>
            <p:nvPr/>
          </p:nvSpPr>
          <p:spPr>
            <a:xfrm>
              <a:off x="0" y="-419100"/>
              <a:ext cx="3068937" cy="4961395"/>
            </a:xfrm>
            <a:prstGeom prst="rect">
              <a:avLst/>
            </a:prstGeom>
          </p:spPr>
          <p:txBody>
            <a:bodyPr lIns="0" tIns="0" rIns="0" bIns="0" rtlCol="0" anchor="t">
              <a:spAutoFit/>
            </a:bodyPr>
            <a:lstStyle/>
            <a:p>
              <a:pPr algn="ctr">
                <a:lnSpc>
                  <a:spcPts val="31295"/>
                </a:lnSpc>
              </a:pPr>
              <a:r>
                <a:rPr lang="en-US" sz="22353">
                  <a:solidFill>
                    <a:srgbClr val="214779"/>
                  </a:solidFill>
                  <a:latin typeface="Cormorant Garamond"/>
                  <a:ea typeface="Cormorant Garamond"/>
                  <a:cs typeface="Cormorant Garamond"/>
                  <a:sym typeface="Cormorant Garamond"/>
                </a:rPr>
                <a:t>N</a:t>
              </a:r>
            </a:p>
          </p:txBody>
        </p:sp>
        <p:sp>
          <p:nvSpPr>
            <p:cNvPr id="8" name="TextBox 8"/>
            <p:cNvSpPr txBox="1"/>
            <p:nvPr/>
          </p:nvSpPr>
          <p:spPr>
            <a:xfrm>
              <a:off x="1156026" y="1429339"/>
              <a:ext cx="3570965" cy="4961395"/>
            </a:xfrm>
            <a:prstGeom prst="rect">
              <a:avLst/>
            </a:prstGeom>
          </p:spPr>
          <p:txBody>
            <a:bodyPr lIns="0" tIns="0" rIns="0" bIns="0" rtlCol="0" anchor="t">
              <a:spAutoFit/>
            </a:bodyPr>
            <a:lstStyle/>
            <a:p>
              <a:pPr algn="ctr">
                <a:lnSpc>
                  <a:spcPts val="31295"/>
                </a:lnSpc>
              </a:pPr>
              <a:r>
                <a:rPr lang="en-US" sz="22353">
                  <a:solidFill>
                    <a:srgbClr val="214779"/>
                  </a:solidFill>
                  <a:latin typeface="Cormorant Garamond"/>
                  <a:ea typeface="Cormorant Garamond"/>
                  <a:cs typeface="Cormorant Garamond"/>
                  <a:sym typeface="Cormorant Garamond"/>
                </a:rPr>
                <a:t>U</a:t>
              </a:r>
            </a:p>
          </p:txBody>
        </p:sp>
        <p:grpSp>
          <p:nvGrpSpPr>
            <p:cNvPr id="9" name="Group 9"/>
            <p:cNvGrpSpPr/>
            <p:nvPr/>
          </p:nvGrpSpPr>
          <p:grpSpPr>
            <a:xfrm rot="2480433">
              <a:off x="1691621" y="2256814"/>
              <a:ext cx="664372" cy="2487703"/>
              <a:chOff x="0" y="0"/>
              <a:chExt cx="174133" cy="652033"/>
            </a:xfrm>
          </p:grpSpPr>
          <p:sp>
            <p:nvSpPr>
              <p:cNvPr id="10" name="Freeform 10"/>
              <p:cNvSpPr/>
              <p:nvPr/>
            </p:nvSpPr>
            <p:spPr>
              <a:xfrm>
                <a:off x="0" y="0"/>
                <a:ext cx="174133" cy="652033"/>
              </a:xfrm>
              <a:custGeom>
                <a:avLst/>
                <a:gdLst/>
                <a:ahLst/>
                <a:cxnLst/>
                <a:rect l="l" t="t" r="r" b="b"/>
                <a:pathLst>
                  <a:path w="174133" h="652033">
                    <a:moveTo>
                      <a:pt x="0" y="0"/>
                    </a:moveTo>
                    <a:lnTo>
                      <a:pt x="174133" y="0"/>
                    </a:lnTo>
                    <a:lnTo>
                      <a:pt x="174133" y="652033"/>
                    </a:lnTo>
                    <a:lnTo>
                      <a:pt x="0" y="652033"/>
                    </a:lnTo>
                    <a:close/>
                  </a:path>
                </a:pathLst>
              </a:custGeom>
              <a:solidFill>
                <a:srgbClr val="FFFFFF"/>
              </a:solidFill>
            </p:spPr>
            <p:txBody>
              <a:bodyPr/>
              <a:lstStyle/>
              <a:p>
                <a:endParaRPr lang="en-GB"/>
              </a:p>
            </p:txBody>
          </p:sp>
          <p:sp>
            <p:nvSpPr>
              <p:cNvPr id="11" name="TextBox 11"/>
              <p:cNvSpPr txBox="1"/>
              <p:nvPr/>
            </p:nvSpPr>
            <p:spPr>
              <a:xfrm>
                <a:off x="0" y="-19050"/>
                <a:ext cx="174133" cy="671083"/>
              </a:xfrm>
              <a:prstGeom prst="rect">
                <a:avLst/>
              </a:prstGeom>
            </p:spPr>
            <p:txBody>
              <a:bodyPr lIns="54969" tIns="54969" rIns="54969" bIns="54969" rtlCol="0" anchor="ctr"/>
              <a:lstStyle/>
              <a:p>
                <a:pPr algn="ctr">
                  <a:lnSpc>
                    <a:spcPts val="1680"/>
                  </a:lnSpc>
                </a:pPr>
                <a:endParaRPr/>
              </a:p>
            </p:txBody>
          </p:sp>
        </p:grpSp>
        <p:grpSp>
          <p:nvGrpSpPr>
            <p:cNvPr id="12" name="Group 12"/>
            <p:cNvGrpSpPr/>
            <p:nvPr/>
          </p:nvGrpSpPr>
          <p:grpSpPr>
            <a:xfrm rot="2947434">
              <a:off x="1299811" y="2699384"/>
              <a:ext cx="643644" cy="674486"/>
              <a:chOff x="0" y="0"/>
              <a:chExt cx="168700" cy="176784"/>
            </a:xfrm>
          </p:grpSpPr>
          <p:sp>
            <p:nvSpPr>
              <p:cNvPr id="13" name="Freeform 13"/>
              <p:cNvSpPr/>
              <p:nvPr/>
            </p:nvSpPr>
            <p:spPr>
              <a:xfrm>
                <a:off x="0" y="0"/>
                <a:ext cx="168700" cy="176784"/>
              </a:xfrm>
              <a:custGeom>
                <a:avLst/>
                <a:gdLst/>
                <a:ahLst/>
                <a:cxnLst/>
                <a:rect l="l" t="t" r="r" b="b"/>
                <a:pathLst>
                  <a:path w="168700" h="176784">
                    <a:moveTo>
                      <a:pt x="0" y="0"/>
                    </a:moveTo>
                    <a:lnTo>
                      <a:pt x="168700" y="0"/>
                    </a:lnTo>
                    <a:lnTo>
                      <a:pt x="168700" y="176784"/>
                    </a:lnTo>
                    <a:lnTo>
                      <a:pt x="0" y="176784"/>
                    </a:lnTo>
                    <a:close/>
                  </a:path>
                </a:pathLst>
              </a:custGeom>
              <a:solidFill>
                <a:srgbClr val="FFFFFF"/>
              </a:solidFill>
            </p:spPr>
            <p:txBody>
              <a:bodyPr/>
              <a:lstStyle/>
              <a:p>
                <a:endParaRPr lang="en-GB"/>
              </a:p>
            </p:txBody>
          </p:sp>
          <p:sp>
            <p:nvSpPr>
              <p:cNvPr id="14" name="TextBox 14"/>
              <p:cNvSpPr txBox="1"/>
              <p:nvPr/>
            </p:nvSpPr>
            <p:spPr>
              <a:xfrm>
                <a:off x="0" y="-19050"/>
                <a:ext cx="168700" cy="195834"/>
              </a:xfrm>
              <a:prstGeom prst="rect">
                <a:avLst/>
              </a:prstGeom>
            </p:spPr>
            <p:txBody>
              <a:bodyPr lIns="54969" tIns="54969" rIns="54969" bIns="54969" rtlCol="0" anchor="ctr"/>
              <a:lstStyle/>
              <a:p>
                <a:pPr algn="ctr">
                  <a:lnSpc>
                    <a:spcPts val="1680"/>
                  </a:lnSpc>
                </a:pPr>
                <a:endParaRPr/>
              </a:p>
            </p:txBody>
          </p:sp>
        </p:grpSp>
        <p:grpSp>
          <p:nvGrpSpPr>
            <p:cNvPr id="15" name="Group 15"/>
            <p:cNvGrpSpPr/>
            <p:nvPr/>
          </p:nvGrpSpPr>
          <p:grpSpPr>
            <a:xfrm rot="1866698">
              <a:off x="2210342" y="2862159"/>
              <a:ext cx="905299" cy="823940"/>
              <a:chOff x="0" y="0"/>
              <a:chExt cx="237281" cy="215957"/>
            </a:xfrm>
          </p:grpSpPr>
          <p:sp>
            <p:nvSpPr>
              <p:cNvPr id="16" name="Freeform 16"/>
              <p:cNvSpPr/>
              <p:nvPr/>
            </p:nvSpPr>
            <p:spPr>
              <a:xfrm>
                <a:off x="0" y="0"/>
                <a:ext cx="237281" cy="215957"/>
              </a:xfrm>
              <a:custGeom>
                <a:avLst/>
                <a:gdLst/>
                <a:ahLst/>
                <a:cxnLst/>
                <a:rect l="l" t="t" r="r" b="b"/>
                <a:pathLst>
                  <a:path w="237281" h="215957">
                    <a:moveTo>
                      <a:pt x="0" y="0"/>
                    </a:moveTo>
                    <a:lnTo>
                      <a:pt x="237281" y="0"/>
                    </a:lnTo>
                    <a:lnTo>
                      <a:pt x="237281" y="215957"/>
                    </a:lnTo>
                    <a:lnTo>
                      <a:pt x="0" y="215957"/>
                    </a:lnTo>
                    <a:close/>
                  </a:path>
                </a:pathLst>
              </a:custGeom>
              <a:solidFill>
                <a:srgbClr val="FFFFFF"/>
              </a:solidFill>
            </p:spPr>
            <p:txBody>
              <a:bodyPr/>
              <a:lstStyle/>
              <a:p>
                <a:endParaRPr lang="en-GB"/>
              </a:p>
            </p:txBody>
          </p:sp>
          <p:sp>
            <p:nvSpPr>
              <p:cNvPr id="17" name="TextBox 17"/>
              <p:cNvSpPr txBox="1"/>
              <p:nvPr/>
            </p:nvSpPr>
            <p:spPr>
              <a:xfrm>
                <a:off x="0" y="-19050"/>
                <a:ext cx="237281" cy="235007"/>
              </a:xfrm>
              <a:prstGeom prst="rect">
                <a:avLst/>
              </a:prstGeom>
            </p:spPr>
            <p:txBody>
              <a:bodyPr lIns="54969" tIns="54969" rIns="54969" bIns="54969" rtlCol="0" anchor="ctr"/>
              <a:lstStyle/>
              <a:p>
                <a:pPr algn="ctr">
                  <a:lnSpc>
                    <a:spcPts val="1680"/>
                  </a:lnSpc>
                </a:pPr>
                <a:endParaRPr/>
              </a:p>
            </p:txBody>
          </p:sp>
        </p:grpSp>
        <p:sp>
          <p:nvSpPr>
            <p:cNvPr id="18" name="AutoShape 18"/>
            <p:cNvSpPr/>
            <p:nvPr/>
          </p:nvSpPr>
          <p:spPr>
            <a:xfrm flipV="1">
              <a:off x="870689" y="1805550"/>
              <a:ext cx="2985613" cy="2852890"/>
            </a:xfrm>
            <a:prstGeom prst="line">
              <a:avLst/>
            </a:prstGeom>
            <a:ln w="67050" cap="flat">
              <a:solidFill>
                <a:srgbClr val="214779"/>
              </a:solidFill>
              <a:prstDash val="solid"/>
              <a:headEnd type="none" w="sm" len="sm"/>
              <a:tailEnd type="none" w="sm" len="sm"/>
            </a:ln>
          </p:spPr>
          <p:txBody>
            <a:bodyPr/>
            <a:lstStyle/>
            <a:p>
              <a:endParaRPr lang="en-GB"/>
            </a:p>
          </p:txBody>
        </p:sp>
      </p:grpSp>
      <p:sp>
        <p:nvSpPr>
          <p:cNvPr id="19" name="Freeform 19"/>
          <p:cNvSpPr/>
          <p:nvPr/>
        </p:nvSpPr>
        <p:spPr>
          <a:xfrm>
            <a:off x="13144500" y="51435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20" name="TextBox 20"/>
          <p:cNvSpPr txBox="1"/>
          <p:nvPr/>
        </p:nvSpPr>
        <p:spPr>
          <a:xfrm>
            <a:off x="1964642" y="5488141"/>
            <a:ext cx="4914850" cy="3602990"/>
          </a:xfrm>
          <a:prstGeom prst="rect">
            <a:avLst/>
          </a:prstGeom>
        </p:spPr>
        <p:txBody>
          <a:bodyPr lIns="0" tIns="0" rIns="0" bIns="0" rtlCol="0" anchor="t">
            <a:spAutoFit/>
          </a:bodyPr>
          <a:lstStyle/>
          <a:p>
            <a:pPr algn="l">
              <a:lnSpc>
                <a:spcPts val="4060"/>
              </a:lnSpc>
              <a:spcBef>
                <a:spcPct val="0"/>
              </a:spcBef>
            </a:pPr>
            <a:r>
              <a:rPr lang="en-US" sz="2900">
                <a:solidFill>
                  <a:srgbClr val="000000"/>
                </a:solidFill>
                <a:latin typeface="Times New Roman"/>
                <a:ea typeface="Times New Roman"/>
                <a:cs typeface="Times New Roman"/>
                <a:sym typeface="Times New Roman"/>
              </a:rPr>
              <a:t>Head Analyst: </a:t>
            </a:r>
          </a:p>
          <a:p>
            <a:pPr algn="l">
              <a:lnSpc>
                <a:spcPts val="4060"/>
              </a:lnSpc>
              <a:spcBef>
                <a:spcPct val="0"/>
              </a:spcBef>
            </a:pPr>
            <a:r>
              <a:rPr lang="en-US" sz="2900">
                <a:solidFill>
                  <a:srgbClr val="000000"/>
                </a:solidFill>
                <a:latin typeface="Times New Roman"/>
                <a:ea typeface="Times New Roman"/>
                <a:cs typeface="Times New Roman"/>
                <a:sym typeface="Times New Roman"/>
              </a:rPr>
              <a:t>(First Name, Last Name)</a:t>
            </a:r>
          </a:p>
          <a:p>
            <a:pPr algn="l">
              <a:lnSpc>
                <a:spcPts val="4060"/>
              </a:lnSpc>
              <a:spcBef>
                <a:spcPct val="0"/>
              </a:spcBef>
            </a:pPr>
            <a:r>
              <a:rPr lang="en-US" sz="2900">
                <a:solidFill>
                  <a:srgbClr val="000000"/>
                </a:solidFill>
                <a:latin typeface="Times New Roman"/>
                <a:ea typeface="Times New Roman"/>
                <a:cs typeface="Times New Roman"/>
                <a:sym typeface="Times New Roman"/>
              </a:rPr>
              <a:t> </a:t>
            </a:r>
          </a:p>
          <a:p>
            <a:pPr algn="l">
              <a:lnSpc>
                <a:spcPts val="4060"/>
              </a:lnSpc>
              <a:spcBef>
                <a:spcPct val="0"/>
              </a:spcBef>
            </a:pPr>
            <a:r>
              <a:rPr lang="en-US" sz="2900">
                <a:solidFill>
                  <a:srgbClr val="000000"/>
                </a:solidFill>
                <a:latin typeface="Times New Roman"/>
                <a:ea typeface="Times New Roman"/>
                <a:cs typeface="Times New Roman"/>
                <a:sym typeface="Times New Roman"/>
              </a:rPr>
              <a:t>Analysts:</a:t>
            </a:r>
          </a:p>
          <a:p>
            <a:pPr algn="l">
              <a:lnSpc>
                <a:spcPts val="4060"/>
              </a:lnSpc>
              <a:spcBef>
                <a:spcPct val="0"/>
              </a:spcBef>
            </a:pPr>
            <a:r>
              <a:rPr lang="en-US" sz="2900">
                <a:solidFill>
                  <a:srgbClr val="000000"/>
                </a:solidFill>
                <a:latin typeface="Times New Roman"/>
                <a:ea typeface="Times New Roman"/>
                <a:cs typeface="Times New Roman"/>
                <a:sym typeface="Times New Roman"/>
              </a:rPr>
              <a:t>(First Name, Last Name)</a:t>
            </a:r>
          </a:p>
          <a:p>
            <a:pPr algn="l">
              <a:lnSpc>
                <a:spcPts val="4060"/>
              </a:lnSpc>
              <a:spcBef>
                <a:spcPct val="0"/>
              </a:spcBef>
            </a:pPr>
            <a:r>
              <a:rPr lang="en-US" sz="2900">
                <a:solidFill>
                  <a:srgbClr val="000000"/>
                </a:solidFill>
                <a:latin typeface="Times New Roman"/>
                <a:ea typeface="Times New Roman"/>
                <a:cs typeface="Times New Roman"/>
                <a:sym typeface="Times New Roman"/>
              </a:rPr>
              <a:t>(First Name, Last Name)</a:t>
            </a:r>
          </a:p>
          <a:p>
            <a:pPr algn="l">
              <a:lnSpc>
                <a:spcPts val="4060"/>
              </a:lnSpc>
              <a:spcBef>
                <a:spcPct val="0"/>
              </a:spcBef>
            </a:pPr>
            <a:r>
              <a:rPr lang="en-US" sz="2900">
                <a:solidFill>
                  <a:srgbClr val="000000"/>
                </a:solidFill>
                <a:latin typeface="Times New Roman"/>
                <a:ea typeface="Times New Roman"/>
                <a:cs typeface="Times New Roman"/>
                <a:sym typeface="Times New Roman"/>
              </a:rPr>
              <a:t>(First Name, Last Name)</a:t>
            </a:r>
          </a:p>
        </p:txBody>
      </p:sp>
      <p:sp>
        <p:nvSpPr>
          <p:cNvPr id="21" name="TextBox 21"/>
          <p:cNvSpPr txBox="1"/>
          <p:nvPr/>
        </p:nvSpPr>
        <p:spPr>
          <a:xfrm>
            <a:off x="13852699" y="6871231"/>
            <a:ext cx="2698403" cy="59944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Times New Roman"/>
                <a:ea typeface="Times New Roman"/>
                <a:cs typeface="Times New Roman"/>
                <a:sym typeface="Times New Roman"/>
              </a:rPr>
              <a:t>Company Logo</a:t>
            </a:r>
          </a:p>
        </p:txBody>
      </p:sp>
      <p:sp>
        <p:nvSpPr>
          <p:cNvPr id="22" name="TextBox 22"/>
          <p:cNvSpPr txBox="1"/>
          <p:nvPr/>
        </p:nvSpPr>
        <p:spPr>
          <a:xfrm>
            <a:off x="1868226" y="3709072"/>
            <a:ext cx="11142224" cy="516890"/>
          </a:xfrm>
          <a:prstGeom prst="rect">
            <a:avLst/>
          </a:prstGeom>
        </p:spPr>
        <p:txBody>
          <a:bodyPr lIns="0" tIns="0" rIns="0" bIns="0" rtlCol="0" anchor="t">
            <a:spAutoFit/>
          </a:bodyPr>
          <a:lstStyle/>
          <a:p>
            <a:pPr algn="l">
              <a:lnSpc>
                <a:spcPts val="4060"/>
              </a:lnSpc>
              <a:spcBef>
                <a:spcPct val="0"/>
              </a:spcBef>
            </a:pPr>
            <a:r>
              <a:rPr lang="en-US" sz="2900">
                <a:solidFill>
                  <a:srgbClr val="000000"/>
                </a:solidFill>
                <a:latin typeface="Times New Roman"/>
                <a:ea typeface="Times New Roman"/>
                <a:cs typeface="Times New Roman"/>
                <a:sym typeface="Times New Roman"/>
              </a:rPr>
              <a:t>Name of Company + Name of Exchange It Operates On + TICKR Symbol</a:t>
            </a:r>
          </a:p>
        </p:txBody>
      </p:sp>
      <p:sp>
        <p:nvSpPr>
          <p:cNvPr id="23" name="AutoShape 23"/>
          <p:cNvSpPr/>
          <p:nvPr/>
        </p:nvSpPr>
        <p:spPr>
          <a:xfrm>
            <a:off x="1868260" y="3671113"/>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24" name="TextBox 24"/>
          <p:cNvSpPr txBox="1"/>
          <p:nvPr/>
        </p:nvSpPr>
        <p:spPr>
          <a:xfrm>
            <a:off x="1868226" y="3059114"/>
            <a:ext cx="5758458" cy="516890"/>
          </a:xfrm>
          <a:prstGeom prst="rect">
            <a:avLst/>
          </a:prstGeom>
        </p:spPr>
        <p:txBody>
          <a:bodyPr lIns="0" tIns="0" rIns="0" bIns="0" rtlCol="0" anchor="t">
            <a:spAutoFit/>
          </a:bodyPr>
          <a:lstStyle/>
          <a:p>
            <a:pPr algn="l">
              <a:lnSpc>
                <a:spcPts val="4060"/>
              </a:lnSpc>
              <a:spcBef>
                <a:spcPct val="0"/>
              </a:spcBef>
            </a:pPr>
            <a:r>
              <a:rPr lang="en-US" sz="2900">
                <a:solidFill>
                  <a:srgbClr val="000000"/>
                </a:solidFill>
                <a:latin typeface="Times New Roman"/>
                <a:ea typeface="Times New Roman"/>
                <a:cs typeface="Times New Roman"/>
                <a:sym typeface="Times New Roman"/>
              </a:rPr>
              <a:t>Newcastle University Investment Fund</a:t>
            </a:r>
          </a:p>
        </p:txBody>
      </p:sp>
      <p:sp>
        <p:nvSpPr>
          <p:cNvPr id="25" name="TextBox 25"/>
          <p:cNvSpPr txBox="1"/>
          <p:nvPr/>
        </p:nvSpPr>
        <p:spPr>
          <a:xfrm>
            <a:off x="1868260" y="4225962"/>
            <a:ext cx="9402068" cy="516890"/>
          </a:xfrm>
          <a:prstGeom prst="rect">
            <a:avLst/>
          </a:prstGeom>
        </p:spPr>
        <p:txBody>
          <a:bodyPr lIns="0" tIns="0" rIns="0" bIns="0" rtlCol="0" anchor="t">
            <a:spAutoFit/>
          </a:bodyPr>
          <a:lstStyle/>
          <a:p>
            <a:pPr algn="l">
              <a:lnSpc>
                <a:spcPts val="4060"/>
              </a:lnSpc>
              <a:spcBef>
                <a:spcPct val="0"/>
              </a:spcBef>
            </a:pPr>
            <a:r>
              <a:rPr lang="en-US" sz="2900">
                <a:solidFill>
                  <a:srgbClr val="000000"/>
                </a:solidFill>
                <a:latin typeface="Times New Roman"/>
                <a:ea typeface="Times New Roman"/>
                <a:cs typeface="Times New Roman"/>
                <a:sym typeface="Times New Roman"/>
              </a:rPr>
              <a:t>Long: Target Price (target price) - (amount of upside predicted) </a:t>
            </a:r>
          </a:p>
        </p:txBody>
      </p:sp>
      <p:sp>
        <p:nvSpPr>
          <p:cNvPr id="26" name="Freeform 26"/>
          <p:cNvSpPr/>
          <p:nvPr/>
        </p:nvSpPr>
        <p:spPr>
          <a:xfrm>
            <a:off x="7998903" y="65464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p>
        </p:txBody>
      </p:sp>
      <p:sp>
        <p:nvSpPr>
          <p:cNvPr id="27" name="TextBox 27"/>
          <p:cNvSpPr txBox="1"/>
          <p:nvPr/>
        </p:nvSpPr>
        <p:spPr>
          <a:xfrm>
            <a:off x="2815560" y="35601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28" name="TextBox 28"/>
          <p:cNvSpPr txBox="1"/>
          <p:nvPr/>
        </p:nvSpPr>
        <p:spPr>
          <a:xfrm>
            <a:off x="5902855" y="377588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29" name="TextBox 29"/>
          <p:cNvSpPr txBox="1"/>
          <p:nvPr/>
        </p:nvSpPr>
        <p:spPr>
          <a:xfrm>
            <a:off x="2769126" y="53659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30" name="Group 30"/>
          <p:cNvGrpSpPr>
            <a:grpSpLocks noGrp="1" noUngrp="1" noRot="1" noMove="1" noResize="1"/>
          </p:cNvGrpSpPr>
          <p:nvPr/>
        </p:nvGrpSpPr>
        <p:grpSpPr>
          <a:xfrm>
            <a:off x="469446" y="399657"/>
            <a:ext cx="17349108" cy="9487687"/>
            <a:chOff x="0" y="0"/>
            <a:chExt cx="5293499" cy="2894850"/>
          </a:xfrm>
        </p:grpSpPr>
        <p:sp>
          <p:nvSpPr>
            <p:cNvPr id="31" name="Freeform 31"/>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dirty="0"/>
            </a:p>
          </p:txBody>
        </p:sp>
        <p:sp>
          <p:nvSpPr>
            <p:cNvPr id="32" name="TextBox 32"/>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47" name="TextBox 47"/>
          <p:cNvSpPr txBox="1"/>
          <p:nvPr/>
        </p:nvSpPr>
        <p:spPr>
          <a:xfrm>
            <a:off x="2117042" y="5640541"/>
            <a:ext cx="8048934" cy="3643818"/>
          </a:xfrm>
          <a:prstGeom prst="rect">
            <a:avLst/>
          </a:prstGeom>
        </p:spPr>
        <p:txBody>
          <a:bodyPr wrap="square" lIns="0" tIns="0" rIns="0" bIns="0" rtlCol="0" anchor="t">
            <a:spAutoFit/>
          </a:bodyPr>
          <a:lstStyle/>
          <a:p>
            <a:pPr algn="l">
              <a:lnSpc>
                <a:spcPts val="4060"/>
              </a:lnSpc>
              <a:spcBef>
                <a:spcPct val="0"/>
              </a:spcBef>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Head Analyst: </a:t>
            </a:r>
          </a:p>
          <a:p>
            <a:pPr algn="l">
              <a:lnSpc>
                <a:spcPts val="4060"/>
              </a:lnSpc>
              <a:spcBef>
                <a:spcPct val="0"/>
              </a:spcBef>
            </a:pPr>
            <a:r>
              <a:rPr lang="en-US" sz="2900" i="1" dirty="0">
                <a:solidFill>
                  <a:srgbClr val="000000"/>
                </a:solidFill>
                <a:latin typeface="Times New Roman" panose="02020603050405020304" pitchFamily="18" charset="0"/>
                <a:ea typeface="Times New Roman"/>
                <a:cs typeface="Times New Roman" panose="02020603050405020304" pitchFamily="18" charset="0"/>
                <a:sym typeface="Times New Roman"/>
              </a:rPr>
              <a:t>George Chatterton</a:t>
            </a:r>
          </a:p>
          <a:p>
            <a:pPr algn="l">
              <a:lnSpc>
                <a:spcPts val="4060"/>
              </a:lnSpc>
              <a:spcBef>
                <a:spcPct val="0"/>
              </a:spcBef>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l">
              <a:lnSpc>
                <a:spcPts val="4060"/>
              </a:lnSpc>
              <a:spcBef>
                <a:spcPct val="0"/>
              </a:spcBef>
            </a:pPr>
            <a:r>
              <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rPr>
              <a:t>Analysts: </a:t>
            </a:r>
          </a:p>
          <a:p>
            <a:pPr algn="l">
              <a:lnSpc>
                <a:spcPts val="4060"/>
              </a:lnSpc>
              <a:spcBef>
                <a:spcPct val="0"/>
              </a:spcBef>
            </a:pPr>
            <a:r>
              <a:rPr lang="en-US" sz="2800" i="1" dirty="0">
                <a:solidFill>
                  <a:srgbClr val="000000"/>
                </a:solidFill>
                <a:latin typeface="Times New Roman" panose="02020603050405020304" pitchFamily="18" charset="0"/>
                <a:ea typeface="Times New Roman"/>
                <a:cs typeface="Times New Roman" panose="02020603050405020304" pitchFamily="18" charset="0"/>
                <a:sym typeface="Times New Roman"/>
              </a:rPr>
              <a:t>Jamie </a:t>
            </a:r>
            <a:r>
              <a:rPr lang="en-US" sz="2800" i="1" dirty="0" err="1">
                <a:solidFill>
                  <a:srgbClr val="000000"/>
                </a:solidFill>
                <a:latin typeface="Times New Roman" panose="02020603050405020304" pitchFamily="18" charset="0"/>
                <a:ea typeface="Times New Roman"/>
                <a:cs typeface="Times New Roman" panose="02020603050405020304" pitchFamily="18" charset="0"/>
                <a:sym typeface="Times New Roman"/>
              </a:rPr>
              <a:t>Setch</a:t>
            </a:r>
            <a:r>
              <a:rPr lang="en-US" sz="2800" i="1"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l">
              <a:lnSpc>
                <a:spcPts val="4060"/>
              </a:lnSpc>
              <a:spcBef>
                <a:spcPct val="0"/>
              </a:spcBef>
            </a:pPr>
            <a:r>
              <a:rPr lang="en-US" sz="2800" i="1" dirty="0">
                <a:solidFill>
                  <a:srgbClr val="000000"/>
                </a:solidFill>
                <a:latin typeface="Times New Roman" panose="02020603050405020304" pitchFamily="18" charset="0"/>
                <a:ea typeface="Times New Roman"/>
                <a:cs typeface="Times New Roman" panose="02020603050405020304" pitchFamily="18" charset="0"/>
                <a:sym typeface="Times New Roman"/>
              </a:rPr>
              <a:t>Jaime Allen </a:t>
            </a:r>
          </a:p>
          <a:p>
            <a:pPr algn="l">
              <a:lnSpc>
                <a:spcPts val="4060"/>
              </a:lnSpc>
              <a:spcBef>
                <a:spcPct val="0"/>
              </a:spcBef>
            </a:pPr>
            <a:r>
              <a:rPr lang="en-US" sz="2800" i="1" dirty="0">
                <a:solidFill>
                  <a:srgbClr val="000000"/>
                </a:solidFill>
                <a:latin typeface="Times New Roman" panose="02020603050405020304" pitchFamily="18" charset="0"/>
                <a:ea typeface="Times New Roman"/>
                <a:cs typeface="Times New Roman" panose="02020603050405020304" pitchFamily="18" charset="0"/>
                <a:sym typeface="Times New Roman"/>
              </a:rPr>
              <a:t>Amaan Mughal</a:t>
            </a:r>
          </a:p>
        </p:txBody>
      </p:sp>
      <p:sp>
        <p:nvSpPr>
          <p:cNvPr id="49" name="TextBox 49"/>
          <p:cNvSpPr txBox="1"/>
          <p:nvPr/>
        </p:nvSpPr>
        <p:spPr>
          <a:xfrm>
            <a:off x="2020626" y="3861472"/>
            <a:ext cx="11142224" cy="492507"/>
          </a:xfrm>
          <a:prstGeom prst="rect">
            <a:avLst/>
          </a:prstGeom>
        </p:spPr>
        <p:txBody>
          <a:bodyPr lIns="0" tIns="0" rIns="0" bIns="0" rtlCol="0" anchor="t">
            <a:spAutoFit/>
          </a:bodyPr>
          <a:lstStyle/>
          <a:p>
            <a:pPr algn="l">
              <a:lnSpc>
                <a:spcPts val="4060"/>
              </a:lnSpc>
              <a:spcBef>
                <a:spcPct val="0"/>
              </a:spcBef>
            </a:pPr>
            <a:r>
              <a:rPr lang="en-US" sz="2900" b="1" dirty="0">
                <a:solidFill>
                  <a:srgbClr val="000000"/>
                </a:solidFill>
                <a:latin typeface="Times New Roman" panose="02020603050405020304" pitchFamily="18" charset="0"/>
                <a:ea typeface="Times New Roman"/>
                <a:cs typeface="Times New Roman" panose="02020603050405020304" pitchFamily="18" charset="0"/>
                <a:sym typeface="Times New Roman"/>
              </a:rPr>
              <a:t>Enphase Energy, Inc - Nasdaq - ENPH</a:t>
            </a:r>
          </a:p>
        </p:txBody>
      </p:sp>
      <p:sp>
        <p:nvSpPr>
          <p:cNvPr id="50" name="AutoShape 50"/>
          <p:cNvSpPr/>
          <p:nvPr/>
        </p:nvSpPr>
        <p:spPr>
          <a:xfrm>
            <a:off x="2020660" y="3823513"/>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51" name="TextBox 51"/>
          <p:cNvSpPr txBox="1"/>
          <p:nvPr/>
        </p:nvSpPr>
        <p:spPr>
          <a:xfrm>
            <a:off x="2020626" y="3211514"/>
            <a:ext cx="5758458" cy="492507"/>
          </a:xfrm>
          <a:prstGeom prst="rect">
            <a:avLst/>
          </a:prstGeom>
        </p:spPr>
        <p:txBody>
          <a:bodyPr wrap="square" lIns="0" tIns="0" rIns="0" bIns="0" rtlCol="0" anchor="t">
            <a:spAutoFit/>
          </a:bodyPr>
          <a:lstStyle/>
          <a:p>
            <a:pPr algn="l">
              <a:lnSpc>
                <a:spcPts val="4060"/>
              </a:lnSpc>
              <a:spcBef>
                <a:spcPct val="0"/>
              </a:spcBef>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Newcastle University Investment Fund</a:t>
            </a:r>
          </a:p>
        </p:txBody>
      </p:sp>
      <p:sp>
        <p:nvSpPr>
          <p:cNvPr id="52" name="TextBox 52"/>
          <p:cNvSpPr txBox="1"/>
          <p:nvPr/>
        </p:nvSpPr>
        <p:spPr>
          <a:xfrm>
            <a:off x="2020660" y="4378362"/>
            <a:ext cx="9402068" cy="492507"/>
          </a:xfrm>
          <a:prstGeom prst="rect">
            <a:avLst/>
          </a:prstGeom>
        </p:spPr>
        <p:txBody>
          <a:bodyPr lIns="0" tIns="0" rIns="0" bIns="0" rtlCol="0" anchor="t">
            <a:spAutoFit/>
          </a:bodyPr>
          <a:lstStyle/>
          <a:p>
            <a:pPr algn="l">
              <a:lnSpc>
                <a:spcPts val="4060"/>
              </a:lnSpc>
              <a:spcBef>
                <a:spcPct val="0"/>
              </a:spcBef>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Long: Target Price $52.65 - </a:t>
            </a:r>
            <a:r>
              <a:rPr lang="en-US" sz="2900" dirty="0">
                <a:solidFill>
                  <a:srgbClr val="00B050"/>
                </a:solidFill>
                <a:latin typeface="Times New Roman" panose="02020603050405020304" pitchFamily="18" charset="0"/>
                <a:ea typeface="Times New Roman"/>
                <a:cs typeface="Times New Roman" panose="02020603050405020304" pitchFamily="18" charset="0"/>
                <a:sym typeface="Times New Roman"/>
              </a:rPr>
              <a:t>(67.4% Upside) </a:t>
            </a:r>
          </a:p>
        </p:txBody>
      </p:sp>
      <p:pic>
        <p:nvPicPr>
          <p:cNvPr id="1026" name="Picture 2" descr="Enphase Energy Logo im transparenten PNG- und vektorisierten SVG-Format">
            <a:extLst>
              <a:ext uri="{FF2B5EF4-FFF2-40B4-BE49-F238E27FC236}">
                <a16:creationId xmlns:a16="http://schemas.microsoft.com/office/drawing/2014/main" id="{2F991053-0A54-2E61-F42C-F55E5E054B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24536" y="6748620"/>
            <a:ext cx="4352925" cy="77909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descr="A blue and white logo&#10;&#10;Description automatically generated">
            <a:extLst>
              <a:ext uri="{FF2B5EF4-FFF2-40B4-BE49-F238E27FC236}">
                <a16:creationId xmlns:a16="http://schemas.microsoft.com/office/drawing/2014/main" id="{0F61687A-1108-15C7-B43C-3AEC004163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529053" y="978966"/>
            <a:ext cx="3630272" cy="40741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Freeform 2"/>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p>
        </p:txBody>
      </p:sp>
      <p:sp>
        <p:nvSpPr>
          <p:cNvPr id="3" name="TextBox 3"/>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4" name="TextBox 4"/>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5" name="TextBox 5"/>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6" name="Group 6"/>
          <p:cNvGrpSpPr>
            <a:grpSpLocks noGrp="1" noUngrp="1" noRot="1" noMove="1" noResize="1"/>
          </p:cNvGrpSpPr>
          <p:nvPr/>
        </p:nvGrpSpPr>
        <p:grpSpPr>
          <a:xfrm>
            <a:off x="482833" y="399657"/>
            <a:ext cx="17349108" cy="9487687"/>
            <a:chOff x="0" y="0"/>
            <a:chExt cx="5293499" cy="2894850"/>
          </a:xfrm>
        </p:grpSpPr>
        <p:sp>
          <p:nvSpPr>
            <p:cNvPr id="7" name="Freeform 7"/>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8" name="TextBox 8"/>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9" name="Freeform 9"/>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p>
        </p:txBody>
      </p:sp>
      <p:sp>
        <p:nvSpPr>
          <p:cNvPr id="10" name="TextBox 10"/>
          <p:cNvSpPr txBox="1"/>
          <p:nvPr/>
        </p:nvSpPr>
        <p:spPr>
          <a:xfrm>
            <a:off x="1868225" y="1215052"/>
            <a:ext cx="4372153" cy="525785"/>
          </a:xfrm>
          <a:prstGeom prst="rect">
            <a:avLst/>
          </a:prstGeom>
        </p:spPr>
        <p:txBody>
          <a:bodyPr wrap="square" lIns="0" tIns="0" rIns="0" bIns="0" rtlCol="0" anchor="t">
            <a:spAutoFit/>
          </a:bodyPr>
          <a:lstStyle/>
          <a:p>
            <a:pPr algn="l">
              <a:lnSpc>
                <a:spcPts val="4060"/>
              </a:lnSpc>
              <a:spcBef>
                <a:spcPct val="0"/>
              </a:spcBef>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Table of Contents</a:t>
            </a:r>
          </a:p>
        </p:txBody>
      </p:sp>
      <p:sp>
        <p:nvSpPr>
          <p:cNvPr id="11" name="AutoShape 1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12" name="TextBox 12"/>
          <p:cNvSpPr txBox="1"/>
          <p:nvPr/>
        </p:nvSpPr>
        <p:spPr>
          <a:xfrm>
            <a:off x="1600200" y="2299722"/>
            <a:ext cx="6648684" cy="4687758"/>
          </a:xfrm>
          <a:prstGeom prst="rect">
            <a:avLst/>
          </a:prstGeom>
        </p:spPr>
        <p:txBody>
          <a:bodyPr lIns="0" tIns="0" rIns="0" bIns="0" rtlCol="0" anchor="t">
            <a:spAutoFit/>
          </a:bodyPr>
          <a:lstStyle/>
          <a:p>
            <a:pPr marL="626111" lvl="1" indent="-313055" algn="l">
              <a:lnSpc>
                <a:spcPts val="4060"/>
              </a:lnSpc>
              <a:buAutoNum type="arabicPeriod"/>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 Executive Summary</a:t>
            </a:r>
          </a:p>
          <a:p>
            <a:pPr marL="626111" lvl="1" indent="-313055" algn="l">
              <a:lnSpc>
                <a:spcPts val="4060"/>
              </a:lnSpc>
              <a:buAutoNum type="arabicPeriod"/>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 Company Overview</a:t>
            </a:r>
          </a:p>
          <a:p>
            <a:pPr marL="626111" lvl="1" indent="-313055" algn="l">
              <a:lnSpc>
                <a:spcPts val="4060"/>
              </a:lnSpc>
              <a:buAutoNum type="arabicPeriod"/>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 Industry Overview</a:t>
            </a:r>
          </a:p>
          <a:p>
            <a:pPr marL="626111" lvl="1" indent="-313055" algn="l">
              <a:lnSpc>
                <a:spcPts val="4060"/>
              </a:lnSpc>
              <a:buAutoNum type="arabicPeriod"/>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Thesis 1</a:t>
            </a:r>
          </a:p>
          <a:p>
            <a:pPr marL="626111" lvl="1" indent="-313055" algn="l">
              <a:lnSpc>
                <a:spcPts val="4060"/>
              </a:lnSpc>
              <a:buAutoNum type="arabicPeriod"/>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Thesis 2</a:t>
            </a:r>
          </a:p>
          <a:p>
            <a:pPr marL="626111" lvl="1" indent="-313055" algn="l">
              <a:lnSpc>
                <a:spcPts val="4060"/>
              </a:lnSpc>
              <a:buAutoNum type="arabicPeriod"/>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Thesis 3</a:t>
            </a:r>
          </a:p>
          <a:p>
            <a:pPr marL="626111" lvl="1" indent="-313055" algn="l">
              <a:lnSpc>
                <a:spcPts val="4060"/>
              </a:lnSpc>
              <a:buAutoNum type="arabicPeriod"/>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Comparables</a:t>
            </a:r>
          </a:p>
          <a:p>
            <a:pPr marL="626111" lvl="1" indent="-313055" algn="l">
              <a:lnSpc>
                <a:spcPts val="4060"/>
              </a:lnSpc>
              <a:buAutoNum type="arabicPeriod"/>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Discounted Cash Flow Analysis</a:t>
            </a:r>
          </a:p>
          <a:p>
            <a:pPr marL="626111" lvl="1" indent="-313055" algn="l">
              <a:lnSpc>
                <a:spcPts val="4060"/>
              </a:lnSpc>
              <a:buAutoNum type="arabicPeriod"/>
            </a:pPr>
            <a:r>
              <a:rPr lang="en-US" sz="2900" dirty="0">
                <a:solidFill>
                  <a:srgbClr val="000000"/>
                </a:solidFill>
                <a:latin typeface="Times New Roman" panose="02020603050405020304" pitchFamily="18" charset="0"/>
                <a:ea typeface="Times New Roman"/>
                <a:cs typeface="Times New Roman" panose="02020603050405020304" pitchFamily="18" charset="0"/>
                <a:sym typeface="Times New Roman"/>
              </a:rPr>
              <a:t>Risks and Mitigants</a:t>
            </a:r>
          </a:p>
        </p:txBody>
      </p:sp>
      <p:sp>
        <p:nvSpPr>
          <p:cNvPr id="13" name="AutoShape 13"/>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sp>
        <p:nvSpPr>
          <p:cNvPr id="14" name="TextBox 49">
            <a:extLst>
              <a:ext uri="{FF2B5EF4-FFF2-40B4-BE49-F238E27FC236}">
                <a16:creationId xmlns:a16="http://schemas.microsoft.com/office/drawing/2014/main" id="{8CCE5218-6691-EB91-64A0-B00194AC4A89}"/>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C232A176-1348-AF76-9C02-B33F6AB2C5D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62419A7-554C-86F8-BC9D-0F2A9661A19D}"/>
              </a:ext>
            </a:extLst>
          </p:cNvPr>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p>
        </p:txBody>
      </p:sp>
      <p:sp>
        <p:nvSpPr>
          <p:cNvPr id="3" name="TextBox 3">
            <a:extLst>
              <a:ext uri="{FF2B5EF4-FFF2-40B4-BE49-F238E27FC236}">
                <a16:creationId xmlns:a16="http://schemas.microsoft.com/office/drawing/2014/main" id="{93B20317-7BC7-2BF8-68B3-D4BCCD6C77C4}"/>
              </a:ext>
            </a:extLst>
          </p:cNvPr>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4" name="TextBox 4">
            <a:extLst>
              <a:ext uri="{FF2B5EF4-FFF2-40B4-BE49-F238E27FC236}">
                <a16:creationId xmlns:a16="http://schemas.microsoft.com/office/drawing/2014/main" id="{4BBADED8-8808-955F-01CF-73FA064A2F28}"/>
              </a:ext>
            </a:extLst>
          </p:cNvPr>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5" name="TextBox 5">
            <a:extLst>
              <a:ext uri="{FF2B5EF4-FFF2-40B4-BE49-F238E27FC236}">
                <a16:creationId xmlns:a16="http://schemas.microsoft.com/office/drawing/2014/main" id="{0BA238E8-6DBD-EFC4-11B7-FB600ABA5544}"/>
              </a:ext>
            </a:extLst>
          </p:cNvPr>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6" name="Group 6">
            <a:extLst>
              <a:ext uri="{FF2B5EF4-FFF2-40B4-BE49-F238E27FC236}">
                <a16:creationId xmlns:a16="http://schemas.microsoft.com/office/drawing/2014/main" id="{4E1DA413-90BB-8ED6-22EE-CC003F9A8FF1}"/>
              </a:ext>
            </a:extLst>
          </p:cNvPr>
          <p:cNvGrpSpPr>
            <a:grpSpLocks noGrp="1" noUngrp="1" noRot="1" noMove="1" noResize="1"/>
          </p:cNvGrpSpPr>
          <p:nvPr/>
        </p:nvGrpSpPr>
        <p:grpSpPr>
          <a:xfrm>
            <a:off x="482833" y="399657"/>
            <a:ext cx="17349108" cy="9487687"/>
            <a:chOff x="0" y="0"/>
            <a:chExt cx="5293499" cy="2894850"/>
          </a:xfrm>
        </p:grpSpPr>
        <p:sp>
          <p:nvSpPr>
            <p:cNvPr id="7" name="Freeform 7">
              <a:extLst>
                <a:ext uri="{FF2B5EF4-FFF2-40B4-BE49-F238E27FC236}">
                  <a16:creationId xmlns:a16="http://schemas.microsoft.com/office/drawing/2014/main" id="{C622CE9B-25BD-9217-3B94-543946CBBACA}"/>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8" name="TextBox 8">
              <a:extLst>
                <a:ext uri="{FF2B5EF4-FFF2-40B4-BE49-F238E27FC236}">
                  <a16:creationId xmlns:a16="http://schemas.microsoft.com/office/drawing/2014/main" id="{6AC35459-10C5-3234-18AA-081B48D8C958}"/>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9" name="Freeform 9">
            <a:extLst>
              <a:ext uri="{FF2B5EF4-FFF2-40B4-BE49-F238E27FC236}">
                <a16:creationId xmlns:a16="http://schemas.microsoft.com/office/drawing/2014/main" id="{83822CEC-AB8C-E55E-46A4-49F3C176B892}"/>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p>
        </p:txBody>
      </p:sp>
      <p:sp>
        <p:nvSpPr>
          <p:cNvPr id="10" name="TextBox 10">
            <a:extLst>
              <a:ext uri="{FF2B5EF4-FFF2-40B4-BE49-F238E27FC236}">
                <a16:creationId xmlns:a16="http://schemas.microsoft.com/office/drawing/2014/main" id="{65173ACB-4590-86FA-C4ED-31F12A3647FB}"/>
              </a:ext>
            </a:extLst>
          </p:cNvPr>
          <p:cNvSpPr txBox="1"/>
          <p:nvPr/>
        </p:nvSpPr>
        <p:spPr>
          <a:xfrm>
            <a:off x="1868226" y="1215052"/>
            <a:ext cx="4030550" cy="525785"/>
          </a:xfrm>
          <a:prstGeom prst="rect">
            <a:avLst/>
          </a:prstGeom>
        </p:spPr>
        <p:txBody>
          <a:bodyPr wrap="square" lIns="0" tIns="0" rIns="0" bIns="0" rtlCol="0" anchor="t">
            <a:spAutoFit/>
          </a:bodyPr>
          <a:lstStyle/>
          <a:p>
            <a:pPr algn="l">
              <a:lnSpc>
                <a:spcPts val="4060"/>
              </a:lnSpc>
              <a:spcBef>
                <a:spcPct val="0"/>
              </a:spcBef>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Executive Summary</a:t>
            </a:r>
          </a:p>
        </p:txBody>
      </p:sp>
      <p:sp>
        <p:nvSpPr>
          <p:cNvPr id="11" name="AutoShape 11">
            <a:extLst>
              <a:ext uri="{FF2B5EF4-FFF2-40B4-BE49-F238E27FC236}">
                <a16:creationId xmlns:a16="http://schemas.microsoft.com/office/drawing/2014/main" id="{389AC21A-410A-9BED-C05F-1DACA71E94C7}"/>
              </a:ext>
            </a:extLst>
          </p:cNvPr>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13" name="AutoShape 13">
            <a:extLst>
              <a:ext uri="{FF2B5EF4-FFF2-40B4-BE49-F238E27FC236}">
                <a16:creationId xmlns:a16="http://schemas.microsoft.com/office/drawing/2014/main" id="{2BE7A620-523D-B6AF-D3CC-7C21F484A032}"/>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sp>
        <p:nvSpPr>
          <p:cNvPr id="14" name="Rectangle 13">
            <a:extLst>
              <a:ext uri="{FF2B5EF4-FFF2-40B4-BE49-F238E27FC236}">
                <a16:creationId xmlns:a16="http://schemas.microsoft.com/office/drawing/2014/main" id="{44548D29-C242-C069-819B-00175C13DD77}"/>
              </a:ext>
            </a:extLst>
          </p:cNvPr>
          <p:cNvSpPr/>
          <p:nvPr/>
        </p:nvSpPr>
        <p:spPr>
          <a:xfrm>
            <a:off x="1971550" y="2448872"/>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highlight>
                <a:srgbClr val="000080"/>
              </a:highlight>
            </a:endParaRPr>
          </a:p>
        </p:txBody>
      </p:sp>
      <p:sp>
        <p:nvSpPr>
          <p:cNvPr id="15" name="TextBox 14">
            <a:extLst>
              <a:ext uri="{FF2B5EF4-FFF2-40B4-BE49-F238E27FC236}">
                <a16:creationId xmlns:a16="http://schemas.microsoft.com/office/drawing/2014/main" id="{45E89C12-0A78-BED2-003A-FC8106342114}"/>
              </a:ext>
            </a:extLst>
          </p:cNvPr>
          <p:cNvSpPr txBox="1"/>
          <p:nvPr/>
        </p:nvSpPr>
        <p:spPr>
          <a:xfrm>
            <a:off x="2365192" y="2341497"/>
            <a:ext cx="13259648" cy="1477328"/>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Enphase Energy, Inc. is a U.S.-based leader in residential solar solutions, specialising in microinverters, energy-storage batteries, and software for monitoring and energy management. Its business model combines hardware and digital platforms, creating an integrated ecosystem that enhances performance, customer retention, and recurring revenue potential. The company maintains strong margins (~45–50%) but faces challenges from tariffs, regulatory changes, and competitive pressures in solar and storage markets. Growth opportunities lie in expanding storage, software/services, and international markets.</a:t>
            </a:r>
          </a:p>
        </p:txBody>
      </p:sp>
      <p:sp>
        <p:nvSpPr>
          <p:cNvPr id="16" name="Rectangle 15">
            <a:extLst>
              <a:ext uri="{FF2B5EF4-FFF2-40B4-BE49-F238E27FC236}">
                <a16:creationId xmlns:a16="http://schemas.microsoft.com/office/drawing/2014/main" id="{72DB2D7E-F657-8E7F-7341-D6429F9C38C4}"/>
              </a:ext>
            </a:extLst>
          </p:cNvPr>
          <p:cNvSpPr/>
          <p:nvPr/>
        </p:nvSpPr>
        <p:spPr>
          <a:xfrm>
            <a:off x="1971550" y="3865908"/>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highlight>
                <a:srgbClr val="000080"/>
              </a:highlight>
            </a:endParaRPr>
          </a:p>
        </p:txBody>
      </p:sp>
      <p:sp>
        <p:nvSpPr>
          <p:cNvPr id="17" name="TextBox 16">
            <a:extLst>
              <a:ext uri="{FF2B5EF4-FFF2-40B4-BE49-F238E27FC236}">
                <a16:creationId xmlns:a16="http://schemas.microsoft.com/office/drawing/2014/main" id="{7BA16E74-D95F-F966-2690-D376A27B281E}"/>
              </a:ext>
            </a:extLst>
          </p:cNvPr>
          <p:cNvSpPr txBox="1"/>
          <p:nvPr/>
        </p:nvSpPr>
        <p:spPr>
          <a:xfrm>
            <a:off x="2365192" y="3881921"/>
            <a:ext cx="12585700" cy="646331"/>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As at 29/10, Enphase trades at $31.46. Our Discounted Cash Flow Analysis implies a target price of $52.65 (base case), signalling 67.4% upside. </a:t>
            </a:r>
          </a:p>
        </p:txBody>
      </p:sp>
      <p:sp>
        <p:nvSpPr>
          <p:cNvPr id="18" name="TextBox 17">
            <a:extLst>
              <a:ext uri="{FF2B5EF4-FFF2-40B4-BE49-F238E27FC236}">
                <a16:creationId xmlns:a16="http://schemas.microsoft.com/office/drawing/2014/main" id="{EAD31A52-A23A-4564-C5A3-AA88C5D0A3D8}"/>
              </a:ext>
            </a:extLst>
          </p:cNvPr>
          <p:cNvSpPr txBox="1"/>
          <p:nvPr/>
        </p:nvSpPr>
        <p:spPr>
          <a:xfrm>
            <a:off x="2365192" y="4724400"/>
            <a:ext cx="5635808" cy="1754326"/>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We believe Enphase is undervalued because the market underestimates Enphase’s ability to evolve from a pure-play microinverter company into an integrated energy operating system, where storage, load control, and grid-services software meaningfully increase ARPU and margins.</a:t>
            </a:r>
          </a:p>
        </p:txBody>
      </p:sp>
      <p:pic>
        <p:nvPicPr>
          <p:cNvPr id="20" name="Picture 19">
            <a:extLst>
              <a:ext uri="{FF2B5EF4-FFF2-40B4-BE49-F238E27FC236}">
                <a16:creationId xmlns:a16="http://schemas.microsoft.com/office/drawing/2014/main" id="{39C6BED8-3C70-A352-B7DA-BAF25EFACF99}"/>
              </a:ext>
            </a:extLst>
          </p:cNvPr>
          <p:cNvPicPr>
            <a:picLocks noChangeAspect="1"/>
          </p:cNvPicPr>
          <p:nvPr/>
        </p:nvPicPr>
        <p:blipFill>
          <a:blip r:embed="rId3"/>
          <a:stretch>
            <a:fillRect/>
          </a:stretch>
        </p:blipFill>
        <p:spPr>
          <a:xfrm>
            <a:off x="8459696" y="4626498"/>
            <a:ext cx="6271486" cy="4250966"/>
          </a:xfrm>
          <a:prstGeom prst="rect">
            <a:avLst/>
          </a:prstGeom>
        </p:spPr>
      </p:pic>
      <p:sp>
        <p:nvSpPr>
          <p:cNvPr id="21" name="Rectangle 20">
            <a:extLst>
              <a:ext uri="{FF2B5EF4-FFF2-40B4-BE49-F238E27FC236}">
                <a16:creationId xmlns:a16="http://schemas.microsoft.com/office/drawing/2014/main" id="{DB443A35-561C-7D0E-8F88-5E3119727B87}"/>
              </a:ext>
            </a:extLst>
          </p:cNvPr>
          <p:cNvSpPr/>
          <p:nvPr/>
        </p:nvSpPr>
        <p:spPr>
          <a:xfrm>
            <a:off x="1971550" y="4768906"/>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highlight>
                <a:srgbClr val="000080"/>
              </a:highlight>
            </a:endParaRPr>
          </a:p>
        </p:txBody>
      </p:sp>
      <p:sp>
        <p:nvSpPr>
          <p:cNvPr id="19" name="TextBox 49">
            <a:extLst>
              <a:ext uri="{FF2B5EF4-FFF2-40B4-BE49-F238E27FC236}">
                <a16:creationId xmlns:a16="http://schemas.microsoft.com/office/drawing/2014/main" id="{2F3FCEDA-186F-2F48-F18E-43ADA5524CAF}"/>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205546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04771D43-4FFC-2881-56F6-160B4AA9E2DA}"/>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BE9BD399-AB8F-7D19-2CCF-91A8254DDE91}"/>
              </a:ext>
            </a:extLst>
          </p:cNvPr>
          <p:cNvGrpSpPr>
            <a:grpSpLocks noGrp="1" noUngrp="1" noRot="1" noMove="1" noResize="1"/>
          </p:cNvGrpSpPr>
          <p:nvPr/>
        </p:nvGrpSpPr>
        <p:grpSpPr>
          <a:xfrm>
            <a:off x="482833" y="399657"/>
            <a:ext cx="17349108" cy="9487687"/>
            <a:chOff x="482833" y="399657"/>
            <a:chExt cx="17349108" cy="9487687"/>
          </a:xfrm>
        </p:grpSpPr>
        <p:sp>
          <p:nvSpPr>
            <p:cNvPr id="2" name="Freeform 2">
              <a:extLst>
                <a:ext uri="{FF2B5EF4-FFF2-40B4-BE49-F238E27FC236}">
                  <a16:creationId xmlns:a16="http://schemas.microsoft.com/office/drawing/2014/main" id="{F5D9F71B-2DDB-33E3-FA85-0C5F39CDAE46}"/>
                </a:ext>
              </a:extLst>
            </p:cNvPr>
            <p:cNvSpPr>
              <a:spLocks noGrp="1" noRot="1" noMove="1" noResize="1" noEditPoints="1" noAdjustHandles="1" noChangeArrowheads="1" noChangeShapeType="1"/>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a:extLst>
                <a:ext uri="{FF2B5EF4-FFF2-40B4-BE49-F238E27FC236}">
                  <a16:creationId xmlns:a16="http://schemas.microsoft.com/office/drawing/2014/main" id="{D57B323C-924C-B3E6-7EFA-68A5287DDA09}"/>
                </a:ext>
              </a:extLst>
            </p:cNvPr>
            <p:cNvSpPr txBox="1">
              <a:spLocks noGrp="1" noRot="1" noMove="1" noResize="1" noEditPoints="1" noAdjustHandles="1" noChangeArrowheads="1" noChangeShapeType="1"/>
            </p:cNvSpPr>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a:extLst>
                <a:ext uri="{FF2B5EF4-FFF2-40B4-BE49-F238E27FC236}">
                  <a16:creationId xmlns:a16="http://schemas.microsoft.com/office/drawing/2014/main" id="{D2A45E9B-3F34-8527-5C4E-CF4C471B856C}"/>
                </a:ext>
              </a:extLst>
            </p:cNvPr>
            <p:cNvSpPr txBox="1">
              <a:spLocks noGrp="1" noRot="1" noMove="1" noResize="1" noEditPoints="1" noAdjustHandles="1" noChangeArrowheads="1" noChangeShapeType="1"/>
            </p:cNvSpPr>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a:extLst>
                <a:ext uri="{FF2B5EF4-FFF2-40B4-BE49-F238E27FC236}">
                  <a16:creationId xmlns:a16="http://schemas.microsoft.com/office/drawing/2014/main" id="{D0FCE4EF-FA71-4CEC-AF9F-740CD763D1D6}"/>
                </a:ext>
              </a:extLst>
            </p:cNvPr>
            <p:cNvSpPr txBox="1">
              <a:spLocks noGrp="1" noRot="1" noMove="1" noResize="1" noEditPoints="1" noAdjustHandles="1" noChangeArrowheads="1" noChangeShapeType="1"/>
            </p:cNvSpPr>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a:extLst>
                <a:ext uri="{FF2B5EF4-FFF2-40B4-BE49-F238E27FC236}">
                  <a16:creationId xmlns:a16="http://schemas.microsoft.com/office/drawing/2014/main" id="{E64D8F7B-8F6D-0B60-4F42-5453BA316C39}"/>
                </a:ext>
              </a:extLst>
            </p:cNvPr>
            <p:cNvGrpSpPr>
              <a:grpSpLocks noGrp="1" noUngrp="1" noRot="1" noMove="1" noResize="1"/>
            </p:cNvGrpSpPr>
            <p:nvPr/>
          </p:nvGrpSpPr>
          <p:grpSpPr>
            <a:xfrm>
              <a:off x="482833" y="399657"/>
              <a:ext cx="17349108" cy="9487687"/>
              <a:chOff x="0" y="0"/>
              <a:chExt cx="5293499" cy="2894850"/>
            </a:xfrm>
          </p:grpSpPr>
          <p:sp>
            <p:nvSpPr>
              <p:cNvPr id="7" name="Freeform 7">
                <a:extLst>
                  <a:ext uri="{FF2B5EF4-FFF2-40B4-BE49-F238E27FC236}">
                    <a16:creationId xmlns:a16="http://schemas.microsoft.com/office/drawing/2014/main" id="{65D22F81-D9B6-4BC8-F81B-B03AEFF6A6FE}"/>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a:extLst>
                  <a:ext uri="{FF2B5EF4-FFF2-40B4-BE49-F238E27FC236}">
                    <a16:creationId xmlns:a16="http://schemas.microsoft.com/office/drawing/2014/main" id="{DE94F3D9-846D-EF2F-955C-BB0A89AB0E7F}"/>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a:extLst>
                <a:ext uri="{FF2B5EF4-FFF2-40B4-BE49-F238E27FC236}">
                  <a16:creationId xmlns:a16="http://schemas.microsoft.com/office/drawing/2014/main" id="{FD8BEB4B-9B33-ED63-AB57-D533D4174AEA}"/>
                </a:ext>
              </a:extLst>
            </p:cNvPr>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1" name="AutoShape 11">
              <a:extLst>
                <a:ext uri="{FF2B5EF4-FFF2-40B4-BE49-F238E27FC236}">
                  <a16:creationId xmlns:a16="http://schemas.microsoft.com/office/drawing/2014/main" id="{E50CB124-3C5F-0935-C886-109414AEEABC}"/>
                </a:ext>
              </a:extLst>
            </p:cNvPr>
            <p:cNvSpPr>
              <a:spLocks noGrp="1" noRot="1" noMove="1" noResize="1" noEditPoints="1" noAdjustHandles="1" noChangeArrowheads="1" noChangeShapeType="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3" name="AutoShape 13">
              <a:extLst>
                <a:ext uri="{FF2B5EF4-FFF2-40B4-BE49-F238E27FC236}">
                  <a16:creationId xmlns:a16="http://schemas.microsoft.com/office/drawing/2014/main" id="{D2CA0A32-962E-409A-C9C5-0F11E6F89AE6}"/>
                </a:ext>
              </a:extLst>
            </p:cNvPr>
            <p:cNvSpPr>
              <a:spLocks noGrp="1" noRot="1" noMove="1" noResize="1" noEditPoints="1" noAdjustHandles="1" noChangeArrowheads="1" noChangeShapeType="1"/>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pSp>
      <p:sp>
        <p:nvSpPr>
          <p:cNvPr id="2063" name="Rectangle 11">
            <a:extLst>
              <a:ext uri="{FF2B5EF4-FFF2-40B4-BE49-F238E27FC236}">
                <a16:creationId xmlns:a16="http://schemas.microsoft.com/office/drawing/2014/main" id="{E4BA0B62-EFBC-0B9E-52A6-EB25F570FC1A}"/>
              </a:ext>
            </a:extLst>
          </p:cNvPr>
          <p:cNvSpPr>
            <a:spLocks noChangeArrowheads="1"/>
          </p:cNvSpPr>
          <p:nvPr/>
        </p:nvSpPr>
        <p:spPr bwMode="auto">
          <a:xfrm>
            <a:off x="10952616" y="6422765"/>
            <a:ext cx="18288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7" name="Title 1">
            <a:extLst>
              <a:ext uri="{FF2B5EF4-FFF2-40B4-BE49-F238E27FC236}">
                <a16:creationId xmlns:a16="http://schemas.microsoft.com/office/drawing/2014/main" id="{0F4E11CA-5428-891C-76A4-DCFB78DA9989}"/>
              </a:ext>
            </a:extLst>
          </p:cNvPr>
          <p:cNvSpPr>
            <a:spLocks noGrp="1"/>
          </p:cNvSpPr>
          <p:nvPr/>
        </p:nvSpPr>
        <p:spPr>
          <a:xfrm>
            <a:off x="1868226" y="7916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cs typeface="Times New Roman" panose="02020603050405020304" pitchFamily="18" charset="0"/>
              </a:rPr>
              <a:t>Company Overview</a:t>
            </a:r>
          </a:p>
        </p:txBody>
      </p:sp>
      <p:sp>
        <p:nvSpPr>
          <p:cNvPr id="10" name="TextBox 9">
            <a:extLst>
              <a:ext uri="{FF2B5EF4-FFF2-40B4-BE49-F238E27FC236}">
                <a16:creationId xmlns:a16="http://schemas.microsoft.com/office/drawing/2014/main" id="{2CD2ABB6-A857-0F26-A906-3FD1758550FB}"/>
              </a:ext>
            </a:extLst>
          </p:cNvPr>
          <p:cNvSpPr txBox="1"/>
          <p:nvPr/>
        </p:nvSpPr>
        <p:spPr>
          <a:xfrm>
            <a:off x="1868226" y="1958029"/>
            <a:ext cx="11734800" cy="461665"/>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Leading the industry in renewable energy solutions within the solar energy sector</a:t>
            </a:r>
          </a:p>
        </p:txBody>
      </p:sp>
      <p:graphicFrame>
        <p:nvGraphicFramePr>
          <p:cNvPr id="12" name="Diagram 11">
            <a:extLst>
              <a:ext uri="{FF2B5EF4-FFF2-40B4-BE49-F238E27FC236}">
                <a16:creationId xmlns:a16="http://schemas.microsoft.com/office/drawing/2014/main" id="{35ED2F59-B79C-DEBC-22F6-78886B128EE9}"/>
              </a:ext>
            </a:extLst>
          </p:cNvPr>
          <p:cNvGraphicFramePr/>
          <p:nvPr>
            <p:extLst>
              <p:ext uri="{D42A27DB-BD31-4B8C-83A1-F6EECF244321}">
                <p14:modId xmlns:p14="http://schemas.microsoft.com/office/powerpoint/2010/main" val="796787620"/>
              </p:ext>
            </p:extLst>
          </p:nvPr>
        </p:nvGraphicFramePr>
        <p:xfrm>
          <a:off x="1077739" y="2792471"/>
          <a:ext cx="5053240" cy="30991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Rectangle 14">
            <a:extLst>
              <a:ext uri="{FF2B5EF4-FFF2-40B4-BE49-F238E27FC236}">
                <a16:creationId xmlns:a16="http://schemas.microsoft.com/office/drawing/2014/main" id="{6B4CAF5B-4FEB-8587-5BEB-34A5289CB1DA}"/>
              </a:ext>
            </a:extLst>
          </p:cNvPr>
          <p:cNvSpPr/>
          <p:nvPr/>
        </p:nvSpPr>
        <p:spPr>
          <a:xfrm>
            <a:off x="1971550" y="2448872"/>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highlight>
                <a:srgbClr val="000080"/>
              </a:highligh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BF91724-C4BF-A426-2DCE-61FC48132ED7}"/>
              </a:ext>
            </a:extLst>
          </p:cNvPr>
          <p:cNvSpPr txBox="1"/>
          <p:nvPr/>
        </p:nvSpPr>
        <p:spPr>
          <a:xfrm>
            <a:off x="5466355" y="2879143"/>
            <a:ext cx="2665070" cy="2800767"/>
          </a:xfrm>
          <a:prstGeom prst="rect">
            <a:avLst/>
          </a:prstGeom>
          <a:noFill/>
        </p:spPr>
        <p:txBody>
          <a:bodyPr wrap="square">
            <a:spAutoFit/>
          </a:bodyPr>
          <a:lstStyle/>
          <a:p>
            <a:r>
              <a:rPr lang="en-GB" sz="1600" dirty="0">
                <a:latin typeface="Times New Roman" panose="02020603050405020304" pitchFamily="18" charset="0"/>
                <a:cs typeface="Times New Roman" panose="02020603050405020304" pitchFamily="18" charset="0"/>
              </a:rPr>
              <a:t>They operate with a significant level of operations being part of the micro inverter industry, with smaller focus yet growing interest in the energy storage industry as signalled by management. Then further backed with minority market interest in lines such as accessories and home management software</a:t>
            </a:r>
          </a:p>
        </p:txBody>
      </p:sp>
      <p:sp>
        <p:nvSpPr>
          <p:cNvPr id="18" name="TextBox 17">
            <a:extLst>
              <a:ext uri="{FF2B5EF4-FFF2-40B4-BE49-F238E27FC236}">
                <a16:creationId xmlns:a16="http://schemas.microsoft.com/office/drawing/2014/main" id="{61AB90BB-3611-667D-BA5F-8099EBBBE981}"/>
              </a:ext>
            </a:extLst>
          </p:cNvPr>
          <p:cNvSpPr txBox="1"/>
          <p:nvPr/>
        </p:nvSpPr>
        <p:spPr>
          <a:xfrm>
            <a:off x="2209802" y="2426600"/>
            <a:ext cx="9144000" cy="369332"/>
          </a:xfrm>
          <a:prstGeom prst="rect">
            <a:avLst/>
          </a:prstGeom>
          <a:noFill/>
        </p:spPr>
        <p:txBody>
          <a:bodyPr wrap="square">
            <a:spAutoFit/>
          </a:bodyPr>
          <a:lstStyle/>
          <a:p>
            <a:r>
              <a:rPr lang="en-GB" sz="1800" dirty="0">
                <a:latin typeface="Times New Roman" panose="02020603050405020304" pitchFamily="18" charset="0"/>
                <a:cs typeface="Times New Roman" panose="02020603050405020304" pitchFamily="18" charset="0"/>
              </a:rPr>
              <a:t>Product Mix within the solar industry</a:t>
            </a:r>
          </a:p>
        </p:txBody>
      </p:sp>
      <p:pic>
        <p:nvPicPr>
          <p:cNvPr id="19" name="Picture 18">
            <a:extLst>
              <a:ext uri="{FF2B5EF4-FFF2-40B4-BE49-F238E27FC236}">
                <a16:creationId xmlns:a16="http://schemas.microsoft.com/office/drawing/2014/main" id="{499C8FD1-CF2C-DAEE-95C7-019D85291A56}"/>
              </a:ext>
            </a:extLst>
          </p:cNvPr>
          <p:cNvPicPr>
            <a:picLocks noChangeAspect="1"/>
          </p:cNvPicPr>
          <p:nvPr/>
        </p:nvPicPr>
        <p:blipFill>
          <a:blip r:embed="rId8"/>
          <a:srcRect l="-907" t="-2457" r="5582" b="164"/>
          <a:stretch>
            <a:fillRect/>
          </a:stretch>
        </p:blipFill>
        <p:spPr>
          <a:xfrm>
            <a:off x="2209802" y="6313776"/>
            <a:ext cx="3103195" cy="1763830"/>
          </a:xfrm>
          <a:prstGeom prst="rect">
            <a:avLst/>
          </a:prstGeom>
        </p:spPr>
      </p:pic>
      <p:sp>
        <p:nvSpPr>
          <p:cNvPr id="21" name="Rectangle 20">
            <a:extLst>
              <a:ext uri="{FF2B5EF4-FFF2-40B4-BE49-F238E27FC236}">
                <a16:creationId xmlns:a16="http://schemas.microsoft.com/office/drawing/2014/main" id="{3C9556BE-105B-B3A1-8EED-E5C5D1EF7E63}"/>
              </a:ext>
            </a:extLst>
          </p:cNvPr>
          <p:cNvSpPr/>
          <p:nvPr/>
        </p:nvSpPr>
        <p:spPr>
          <a:xfrm>
            <a:off x="1971550" y="5952345"/>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DB0BBA08-41CB-B089-D516-0BB3C53CBCC9}"/>
              </a:ext>
            </a:extLst>
          </p:cNvPr>
          <p:cNvSpPr txBox="1"/>
          <p:nvPr/>
        </p:nvSpPr>
        <p:spPr>
          <a:xfrm>
            <a:off x="2274380" y="5964013"/>
            <a:ext cx="6364075"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They make use of a widely diversified geographical market </a:t>
            </a:r>
          </a:p>
        </p:txBody>
      </p:sp>
      <p:sp>
        <p:nvSpPr>
          <p:cNvPr id="23" name="Rectangle 22">
            <a:extLst>
              <a:ext uri="{FF2B5EF4-FFF2-40B4-BE49-F238E27FC236}">
                <a16:creationId xmlns:a16="http://schemas.microsoft.com/office/drawing/2014/main" id="{DBD74E0B-E588-ECBB-650E-55DD83D0C3BD}"/>
              </a:ext>
            </a:extLst>
          </p:cNvPr>
          <p:cNvSpPr/>
          <p:nvPr/>
        </p:nvSpPr>
        <p:spPr>
          <a:xfrm>
            <a:off x="1913390" y="8390303"/>
            <a:ext cx="5457735" cy="738664"/>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23E41E9-AA25-B5BF-C8D6-713641A70CE4}"/>
              </a:ext>
            </a:extLst>
          </p:cNvPr>
          <p:cNvSpPr txBox="1"/>
          <p:nvPr/>
        </p:nvSpPr>
        <p:spPr>
          <a:xfrm>
            <a:off x="1971550" y="8377233"/>
            <a:ext cx="6081513" cy="738664"/>
          </a:xfrm>
          <a:prstGeom prst="rect">
            <a:avLst/>
          </a:prstGeom>
          <a:noFill/>
        </p:spPr>
        <p:txBody>
          <a:bodyPr wrap="square" rtlCol="0">
            <a:spAutoFit/>
          </a:bodyPr>
          <a:lstStyle/>
          <a:p>
            <a:pPr marL="285750" indent="-285750">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Increased exposure to growing solar renewable markets.</a:t>
            </a:r>
          </a:p>
          <a:p>
            <a:pPr marL="285750" indent="-285750">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Allows for lower susceptibility to market fluctuations.</a:t>
            </a:r>
          </a:p>
          <a:p>
            <a:pPr marL="285750" indent="-285750">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Allows firm to benefit from various national solar subsidy schemes.</a:t>
            </a:r>
          </a:p>
        </p:txBody>
      </p:sp>
      <p:sp>
        <p:nvSpPr>
          <p:cNvPr id="25" name="TextBox 24">
            <a:extLst>
              <a:ext uri="{FF2B5EF4-FFF2-40B4-BE49-F238E27FC236}">
                <a16:creationId xmlns:a16="http://schemas.microsoft.com/office/drawing/2014/main" id="{EDFBC70B-A43D-27B1-1B22-BD47633CA1F0}"/>
              </a:ext>
            </a:extLst>
          </p:cNvPr>
          <p:cNvSpPr txBox="1"/>
          <p:nvPr/>
        </p:nvSpPr>
        <p:spPr>
          <a:xfrm>
            <a:off x="9043839" y="2445830"/>
            <a:ext cx="2390639"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Management </a:t>
            </a:r>
          </a:p>
        </p:txBody>
      </p:sp>
      <p:sp>
        <p:nvSpPr>
          <p:cNvPr id="26" name="Rectangle 25">
            <a:extLst>
              <a:ext uri="{FF2B5EF4-FFF2-40B4-BE49-F238E27FC236}">
                <a16:creationId xmlns:a16="http://schemas.microsoft.com/office/drawing/2014/main" id="{532B5A70-88CD-EF36-913E-91D50DE918F9}"/>
              </a:ext>
            </a:extLst>
          </p:cNvPr>
          <p:cNvSpPr/>
          <p:nvPr/>
        </p:nvSpPr>
        <p:spPr>
          <a:xfrm>
            <a:off x="8649410" y="2437986"/>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2544C2D0-9D57-B21C-0C27-D5F005D2CE78}"/>
              </a:ext>
            </a:extLst>
          </p:cNvPr>
          <p:cNvSpPr txBox="1"/>
          <p:nvPr/>
        </p:nvSpPr>
        <p:spPr>
          <a:xfrm>
            <a:off x="8538416" y="2889585"/>
            <a:ext cx="3869584" cy="447814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Management continuously considers tariffs, supply chain constraints and inventory risks which signals strong awareness of operational risks</a:t>
            </a:r>
          </a:p>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Management also demonstrates strict prudence with regards to future sustainability through maintenance of a strong balance sheet, which contains significant cash reserves alongside marketable securities</a:t>
            </a:r>
          </a:p>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Management have also proven significant capability in recent quarters to maintain and improve margins while also providing strategic insight into future operations</a:t>
            </a:r>
          </a:p>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Consistent focus on their share repurchase program signals confidence within the near future</a:t>
            </a:r>
          </a:p>
          <a:p>
            <a:pPr marL="285750" indent="-285750">
              <a:buFont typeface="Arial" panose="020B0604020202020204" pitchFamily="34" charset="0"/>
              <a:buChar char="•"/>
            </a:pPr>
            <a:endParaRPr lang="en-GB" sz="1500" dirty="0">
              <a:latin typeface="Times New Roman" panose="02020603050405020304" pitchFamily="18" charset="0"/>
              <a:cs typeface="Times New Roman" panose="02020603050405020304" pitchFamily="18" charset="0"/>
            </a:endParaRPr>
          </a:p>
          <a:p>
            <a:endParaRPr lang="en-GB" sz="15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D6E44C0C-528F-6CF1-BEB5-B661EC011F25}"/>
              </a:ext>
            </a:extLst>
          </p:cNvPr>
          <p:cNvSpPr txBox="1"/>
          <p:nvPr/>
        </p:nvSpPr>
        <p:spPr>
          <a:xfrm>
            <a:off x="12972511" y="2434055"/>
            <a:ext cx="3869584"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Key operational insight</a:t>
            </a:r>
          </a:p>
        </p:txBody>
      </p:sp>
      <p:sp>
        <p:nvSpPr>
          <p:cNvPr id="29" name="Rectangle 28">
            <a:extLst>
              <a:ext uri="{FF2B5EF4-FFF2-40B4-BE49-F238E27FC236}">
                <a16:creationId xmlns:a16="http://schemas.microsoft.com/office/drawing/2014/main" id="{035D3D92-ED32-583C-1998-0E18DE187204}"/>
              </a:ext>
            </a:extLst>
          </p:cNvPr>
          <p:cNvSpPr/>
          <p:nvPr/>
        </p:nvSpPr>
        <p:spPr>
          <a:xfrm>
            <a:off x="12621510" y="2448872"/>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C18B52CA-C0C8-A206-4468-59D9A9AC64DE}"/>
              </a:ext>
            </a:extLst>
          </p:cNvPr>
          <p:cNvSpPr txBox="1"/>
          <p:nvPr/>
        </p:nvSpPr>
        <p:spPr>
          <a:xfrm>
            <a:off x="12581530" y="2830107"/>
            <a:ext cx="5024613" cy="286232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They make significant use of outsourcing allowing for an asset-light structure. This allows the company to adapt to changing demand levels without implications of factory slowdown. This lowers exposure to risk with minimal capital expenditure</a:t>
            </a:r>
          </a:p>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Use of data programs with increasing focus on monitoring and detecting supply chain risks, limiting their overall exposure to negative implications</a:t>
            </a:r>
          </a:p>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They also signal future movement to more domestic operational solutions, indicating a potential for an improved asset portfolio and less risk to international trade regulations</a:t>
            </a:r>
          </a:p>
        </p:txBody>
      </p:sp>
      <p:sp>
        <p:nvSpPr>
          <p:cNvPr id="31" name="TextBox 30">
            <a:extLst>
              <a:ext uri="{FF2B5EF4-FFF2-40B4-BE49-F238E27FC236}">
                <a16:creationId xmlns:a16="http://schemas.microsoft.com/office/drawing/2014/main" id="{00C82FE9-BA10-883D-D9E3-2B5104027DCA}"/>
              </a:ext>
            </a:extLst>
          </p:cNvPr>
          <p:cNvSpPr txBox="1"/>
          <p:nvPr/>
        </p:nvSpPr>
        <p:spPr>
          <a:xfrm>
            <a:off x="12932463" y="5760205"/>
            <a:ext cx="3373384"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Mergers and Acquisitions</a:t>
            </a:r>
          </a:p>
        </p:txBody>
      </p:sp>
      <p:sp>
        <p:nvSpPr>
          <p:cNvPr id="5152" name="TextBox 5151">
            <a:extLst>
              <a:ext uri="{FF2B5EF4-FFF2-40B4-BE49-F238E27FC236}">
                <a16:creationId xmlns:a16="http://schemas.microsoft.com/office/drawing/2014/main" id="{D0743E59-C548-BE7B-44F9-B1CEB07C1411}"/>
              </a:ext>
            </a:extLst>
          </p:cNvPr>
          <p:cNvSpPr txBox="1"/>
          <p:nvPr/>
        </p:nvSpPr>
        <p:spPr>
          <a:xfrm>
            <a:off x="12928190" y="6130536"/>
            <a:ext cx="4744016" cy="1246495"/>
          </a:xfrm>
          <a:prstGeom prst="rect">
            <a:avLst/>
          </a:prstGeom>
          <a:noFill/>
        </p:spPr>
        <p:txBody>
          <a:bodyPr wrap="square" lIns="91440" tIns="45720" rIns="91440" bIns="45720" rtlCol="0" anchor="t">
            <a:spAutoFit/>
          </a:bodyPr>
          <a:lstStyle/>
          <a:p>
            <a:r>
              <a:rPr lang="en-GB" sz="1500" dirty="0">
                <a:latin typeface="Times New Roman" panose="02020603050405020304" pitchFamily="18" charset="0"/>
                <a:cs typeface="Times New Roman" panose="02020603050405020304" pitchFamily="18" charset="0"/>
              </a:rPr>
              <a:t>Enphase have employed M&amp;A as a strategy to provide rapid growth, further helping them expand. Although not acquiring a firm since </a:t>
            </a:r>
            <a:r>
              <a:rPr lang="en-GB" sz="1500" dirty="0" err="1">
                <a:latin typeface="Times New Roman" panose="02020603050405020304" pitchFamily="18" charset="0"/>
                <a:cs typeface="Times New Roman" panose="02020603050405020304" pitchFamily="18" charset="0"/>
              </a:rPr>
              <a:t>GreenCom</a:t>
            </a:r>
            <a:r>
              <a:rPr lang="en-GB" sz="1500" dirty="0">
                <a:latin typeface="Times New Roman" panose="02020603050405020304" pitchFamily="18" charset="0"/>
                <a:cs typeface="Times New Roman" panose="02020603050405020304" pitchFamily="18" charset="0"/>
              </a:rPr>
              <a:t> Networks AG (2022) they have a history of paying cash for acquisitions thus reinforcing their strong balance sheet position</a:t>
            </a:r>
            <a:endParaRPr lang="en-GB" sz="1500" dirty="0">
              <a:latin typeface="Times New Roman" panose="02020603050405020304" pitchFamily="18" charset="0"/>
              <a:ea typeface="Calibri"/>
              <a:cs typeface="Times New Roman" panose="02020603050405020304" pitchFamily="18" charset="0"/>
            </a:endParaRPr>
          </a:p>
        </p:txBody>
      </p:sp>
      <p:sp>
        <p:nvSpPr>
          <p:cNvPr id="5153" name="Rectangle 5152">
            <a:extLst>
              <a:ext uri="{FF2B5EF4-FFF2-40B4-BE49-F238E27FC236}">
                <a16:creationId xmlns:a16="http://schemas.microsoft.com/office/drawing/2014/main" id="{C03792DA-90E8-DD69-1BD8-004596B5C87E}"/>
              </a:ext>
            </a:extLst>
          </p:cNvPr>
          <p:cNvSpPr/>
          <p:nvPr/>
        </p:nvSpPr>
        <p:spPr>
          <a:xfrm>
            <a:off x="12652801" y="5773759"/>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grpSp>
        <p:nvGrpSpPr>
          <p:cNvPr id="5162" name="Group 5161">
            <a:extLst>
              <a:ext uri="{FF2B5EF4-FFF2-40B4-BE49-F238E27FC236}">
                <a16:creationId xmlns:a16="http://schemas.microsoft.com/office/drawing/2014/main" id="{D782B4A7-CF3D-C9E2-4025-7159ECD33F22}"/>
              </a:ext>
            </a:extLst>
          </p:cNvPr>
          <p:cNvGrpSpPr/>
          <p:nvPr/>
        </p:nvGrpSpPr>
        <p:grpSpPr>
          <a:xfrm>
            <a:off x="14460541" y="7666143"/>
            <a:ext cx="2527244" cy="1077218"/>
            <a:chOff x="14460541" y="7666143"/>
            <a:chExt cx="2527244" cy="1077218"/>
          </a:xfrm>
        </p:grpSpPr>
        <p:sp>
          <p:nvSpPr>
            <p:cNvPr id="5154" name="Rectangle 5153">
              <a:extLst>
                <a:ext uri="{FF2B5EF4-FFF2-40B4-BE49-F238E27FC236}">
                  <a16:creationId xmlns:a16="http://schemas.microsoft.com/office/drawing/2014/main" id="{0080A470-ECD8-1283-3FC3-A65310CC7EC6}"/>
                </a:ext>
              </a:extLst>
            </p:cNvPr>
            <p:cNvSpPr/>
            <p:nvPr/>
          </p:nvSpPr>
          <p:spPr>
            <a:xfrm>
              <a:off x="14460541" y="7688191"/>
              <a:ext cx="2527244" cy="988905"/>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55" name="TextBox 5154">
              <a:extLst>
                <a:ext uri="{FF2B5EF4-FFF2-40B4-BE49-F238E27FC236}">
                  <a16:creationId xmlns:a16="http://schemas.microsoft.com/office/drawing/2014/main" id="{29CE87DB-B05E-EEB8-E0D8-4AC0ABE4D53B}"/>
                </a:ext>
              </a:extLst>
            </p:cNvPr>
            <p:cNvSpPr txBox="1"/>
            <p:nvPr/>
          </p:nvSpPr>
          <p:spPr>
            <a:xfrm>
              <a:off x="14516356" y="7666143"/>
              <a:ext cx="2446135" cy="1077218"/>
            </a:xfrm>
            <a:prstGeom prst="rect">
              <a:avLst/>
            </a:prstGeom>
            <a:noFill/>
          </p:spPr>
          <p:txBody>
            <a:bodyPr wrap="square" lIns="91440" tIns="45720" rIns="91440" bIns="45720" rtlCol="0" anchor="t">
              <a:spAutoFit/>
            </a:bodyPr>
            <a:lstStyle/>
            <a:p>
              <a:r>
                <a:rPr lang="en-GB" sz="1600" dirty="0">
                  <a:latin typeface="Times New Roman" panose="02020603050405020304" pitchFamily="18" charset="0"/>
                  <a:cs typeface="Times New Roman" panose="02020603050405020304" pitchFamily="18" charset="0"/>
                </a:rPr>
                <a:t>Experience with being one of the market leaders within the solar development industry. </a:t>
              </a:r>
            </a:p>
          </p:txBody>
        </p:sp>
      </p:grpSp>
      <p:grpSp>
        <p:nvGrpSpPr>
          <p:cNvPr id="5161" name="Group 5160">
            <a:extLst>
              <a:ext uri="{FF2B5EF4-FFF2-40B4-BE49-F238E27FC236}">
                <a16:creationId xmlns:a16="http://schemas.microsoft.com/office/drawing/2014/main" id="{95B7A74D-9EA3-96BD-C7BE-CAEA80AA9F64}"/>
              </a:ext>
            </a:extLst>
          </p:cNvPr>
          <p:cNvGrpSpPr/>
          <p:nvPr/>
        </p:nvGrpSpPr>
        <p:grpSpPr>
          <a:xfrm>
            <a:off x="11070184" y="7666143"/>
            <a:ext cx="3127407" cy="1330241"/>
            <a:chOff x="11187950" y="7642310"/>
            <a:chExt cx="3009641" cy="1354505"/>
          </a:xfrm>
        </p:grpSpPr>
        <p:sp>
          <p:nvSpPr>
            <p:cNvPr id="5157" name="Rectangle 5156">
              <a:extLst>
                <a:ext uri="{FF2B5EF4-FFF2-40B4-BE49-F238E27FC236}">
                  <a16:creationId xmlns:a16="http://schemas.microsoft.com/office/drawing/2014/main" id="{358039C1-C988-C2ED-C2BD-114443F29785}"/>
                </a:ext>
              </a:extLst>
            </p:cNvPr>
            <p:cNvSpPr/>
            <p:nvPr/>
          </p:nvSpPr>
          <p:spPr>
            <a:xfrm>
              <a:off x="11187950" y="7642310"/>
              <a:ext cx="3009641" cy="132343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GB" kern="1200">
                <a:latin typeface="Times New Roman" panose="02020603050405020304" pitchFamily="18" charset="0"/>
                <a:cs typeface="Times New Roman" panose="02020603050405020304" pitchFamily="18" charset="0"/>
              </a:endParaRPr>
            </a:p>
          </p:txBody>
        </p:sp>
        <p:sp>
          <p:nvSpPr>
            <p:cNvPr id="5156" name="TextBox 5155">
              <a:extLst>
                <a:ext uri="{FF2B5EF4-FFF2-40B4-BE49-F238E27FC236}">
                  <a16:creationId xmlns:a16="http://schemas.microsoft.com/office/drawing/2014/main" id="{E464C7B5-3FB0-4C53-3193-2929794AA853}"/>
                </a:ext>
              </a:extLst>
            </p:cNvPr>
            <p:cNvSpPr txBox="1"/>
            <p:nvPr/>
          </p:nvSpPr>
          <p:spPr>
            <a:xfrm>
              <a:off x="11276882" y="7649236"/>
              <a:ext cx="2751838" cy="1347579"/>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They offer an easily accessible service providing all necessary solar components, acting as a one stop shop, for your home renewable solar infrastructure.</a:t>
              </a:r>
            </a:p>
          </p:txBody>
        </p:sp>
      </p:grpSp>
      <p:grpSp>
        <p:nvGrpSpPr>
          <p:cNvPr id="5160" name="Group 5159">
            <a:extLst>
              <a:ext uri="{FF2B5EF4-FFF2-40B4-BE49-F238E27FC236}">
                <a16:creationId xmlns:a16="http://schemas.microsoft.com/office/drawing/2014/main" id="{195D24A8-B39B-5D70-1D8E-E956C141420E}"/>
              </a:ext>
            </a:extLst>
          </p:cNvPr>
          <p:cNvGrpSpPr/>
          <p:nvPr/>
        </p:nvGrpSpPr>
        <p:grpSpPr>
          <a:xfrm>
            <a:off x="7992322" y="7459727"/>
            <a:ext cx="2814912" cy="1477345"/>
            <a:chOff x="7999812" y="7417894"/>
            <a:chExt cx="2814912" cy="1477345"/>
          </a:xfrm>
        </p:grpSpPr>
        <p:sp>
          <p:nvSpPr>
            <p:cNvPr id="5158" name="Rectangle 5157">
              <a:extLst>
                <a:ext uri="{FF2B5EF4-FFF2-40B4-BE49-F238E27FC236}">
                  <a16:creationId xmlns:a16="http://schemas.microsoft.com/office/drawing/2014/main" id="{358039C1-C988-C2ED-C2BD-114443F29785}"/>
                </a:ext>
              </a:extLst>
            </p:cNvPr>
            <p:cNvSpPr/>
            <p:nvPr/>
          </p:nvSpPr>
          <p:spPr>
            <a:xfrm>
              <a:off x="7999812" y="7417894"/>
              <a:ext cx="2814912" cy="1477345"/>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GB" kern="1200">
                <a:latin typeface="Times New Roman" panose="02020603050405020304" pitchFamily="18" charset="0"/>
                <a:cs typeface="Times New Roman" panose="02020603050405020304" pitchFamily="18" charset="0"/>
              </a:endParaRPr>
            </a:p>
          </p:txBody>
        </p:sp>
        <p:sp>
          <p:nvSpPr>
            <p:cNvPr id="5159" name="TextBox 5158">
              <a:extLst>
                <a:ext uri="{FF2B5EF4-FFF2-40B4-BE49-F238E27FC236}">
                  <a16:creationId xmlns:a16="http://schemas.microsoft.com/office/drawing/2014/main" id="{7C6B0E13-A5B9-EF83-E18A-A45D093F2E49}"/>
                </a:ext>
              </a:extLst>
            </p:cNvPr>
            <p:cNvSpPr txBox="1"/>
            <p:nvPr/>
          </p:nvSpPr>
          <p:spPr>
            <a:xfrm>
              <a:off x="8138915" y="7482387"/>
              <a:ext cx="2667000" cy="1323439"/>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Reliability with solar components with consistent innovative improvements. Partnered with significant R&amp;D investment. </a:t>
              </a:r>
            </a:p>
          </p:txBody>
        </p:sp>
      </p:grpSp>
      <p:sp>
        <p:nvSpPr>
          <p:cNvPr id="5163" name="TextBox 5162">
            <a:extLst>
              <a:ext uri="{FF2B5EF4-FFF2-40B4-BE49-F238E27FC236}">
                <a16:creationId xmlns:a16="http://schemas.microsoft.com/office/drawing/2014/main" id="{8EF942F7-E176-A01E-26B1-3BF9AFAEF589}"/>
              </a:ext>
            </a:extLst>
          </p:cNvPr>
          <p:cNvSpPr txBox="1"/>
          <p:nvPr/>
        </p:nvSpPr>
        <p:spPr>
          <a:xfrm>
            <a:off x="8801810" y="6920203"/>
            <a:ext cx="5562600"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Key business components</a:t>
            </a:r>
          </a:p>
        </p:txBody>
      </p:sp>
      <p:sp>
        <p:nvSpPr>
          <p:cNvPr id="5180" name="Rectangle 5179">
            <a:extLst>
              <a:ext uri="{FF2B5EF4-FFF2-40B4-BE49-F238E27FC236}">
                <a16:creationId xmlns:a16="http://schemas.microsoft.com/office/drawing/2014/main" id="{9A243189-3F16-3943-E574-0BB977C85281}"/>
              </a:ext>
            </a:extLst>
          </p:cNvPr>
          <p:cNvSpPr/>
          <p:nvPr/>
        </p:nvSpPr>
        <p:spPr>
          <a:xfrm>
            <a:off x="8649410" y="6888815"/>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graphicFrame>
        <p:nvGraphicFramePr>
          <p:cNvPr id="2048" name="Chart 2047">
            <a:extLst>
              <a:ext uri="{FF2B5EF4-FFF2-40B4-BE49-F238E27FC236}">
                <a16:creationId xmlns:a16="http://schemas.microsoft.com/office/drawing/2014/main" id="{57267D1D-B81E-73B1-74AA-79879F7B696A}"/>
              </a:ext>
            </a:extLst>
          </p:cNvPr>
          <p:cNvGraphicFramePr/>
          <p:nvPr>
            <p:extLst>
              <p:ext uri="{D42A27DB-BD31-4B8C-83A1-F6EECF244321}">
                <p14:modId xmlns:p14="http://schemas.microsoft.com/office/powerpoint/2010/main" val="3226452431"/>
              </p:ext>
            </p:extLst>
          </p:nvPr>
        </p:nvGraphicFramePr>
        <p:xfrm>
          <a:off x="2787037" y="2830738"/>
          <a:ext cx="12278793" cy="5931944"/>
        </p:xfrm>
        <a:graphic>
          <a:graphicData uri="http://schemas.openxmlformats.org/drawingml/2006/chart">
            <c:chart xmlns:c="http://schemas.openxmlformats.org/drawingml/2006/chart" xmlns:r="http://schemas.openxmlformats.org/officeDocument/2006/relationships" r:id="rId9"/>
          </a:graphicData>
        </a:graphic>
      </p:graphicFrame>
      <p:sp>
        <p:nvSpPr>
          <p:cNvPr id="32" name="TextBox 49">
            <a:extLst>
              <a:ext uri="{FF2B5EF4-FFF2-40B4-BE49-F238E27FC236}">
                <a16:creationId xmlns:a16="http://schemas.microsoft.com/office/drawing/2014/main" id="{CA5E5630-9A1C-4382-E43E-6D461F536421}"/>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123903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4575C277-8733-53FB-71D6-043A65350985}"/>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19B23972-E157-6458-D5EF-F0A394486658}"/>
              </a:ext>
            </a:extLst>
          </p:cNvPr>
          <p:cNvGrpSpPr>
            <a:grpSpLocks noGrp="1" noUngrp="1" noRot="1" noMove="1" noResize="1"/>
          </p:cNvGrpSpPr>
          <p:nvPr/>
        </p:nvGrpSpPr>
        <p:grpSpPr>
          <a:xfrm>
            <a:off x="482833" y="399657"/>
            <a:ext cx="17349108" cy="9487687"/>
            <a:chOff x="482833" y="399657"/>
            <a:chExt cx="17349108" cy="9487687"/>
          </a:xfrm>
        </p:grpSpPr>
        <p:sp>
          <p:nvSpPr>
            <p:cNvPr id="2" name="Freeform 2">
              <a:extLst>
                <a:ext uri="{FF2B5EF4-FFF2-40B4-BE49-F238E27FC236}">
                  <a16:creationId xmlns:a16="http://schemas.microsoft.com/office/drawing/2014/main" id="{F5B8EA8D-EE95-3F58-2D16-6AC4785D58FC}"/>
                </a:ext>
              </a:extLst>
            </p:cNvPr>
            <p:cNvSpPr>
              <a:spLocks noGrp="1" noRot="1" noMove="1" noResize="1" noEditPoints="1" noAdjustHandles="1" noChangeArrowheads="1" noChangeShapeType="1"/>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a:extLst>
                <a:ext uri="{FF2B5EF4-FFF2-40B4-BE49-F238E27FC236}">
                  <a16:creationId xmlns:a16="http://schemas.microsoft.com/office/drawing/2014/main" id="{E5D92B6F-F972-7BD0-0AC8-DB20CDFACA70}"/>
                </a:ext>
              </a:extLst>
            </p:cNvPr>
            <p:cNvSpPr txBox="1">
              <a:spLocks noGrp="1" noRot="1" noMove="1" noResize="1" noEditPoints="1" noAdjustHandles="1" noChangeArrowheads="1" noChangeShapeType="1"/>
            </p:cNvSpPr>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a:extLst>
                <a:ext uri="{FF2B5EF4-FFF2-40B4-BE49-F238E27FC236}">
                  <a16:creationId xmlns:a16="http://schemas.microsoft.com/office/drawing/2014/main" id="{7C0558F6-4850-3053-1524-7ADAB0228CFF}"/>
                </a:ext>
              </a:extLst>
            </p:cNvPr>
            <p:cNvSpPr txBox="1">
              <a:spLocks noGrp="1" noRot="1" noMove="1" noResize="1" noEditPoints="1" noAdjustHandles="1" noChangeArrowheads="1" noChangeShapeType="1"/>
            </p:cNvSpPr>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a:extLst>
                <a:ext uri="{FF2B5EF4-FFF2-40B4-BE49-F238E27FC236}">
                  <a16:creationId xmlns:a16="http://schemas.microsoft.com/office/drawing/2014/main" id="{8F8C62EC-E954-3E45-42B8-7661DDAC6B89}"/>
                </a:ext>
              </a:extLst>
            </p:cNvPr>
            <p:cNvSpPr txBox="1">
              <a:spLocks noGrp="1" noRot="1" noMove="1" noResize="1" noEditPoints="1" noAdjustHandles="1" noChangeArrowheads="1" noChangeShapeType="1"/>
            </p:cNvSpPr>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a:extLst>
                <a:ext uri="{FF2B5EF4-FFF2-40B4-BE49-F238E27FC236}">
                  <a16:creationId xmlns:a16="http://schemas.microsoft.com/office/drawing/2014/main" id="{A1292355-56E3-9ABA-3A3C-AAB1D8ABBFC8}"/>
                </a:ext>
              </a:extLst>
            </p:cNvPr>
            <p:cNvGrpSpPr>
              <a:grpSpLocks noGrp="1" noUngrp="1" noRot="1" noMove="1" noResize="1"/>
            </p:cNvGrpSpPr>
            <p:nvPr/>
          </p:nvGrpSpPr>
          <p:grpSpPr>
            <a:xfrm>
              <a:off x="482833" y="399657"/>
              <a:ext cx="17349108" cy="9487687"/>
              <a:chOff x="0" y="0"/>
              <a:chExt cx="5293499" cy="2894850"/>
            </a:xfrm>
          </p:grpSpPr>
          <p:sp>
            <p:nvSpPr>
              <p:cNvPr id="7" name="Freeform 7">
                <a:extLst>
                  <a:ext uri="{FF2B5EF4-FFF2-40B4-BE49-F238E27FC236}">
                    <a16:creationId xmlns:a16="http://schemas.microsoft.com/office/drawing/2014/main" id="{45264B0E-5BCE-4FBA-05B4-D7953EBF5B63}"/>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a:extLst>
                  <a:ext uri="{FF2B5EF4-FFF2-40B4-BE49-F238E27FC236}">
                    <a16:creationId xmlns:a16="http://schemas.microsoft.com/office/drawing/2014/main" id="{CDD91BC3-45B1-82CA-B4F9-0120AB4B0036}"/>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a:extLst>
                <a:ext uri="{FF2B5EF4-FFF2-40B4-BE49-F238E27FC236}">
                  <a16:creationId xmlns:a16="http://schemas.microsoft.com/office/drawing/2014/main" id="{31D770F7-7E0B-8683-E64D-D7C1E50FD772}"/>
                </a:ext>
              </a:extLst>
            </p:cNvPr>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1" name="AutoShape 11">
              <a:extLst>
                <a:ext uri="{FF2B5EF4-FFF2-40B4-BE49-F238E27FC236}">
                  <a16:creationId xmlns:a16="http://schemas.microsoft.com/office/drawing/2014/main" id="{AF7635BC-9A2C-8866-E979-760CE46D6EB5}"/>
                </a:ext>
              </a:extLst>
            </p:cNvPr>
            <p:cNvSpPr>
              <a:spLocks noGrp="1" noRot="1" noMove="1" noResize="1" noEditPoints="1" noAdjustHandles="1" noChangeArrowheads="1" noChangeShapeType="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3" name="AutoShape 13">
              <a:extLst>
                <a:ext uri="{FF2B5EF4-FFF2-40B4-BE49-F238E27FC236}">
                  <a16:creationId xmlns:a16="http://schemas.microsoft.com/office/drawing/2014/main" id="{B573810D-371B-3981-CCB5-DDD5EE8F2DEB}"/>
                </a:ext>
              </a:extLst>
            </p:cNvPr>
            <p:cNvSpPr>
              <a:spLocks noGrp="1" noRot="1" noMove="1" noResize="1" noEditPoints="1" noAdjustHandles="1" noChangeArrowheads="1" noChangeShapeType="1"/>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pSp>
      <p:sp>
        <p:nvSpPr>
          <p:cNvPr id="2063" name="Rectangle 11">
            <a:extLst>
              <a:ext uri="{FF2B5EF4-FFF2-40B4-BE49-F238E27FC236}">
                <a16:creationId xmlns:a16="http://schemas.microsoft.com/office/drawing/2014/main" id="{81843A78-AA8A-A935-C7BB-E0751F001890}"/>
              </a:ext>
            </a:extLst>
          </p:cNvPr>
          <p:cNvSpPr>
            <a:spLocks noChangeArrowheads="1"/>
          </p:cNvSpPr>
          <p:nvPr/>
        </p:nvSpPr>
        <p:spPr bwMode="auto">
          <a:xfrm>
            <a:off x="10952616" y="6422765"/>
            <a:ext cx="18288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7" name="Title 1">
            <a:extLst>
              <a:ext uri="{FF2B5EF4-FFF2-40B4-BE49-F238E27FC236}">
                <a16:creationId xmlns:a16="http://schemas.microsoft.com/office/drawing/2014/main" id="{6F6A1FA4-0757-839D-C6E5-3EA16B92E7AA}"/>
              </a:ext>
            </a:extLst>
          </p:cNvPr>
          <p:cNvSpPr>
            <a:spLocks noGrp="1"/>
          </p:cNvSpPr>
          <p:nvPr/>
        </p:nvSpPr>
        <p:spPr>
          <a:xfrm>
            <a:off x="1868226" y="79166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cs typeface="Times New Roman" panose="02020603050405020304" pitchFamily="18" charset="0"/>
              </a:rPr>
              <a:t>Industry Overview</a:t>
            </a:r>
          </a:p>
        </p:txBody>
      </p:sp>
      <p:sp>
        <p:nvSpPr>
          <p:cNvPr id="5145" name="TextBox 5144">
            <a:extLst>
              <a:ext uri="{FF2B5EF4-FFF2-40B4-BE49-F238E27FC236}">
                <a16:creationId xmlns:a16="http://schemas.microsoft.com/office/drawing/2014/main" id="{44E7373F-BB87-DE7F-897D-66F7E89A5FA7}"/>
              </a:ext>
            </a:extLst>
          </p:cNvPr>
          <p:cNvSpPr txBox="1"/>
          <p:nvPr/>
        </p:nvSpPr>
        <p:spPr>
          <a:xfrm>
            <a:off x="899751" y="3925710"/>
            <a:ext cx="2372212" cy="1077218"/>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Collection of raw minerals and components such as polysilicon on an international scale</a:t>
            </a:r>
          </a:p>
        </p:txBody>
      </p:sp>
      <p:sp>
        <p:nvSpPr>
          <p:cNvPr id="5146" name="TextBox 5145">
            <a:extLst>
              <a:ext uri="{FF2B5EF4-FFF2-40B4-BE49-F238E27FC236}">
                <a16:creationId xmlns:a16="http://schemas.microsoft.com/office/drawing/2014/main" id="{ABB71AFE-96E1-C1D4-F0A8-F18F38FB497A}"/>
              </a:ext>
            </a:extLst>
          </p:cNvPr>
          <p:cNvSpPr txBox="1"/>
          <p:nvPr/>
        </p:nvSpPr>
        <p:spPr>
          <a:xfrm>
            <a:off x="3271963" y="3977200"/>
            <a:ext cx="2286000" cy="1077218"/>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Completion of micro inverter devices through both in house and outsourcing methods</a:t>
            </a:r>
          </a:p>
        </p:txBody>
      </p:sp>
      <p:sp>
        <p:nvSpPr>
          <p:cNvPr id="5147" name="TextBox 5146">
            <a:extLst>
              <a:ext uri="{FF2B5EF4-FFF2-40B4-BE49-F238E27FC236}">
                <a16:creationId xmlns:a16="http://schemas.microsoft.com/office/drawing/2014/main" id="{34E8A8EC-5530-1F5D-3633-1D0E224DF960}"/>
              </a:ext>
            </a:extLst>
          </p:cNvPr>
          <p:cNvSpPr txBox="1"/>
          <p:nvPr/>
        </p:nvSpPr>
        <p:spPr>
          <a:xfrm>
            <a:off x="5702106" y="3953500"/>
            <a:ext cx="2847839" cy="1323439"/>
          </a:xfrm>
          <a:prstGeom prst="rect">
            <a:avLst/>
          </a:prstGeom>
          <a:noFill/>
        </p:spPr>
        <p:txBody>
          <a:bodyPr wrap="square" lIns="91440" tIns="45720" rIns="91440" bIns="45720" rtlCol="0" anchor="t">
            <a:spAutoFit/>
          </a:bodyPr>
          <a:lstStyle/>
          <a:p>
            <a:r>
              <a:rPr lang="en-GB" sz="1600" dirty="0">
                <a:latin typeface="Times New Roman" panose="02020603050405020304" pitchFamily="18" charset="0"/>
                <a:cs typeface="Times New Roman" panose="02020603050405020304" pitchFamily="18" charset="0"/>
              </a:rPr>
              <a:t>They will either distribute devices themselves to provide solar components or use selected and contracted distributors</a:t>
            </a:r>
          </a:p>
        </p:txBody>
      </p:sp>
      <p:graphicFrame>
        <p:nvGraphicFramePr>
          <p:cNvPr id="5148" name="Diagram 5147">
            <a:extLst>
              <a:ext uri="{FF2B5EF4-FFF2-40B4-BE49-F238E27FC236}">
                <a16:creationId xmlns:a16="http://schemas.microsoft.com/office/drawing/2014/main" id="{CDC813DC-452F-CD0D-102E-0B43A089BB4B}"/>
              </a:ext>
            </a:extLst>
          </p:cNvPr>
          <p:cNvGraphicFramePr/>
          <p:nvPr>
            <p:extLst>
              <p:ext uri="{D42A27DB-BD31-4B8C-83A1-F6EECF244321}">
                <p14:modId xmlns:p14="http://schemas.microsoft.com/office/powerpoint/2010/main" val="1714236721"/>
              </p:ext>
            </p:extLst>
          </p:nvPr>
        </p:nvGraphicFramePr>
        <p:xfrm>
          <a:off x="978126" y="1682443"/>
          <a:ext cx="7418774" cy="3289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49" name="TextBox 5148">
            <a:extLst>
              <a:ext uri="{FF2B5EF4-FFF2-40B4-BE49-F238E27FC236}">
                <a16:creationId xmlns:a16="http://schemas.microsoft.com/office/drawing/2014/main" id="{3D25E3F8-6A7D-1E4F-D3C7-1F497EB104B6}"/>
              </a:ext>
            </a:extLst>
          </p:cNvPr>
          <p:cNvSpPr txBox="1"/>
          <p:nvPr/>
        </p:nvSpPr>
        <p:spPr>
          <a:xfrm>
            <a:off x="1868226" y="1893289"/>
            <a:ext cx="11734800" cy="461665"/>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Leading the market within the Micro Inverter industry</a:t>
            </a:r>
          </a:p>
        </p:txBody>
      </p:sp>
      <p:sp>
        <p:nvSpPr>
          <p:cNvPr id="5150" name="Rectangle 5149">
            <a:extLst>
              <a:ext uri="{FF2B5EF4-FFF2-40B4-BE49-F238E27FC236}">
                <a16:creationId xmlns:a16="http://schemas.microsoft.com/office/drawing/2014/main" id="{BB793AA9-E0FC-4327-C763-D7A82560DE46}"/>
              </a:ext>
            </a:extLst>
          </p:cNvPr>
          <p:cNvSpPr/>
          <p:nvPr/>
        </p:nvSpPr>
        <p:spPr>
          <a:xfrm>
            <a:off x="1050393" y="2288163"/>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51" name="TextBox 5150">
            <a:extLst>
              <a:ext uri="{FF2B5EF4-FFF2-40B4-BE49-F238E27FC236}">
                <a16:creationId xmlns:a16="http://schemas.microsoft.com/office/drawing/2014/main" id="{FC97E456-395E-A046-2344-AAC51F70D3FD}"/>
              </a:ext>
            </a:extLst>
          </p:cNvPr>
          <p:cNvSpPr txBox="1"/>
          <p:nvPr/>
        </p:nvSpPr>
        <p:spPr>
          <a:xfrm>
            <a:off x="1364660" y="2312789"/>
            <a:ext cx="9144000" cy="369332"/>
          </a:xfrm>
          <a:prstGeom prst="rect">
            <a:avLst/>
          </a:prstGeom>
          <a:noFill/>
        </p:spPr>
        <p:txBody>
          <a:bodyPr wrap="square">
            <a:spAutoFit/>
          </a:bodyPr>
          <a:lstStyle/>
          <a:p>
            <a:r>
              <a:rPr lang="en-GB" sz="1800" dirty="0">
                <a:latin typeface="Times New Roman" panose="02020603050405020304" pitchFamily="18" charset="0"/>
                <a:cs typeface="Times New Roman" panose="02020603050405020304" pitchFamily="18" charset="0"/>
              </a:rPr>
              <a:t>Industry vertical </a:t>
            </a:r>
          </a:p>
        </p:txBody>
      </p:sp>
      <p:grpSp>
        <p:nvGrpSpPr>
          <p:cNvPr id="5176" name="Group 5175">
            <a:extLst>
              <a:ext uri="{FF2B5EF4-FFF2-40B4-BE49-F238E27FC236}">
                <a16:creationId xmlns:a16="http://schemas.microsoft.com/office/drawing/2014/main" id="{2A3E6D9C-C31E-C48D-4811-4B1B4EEC59A2}"/>
              </a:ext>
            </a:extLst>
          </p:cNvPr>
          <p:cNvGrpSpPr/>
          <p:nvPr/>
        </p:nvGrpSpPr>
        <p:grpSpPr>
          <a:xfrm>
            <a:off x="1050393" y="5176560"/>
            <a:ext cx="5746925" cy="3881816"/>
            <a:chOff x="762000" y="5165412"/>
            <a:chExt cx="5746925" cy="3881816"/>
          </a:xfrm>
        </p:grpSpPr>
        <p:sp>
          <p:nvSpPr>
            <p:cNvPr id="5164" name="Rectangle 5163">
              <a:extLst>
                <a:ext uri="{FF2B5EF4-FFF2-40B4-BE49-F238E27FC236}">
                  <a16:creationId xmlns:a16="http://schemas.microsoft.com/office/drawing/2014/main" id="{2D17480C-A979-B888-0BA1-60A1F7311FA5}"/>
                </a:ext>
              </a:extLst>
            </p:cNvPr>
            <p:cNvSpPr/>
            <p:nvPr/>
          </p:nvSpPr>
          <p:spPr>
            <a:xfrm>
              <a:off x="762000" y="5178879"/>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65" name="Rectangle 5164">
              <a:extLst>
                <a:ext uri="{FF2B5EF4-FFF2-40B4-BE49-F238E27FC236}">
                  <a16:creationId xmlns:a16="http://schemas.microsoft.com/office/drawing/2014/main" id="{B6522886-6287-42CD-884E-767B62022E8E}"/>
                </a:ext>
              </a:extLst>
            </p:cNvPr>
            <p:cNvSpPr/>
            <p:nvPr/>
          </p:nvSpPr>
          <p:spPr>
            <a:xfrm>
              <a:off x="3689525" y="7525448"/>
              <a:ext cx="2819400" cy="151637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66" name="Rectangle 5165">
              <a:extLst>
                <a:ext uri="{FF2B5EF4-FFF2-40B4-BE49-F238E27FC236}">
                  <a16:creationId xmlns:a16="http://schemas.microsoft.com/office/drawing/2014/main" id="{D42BE816-3943-20AA-EE2C-8E0AB084FE16}"/>
                </a:ext>
              </a:extLst>
            </p:cNvPr>
            <p:cNvSpPr/>
            <p:nvPr/>
          </p:nvSpPr>
          <p:spPr>
            <a:xfrm>
              <a:off x="762000" y="5701038"/>
              <a:ext cx="2819400" cy="151637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67" name="Rectangle 5166">
              <a:extLst>
                <a:ext uri="{FF2B5EF4-FFF2-40B4-BE49-F238E27FC236}">
                  <a16:creationId xmlns:a16="http://schemas.microsoft.com/office/drawing/2014/main" id="{C20F8AF7-6D57-C8B2-7052-D748BBE0DB77}"/>
                </a:ext>
              </a:extLst>
            </p:cNvPr>
            <p:cNvSpPr/>
            <p:nvPr/>
          </p:nvSpPr>
          <p:spPr>
            <a:xfrm>
              <a:off x="3680659" y="5701743"/>
              <a:ext cx="2819400" cy="151637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68" name="Rectangle 5167">
              <a:extLst>
                <a:ext uri="{FF2B5EF4-FFF2-40B4-BE49-F238E27FC236}">
                  <a16:creationId xmlns:a16="http://schemas.microsoft.com/office/drawing/2014/main" id="{D5A74FE1-D037-E207-8270-1016D360676A}"/>
                </a:ext>
              </a:extLst>
            </p:cNvPr>
            <p:cNvSpPr/>
            <p:nvPr/>
          </p:nvSpPr>
          <p:spPr>
            <a:xfrm>
              <a:off x="775610" y="7530851"/>
              <a:ext cx="2819400" cy="1516377"/>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69" name="TextBox 5168">
              <a:extLst>
                <a:ext uri="{FF2B5EF4-FFF2-40B4-BE49-F238E27FC236}">
                  <a16:creationId xmlns:a16="http://schemas.microsoft.com/office/drawing/2014/main" id="{C6087E15-6D9B-9F71-F020-7B7F43662CEF}"/>
                </a:ext>
              </a:extLst>
            </p:cNvPr>
            <p:cNvSpPr txBox="1"/>
            <p:nvPr/>
          </p:nvSpPr>
          <p:spPr>
            <a:xfrm>
              <a:off x="974271" y="5165412"/>
              <a:ext cx="4235245" cy="646331"/>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Technological factors</a:t>
              </a:r>
            </a:p>
            <a:p>
              <a:endParaRPr lang="en-GB" dirty="0">
                <a:latin typeface="Times New Roman" panose="02020603050405020304" pitchFamily="18" charset="0"/>
                <a:cs typeface="Times New Roman" panose="02020603050405020304" pitchFamily="18" charset="0"/>
              </a:endParaRPr>
            </a:p>
          </p:txBody>
        </p:sp>
        <p:sp>
          <p:nvSpPr>
            <p:cNvPr id="5170" name="TextBox 5169">
              <a:extLst>
                <a:ext uri="{FF2B5EF4-FFF2-40B4-BE49-F238E27FC236}">
                  <a16:creationId xmlns:a16="http://schemas.microsoft.com/office/drawing/2014/main" id="{61BE6709-404B-49FC-4C71-8A229BA5564A}"/>
                </a:ext>
              </a:extLst>
            </p:cNvPr>
            <p:cNvSpPr txBox="1"/>
            <p:nvPr/>
          </p:nvSpPr>
          <p:spPr>
            <a:xfrm>
              <a:off x="1008361" y="5732900"/>
              <a:ext cx="3216729" cy="323165"/>
            </a:xfrm>
            <a:prstGeom prst="rect">
              <a:avLst/>
            </a:prstGeom>
            <a:noFill/>
          </p:spPr>
          <p:txBody>
            <a:bodyPr wrap="square" rtlCol="0">
              <a:spAutoFit/>
            </a:bodyPr>
            <a:lstStyle/>
            <a:p>
              <a:r>
                <a:rPr lang="en-GB" sz="1500">
                  <a:latin typeface="Times New Roman" panose="02020603050405020304" pitchFamily="18" charset="0"/>
                  <a:cs typeface="Times New Roman" panose="02020603050405020304" pitchFamily="18" charset="0"/>
                </a:rPr>
                <a:t>Efficiency improvements </a:t>
              </a:r>
            </a:p>
          </p:txBody>
        </p:sp>
        <p:sp>
          <p:nvSpPr>
            <p:cNvPr id="5171" name="TextBox 5170">
              <a:extLst>
                <a:ext uri="{FF2B5EF4-FFF2-40B4-BE49-F238E27FC236}">
                  <a16:creationId xmlns:a16="http://schemas.microsoft.com/office/drawing/2014/main" id="{033A2D1C-BE84-83CF-6B5C-56290C808837}"/>
                </a:ext>
              </a:extLst>
            </p:cNvPr>
            <p:cNvSpPr txBox="1"/>
            <p:nvPr/>
          </p:nvSpPr>
          <p:spPr>
            <a:xfrm>
              <a:off x="838200" y="6049555"/>
              <a:ext cx="2819400" cy="1015663"/>
            </a:xfrm>
            <a:prstGeom prst="rect">
              <a:avLst/>
            </a:prstGeom>
            <a:noFill/>
          </p:spPr>
          <p:txBody>
            <a:bodyPr wrap="square" rtlCol="0">
              <a:spAutoFit/>
            </a:bodyPr>
            <a:lstStyle/>
            <a:p>
              <a:r>
                <a:rPr lang="en-GB" sz="1500" dirty="0">
                  <a:latin typeface="Times New Roman" panose="02020603050405020304" pitchFamily="18" charset="0"/>
                  <a:cs typeface="Times New Roman" panose="02020603050405020304" pitchFamily="18" charset="0"/>
                </a:rPr>
                <a:t>Advancements in technological capability increases efficiency in micro inverters, allowing for higher power output</a:t>
              </a:r>
            </a:p>
          </p:txBody>
        </p:sp>
        <p:sp>
          <p:nvSpPr>
            <p:cNvPr id="5172" name="TextBox 5171">
              <a:extLst>
                <a:ext uri="{FF2B5EF4-FFF2-40B4-BE49-F238E27FC236}">
                  <a16:creationId xmlns:a16="http://schemas.microsoft.com/office/drawing/2014/main" id="{9DE1397B-E079-A783-E771-E00468BAF1B3}"/>
                </a:ext>
              </a:extLst>
            </p:cNvPr>
            <p:cNvSpPr txBox="1"/>
            <p:nvPr/>
          </p:nvSpPr>
          <p:spPr>
            <a:xfrm>
              <a:off x="1230084" y="7538866"/>
              <a:ext cx="2819400" cy="323165"/>
            </a:xfrm>
            <a:prstGeom prst="rect">
              <a:avLst/>
            </a:prstGeom>
            <a:noFill/>
          </p:spPr>
          <p:txBody>
            <a:bodyPr wrap="square" rtlCol="0">
              <a:spAutoFit/>
            </a:bodyPr>
            <a:lstStyle/>
            <a:p>
              <a:r>
                <a:rPr lang="en-GB" sz="1500">
                  <a:latin typeface="Times New Roman" panose="02020603050405020304" pitchFamily="18" charset="0"/>
                  <a:cs typeface="Times New Roman" panose="02020603050405020304" pitchFamily="18" charset="0"/>
                </a:rPr>
                <a:t>Economies of scale </a:t>
              </a:r>
            </a:p>
          </p:txBody>
        </p:sp>
        <p:sp>
          <p:nvSpPr>
            <p:cNvPr id="5173" name="TextBox 5172">
              <a:extLst>
                <a:ext uri="{FF2B5EF4-FFF2-40B4-BE49-F238E27FC236}">
                  <a16:creationId xmlns:a16="http://schemas.microsoft.com/office/drawing/2014/main" id="{8E82826D-1CF9-3685-9C02-825ADB2B0428}"/>
                </a:ext>
              </a:extLst>
            </p:cNvPr>
            <p:cNvSpPr txBox="1"/>
            <p:nvPr/>
          </p:nvSpPr>
          <p:spPr>
            <a:xfrm>
              <a:off x="861259" y="7795330"/>
              <a:ext cx="2819400" cy="1246495"/>
            </a:xfrm>
            <a:prstGeom prst="rect">
              <a:avLst/>
            </a:prstGeom>
            <a:noFill/>
          </p:spPr>
          <p:txBody>
            <a:bodyPr wrap="square" rtlCol="0">
              <a:spAutoFit/>
            </a:bodyPr>
            <a:lstStyle/>
            <a:p>
              <a:r>
                <a:rPr lang="en-GB" sz="1500" dirty="0">
                  <a:latin typeface="Times New Roman" panose="02020603050405020304" pitchFamily="18" charset="0"/>
                  <a:cs typeface="Times New Roman" panose="02020603050405020304" pitchFamily="18" charset="0"/>
                </a:rPr>
                <a:t>Global manufacturing scale has dramatically driven cost declines in solar modules, with higher levels of automation and better supply gain integration</a:t>
              </a:r>
            </a:p>
          </p:txBody>
        </p:sp>
        <p:sp>
          <p:nvSpPr>
            <p:cNvPr id="5174" name="TextBox 5173">
              <a:extLst>
                <a:ext uri="{FF2B5EF4-FFF2-40B4-BE49-F238E27FC236}">
                  <a16:creationId xmlns:a16="http://schemas.microsoft.com/office/drawing/2014/main" id="{4533CBED-4F75-03D9-1E96-F92A3AB6559A}"/>
                </a:ext>
              </a:extLst>
            </p:cNvPr>
            <p:cNvSpPr txBox="1"/>
            <p:nvPr/>
          </p:nvSpPr>
          <p:spPr>
            <a:xfrm>
              <a:off x="3682305" y="5852596"/>
              <a:ext cx="2801523" cy="1246495"/>
            </a:xfrm>
            <a:prstGeom prst="rect">
              <a:avLst/>
            </a:prstGeom>
            <a:noFill/>
          </p:spPr>
          <p:txBody>
            <a:bodyPr wrap="square" rtlCol="0">
              <a:spAutoFit/>
            </a:bodyPr>
            <a:lstStyle/>
            <a:p>
              <a:r>
                <a:rPr lang="en-GB" sz="1500" dirty="0">
                  <a:latin typeface="Times New Roman" panose="02020603050405020304" pitchFamily="18" charset="0"/>
                  <a:cs typeface="Times New Roman" panose="02020603050405020304" pitchFamily="18" charset="0"/>
                </a:rPr>
                <a:t>Development of battery storage capabilities allows for elements such as dispatchable power – critical for grid stability and renewable penetration</a:t>
              </a:r>
            </a:p>
          </p:txBody>
        </p:sp>
        <p:sp>
          <p:nvSpPr>
            <p:cNvPr id="5175" name="TextBox 5174">
              <a:extLst>
                <a:ext uri="{FF2B5EF4-FFF2-40B4-BE49-F238E27FC236}">
                  <a16:creationId xmlns:a16="http://schemas.microsoft.com/office/drawing/2014/main" id="{1DA2C09A-76A8-612B-4DC1-708A868B7070}"/>
                </a:ext>
              </a:extLst>
            </p:cNvPr>
            <p:cNvSpPr txBox="1"/>
            <p:nvPr/>
          </p:nvSpPr>
          <p:spPr>
            <a:xfrm>
              <a:off x="3714904" y="7663578"/>
              <a:ext cx="2743200" cy="1246495"/>
            </a:xfrm>
            <a:prstGeom prst="rect">
              <a:avLst/>
            </a:prstGeom>
            <a:noFill/>
          </p:spPr>
          <p:txBody>
            <a:bodyPr wrap="square" rtlCol="0">
              <a:spAutoFit/>
            </a:bodyPr>
            <a:lstStyle/>
            <a:p>
              <a:r>
                <a:rPr lang="en-GB" sz="1500" dirty="0">
                  <a:latin typeface="Times New Roman" panose="02020603050405020304" pitchFamily="18" charset="0"/>
                  <a:cs typeface="Times New Roman" panose="02020603050405020304" pitchFamily="18" charset="0"/>
                </a:rPr>
                <a:t>Use of AI and cloud monitoring has drastically improved system performance with optimised predictive maintenance and grid coordination</a:t>
              </a:r>
            </a:p>
          </p:txBody>
        </p:sp>
      </p:grpSp>
      <p:sp>
        <p:nvSpPr>
          <p:cNvPr id="5177" name="Rectangle 5176">
            <a:extLst>
              <a:ext uri="{FF2B5EF4-FFF2-40B4-BE49-F238E27FC236}">
                <a16:creationId xmlns:a16="http://schemas.microsoft.com/office/drawing/2014/main" id="{CEFB1C49-DCF1-E315-35FD-FC0BEBCEED53}"/>
              </a:ext>
            </a:extLst>
          </p:cNvPr>
          <p:cNvSpPr/>
          <p:nvPr/>
        </p:nvSpPr>
        <p:spPr>
          <a:xfrm>
            <a:off x="8991600" y="2086365"/>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78" name="TextBox 5177">
            <a:extLst>
              <a:ext uri="{FF2B5EF4-FFF2-40B4-BE49-F238E27FC236}">
                <a16:creationId xmlns:a16="http://schemas.microsoft.com/office/drawing/2014/main" id="{F5236D0D-4854-A9C2-7F42-F8E954312785}"/>
              </a:ext>
            </a:extLst>
          </p:cNvPr>
          <p:cNvSpPr txBox="1"/>
          <p:nvPr/>
        </p:nvSpPr>
        <p:spPr>
          <a:xfrm>
            <a:off x="9397975" y="2117231"/>
            <a:ext cx="4235245" cy="646331"/>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Regulatory factors</a:t>
            </a:r>
          </a:p>
          <a:p>
            <a:endParaRPr lang="en-GB" dirty="0">
              <a:latin typeface="Times New Roman" panose="02020603050405020304" pitchFamily="18" charset="0"/>
              <a:cs typeface="Times New Roman" panose="02020603050405020304" pitchFamily="18" charset="0"/>
            </a:endParaRPr>
          </a:p>
        </p:txBody>
      </p:sp>
      <p:sp>
        <p:nvSpPr>
          <p:cNvPr id="5179" name="TextBox 5178">
            <a:extLst>
              <a:ext uri="{FF2B5EF4-FFF2-40B4-BE49-F238E27FC236}">
                <a16:creationId xmlns:a16="http://schemas.microsoft.com/office/drawing/2014/main" id="{D11E6E04-05DF-07A5-A799-9075654C41C0}"/>
              </a:ext>
            </a:extLst>
          </p:cNvPr>
          <p:cNvSpPr txBox="1"/>
          <p:nvPr/>
        </p:nvSpPr>
        <p:spPr>
          <a:xfrm>
            <a:off x="8596401" y="2494499"/>
            <a:ext cx="9044615" cy="170816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Subsidies for domestic manufacturing (e.g., domestic-content bonuses) strengthen local supply chains.</a:t>
            </a:r>
          </a:p>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Renewable Portfolio Standards (RPS) require utilities to source a set share of electricity from renewables, indirectly boosting demand for solar projects</a:t>
            </a:r>
          </a:p>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Grid access &amp; interconnection reforms – including updated grid codes and distributed-generation rules– streamlining hook-ups and support higher solar penetration</a:t>
            </a:r>
          </a:p>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Tariffs and trade policies can hinder cross-border integration of solar markets, though they haven’t stopped the industry’s overall globalisation</a:t>
            </a:r>
          </a:p>
        </p:txBody>
      </p:sp>
      <p:grpSp>
        <p:nvGrpSpPr>
          <p:cNvPr id="5191" name="Group 5190">
            <a:extLst>
              <a:ext uri="{FF2B5EF4-FFF2-40B4-BE49-F238E27FC236}">
                <a16:creationId xmlns:a16="http://schemas.microsoft.com/office/drawing/2014/main" id="{AB9B1003-1AA8-39A8-FA76-BECF0E02995A}"/>
              </a:ext>
            </a:extLst>
          </p:cNvPr>
          <p:cNvGrpSpPr/>
          <p:nvPr/>
        </p:nvGrpSpPr>
        <p:grpSpPr>
          <a:xfrm>
            <a:off x="12597254" y="4451689"/>
            <a:ext cx="4929660" cy="3994134"/>
            <a:chOff x="13218693" y="4515275"/>
            <a:chExt cx="4372678" cy="3746677"/>
          </a:xfrm>
        </p:grpSpPr>
        <p:sp>
          <p:nvSpPr>
            <p:cNvPr id="5192" name="TextBox 5191">
              <a:extLst>
                <a:ext uri="{FF2B5EF4-FFF2-40B4-BE49-F238E27FC236}">
                  <a16:creationId xmlns:a16="http://schemas.microsoft.com/office/drawing/2014/main" id="{AED07627-029F-4A85-C663-5A4A31D1650D}"/>
                </a:ext>
              </a:extLst>
            </p:cNvPr>
            <p:cNvSpPr txBox="1"/>
            <p:nvPr/>
          </p:nvSpPr>
          <p:spPr>
            <a:xfrm>
              <a:off x="13396998" y="4545449"/>
              <a:ext cx="3869584" cy="346450"/>
            </a:xfrm>
            <a:prstGeom prst="rect">
              <a:avLst/>
            </a:prstGeom>
            <a:noFill/>
          </p:spPr>
          <p:txBody>
            <a:bodyPr wrap="square" rtlCol="0">
              <a:spAutoFit/>
            </a:bodyPr>
            <a:lstStyle/>
            <a:p>
              <a:r>
                <a:rPr lang="en-GB">
                  <a:latin typeface="Times New Roman" panose="02020603050405020304" pitchFamily="18" charset="0"/>
                  <a:cs typeface="Times New Roman" panose="02020603050405020304" pitchFamily="18" charset="0"/>
                </a:rPr>
                <a:t>Key Market Factors </a:t>
              </a:r>
            </a:p>
          </p:txBody>
        </p:sp>
        <p:sp>
          <p:nvSpPr>
            <p:cNvPr id="5193" name="Rectangle 5192">
              <a:extLst>
                <a:ext uri="{FF2B5EF4-FFF2-40B4-BE49-F238E27FC236}">
                  <a16:creationId xmlns:a16="http://schemas.microsoft.com/office/drawing/2014/main" id="{F4718491-778E-8A2C-AD04-CD26C21FD801}"/>
                </a:ext>
              </a:extLst>
            </p:cNvPr>
            <p:cNvSpPr/>
            <p:nvPr/>
          </p:nvSpPr>
          <p:spPr>
            <a:xfrm>
              <a:off x="13218693" y="4515275"/>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94" name="Rectangle: Single Corner Snipped 5193">
              <a:extLst>
                <a:ext uri="{FF2B5EF4-FFF2-40B4-BE49-F238E27FC236}">
                  <a16:creationId xmlns:a16="http://schemas.microsoft.com/office/drawing/2014/main" id="{19446903-736C-CEE0-BCB6-B2BAF476933F}"/>
                </a:ext>
              </a:extLst>
            </p:cNvPr>
            <p:cNvSpPr/>
            <p:nvPr/>
          </p:nvSpPr>
          <p:spPr>
            <a:xfrm rot="10800000">
              <a:off x="15504693" y="5143500"/>
              <a:ext cx="2086678" cy="1767058"/>
            </a:xfrm>
            <a:prstGeom prst="snip1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95" name="Rectangle: Single Corner Snipped 5194">
              <a:extLst>
                <a:ext uri="{FF2B5EF4-FFF2-40B4-BE49-F238E27FC236}">
                  <a16:creationId xmlns:a16="http://schemas.microsoft.com/office/drawing/2014/main" id="{39AD300D-55AA-606B-94A8-83C3E5DF6E89}"/>
                </a:ext>
              </a:extLst>
            </p:cNvPr>
            <p:cNvSpPr/>
            <p:nvPr/>
          </p:nvSpPr>
          <p:spPr>
            <a:xfrm>
              <a:off x="13282260" y="6737463"/>
              <a:ext cx="2427870" cy="1524489"/>
            </a:xfrm>
            <a:prstGeom prst="snip1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96" name="Rectangle 5195">
              <a:extLst>
                <a:ext uri="{FF2B5EF4-FFF2-40B4-BE49-F238E27FC236}">
                  <a16:creationId xmlns:a16="http://schemas.microsoft.com/office/drawing/2014/main" id="{637A9301-BC81-5A5A-E93B-DC8EDDC4D2F6}"/>
                </a:ext>
              </a:extLst>
            </p:cNvPr>
            <p:cNvSpPr/>
            <p:nvPr/>
          </p:nvSpPr>
          <p:spPr>
            <a:xfrm>
              <a:off x="13274406" y="5143501"/>
              <a:ext cx="2086678" cy="1475973"/>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97" name="Rectangle 5196">
              <a:extLst>
                <a:ext uri="{FF2B5EF4-FFF2-40B4-BE49-F238E27FC236}">
                  <a16:creationId xmlns:a16="http://schemas.microsoft.com/office/drawing/2014/main" id="{4221BD93-43AD-54BF-0F9E-D5762CE92C41}"/>
                </a:ext>
              </a:extLst>
            </p:cNvPr>
            <p:cNvSpPr/>
            <p:nvPr/>
          </p:nvSpPr>
          <p:spPr>
            <a:xfrm>
              <a:off x="15812030" y="7012691"/>
              <a:ext cx="1779341" cy="1249261"/>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198" name="TextBox 5197">
              <a:extLst>
                <a:ext uri="{FF2B5EF4-FFF2-40B4-BE49-F238E27FC236}">
                  <a16:creationId xmlns:a16="http://schemas.microsoft.com/office/drawing/2014/main" id="{5BE22904-6C08-1AB3-26A8-BE484DE43DB7}"/>
                </a:ext>
              </a:extLst>
            </p:cNvPr>
            <p:cNvSpPr txBox="1"/>
            <p:nvPr/>
          </p:nvSpPr>
          <p:spPr>
            <a:xfrm>
              <a:off x="13282260" y="5213560"/>
              <a:ext cx="2078824" cy="1010479"/>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Declining </a:t>
              </a:r>
              <a:r>
                <a:rPr lang="en-GB" sz="1600" dirty="0" err="1">
                  <a:latin typeface="Times New Roman" panose="02020603050405020304" pitchFamily="18" charset="0"/>
                  <a:cs typeface="Times New Roman" panose="02020603050405020304" pitchFamily="18" charset="0"/>
                </a:rPr>
                <a:t>levelised</a:t>
              </a:r>
              <a:r>
                <a:rPr lang="en-GB" sz="1600" dirty="0">
                  <a:latin typeface="Times New Roman" panose="02020603050405020304" pitchFamily="18" charset="0"/>
                  <a:cs typeface="Times New Roman" panose="02020603050405020304" pitchFamily="18" charset="0"/>
                </a:rPr>
                <a:t> cost of energy marking it as an increasingly cheap form of new power generation</a:t>
              </a:r>
            </a:p>
          </p:txBody>
        </p:sp>
        <p:sp>
          <p:nvSpPr>
            <p:cNvPr id="5199" name="TextBox 5198">
              <a:extLst>
                <a:ext uri="{FF2B5EF4-FFF2-40B4-BE49-F238E27FC236}">
                  <a16:creationId xmlns:a16="http://schemas.microsoft.com/office/drawing/2014/main" id="{9D0926F7-6FE8-87B0-0A9B-923901CBBEB0}"/>
                </a:ext>
              </a:extLst>
            </p:cNvPr>
            <p:cNvSpPr txBox="1"/>
            <p:nvPr/>
          </p:nvSpPr>
          <p:spPr>
            <a:xfrm>
              <a:off x="15532840" y="5159408"/>
              <a:ext cx="1969898" cy="1472412"/>
            </a:xfrm>
            <a:prstGeom prst="rect">
              <a:avLst/>
            </a:prstGeom>
            <a:noFill/>
          </p:spPr>
          <p:txBody>
            <a:bodyPr wrap="square" rtlCol="0">
              <a:spAutoFit/>
            </a:bodyPr>
            <a:lstStyle/>
            <a:p>
              <a:r>
                <a:rPr lang="en-GB" sz="1600" i="0" u="none" strike="noStrike" dirty="0">
                  <a:solidFill>
                    <a:srgbClr val="000000"/>
                  </a:solidFill>
                  <a:effectLst/>
                  <a:latin typeface="Times New Roman" panose="02020603050405020304" pitchFamily="18" charset="0"/>
                  <a:cs typeface="Times New Roman" panose="02020603050405020304" pitchFamily="18" charset="0"/>
                </a:rPr>
                <a:t>Rising grid prices are encouraging households to adopt rooftop solar and batteries—typically as grid-connected systems</a:t>
              </a:r>
              <a:endParaRPr lang="en-GB" sz="1600" dirty="0">
                <a:latin typeface="Times New Roman" panose="02020603050405020304" pitchFamily="18" charset="0"/>
                <a:cs typeface="Times New Roman" panose="02020603050405020304" pitchFamily="18" charset="0"/>
              </a:endParaRPr>
            </a:p>
          </p:txBody>
        </p:sp>
        <p:sp>
          <p:nvSpPr>
            <p:cNvPr id="5200" name="TextBox 5199">
              <a:extLst>
                <a:ext uri="{FF2B5EF4-FFF2-40B4-BE49-F238E27FC236}">
                  <a16:creationId xmlns:a16="http://schemas.microsoft.com/office/drawing/2014/main" id="{AD5ABAB6-1B1C-ABDE-EBD9-DC5480892A69}"/>
                </a:ext>
              </a:extLst>
            </p:cNvPr>
            <p:cNvSpPr txBox="1"/>
            <p:nvPr/>
          </p:nvSpPr>
          <p:spPr>
            <a:xfrm>
              <a:off x="13294893" y="6737463"/>
              <a:ext cx="2403155" cy="1472412"/>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Financing capabilities are continuously growing with greater access to green bonds, solar leases, PPAs and community solar financing models</a:t>
              </a:r>
            </a:p>
          </p:txBody>
        </p:sp>
        <p:sp>
          <p:nvSpPr>
            <p:cNvPr id="5201" name="TextBox 5200">
              <a:extLst>
                <a:ext uri="{FF2B5EF4-FFF2-40B4-BE49-F238E27FC236}">
                  <a16:creationId xmlns:a16="http://schemas.microsoft.com/office/drawing/2014/main" id="{E716C682-7DD5-4F9D-C557-A6174390C132}"/>
                </a:ext>
              </a:extLst>
            </p:cNvPr>
            <p:cNvSpPr txBox="1"/>
            <p:nvPr/>
          </p:nvSpPr>
          <p:spPr>
            <a:xfrm>
              <a:off x="15847549" y="7009114"/>
              <a:ext cx="1708302" cy="1241445"/>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Corporate and industrial demand is growing as pledges are being adopted e.g. net zero</a:t>
              </a:r>
            </a:p>
          </p:txBody>
        </p:sp>
      </p:grpSp>
      <p:sp>
        <p:nvSpPr>
          <p:cNvPr id="5203" name="Rectangle 5202">
            <a:extLst>
              <a:ext uri="{FF2B5EF4-FFF2-40B4-BE49-F238E27FC236}">
                <a16:creationId xmlns:a16="http://schemas.microsoft.com/office/drawing/2014/main" id="{3D584152-0E92-AE51-4E3B-69586B0F3EDE}"/>
              </a:ext>
            </a:extLst>
          </p:cNvPr>
          <p:cNvSpPr/>
          <p:nvPr/>
        </p:nvSpPr>
        <p:spPr>
          <a:xfrm>
            <a:off x="8473745" y="4659599"/>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205" name="TextBox 5204">
            <a:extLst>
              <a:ext uri="{FF2B5EF4-FFF2-40B4-BE49-F238E27FC236}">
                <a16:creationId xmlns:a16="http://schemas.microsoft.com/office/drawing/2014/main" id="{5B6602F0-A403-DD92-B554-9805D15284F7}"/>
              </a:ext>
            </a:extLst>
          </p:cNvPr>
          <p:cNvSpPr txBox="1"/>
          <p:nvPr/>
        </p:nvSpPr>
        <p:spPr>
          <a:xfrm>
            <a:off x="8691682" y="4687637"/>
            <a:ext cx="4235245" cy="646331"/>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Renewable energy comparison</a:t>
            </a:r>
          </a:p>
          <a:p>
            <a:endParaRPr lang="en-GB" dirty="0">
              <a:latin typeface="Times New Roman" panose="02020603050405020304" pitchFamily="18" charset="0"/>
              <a:cs typeface="Times New Roman" panose="02020603050405020304" pitchFamily="18" charset="0"/>
            </a:endParaRPr>
          </a:p>
        </p:txBody>
      </p:sp>
      <p:sp>
        <p:nvSpPr>
          <p:cNvPr id="5206" name="TextBox 5205">
            <a:extLst>
              <a:ext uri="{FF2B5EF4-FFF2-40B4-BE49-F238E27FC236}">
                <a16:creationId xmlns:a16="http://schemas.microsoft.com/office/drawing/2014/main" id="{F26EE175-CA75-9AF5-1956-75736C7454EC}"/>
              </a:ext>
            </a:extLst>
          </p:cNvPr>
          <p:cNvSpPr txBox="1"/>
          <p:nvPr/>
        </p:nvSpPr>
        <p:spPr>
          <a:xfrm>
            <a:off x="6962739" y="5126072"/>
            <a:ext cx="5754327" cy="784830"/>
          </a:xfrm>
          <a:prstGeom prst="rect">
            <a:avLst/>
          </a:prstGeom>
          <a:noFill/>
        </p:spPr>
        <p:txBody>
          <a:bodyPr wrap="square" lIns="91440" tIns="45720" rIns="91440" bIns="45720" rtlCol="0" anchor="t">
            <a:spAutoFit/>
          </a:bodyPr>
          <a:lstStyle/>
          <a:p>
            <a:r>
              <a:rPr lang="en-GB" sz="1500" dirty="0">
                <a:latin typeface="Times New Roman" panose="02020603050405020304" pitchFamily="18" charset="0"/>
                <a:cs typeface="Times New Roman" panose="02020603050405020304" pitchFamily="18" charset="0"/>
              </a:rPr>
              <a:t>Solar is the leading renewables industry due to the overall efficiency for energy output and level of compatibility, significantly outperforming other industries with a renewable market share upwards of 40%</a:t>
            </a:r>
            <a:endParaRPr lang="en-GB" sz="1500" dirty="0">
              <a:latin typeface="Times New Roman" panose="02020603050405020304" pitchFamily="18" charset="0"/>
              <a:ea typeface="Calibri"/>
              <a:cs typeface="Times New Roman" panose="02020603050405020304" pitchFamily="18" charset="0"/>
            </a:endParaRPr>
          </a:p>
        </p:txBody>
      </p:sp>
      <p:sp>
        <p:nvSpPr>
          <p:cNvPr id="5207" name="Rectangle 5206">
            <a:extLst>
              <a:ext uri="{FF2B5EF4-FFF2-40B4-BE49-F238E27FC236}">
                <a16:creationId xmlns:a16="http://schemas.microsoft.com/office/drawing/2014/main" id="{8AB9191D-DB37-C48B-9A9E-D4DC18636AED}"/>
              </a:ext>
            </a:extLst>
          </p:cNvPr>
          <p:cNvSpPr/>
          <p:nvPr/>
        </p:nvSpPr>
        <p:spPr>
          <a:xfrm>
            <a:off x="7203612" y="6060703"/>
            <a:ext cx="152400" cy="381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5208" name="TextBox 5207">
            <a:extLst>
              <a:ext uri="{FF2B5EF4-FFF2-40B4-BE49-F238E27FC236}">
                <a16:creationId xmlns:a16="http://schemas.microsoft.com/office/drawing/2014/main" id="{9D19C5D3-5891-814E-A92A-71C8B53BA9F8}"/>
              </a:ext>
            </a:extLst>
          </p:cNvPr>
          <p:cNvSpPr txBox="1"/>
          <p:nvPr/>
        </p:nvSpPr>
        <p:spPr>
          <a:xfrm>
            <a:off x="7500495" y="6060703"/>
            <a:ext cx="4235245" cy="646331"/>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Environmental &amp; Energy transition factors</a:t>
            </a:r>
          </a:p>
          <a:p>
            <a:endParaRPr lang="en-GB" dirty="0">
              <a:latin typeface="Times New Roman" panose="02020603050405020304" pitchFamily="18" charset="0"/>
              <a:cs typeface="Times New Roman" panose="02020603050405020304" pitchFamily="18" charset="0"/>
            </a:endParaRPr>
          </a:p>
        </p:txBody>
      </p:sp>
      <p:sp>
        <p:nvSpPr>
          <p:cNvPr id="5209" name="TextBox 5208">
            <a:extLst>
              <a:ext uri="{FF2B5EF4-FFF2-40B4-BE49-F238E27FC236}">
                <a16:creationId xmlns:a16="http://schemas.microsoft.com/office/drawing/2014/main" id="{2C0538D7-A91B-EEDF-3B33-1979CC7291AF}"/>
              </a:ext>
            </a:extLst>
          </p:cNvPr>
          <p:cNvSpPr txBox="1"/>
          <p:nvPr/>
        </p:nvSpPr>
        <p:spPr>
          <a:xfrm>
            <a:off x="6934123" y="6530039"/>
            <a:ext cx="5725941" cy="293926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Climate change and emission goals are part of both national and organisational targets making solar an essential pillar of the energy transition</a:t>
            </a:r>
          </a:p>
          <a:p>
            <a:pPr marL="285750" indent="-285750">
              <a:buFont typeface="Arial" panose="020B0604020202020204" pitchFamily="34" charset="0"/>
              <a:buChar char="•"/>
            </a:pPr>
            <a:r>
              <a:rPr lang="en-GB" sz="1500" dirty="0">
                <a:latin typeface="Times New Roman" panose="02020603050405020304" pitchFamily="18" charset="0"/>
                <a:cs typeface="Times New Roman" panose="02020603050405020304" pitchFamily="18" charset="0"/>
              </a:rPr>
              <a:t>Energy security is backed up by the capability to provide domestic, renewable, and geographically secure energy supplies, reducing dependence on imported and finite fossil fuels</a:t>
            </a:r>
          </a:p>
          <a:p>
            <a:pPr marL="285750" indent="-285750">
              <a:buFont typeface="Arial" panose="020B0604020202020204" pitchFamily="34" charset="0"/>
              <a:buChar char="•"/>
            </a:pPr>
            <a:r>
              <a:rPr lang="en-GB" sz="1500" b="0" i="0" u="none" strike="noStrike" dirty="0">
                <a:solidFill>
                  <a:srgbClr val="000000"/>
                </a:solidFill>
                <a:effectLst/>
                <a:latin typeface="Times New Roman" panose="02020603050405020304" pitchFamily="18" charset="0"/>
                <a:cs typeface="Times New Roman" panose="02020603050405020304" pitchFamily="18" charset="0"/>
              </a:rPr>
              <a:t>Solar energy has fewer land and resource constraints compared to other renewables. Rooftop installations and floating solar on water bodies are highly location-compatible and avoid the use of agricultural land, unlike wind farms which often compete with such areas</a:t>
            </a:r>
            <a:endParaRPr lang="en-GB" sz="1500" dirty="0">
              <a:latin typeface="Times New Roman" panose="02020603050405020304" pitchFamily="18" charset="0"/>
              <a:cs typeface="Times New Roman" panose="02020603050405020304" pitchFamily="18" charset="0"/>
            </a:endParaRPr>
          </a:p>
          <a:p>
            <a:endParaRPr lang="en-GB" sz="1500" dirty="0">
              <a:latin typeface="Times New Roman" panose="02020603050405020304" pitchFamily="18" charset="0"/>
              <a:cs typeface="Times New Roman" panose="02020603050405020304" pitchFamily="18" charset="0"/>
            </a:endParaRPr>
          </a:p>
        </p:txBody>
      </p:sp>
      <p:sp>
        <p:nvSpPr>
          <p:cNvPr id="12" name="TextBox 49">
            <a:extLst>
              <a:ext uri="{FF2B5EF4-FFF2-40B4-BE49-F238E27FC236}">
                <a16:creationId xmlns:a16="http://schemas.microsoft.com/office/drawing/2014/main" id="{EFB30CE6-448E-790C-B7C6-8DEC654EF7A4}"/>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1394623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38336654-7598-C887-1AFB-29E707E1CC07}"/>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AC56F1BC-4629-C0F8-69CF-B58BC7483504}"/>
              </a:ext>
            </a:extLst>
          </p:cNvPr>
          <p:cNvGrpSpPr>
            <a:grpSpLocks noGrp="1" noUngrp="1" noRot="1" noMove="1" noResize="1"/>
          </p:cNvGrpSpPr>
          <p:nvPr/>
        </p:nvGrpSpPr>
        <p:grpSpPr>
          <a:xfrm>
            <a:off x="482833" y="399657"/>
            <a:ext cx="17349108" cy="9487687"/>
            <a:chOff x="482833" y="399657"/>
            <a:chExt cx="17349108" cy="9487687"/>
          </a:xfrm>
        </p:grpSpPr>
        <p:sp>
          <p:nvSpPr>
            <p:cNvPr id="2" name="Freeform 2">
              <a:extLst>
                <a:ext uri="{FF2B5EF4-FFF2-40B4-BE49-F238E27FC236}">
                  <a16:creationId xmlns:a16="http://schemas.microsoft.com/office/drawing/2014/main" id="{AB69C8D4-A1E9-3CEB-3994-E69C705F7CDA}"/>
                </a:ext>
              </a:extLst>
            </p:cNvPr>
            <p:cNvSpPr>
              <a:spLocks noGrp="1" noRot="1" noMove="1" noResize="1" noEditPoints="1" noAdjustHandles="1" noChangeArrowheads="1" noChangeShapeType="1"/>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a:extLst>
                <a:ext uri="{FF2B5EF4-FFF2-40B4-BE49-F238E27FC236}">
                  <a16:creationId xmlns:a16="http://schemas.microsoft.com/office/drawing/2014/main" id="{86836EC4-C8E2-1131-8AA0-319EA1776432}"/>
                </a:ext>
              </a:extLst>
            </p:cNvPr>
            <p:cNvSpPr txBox="1">
              <a:spLocks noGrp="1" noRot="1" noMove="1" noResize="1" noEditPoints="1" noAdjustHandles="1" noChangeArrowheads="1" noChangeShapeType="1"/>
            </p:cNvSpPr>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a:extLst>
                <a:ext uri="{FF2B5EF4-FFF2-40B4-BE49-F238E27FC236}">
                  <a16:creationId xmlns:a16="http://schemas.microsoft.com/office/drawing/2014/main" id="{78AE301C-F4BD-252D-F571-DA0C9D096505}"/>
                </a:ext>
              </a:extLst>
            </p:cNvPr>
            <p:cNvSpPr txBox="1">
              <a:spLocks noGrp="1" noRot="1" noMove="1" noResize="1" noEditPoints="1" noAdjustHandles="1" noChangeArrowheads="1" noChangeShapeType="1"/>
            </p:cNvSpPr>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a:extLst>
                <a:ext uri="{FF2B5EF4-FFF2-40B4-BE49-F238E27FC236}">
                  <a16:creationId xmlns:a16="http://schemas.microsoft.com/office/drawing/2014/main" id="{A3BF85CB-6593-F5C4-2A11-69623662FE19}"/>
                </a:ext>
              </a:extLst>
            </p:cNvPr>
            <p:cNvSpPr txBox="1">
              <a:spLocks noGrp="1" noRot="1" noMove="1" noResize="1" noEditPoints="1" noAdjustHandles="1" noChangeArrowheads="1" noChangeShapeType="1"/>
            </p:cNvSpPr>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a:extLst>
                <a:ext uri="{FF2B5EF4-FFF2-40B4-BE49-F238E27FC236}">
                  <a16:creationId xmlns:a16="http://schemas.microsoft.com/office/drawing/2014/main" id="{3C8C7981-C98D-A1CC-235F-A42C87509392}"/>
                </a:ext>
              </a:extLst>
            </p:cNvPr>
            <p:cNvGrpSpPr>
              <a:grpSpLocks noGrp="1" noUngrp="1" noRot="1" noMove="1" noResize="1"/>
            </p:cNvGrpSpPr>
            <p:nvPr/>
          </p:nvGrpSpPr>
          <p:grpSpPr>
            <a:xfrm>
              <a:off x="482833" y="399657"/>
              <a:ext cx="17349108" cy="9487687"/>
              <a:chOff x="0" y="0"/>
              <a:chExt cx="5293499" cy="2894850"/>
            </a:xfrm>
          </p:grpSpPr>
          <p:sp>
            <p:nvSpPr>
              <p:cNvPr id="7" name="Freeform 7">
                <a:extLst>
                  <a:ext uri="{FF2B5EF4-FFF2-40B4-BE49-F238E27FC236}">
                    <a16:creationId xmlns:a16="http://schemas.microsoft.com/office/drawing/2014/main" id="{A516A30E-455D-43C2-41EC-D7FFBA5C9A6C}"/>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a:extLst>
                  <a:ext uri="{FF2B5EF4-FFF2-40B4-BE49-F238E27FC236}">
                    <a16:creationId xmlns:a16="http://schemas.microsoft.com/office/drawing/2014/main" id="{DB05FA75-2C55-C76A-138F-5ED98C8B755B}"/>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a:extLst>
                <a:ext uri="{FF2B5EF4-FFF2-40B4-BE49-F238E27FC236}">
                  <a16:creationId xmlns:a16="http://schemas.microsoft.com/office/drawing/2014/main" id="{C816867A-FB79-437E-A382-123F61DE1136}"/>
                </a:ext>
              </a:extLst>
            </p:cNvPr>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1" name="AutoShape 11">
              <a:extLst>
                <a:ext uri="{FF2B5EF4-FFF2-40B4-BE49-F238E27FC236}">
                  <a16:creationId xmlns:a16="http://schemas.microsoft.com/office/drawing/2014/main" id="{D0EE3EE1-1D7A-4696-5D46-D7A3EF96B746}"/>
                </a:ext>
              </a:extLst>
            </p:cNvPr>
            <p:cNvSpPr>
              <a:spLocks noGrp="1" noRot="1" noMove="1" noResize="1" noEditPoints="1" noAdjustHandles="1" noChangeArrowheads="1" noChangeShapeType="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3" name="AutoShape 13">
              <a:extLst>
                <a:ext uri="{FF2B5EF4-FFF2-40B4-BE49-F238E27FC236}">
                  <a16:creationId xmlns:a16="http://schemas.microsoft.com/office/drawing/2014/main" id="{F6B28AA9-FA7C-2CAB-2BC4-2F6AF88108C0}"/>
                </a:ext>
              </a:extLst>
            </p:cNvPr>
            <p:cNvSpPr>
              <a:spLocks noGrp="1" noRot="1" noMove="1" noResize="1" noEditPoints="1" noAdjustHandles="1" noChangeArrowheads="1" noChangeShapeType="1"/>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pSp>
      <p:sp>
        <p:nvSpPr>
          <p:cNvPr id="12" name="Title 1">
            <a:extLst>
              <a:ext uri="{FF2B5EF4-FFF2-40B4-BE49-F238E27FC236}">
                <a16:creationId xmlns:a16="http://schemas.microsoft.com/office/drawing/2014/main" id="{D21280B0-498B-B62F-84FD-28BAA020340F}"/>
              </a:ext>
            </a:extLst>
          </p:cNvPr>
          <p:cNvSpPr>
            <a:spLocks noGrp="1"/>
          </p:cNvSpPr>
          <p:nvPr/>
        </p:nvSpPr>
        <p:spPr>
          <a:xfrm>
            <a:off x="1882081" y="64120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cs typeface="Times New Roman" panose="02020603050405020304" pitchFamily="18" charset="0"/>
              </a:rPr>
              <a:t>Thesis 1: Strong Fundamental Business</a:t>
            </a:r>
          </a:p>
        </p:txBody>
      </p:sp>
      <p:sp>
        <p:nvSpPr>
          <p:cNvPr id="15" name="Title 1">
            <a:extLst>
              <a:ext uri="{FF2B5EF4-FFF2-40B4-BE49-F238E27FC236}">
                <a16:creationId xmlns:a16="http://schemas.microsoft.com/office/drawing/2014/main" id="{3FD2EBE8-A3E1-779C-7E99-3BBEBB1AC735}"/>
              </a:ext>
            </a:extLst>
          </p:cNvPr>
          <p:cNvSpPr txBox="1">
            <a:spLocks/>
          </p:cNvSpPr>
          <p:nvPr/>
        </p:nvSpPr>
        <p:spPr>
          <a:xfrm>
            <a:off x="1882081" y="1795140"/>
            <a:ext cx="1051560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2800">
              <a:solidFill>
                <a:schemeClr val="tx2">
                  <a:lumMod val="90000"/>
                  <a:lumOff val="10000"/>
                </a:schemeClr>
              </a:solidFill>
              <a:latin typeface="Times New Roman" panose="02020603050405020304" pitchFamily="18" charset="0"/>
              <a:cs typeface="Times New Roman" panose="02020603050405020304" pitchFamily="18" charset="0"/>
            </a:endParaRPr>
          </a:p>
        </p:txBody>
      </p:sp>
      <p:sp>
        <p:nvSpPr>
          <p:cNvPr id="2063" name="Rectangle 11">
            <a:extLst>
              <a:ext uri="{FF2B5EF4-FFF2-40B4-BE49-F238E27FC236}">
                <a16:creationId xmlns:a16="http://schemas.microsoft.com/office/drawing/2014/main" id="{682C6D1C-2CA6-4A45-0665-D6E0804A9EC7}"/>
              </a:ext>
            </a:extLst>
          </p:cNvPr>
          <p:cNvSpPr>
            <a:spLocks noChangeArrowheads="1"/>
          </p:cNvSpPr>
          <p:nvPr/>
        </p:nvSpPr>
        <p:spPr bwMode="auto">
          <a:xfrm>
            <a:off x="10952616" y="6422765"/>
            <a:ext cx="18288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Title 1">
            <a:extLst>
              <a:ext uri="{FF2B5EF4-FFF2-40B4-BE49-F238E27FC236}">
                <a16:creationId xmlns:a16="http://schemas.microsoft.com/office/drawing/2014/main" id="{025E3E6F-76F3-A26F-E9B3-6224E7BF08CF}"/>
              </a:ext>
            </a:extLst>
          </p:cNvPr>
          <p:cNvSpPr txBox="1">
            <a:spLocks/>
          </p:cNvSpPr>
          <p:nvPr/>
        </p:nvSpPr>
        <p:spPr>
          <a:xfrm>
            <a:off x="1868226" y="1725320"/>
            <a:ext cx="1051560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400" dirty="0">
                <a:latin typeface="Times New Roman" panose="02020603050405020304" pitchFamily="18" charset="0"/>
                <a:cs typeface="Times New Roman" panose="02020603050405020304" pitchFamily="18" charset="0"/>
              </a:rPr>
              <a:t>Enphase’s closed-loop ecosystem drives customer retention &amp; recurring revenue through platform integration</a:t>
            </a:r>
          </a:p>
        </p:txBody>
      </p:sp>
      <p:sp>
        <p:nvSpPr>
          <p:cNvPr id="16" name="TextBox 1">
            <a:extLst>
              <a:ext uri="{FF2B5EF4-FFF2-40B4-BE49-F238E27FC236}">
                <a16:creationId xmlns:a16="http://schemas.microsoft.com/office/drawing/2014/main" id="{3E29E8D1-0E2D-24B5-302F-4FD46E40E63E}"/>
              </a:ext>
            </a:extLst>
          </p:cNvPr>
          <p:cNvSpPr txBox="1"/>
          <p:nvPr/>
        </p:nvSpPr>
        <p:spPr>
          <a:xfrm>
            <a:off x="2330303" y="2867613"/>
            <a:ext cx="5707873" cy="30777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400">
                <a:latin typeface="Times New Roman" panose="02020603050405020304" pitchFamily="18" charset="0"/>
                <a:cs typeface="Times New Roman" panose="02020603050405020304" pitchFamily="18" charset="0"/>
              </a:rPr>
              <a:t>Solar set to supply largest share of new U.S. capacity by 2025-26…</a:t>
            </a:r>
          </a:p>
        </p:txBody>
      </p:sp>
      <p:pic>
        <p:nvPicPr>
          <p:cNvPr id="5128" name="Picture 8">
            <a:extLst>
              <a:ext uri="{FF2B5EF4-FFF2-40B4-BE49-F238E27FC236}">
                <a16:creationId xmlns:a16="http://schemas.microsoft.com/office/drawing/2014/main" id="{D0FDAC01-FDA3-1A31-128C-DBEA860BF3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155" y="2810434"/>
            <a:ext cx="213293" cy="426585"/>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15">
            <a:extLst>
              <a:ext uri="{FF2B5EF4-FFF2-40B4-BE49-F238E27FC236}">
                <a16:creationId xmlns:a16="http://schemas.microsoft.com/office/drawing/2014/main" id="{B43BC694-D6D9-788B-AF97-6F11B408A0D0}"/>
              </a:ext>
            </a:extLst>
          </p:cNvPr>
          <p:cNvSpPr txBox="1"/>
          <p:nvPr/>
        </p:nvSpPr>
        <p:spPr>
          <a:xfrm>
            <a:off x="1942153" y="3281127"/>
            <a:ext cx="6484169" cy="73866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400" dirty="0">
                <a:latin typeface="Times New Roman" panose="02020603050405020304" pitchFamily="18" charset="0"/>
                <a:cs typeface="Times New Roman" panose="02020603050405020304" pitchFamily="18" charset="0"/>
              </a:rPr>
              <a:t>U.S. IEA report solar will account for 52% of all new U.S. generation capacity additions in 2025, totalling around 32.5 GW. Battery storage follows at 18.2 GW (29%), while natural gas and wind make up smaller shares at 7% and 12%</a:t>
            </a:r>
            <a:endParaRPr lang="en-GB" sz="1400" dirty="0">
              <a:latin typeface="Times New Roman" panose="02020603050405020304" pitchFamily="18" charset="0"/>
              <a:ea typeface="Calibri"/>
              <a:cs typeface="Times New Roman" panose="02020603050405020304" pitchFamily="18" charset="0"/>
            </a:endParaRPr>
          </a:p>
        </p:txBody>
      </p:sp>
      <p:sp>
        <p:nvSpPr>
          <p:cNvPr id="22" name="TextBox 20">
            <a:extLst>
              <a:ext uri="{FF2B5EF4-FFF2-40B4-BE49-F238E27FC236}">
                <a16:creationId xmlns:a16="http://schemas.microsoft.com/office/drawing/2014/main" id="{FAAC8E17-A97D-B6E5-7B82-627A57BF3441}"/>
              </a:ext>
            </a:extLst>
          </p:cNvPr>
          <p:cNvSpPr txBox="1"/>
          <p:nvPr/>
        </p:nvSpPr>
        <p:spPr>
          <a:xfrm>
            <a:off x="1942153" y="3963496"/>
            <a:ext cx="6484169" cy="30777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400" b="1" dirty="0">
                <a:latin typeface="Times New Roman" panose="02020603050405020304" pitchFamily="18" charset="0"/>
                <a:cs typeface="Times New Roman" panose="02020603050405020304" pitchFamily="18" charset="0"/>
              </a:rPr>
              <a:t>Key drivers behind Solar's growth include:</a:t>
            </a:r>
          </a:p>
        </p:txBody>
      </p:sp>
      <p:sp>
        <p:nvSpPr>
          <p:cNvPr id="23" name="TextBox 22">
            <a:extLst>
              <a:ext uri="{FF2B5EF4-FFF2-40B4-BE49-F238E27FC236}">
                <a16:creationId xmlns:a16="http://schemas.microsoft.com/office/drawing/2014/main" id="{3E544643-CAF3-B776-B317-95C1A8239A75}"/>
              </a:ext>
            </a:extLst>
          </p:cNvPr>
          <p:cNvSpPr txBox="1"/>
          <p:nvPr/>
        </p:nvSpPr>
        <p:spPr>
          <a:xfrm>
            <a:off x="1868226" y="4214233"/>
            <a:ext cx="6484169" cy="181588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GB" sz="1400" b="1" dirty="0">
                <a:latin typeface="Times New Roman" panose="02020603050405020304" pitchFamily="18" charset="0"/>
                <a:cs typeface="Times New Roman" panose="02020603050405020304" pitchFamily="18" charset="0"/>
              </a:rPr>
              <a:t>Falling installation costs:</a:t>
            </a:r>
            <a:r>
              <a:rPr lang="en-GB" sz="1400" dirty="0">
                <a:latin typeface="Times New Roman" panose="02020603050405020304" pitchFamily="18" charset="0"/>
                <a:cs typeface="Times New Roman" panose="02020603050405020304" pitchFamily="18" charset="0"/>
              </a:rPr>
              <a:t> Utility-scale solar costs have declined by over 70% in past decade, outpacing efficiency improvements in competing technologies</a:t>
            </a:r>
            <a:endParaRPr lang="en-GB" sz="14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400" b="1" dirty="0">
                <a:latin typeface="Times New Roman" panose="02020603050405020304" pitchFamily="18" charset="0"/>
                <a:cs typeface="Times New Roman" panose="02020603050405020304" pitchFamily="18" charset="0"/>
              </a:rPr>
              <a:t>Federal incentives: </a:t>
            </a:r>
            <a:r>
              <a:rPr lang="en-GB" sz="1400" dirty="0">
                <a:latin typeface="Times New Roman" panose="02020603050405020304" pitchFamily="18" charset="0"/>
                <a:cs typeface="Times New Roman" panose="02020603050405020304" pitchFamily="18" charset="0"/>
              </a:rPr>
              <a:t>The inflation reduction act (IRA) extends long-term investment and production tax credits for both standalone solar and hybrid solar-plus-storage projects, driving sustained investment. However, this is due to be phased out at end of year 2025</a:t>
            </a:r>
          </a:p>
          <a:p>
            <a:pPr marL="171450" indent="-171450" algn="l">
              <a:buFont typeface="Arial" panose="020B0604020202020204" pitchFamily="34" charset="0"/>
              <a:buChar char="•"/>
            </a:pPr>
            <a:r>
              <a:rPr lang="en-GB" sz="1400" b="1" dirty="0">
                <a:latin typeface="Times New Roman" panose="02020603050405020304" pitchFamily="18" charset="0"/>
                <a:cs typeface="Times New Roman" panose="02020603050405020304" pitchFamily="18" charset="0"/>
              </a:rPr>
              <a:t>Strong consumer demand:</a:t>
            </a:r>
            <a:r>
              <a:rPr lang="en-GB" sz="1400" dirty="0">
                <a:latin typeface="Times New Roman" panose="02020603050405020304" pitchFamily="18" charset="0"/>
                <a:cs typeface="Times New Roman" panose="02020603050405020304" pitchFamily="18" charset="0"/>
              </a:rPr>
              <a:t> Rising retail electricity prices &amp; increasing adoption of electric vehicles &amp; home electrification boost rooftop &amp; distributed adoption</a:t>
            </a:r>
          </a:p>
        </p:txBody>
      </p:sp>
      <p:pic>
        <p:nvPicPr>
          <p:cNvPr id="24" name="Picture 8">
            <a:extLst>
              <a:ext uri="{FF2B5EF4-FFF2-40B4-BE49-F238E27FC236}">
                <a16:creationId xmlns:a16="http://schemas.microsoft.com/office/drawing/2014/main" id="{D9149B9C-220C-A556-7AE9-87C8351C99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154" y="6022103"/>
            <a:ext cx="213293" cy="426585"/>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17">
            <a:extLst>
              <a:ext uri="{FF2B5EF4-FFF2-40B4-BE49-F238E27FC236}">
                <a16:creationId xmlns:a16="http://schemas.microsoft.com/office/drawing/2014/main" id="{C532F760-4D7C-3272-9D27-29C023756BC8}"/>
              </a:ext>
            </a:extLst>
          </p:cNvPr>
          <p:cNvSpPr txBox="1"/>
          <p:nvPr/>
        </p:nvSpPr>
        <p:spPr>
          <a:xfrm>
            <a:off x="2304903" y="6049490"/>
            <a:ext cx="5951907"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latin typeface="Times New Roman" panose="02020603050405020304" pitchFamily="18" charset="0"/>
                <a:cs typeface="Times New Roman" panose="02020603050405020304" pitchFamily="18" charset="0"/>
              </a:rPr>
              <a:t>…as its cost advantage over gas and nuclear continues to widen…</a:t>
            </a:r>
          </a:p>
        </p:txBody>
      </p:sp>
      <p:pic>
        <p:nvPicPr>
          <p:cNvPr id="5130" name="Picture 10" descr="A graph of energy efficiency&#10;&#10;Description automatically generated with medium confidence">
            <a:extLst>
              <a:ext uri="{FF2B5EF4-FFF2-40B4-BE49-F238E27FC236}">
                <a16:creationId xmlns:a16="http://schemas.microsoft.com/office/drawing/2014/main" id="{BED19769-B108-2870-9101-2B9E47F6D4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2363" y="5934125"/>
            <a:ext cx="6208117" cy="3188811"/>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A graph of energy efficiency&#10;&#10;Description automatically generated">
            <a:extLst>
              <a:ext uri="{FF2B5EF4-FFF2-40B4-BE49-F238E27FC236}">
                <a16:creationId xmlns:a16="http://schemas.microsoft.com/office/drawing/2014/main" id="{40E7BADB-F516-2C0C-68FC-511698E0B6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10509" y="2444068"/>
            <a:ext cx="6208117" cy="3302418"/>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16">
            <a:extLst>
              <a:ext uri="{FF2B5EF4-FFF2-40B4-BE49-F238E27FC236}">
                <a16:creationId xmlns:a16="http://schemas.microsoft.com/office/drawing/2014/main" id="{23C2F2C9-B85C-F515-77A3-B1912EB365C8}"/>
              </a:ext>
            </a:extLst>
          </p:cNvPr>
          <p:cNvSpPr txBox="1"/>
          <p:nvPr/>
        </p:nvSpPr>
        <p:spPr>
          <a:xfrm>
            <a:off x="1942153" y="6514309"/>
            <a:ext cx="7423697" cy="175432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GB" sz="1400" dirty="0" err="1">
                <a:latin typeface="Times New Roman" panose="02020603050405020304" pitchFamily="18" charset="0"/>
                <a:cs typeface="Times New Roman" panose="02020603050405020304" pitchFamily="18" charset="0"/>
              </a:rPr>
              <a:t>Levelised</a:t>
            </a:r>
            <a:r>
              <a:rPr lang="en-GB" sz="1400" dirty="0">
                <a:latin typeface="Times New Roman" panose="02020603050405020304" pitchFamily="18" charset="0"/>
                <a:cs typeface="Times New Roman" panose="02020603050405020304" pitchFamily="18" charset="0"/>
              </a:rPr>
              <a:t> cost of energy (LCOE) data from Lazard &amp; EIA  shows that Solar's LCOE is now 40-60% lower than new-build natural gas/nuclear (even before subsidies)</a:t>
            </a:r>
          </a:p>
          <a:p>
            <a:pPr marL="171450" indent="-171450" algn="l">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This sustained cost advantage positions solar (and integrated technology providers like Enphase) to capture the majority of new generation capacity in the coming decade</a:t>
            </a:r>
            <a:endParaRPr lang="en-GB" sz="14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400" dirty="0">
                <a:latin typeface="Times New Roman" panose="02020603050405020304" pitchFamily="18" charset="0"/>
                <a:cs typeface="Times New Roman" panose="02020603050405020304" pitchFamily="18" charset="0"/>
              </a:rPr>
              <a:t>Enphase is directly exposed to this growth through its integrated ecosystem (below). This aligns directly with the rapid expansion of solar-plus-storage capacity in the U.S</a:t>
            </a:r>
          </a:p>
          <a:p>
            <a:pPr algn="l"/>
            <a:endParaRPr lang="en-GB" sz="1200" dirty="0">
              <a:latin typeface="Times New Roman" panose="02020603050405020304" pitchFamily="18" charset="0"/>
              <a:cs typeface="Times New Roman" panose="02020603050405020304" pitchFamily="18" charset="0"/>
            </a:endParaRPr>
          </a:p>
          <a:p>
            <a:pPr algn="l"/>
            <a:endParaRPr lang="en-GB" sz="1200" dirty="0">
              <a:latin typeface="Times New Roman" panose="02020603050405020304" pitchFamily="18" charset="0"/>
              <a:cs typeface="Times New Roman" panose="02020603050405020304" pitchFamily="18" charset="0"/>
            </a:endParaRPr>
          </a:p>
        </p:txBody>
      </p:sp>
      <p:grpSp>
        <p:nvGrpSpPr>
          <p:cNvPr id="27" name="Group 26">
            <a:extLst>
              <a:ext uri="{FF2B5EF4-FFF2-40B4-BE49-F238E27FC236}">
                <a16:creationId xmlns:a16="http://schemas.microsoft.com/office/drawing/2014/main" id="{D266AAB2-019C-8AA1-E80A-CF7056740AAC}"/>
              </a:ext>
            </a:extLst>
          </p:cNvPr>
          <p:cNvGrpSpPr/>
          <p:nvPr/>
        </p:nvGrpSpPr>
        <p:grpSpPr>
          <a:xfrm>
            <a:off x="2663160" y="7934606"/>
            <a:ext cx="5305327" cy="1057328"/>
            <a:chOff x="7191110" y="2147039"/>
            <a:chExt cx="4986773" cy="1089590"/>
          </a:xfrm>
        </p:grpSpPr>
        <p:sp>
          <p:nvSpPr>
            <p:cNvPr id="28" name="Rounded Rectangle 33">
              <a:extLst>
                <a:ext uri="{FF2B5EF4-FFF2-40B4-BE49-F238E27FC236}">
                  <a16:creationId xmlns:a16="http://schemas.microsoft.com/office/drawing/2014/main" id="{B588EE25-EFD9-C3C0-6FCE-3D26DEF9B915}"/>
                </a:ext>
              </a:extLst>
            </p:cNvPr>
            <p:cNvSpPr/>
            <p:nvPr/>
          </p:nvSpPr>
          <p:spPr>
            <a:xfrm>
              <a:off x="8478051" y="2175588"/>
              <a:ext cx="1091732" cy="746052"/>
            </a:xfrm>
            <a:prstGeom prst="roundRect">
              <a:avLst/>
            </a:prstGeom>
            <a:solidFill>
              <a:schemeClr val="tx2">
                <a:lumMod val="75000"/>
                <a:lumOff val="2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latin typeface="Times New Roman" panose="02020603050405020304" pitchFamily="18" charset="0"/>
                  <a:cs typeface="Times New Roman" panose="02020603050405020304" pitchFamily="18" charset="0"/>
                </a:rPr>
                <a:t>Micro</a:t>
              </a:r>
            </a:p>
            <a:p>
              <a:pPr algn="ctr"/>
              <a:r>
                <a:rPr lang="en-US" sz="1200">
                  <a:latin typeface="Times New Roman" panose="02020603050405020304" pitchFamily="18" charset="0"/>
                  <a:cs typeface="Times New Roman" panose="02020603050405020304" pitchFamily="18" charset="0"/>
                </a:rPr>
                <a:t>inverters</a:t>
              </a:r>
            </a:p>
          </p:txBody>
        </p:sp>
        <p:sp>
          <p:nvSpPr>
            <p:cNvPr id="2054" name="Rounded Rectangle 34">
              <a:extLst>
                <a:ext uri="{FF2B5EF4-FFF2-40B4-BE49-F238E27FC236}">
                  <a16:creationId xmlns:a16="http://schemas.microsoft.com/office/drawing/2014/main" id="{975965B2-BB6F-A3C9-4337-F1E4AF598ABC}"/>
                </a:ext>
              </a:extLst>
            </p:cNvPr>
            <p:cNvSpPr/>
            <p:nvPr/>
          </p:nvSpPr>
          <p:spPr>
            <a:xfrm>
              <a:off x="7191110" y="2171317"/>
              <a:ext cx="1091732" cy="746052"/>
            </a:xfrm>
            <a:prstGeom prst="roundRect">
              <a:avLst/>
            </a:prstGeom>
            <a:solidFill>
              <a:schemeClr val="tx2">
                <a:lumMod val="90000"/>
                <a:lumOff val="1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latin typeface="Times New Roman" panose="02020603050405020304" pitchFamily="18" charset="0"/>
                  <a:cs typeface="Times New Roman" panose="02020603050405020304" pitchFamily="18" charset="0"/>
                </a:rPr>
                <a:t>Solar panels</a:t>
              </a:r>
            </a:p>
          </p:txBody>
        </p:sp>
        <p:sp>
          <p:nvSpPr>
            <p:cNvPr id="2056" name="Rounded Rectangle 35">
              <a:extLst>
                <a:ext uri="{FF2B5EF4-FFF2-40B4-BE49-F238E27FC236}">
                  <a16:creationId xmlns:a16="http://schemas.microsoft.com/office/drawing/2014/main" id="{A8F31BB4-73B1-B5DB-60E9-CFA7EB5B4E21}"/>
                </a:ext>
              </a:extLst>
            </p:cNvPr>
            <p:cNvSpPr/>
            <p:nvPr/>
          </p:nvSpPr>
          <p:spPr>
            <a:xfrm>
              <a:off x="9764992" y="2171317"/>
              <a:ext cx="1091732" cy="746052"/>
            </a:xfrm>
            <a:prstGeom prst="roundRect">
              <a:avLst/>
            </a:prstGeom>
            <a:solidFill>
              <a:schemeClr val="tx2">
                <a:lumMod val="50000"/>
                <a:lumOff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latin typeface="Times New Roman" panose="02020603050405020304" pitchFamily="18" charset="0"/>
                  <a:cs typeface="Times New Roman" panose="02020603050405020304" pitchFamily="18" charset="0"/>
                </a:rPr>
                <a:t>Batteries</a:t>
              </a:r>
            </a:p>
          </p:txBody>
        </p:sp>
        <p:sp>
          <p:nvSpPr>
            <p:cNvPr id="2059" name="Rounded Rectangle 36">
              <a:extLst>
                <a:ext uri="{FF2B5EF4-FFF2-40B4-BE49-F238E27FC236}">
                  <a16:creationId xmlns:a16="http://schemas.microsoft.com/office/drawing/2014/main" id="{90D4DC56-C72B-6093-A923-E2B76E2FABB1}"/>
                </a:ext>
              </a:extLst>
            </p:cNvPr>
            <p:cNvSpPr/>
            <p:nvPr/>
          </p:nvSpPr>
          <p:spPr>
            <a:xfrm>
              <a:off x="11037816" y="2147039"/>
              <a:ext cx="1140067" cy="746052"/>
            </a:xfrm>
            <a:prstGeom prst="roundRect">
              <a:avLst/>
            </a:prstGeom>
            <a:solidFill>
              <a:schemeClr val="tx2">
                <a:lumMod val="25000"/>
                <a:lumOff val="7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latin typeface="Times New Roman" panose="02020603050405020304" pitchFamily="18" charset="0"/>
                  <a:cs typeface="Times New Roman" panose="02020603050405020304" pitchFamily="18" charset="0"/>
                </a:rPr>
                <a:t>App/ IQ management</a:t>
              </a:r>
            </a:p>
          </p:txBody>
        </p:sp>
        <p:sp>
          <p:nvSpPr>
            <p:cNvPr id="2068" name="Right Arrow 38">
              <a:extLst>
                <a:ext uri="{FF2B5EF4-FFF2-40B4-BE49-F238E27FC236}">
                  <a16:creationId xmlns:a16="http://schemas.microsoft.com/office/drawing/2014/main" id="{84EF232B-98DA-92AC-A25B-248EA96982B0}"/>
                </a:ext>
              </a:extLst>
            </p:cNvPr>
            <p:cNvSpPr/>
            <p:nvPr/>
          </p:nvSpPr>
          <p:spPr>
            <a:xfrm>
              <a:off x="8247233" y="2452916"/>
              <a:ext cx="310535" cy="21678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sp>
          <p:nvSpPr>
            <p:cNvPr id="2069" name="U-turn Arrow 42">
              <a:extLst>
                <a:ext uri="{FF2B5EF4-FFF2-40B4-BE49-F238E27FC236}">
                  <a16:creationId xmlns:a16="http://schemas.microsoft.com/office/drawing/2014/main" id="{FE68F3DB-8158-4A50-7999-D11FCF7A4D86}"/>
                </a:ext>
              </a:extLst>
            </p:cNvPr>
            <p:cNvSpPr/>
            <p:nvPr/>
          </p:nvSpPr>
          <p:spPr>
            <a:xfrm rot="10800000">
              <a:off x="7654579" y="2950111"/>
              <a:ext cx="4035724" cy="286518"/>
            </a:xfrm>
            <a:prstGeom prst="utur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latin typeface="Times New Roman" panose="02020603050405020304" pitchFamily="18" charset="0"/>
                <a:cs typeface="Times New Roman" panose="02020603050405020304" pitchFamily="18" charset="0"/>
              </a:endParaRPr>
            </a:p>
          </p:txBody>
        </p:sp>
        <p:sp>
          <p:nvSpPr>
            <p:cNvPr id="2070" name="Right Arrow 43">
              <a:extLst>
                <a:ext uri="{FF2B5EF4-FFF2-40B4-BE49-F238E27FC236}">
                  <a16:creationId xmlns:a16="http://schemas.microsoft.com/office/drawing/2014/main" id="{18273AC9-F410-9034-A859-786C3732E952}"/>
                </a:ext>
              </a:extLst>
            </p:cNvPr>
            <p:cNvSpPr/>
            <p:nvPr/>
          </p:nvSpPr>
          <p:spPr>
            <a:xfrm>
              <a:off x="9531786" y="2442442"/>
              <a:ext cx="310535" cy="21678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sp>
          <p:nvSpPr>
            <p:cNvPr id="2071" name="Right Arrow 44">
              <a:extLst>
                <a:ext uri="{FF2B5EF4-FFF2-40B4-BE49-F238E27FC236}">
                  <a16:creationId xmlns:a16="http://schemas.microsoft.com/office/drawing/2014/main" id="{71DEC8D1-3280-6BF0-3B65-1584D3FFF2EE}"/>
                </a:ext>
              </a:extLst>
            </p:cNvPr>
            <p:cNvSpPr/>
            <p:nvPr/>
          </p:nvSpPr>
          <p:spPr>
            <a:xfrm>
              <a:off x="10816339" y="2434262"/>
              <a:ext cx="310535" cy="21678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grpSp>
      <p:sp>
        <p:nvSpPr>
          <p:cNvPr id="17" name="TextBox 16">
            <a:extLst>
              <a:ext uri="{FF2B5EF4-FFF2-40B4-BE49-F238E27FC236}">
                <a16:creationId xmlns:a16="http://schemas.microsoft.com/office/drawing/2014/main" id="{A52A1CE1-D718-8A08-C182-F64248289476}"/>
              </a:ext>
            </a:extLst>
          </p:cNvPr>
          <p:cNvSpPr txBox="1"/>
          <p:nvPr/>
        </p:nvSpPr>
        <p:spPr>
          <a:xfrm>
            <a:off x="15523370" y="5352767"/>
            <a:ext cx="3105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latin typeface="Times New Roman" panose="02020603050405020304" pitchFamily="18" charset="0"/>
              <a:cs typeface="Times New Roman" panose="02020603050405020304" pitchFamily="18" charset="0"/>
            </a:endParaRPr>
          </a:p>
        </p:txBody>
      </p:sp>
      <p:sp>
        <p:nvSpPr>
          <p:cNvPr id="19" name="TextBox 49">
            <a:extLst>
              <a:ext uri="{FF2B5EF4-FFF2-40B4-BE49-F238E27FC236}">
                <a16:creationId xmlns:a16="http://schemas.microsoft.com/office/drawing/2014/main" id="{2A536AAD-3DCD-05AC-0C13-0E27AEEEF8B4}"/>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1375246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42DD582F-59EA-4732-5F06-DFE78D05A660}"/>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8DB20CD2-2D92-FE19-5E55-F8F370A53578}"/>
              </a:ext>
            </a:extLst>
          </p:cNvPr>
          <p:cNvGrpSpPr>
            <a:grpSpLocks noGrp="1" noUngrp="1" noRot="1" noMove="1" noResize="1"/>
          </p:cNvGrpSpPr>
          <p:nvPr/>
        </p:nvGrpSpPr>
        <p:grpSpPr>
          <a:xfrm>
            <a:off x="482833" y="399657"/>
            <a:ext cx="17349108" cy="9487687"/>
            <a:chOff x="482833" y="399657"/>
            <a:chExt cx="17349108" cy="9487687"/>
          </a:xfrm>
        </p:grpSpPr>
        <p:sp>
          <p:nvSpPr>
            <p:cNvPr id="2" name="Freeform 2">
              <a:extLst>
                <a:ext uri="{FF2B5EF4-FFF2-40B4-BE49-F238E27FC236}">
                  <a16:creationId xmlns:a16="http://schemas.microsoft.com/office/drawing/2014/main" id="{775C6573-D516-11A1-F5DB-622813761598}"/>
                </a:ext>
              </a:extLst>
            </p:cNvPr>
            <p:cNvSpPr>
              <a:spLocks noGrp="1" noRot="1" noMove="1" noResize="1" noEditPoints="1" noAdjustHandles="1" noChangeArrowheads="1" noChangeShapeType="1"/>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a:extLst>
                <a:ext uri="{FF2B5EF4-FFF2-40B4-BE49-F238E27FC236}">
                  <a16:creationId xmlns:a16="http://schemas.microsoft.com/office/drawing/2014/main" id="{4C34D3CD-52C6-6E67-36BA-963B67345C7F}"/>
                </a:ext>
              </a:extLst>
            </p:cNvPr>
            <p:cNvSpPr txBox="1">
              <a:spLocks noGrp="1" noRot="1" noMove="1" noResize="1" noEditPoints="1" noAdjustHandles="1" noChangeArrowheads="1" noChangeShapeType="1"/>
            </p:cNvSpPr>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a:extLst>
                <a:ext uri="{FF2B5EF4-FFF2-40B4-BE49-F238E27FC236}">
                  <a16:creationId xmlns:a16="http://schemas.microsoft.com/office/drawing/2014/main" id="{ADC4F903-BDE4-4093-472B-7A37BFEB5C93}"/>
                </a:ext>
              </a:extLst>
            </p:cNvPr>
            <p:cNvSpPr txBox="1">
              <a:spLocks noGrp="1" noRot="1" noMove="1" noResize="1" noEditPoints="1" noAdjustHandles="1" noChangeArrowheads="1" noChangeShapeType="1"/>
            </p:cNvSpPr>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a:extLst>
                <a:ext uri="{FF2B5EF4-FFF2-40B4-BE49-F238E27FC236}">
                  <a16:creationId xmlns:a16="http://schemas.microsoft.com/office/drawing/2014/main" id="{AF9C44E9-2985-326D-3A41-46D2CCF99D38}"/>
                </a:ext>
              </a:extLst>
            </p:cNvPr>
            <p:cNvSpPr txBox="1">
              <a:spLocks noGrp="1" noRot="1" noMove="1" noResize="1" noEditPoints="1" noAdjustHandles="1" noChangeArrowheads="1" noChangeShapeType="1"/>
            </p:cNvSpPr>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a:extLst>
                <a:ext uri="{FF2B5EF4-FFF2-40B4-BE49-F238E27FC236}">
                  <a16:creationId xmlns:a16="http://schemas.microsoft.com/office/drawing/2014/main" id="{AEA7A84E-79D2-2060-7FD4-610ADC00A9CC}"/>
                </a:ext>
              </a:extLst>
            </p:cNvPr>
            <p:cNvGrpSpPr>
              <a:grpSpLocks noGrp="1" noUngrp="1" noRot="1" noMove="1" noResize="1"/>
            </p:cNvGrpSpPr>
            <p:nvPr/>
          </p:nvGrpSpPr>
          <p:grpSpPr>
            <a:xfrm>
              <a:off x="482833" y="399657"/>
              <a:ext cx="17349108" cy="9487687"/>
              <a:chOff x="0" y="0"/>
              <a:chExt cx="5293499" cy="2894850"/>
            </a:xfrm>
          </p:grpSpPr>
          <p:sp>
            <p:nvSpPr>
              <p:cNvPr id="7" name="Freeform 7">
                <a:extLst>
                  <a:ext uri="{FF2B5EF4-FFF2-40B4-BE49-F238E27FC236}">
                    <a16:creationId xmlns:a16="http://schemas.microsoft.com/office/drawing/2014/main" id="{3787BB1C-79EE-7814-4F8E-35AE68043E2B}"/>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a:extLst>
                  <a:ext uri="{FF2B5EF4-FFF2-40B4-BE49-F238E27FC236}">
                    <a16:creationId xmlns:a16="http://schemas.microsoft.com/office/drawing/2014/main" id="{C610E54A-AC05-84CC-BEC0-30A345182FDF}"/>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a:extLst>
                <a:ext uri="{FF2B5EF4-FFF2-40B4-BE49-F238E27FC236}">
                  <a16:creationId xmlns:a16="http://schemas.microsoft.com/office/drawing/2014/main" id="{55591733-AA90-69E4-8785-6D2180A124FA}"/>
                </a:ext>
              </a:extLst>
            </p:cNvPr>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1" name="AutoShape 11">
              <a:extLst>
                <a:ext uri="{FF2B5EF4-FFF2-40B4-BE49-F238E27FC236}">
                  <a16:creationId xmlns:a16="http://schemas.microsoft.com/office/drawing/2014/main" id="{9A95787A-0537-EF8A-624F-BB85051B4CFE}"/>
                </a:ext>
              </a:extLst>
            </p:cNvPr>
            <p:cNvSpPr>
              <a:spLocks noGrp="1" noRot="1" noMove="1" noResize="1" noEditPoints="1" noAdjustHandles="1" noChangeArrowheads="1" noChangeShapeType="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3" name="AutoShape 13">
              <a:extLst>
                <a:ext uri="{FF2B5EF4-FFF2-40B4-BE49-F238E27FC236}">
                  <a16:creationId xmlns:a16="http://schemas.microsoft.com/office/drawing/2014/main" id="{2EBCBF41-0A82-78F0-EB2E-76DC626CA03A}"/>
                </a:ext>
              </a:extLst>
            </p:cNvPr>
            <p:cNvSpPr>
              <a:spLocks noGrp="1" noRot="1" noMove="1" noResize="1" noEditPoints="1" noAdjustHandles="1" noChangeArrowheads="1" noChangeShapeType="1"/>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pSp>
      <p:sp>
        <p:nvSpPr>
          <p:cNvPr id="12" name="Title 1">
            <a:extLst>
              <a:ext uri="{FF2B5EF4-FFF2-40B4-BE49-F238E27FC236}">
                <a16:creationId xmlns:a16="http://schemas.microsoft.com/office/drawing/2014/main" id="{F5736E7A-70FD-B870-2FFB-5B528D55E6FD}"/>
              </a:ext>
            </a:extLst>
          </p:cNvPr>
          <p:cNvSpPr>
            <a:spLocks noGrp="1"/>
          </p:cNvSpPr>
          <p:nvPr/>
        </p:nvSpPr>
        <p:spPr>
          <a:xfrm>
            <a:off x="1882081" y="64120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cs typeface="Times New Roman" panose="02020603050405020304" pitchFamily="18" charset="0"/>
              </a:rPr>
              <a:t>Thesis 1: Strong Fundamental Business</a:t>
            </a:r>
          </a:p>
        </p:txBody>
      </p:sp>
      <p:sp>
        <p:nvSpPr>
          <p:cNvPr id="15" name="Title 1">
            <a:extLst>
              <a:ext uri="{FF2B5EF4-FFF2-40B4-BE49-F238E27FC236}">
                <a16:creationId xmlns:a16="http://schemas.microsoft.com/office/drawing/2014/main" id="{7DAB3076-EC96-9FB5-5178-3373F3B8EB9F}"/>
              </a:ext>
            </a:extLst>
          </p:cNvPr>
          <p:cNvSpPr txBox="1">
            <a:spLocks/>
          </p:cNvSpPr>
          <p:nvPr/>
        </p:nvSpPr>
        <p:spPr>
          <a:xfrm>
            <a:off x="1882081" y="1795140"/>
            <a:ext cx="1051560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2800">
              <a:solidFill>
                <a:schemeClr val="tx2">
                  <a:lumMod val="90000"/>
                  <a:lumOff val="10000"/>
                </a:schemeClr>
              </a:solidFill>
              <a:latin typeface="Times New Roman" panose="02020603050405020304" pitchFamily="18" charset="0"/>
              <a:cs typeface="Times New Roman" panose="02020603050405020304" pitchFamily="18" charset="0"/>
            </a:endParaRPr>
          </a:p>
        </p:txBody>
      </p:sp>
      <p:sp>
        <p:nvSpPr>
          <p:cNvPr id="2063" name="Rectangle 11">
            <a:extLst>
              <a:ext uri="{FF2B5EF4-FFF2-40B4-BE49-F238E27FC236}">
                <a16:creationId xmlns:a16="http://schemas.microsoft.com/office/drawing/2014/main" id="{7F419CE8-8586-55FB-5570-B77B1A18E327}"/>
              </a:ext>
            </a:extLst>
          </p:cNvPr>
          <p:cNvSpPr>
            <a:spLocks noChangeArrowheads="1"/>
          </p:cNvSpPr>
          <p:nvPr/>
        </p:nvSpPr>
        <p:spPr bwMode="auto">
          <a:xfrm>
            <a:off x="10952616" y="6422765"/>
            <a:ext cx="18288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7" name="Title 1">
            <a:extLst>
              <a:ext uri="{FF2B5EF4-FFF2-40B4-BE49-F238E27FC236}">
                <a16:creationId xmlns:a16="http://schemas.microsoft.com/office/drawing/2014/main" id="{1A225EF4-75F2-1631-DFBB-957E199B3C6C}"/>
              </a:ext>
            </a:extLst>
          </p:cNvPr>
          <p:cNvSpPr txBox="1">
            <a:spLocks/>
          </p:cNvSpPr>
          <p:nvPr/>
        </p:nvSpPr>
        <p:spPr>
          <a:xfrm>
            <a:off x="1868226" y="1821667"/>
            <a:ext cx="1051560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400" dirty="0">
                <a:latin typeface="Times New Roman" panose="02020603050405020304" pitchFamily="18" charset="0"/>
                <a:cs typeface="Times New Roman" panose="02020603050405020304" pitchFamily="18" charset="0"/>
              </a:rPr>
              <a:t>Enphase’s closed-loop ecosystem drives customer retention &amp; recurring revenue through platform integration</a:t>
            </a:r>
          </a:p>
        </p:txBody>
      </p:sp>
      <p:pic>
        <p:nvPicPr>
          <p:cNvPr id="18" name="Picture 8">
            <a:extLst>
              <a:ext uri="{FF2B5EF4-FFF2-40B4-BE49-F238E27FC236}">
                <a16:creationId xmlns:a16="http://schemas.microsoft.com/office/drawing/2014/main" id="{546DA367-56BF-114F-D459-23DA5D964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6509" y="3001063"/>
            <a:ext cx="213293" cy="42658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9">
            <a:extLst>
              <a:ext uri="{FF2B5EF4-FFF2-40B4-BE49-F238E27FC236}">
                <a16:creationId xmlns:a16="http://schemas.microsoft.com/office/drawing/2014/main" id="{C0E3813A-76D3-C77F-49C5-E0115C8730EC}"/>
              </a:ext>
            </a:extLst>
          </p:cNvPr>
          <p:cNvSpPr txBox="1"/>
          <p:nvPr/>
        </p:nvSpPr>
        <p:spPr>
          <a:xfrm>
            <a:off x="2293804" y="3045913"/>
            <a:ext cx="11105397"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a:latin typeface="Times New Roman" panose="02020603050405020304" pitchFamily="18" charset="0"/>
                <a:cs typeface="Times New Roman" panose="02020603050405020304" pitchFamily="18" charset="0"/>
              </a:rPr>
              <a:t>These factors create switching friction, recurring revenue, and margin stability</a:t>
            </a:r>
          </a:p>
        </p:txBody>
      </p:sp>
      <p:sp>
        <p:nvSpPr>
          <p:cNvPr id="20" name="TextBox 37">
            <a:extLst>
              <a:ext uri="{FF2B5EF4-FFF2-40B4-BE49-F238E27FC236}">
                <a16:creationId xmlns:a16="http://schemas.microsoft.com/office/drawing/2014/main" id="{C9005F1D-9ECE-0455-FB4E-A76012221D2A}"/>
              </a:ext>
            </a:extLst>
          </p:cNvPr>
          <p:cNvSpPr txBox="1"/>
          <p:nvPr/>
        </p:nvSpPr>
        <p:spPr>
          <a:xfrm>
            <a:off x="2293804" y="3527738"/>
            <a:ext cx="5790865"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a:latin typeface="Times New Roman" panose="02020603050405020304" pitchFamily="18" charset="0"/>
                <a:cs typeface="Times New Roman" panose="02020603050405020304" pitchFamily="18" charset="0"/>
              </a:rPr>
              <a:t>As evidenced in their 2025 Q2 earnings report (compared to Q1):</a:t>
            </a:r>
          </a:p>
        </p:txBody>
      </p:sp>
      <p:sp>
        <p:nvSpPr>
          <p:cNvPr id="30" name="Rectangle 1">
            <a:extLst>
              <a:ext uri="{FF2B5EF4-FFF2-40B4-BE49-F238E27FC236}">
                <a16:creationId xmlns:a16="http://schemas.microsoft.com/office/drawing/2014/main" id="{15A4D0C5-33E0-8772-3117-6C18B3C6DE9F}"/>
              </a:ext>
            </a:extLst>
          </p:cNvPr>
          <p:cNvSpPr>
            <a:spLocks noChangeArrowheads="1"/>
          </p:cNvSpPr>
          <p:nvPr/>
        </p:nvSpPr>
        <p:spPr bwMode="auto">
          <a:xfrm>
            <a:off x="2895601" y="3777690"/>
            <a:ext cx="259589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31" name="TextBox 15">
            <a:extLst>
              <a:ext uri="{FF2B5EF4-FFF2-40B4-BE49-F238E27FC236}">
                <a16:creationId xmlns:a16="http://schemas.microsoft.com/office/drawing/2014/main" id="{05A164C9-E073-B68E-7706-54F10B2A3F86}"/>
              </a:ext>
            </a:extLst>
          </p:cNvPr>
          <p:cNvSpPr txBox="1"/>
          <p:nvPr/>
        </p:nvSpPr>
        <p:spPr>
          <a:xfrm>
            <a:off x="2438400" y="8105676"/>
            <a:ext cx="11105397" cy="5847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latin typeface="Times New Roman" panose="02020603050405020304" pitchFamily="18" charset="0"/>
                <a:cs typeface="Times New Roman" panose="02020603050405020304" pitchFamily="18" charset="0"/>
              </a:rPr>
              <a:t>Together, Enphase’s integrated product suite, expanding software ecosystem, and strong balance sheet reinforce its long-term structural moat – generating sticky customers, recurring platform income, and resilient margins</a:t>
            </a:r>
          </a:p>
        </p:txBody>
      </p:sp>
      <p:graphicFrame>
        <p:nvGraphicFramePr>
          <p:cNvPr id="10" name="Table 2">
            <a:extLst>
              <a:ext uri="{FF2B5EF4-FFF2-40B4-BE49-F238E27FC236}">
                <a16:creationId xmlns:a16="http://schemas.microsoft.com/office/drawing/2014/main" id="{8DD64060-303B-96ED-B7B7-D733A2BC8F3F}"/>
              </a:ext>
            </a:extLst>
          </p:cNvPr>
          <p:cNvGraphicFramePr>
            <a:graphicFrameLocks noGrp="1"/>
          </p:cNvGraphicFramePr>
          <p:nvPr>
            <p:extLst>
              <p:ext uri="{D42A27DB-BD31-4B8C-83A1-F6EECF244321}">
                <p14:modId xmlns:p14="http://schemas.microsoft.com/office/powerpoint/2010/main" val="3455854276"/>
              </p:ext>
            </p:extLst>
          </p:nvPr>
        </p:nvGraphicFramePr>
        <p:xfrm>
          <a:off x="1988669" y="4091473"/>
          <a:ext cx="12192000" cy="38150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65228674"/>
                    </a:ext>
                  </a:extLst>
                </a:gridCol>
                <a:gridCol w="4064000">
                  <a:extLst>
                    <a:ext uri="{9D8B030D-6E8A-4147-A177-3AD203B41FA5}">
                      <a16:colId xmlns:a16="http://schemas.microsoft.com/office/drawing/2014/main" val="3449140080"/>
                    </a:ext>
                  </a:extLst>
                </a:gridCol>
                <a:gridCol w="4064000">
                  <a:extLst>
                    <a:ext uri="{9D8B030D-6E8A-4147-A177-3AD203B41FA5}">
                      <a16:colId xmlns:a16="http://schemas.microsoft.com/office/drawing/2014/main" val="2433900758"/>
                    </a:ext>
                  </a:extLst>
                </a:gridCol>
              </a:tblGrid>
              <a:tr h="370840">
                <a:tc>
                  <a:txBody>
                    <a:bodyPr/>
                    <a:lstStyle/>
                    <a:p>
                      <a:pPr algn="ctr"/>
                      <a:r>
                        <a:rPr lang="en-US" sz="1600" dirty="0">
                          <a:latin typeface="Times New Roman" panose="02020603050405020304" pitchFamily="18" charset="0"/>
                          <a:cs typeface="Times New Roman" panose="02020603050405020304" pitchFamily="18" charset="0"/>
                        </a:rPr>
                        <a:t>Switching Friction</a:t>
                      </a:r>
                    </a:p>
                  </a:txBody>
                  <a:tcPr>
                    <a:solidFill>
                      <a:schemeClr val="tx2">
                        <a:lumMod val="5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Recurring Revenue</a:t>
                      </a:r>
                    </a:p>
                  </a:txBody>
                  <a:tcPr>
                    <a:solidFill>
                      <a:schemeClr val="tx2">
                        <a:lumMod val="50000"/>
                      </a:schemeClr>
                    </a:solidFill>
                  </a:tcPr>
                </a:tc>
                <a:tc>
                  <a:txBody>
                    <a:bodyPr/>
                    <a:lstStyle/>
                    <a:p>
                      <a:pPr algn="ctr"/>
                      <a:r>
                        <a:rPr lang="en-US" sz="1600" dirty="0">
                          <a:latin typeface="Times New Roman" panose="02020603050405020304" pitchFamily="18" charset="0"/>
                          <a:cs typeface="Times New Roman" panose="02020603050405020304" pitchFamily="18" charset="0"/>
                        </a:rPr>
                        <a:t>Margin Stability</a:t>
                      </a:r>
                    </a:p>
                  </a:txBody>
                  <a:tcPr>
                    <a:solidFill>
                      <a:schemeClr val="tx2">
                        <a:lumMod val="50000"/>
                      </a:schemeClr>
                    </a:solidFill>
                  </a:tcPr>
                </a:tc>
                <a:extLst>
                  <a:ext uri="{0D108BD9-81ED-4DB2-BD59-A6C34878D82A}">
                    <a16:rowId xmlns:a16="http://schemas.microsoft.com/office/drawing/2014/main" val="6042495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i="0" dirty="0">
                          <a:solidFill>
                            <a:srgbClr val="000000"/>
                          </a:solidFill>
                          <a:effectLst/>
                          <a:latin typeface="Times New Roman" panose="02020603050405020304" pitchFamily="18" charset="0"/>
                          <a:cs typeface="Times New Roman" panose="02020603050405020304" pitchFamily="18" charset="0"/>
                        </a:rPr>
                        <a:t>1.53 M microinverters </a:t>
                      </a:r>
                      <a:r>
                        <a:rPr lang="en-GB" sz="1600" b="0" i="0" dirty="0">
                          <a:solidFill>
                            <a:srgbClr val="000000"/>
                          </a:solidFill>
                          <a:effectLst/>
                          <a:latin typeface="Times New Roman" panose="02020603050405020304" pitchFamily="18" charset="0"/>
                          <a:cs typeface="Times New Roman" panose="02020603050405020304" pitchFamily="18" charset="0"/>
                        </a:rPr>
                        <a:t>– of which 1.41M were U.S.-manufactured &amp; eligible for IRA 45X credits, reinforcing domestic scale &amp; integration​</a:t>
                      </a:r>
                    </a:p>
                    <a:p>
                      <a:endParaRPr 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210 MWh enrolled in VPP programmes</a:t>
                      </a:r>
                      <a:r>
                        <a:rPr kumimoji="0" lang="en-GB"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generating recurring grid services income across the U.S., Europe, &amp; Australia​</a:t>
                      </a:r>
                    </a:p>
                    <a:p>
                      <a:pPr algn="l" fontAlgn="base">
                        <a:lnSpc>
                          <a:spcPct val="100000"/>
                        </a:lnSpc>
                        <a:buNone/>
                      </a:pPr>
                      <a:endParaRPr lang="en-GB" sz="1600" b="0" i="0" dirty="0">
                        <a:solidFill>
                          <a:srgbClr val="000000"/>
                        </a:solidFill>
                        <a:effectLst/>
                        <a:latin typeface="Times New Roman" panose="02020603050405020304" pitchFamily="18" charset="0"/>
                        <a:cs typeface="Times New Roman" panose="02020603050405020304" pitchFamily="18" charset="0"/>
                      </a:endParaRPr>
                    </a:p>
                  </a:txBody>
                  <a:tcPr marL="88669" marR="88669" marT="44335" marB="44335"/>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48.6% gross margin (non-GAAP) </a:t>
                      </a:r>
                      <a:r>
                        <a:rPr kumimoji="0" lang="en-GB"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stable </a:t>
                      </a:r>
                      <a:r>
                        <a:rPr kumimoji="0" lang="en-GB" sz="16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QoQ</a:t>
                      </a:r>
                      <a:r>
                        <a:rPr kumimoji="0" lang="en-GB"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despite tariff headwinds; 37.2% excluding IRA benefits​</a:t>
                      </a:r>
                    </a:p>
                    <a:p>
                      <a:pPr algn="l" fontAlgn="base">
                        <a:lnSpc>
                          <a:spcPct val="100000"/>
                        </a:lnSpc>
                        <a:buNone/>
                      </a:pPr>
                      <a:endParaRPr lang="en-GB" sz="1600" b="0" i="0" dirty="0">
                        <a:solidFill>
                          <a:srgbClr val="000000"/>
                        </a:solidFill>
                        <a:effectLst/>
                        <a:latin typeface="Times New Roman" panose="02020603050405020304" pitchFamily="18" charset="0"/>
                        <a:cs typeface="Times New Roman" panose="02020603050405020304" pitchFamily="18" charset="0"/>
                      </a:endParaRPr>
                    </a:p>
                  </a:txBody>
                  <a:tcPr marL="88669" marR="88669" marT="44335" marB="44335"/>
                </a:tc>
                <a:extLst>
                  <a:ext uri="{0D108BD9-81ED-4DB2-BD59-A6C34878D82A}">
                    <a16:rowId xmlns:a16="http://schemas.microsoft.com/office/drawing/2014/main" val="38984215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i="0" dirty="0">
                          <a:solidFill>
                            <a:srgbClr val="000000"/>
                          </a:solidFill>
                          <a:effectLst/>
                          <a:latin typeface="Times New Roman" panose="02020603050405020304" pitchFamily="18" charset="0"/>
                          <a:cs typeface="Times New Roman" panose="02020603050405020304" pitchFamily="18" charset="0"/>
                        </a:rPr>
                        <a:t>190.9 MWh batteries (+12%) </a:t>
                      </a:r>
                      <a:r>
                        <a:rPr lang="en-GB" sz="1600" b="0" i="0" dirty="0">
                          <a:solidFill>
                            <a:srgbClr val="000000"/>
                          </a:solidFill>
                          <a:effectLst/>
                          <a:latin typeface="Times New Roman" panose="02020603050405020304" pitchFamily="18" charset="0"/>
                          <a:cs typeface="Times New Roman" panose="02020603050405020304" pitchFamily="18" charset="0"/>
                        </a:rPr>
                        <a:t>– record quarter for IQ Battery 5P, now launched in France, Spain, and the Nordics​</a:t>
                      </a:r>
                    </a:p>
                    <a:p>
                      <a:endParaRPr 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Solargraf</a:t>
                      </a:r>
                      <a:r>
                        <a:rPr kumimoji="0" 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AI platform </a:t>
                      </a:r>
                      <a:r>
                        <a:rPr kumimoji="0" 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enhanced with design automation &amp; financing integrations; software subscriptions expanding installer stickiness​</a:t>
                      </a:r>
                    </a:p>
                  </a:txBody>
                  <a:tcPr marL="88669" marR="88669" marT="44335" marB="44335"/>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+4% </a:t>
                      </a:r>
                      <a:r>
                        <a:rPr kumimoji="0" lang="en-GB" sz="1600" b="1"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QoQ</a:t>
                      </a:r>
                      <a:r>
                        <a:rPr kumimoji="0" lang="en-GB"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operating income</a:t>
                      </a:r>
                      <a:r>
                        <a:rPr kumimoji="0" lang="en-GB"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driven by product mix improvement &amp; cost discipline​</a:t>
                      </a:r>
                    </a:p>
                    <a:p>
                      <a:pPr algn="l" fontAlgn="base">
                        <a:lnSpc>
                          <a:spcPct val="100000"/>
                        </a:lnSpc>
                        <a:buNone/>
                      </a:pPr>
                      <a:endParaRPr lang="en-GB" sz="1600" b="0" i="0" dirty="0">
                        <a:solidFill>
                          <a:srgbClr val="000000"/>
                        </a:solidFill>
                        <a:effectLst/>
                        <a:latin typeface="Times New Roman" panose="02020603050405020304" pitchFamily="18" charset="0"/>
                        <a:cs typeface="Times New Roman" panose="02020603050405020304" pitchFamily="18" charset="0"/>
                      </a:endParaRPr>
                    </a:p>
                  </a:txBody>
                  <a:tcPr marL="88669" marR="88669" marT="44335" marB="44335"/>
                </a:tc>
                <a:extLst>
                  <a:ext uri="{0D108BD9-81ED-4DB2-BD59-A6C34878D82A}">
                    <a16:rowId xmlns:a16="http://schemas.microsoft.com/office/drawing/2014/main" val="38471369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i="0" dirty="0">
                          <a:solidFill>
                            <a:srgbClr val="000000"/>
                          </a:solidFill>
                          <a:effectLst/>
                          <a:latin typeface="Times New Roman" panose="02020603050405020304" pitchFamily="18" charset="0"/>
                          <a:cs typeface="Times New Roman" panose="02020603050405020304" pitchFamily="18" charset="0"/>
                        </a:rPr>
                        <a:t>11.7 K installers (+7%) </a:t>
                      </a:r>
                      <a:r>
                        <a:rPr lang="en-GB" sz="1600" b="0" i="0" dirty="0">
                          <a:solidFill>
                            <a:srgbClr val="000000"/>
                          </a:solidFill>
                          <a:effectLst/>
                          <a:latin typeface="Times New Roman" panose="02020603050405020304" pitchFamily="18" charset="0"/>
                          <a:cs typeface="Times New Roman" panose="02020603050405020304" pitchFamily="18" charset="0"/>
                        </a:rPr>
                        <a:t>– expanding network creates high switching costs &amp; stronger customer retention​</a:t>
                      </a:r>
                    </a:p>
                    <a:p>
                      <a:endParaRPr 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IQ Energy Management rollout</a:t>
                      </a:r>
                      <a:r>
                        <a:rPr kumimoji="0" lang="en-GB"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enables optimisation of energy use, creating long-term SaaS-like recurring revenue​</a:t>
                      </a:r>
                    </a:p>
                    <a:p>
                      <a:pPr algn="l" fontAlgn="base">
                        <a:lnSpc>
                          <a:spcPct val="100000"/>
                        </a:lnSpc>
                        <a:buNone/>
                      </a:pPr>
                      <a:endParaRPr lang="en-GB" sz="1600" b="0" i="0" dirty="0">
                        <a:solidFill>
                          <a:srgbClr val="000000"/>
                        </a:solidFill>
                        <a:effectLst/>
                        <a:latin typeface="Times New Roman" panose="02020603050405020304" pitchFamily="18" charset="0"/>
                        <a:cs typeface="Times New Roman" panose="02020603050405020304" pitchFamily="18" charset="0"/>
                      </a:endParaRPr>
                    </a:p>
                  </a:txBody>
                  <a:tcPr marL="88669" marR="88669" marT="44335" marB="44335"/>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$1.53B cash + positive FCF</a:t>
                      </a:r>
                      <a:r>
                        <a:rPr kumimoji="0" lang="en-GB"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supports continued buybacks &amp; R&amp;D spend without leverage risk​</a:t>
                      </a:r>
                    </a:p>
                    <a:p>
                      <a:pPr algn="l" fontAlgn="base">
                        <a:lnSpc>
                          <a:spcPct val="100000"/>
                        </a:lnSpc>
                        <a:buNone/>
                      </a:pPr>
                      <a:endParaRPr lang="en-GB" sz="1600" b="0" i="0" dirty="0">
                        <a:solidFill>
                          <a:srgbClr val="000000"/>
                        </a:solidFill>
                        <a:effectLst/>
                        <a:latin typeface="Times New Roman" panose="02020603050405020304" pitchFamily="18" charset="0"/>
                        <a:cs typeface="Times New Roman" panose="02020603050405020304" pitchFamily="18" charset="0"/>
                      </a:endParaRPr>
                    </a:p>
                  </a:txBody>
                  <a:tcPr marL="88669" marR="88669" marT="44335" marB="44335"/>
                </a:tc>
                <a:extLst>
                  <a:ext uri="{0D108BD9-81ED-4DB2-BD59-A6C34878D82A}">
                    <a16:rowId xmlns:a16="http://schemas.microsoft.com/office/drawing/2014/main" val="1991976440"/>
                  </a:ext>
                </a:extLst>
              </a:tr>
            </a:tbl>
          </a:graphicData>
        </a:graphic>
      </p:graphicFrame>
      <p:sp>
        <p:nvSpPr>
          <p:cNvPr id="21" name="TextBox 49">
            <a:extLst>
              <a:ext uri="{FF2B5EF4-FFF2-40B4-BE49-F238E27FC236}">
                <a16:creationId xmlns:a16="http://schemas.microsoft.com/office/drawing/2014/main" id="{3C02FE5F-953D-C4E5-409F-3EA54D12D5CE}"/>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3207234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2AAC9077-8C28-FFD5-6D4F-691F5CA160D0}"/>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A26E7499-B482-33F4-F8C9-67B4F83F22B1}"/>
              </a:ext>
            </a:extLst>
          </p:cNvPr>
          <p:cNvGrpSpPr>
            <a:grpSpLocks noGrp="1" noUngrp="1" noRot="1" noMove="1" noResize="1"/>
          </p:cNvGrpSpPr>
          <p:nvPr/>
        </p:nvGrpSpPr>
        <p:grpSpPr>
          <a:xfrm>
            <a:off x="482833" y="399657"/>
            <a:ext cx="17349108" cy="9487687"/>
            <a:chOff x="482833" y="399657"/>
            <a:chExt cx="17349108" cy="9487687"/>
          </a:xfrm>
        </p:grpSpPr>
        <p:sp>
          <p:nvSpPr>
            <p:cNvPr id="2" name="Freeform 2">
              <a:extLst>
                <a:ext uri="{FF2B5EF4-FFF2-40B4-BE49-F238E27FC236}">
                  <a16:creationId xmlns:a16="http://schemas.microsoft.com/office/drawing/2014/main" id="{BFB5DE48-BC3B-D521-0A5A-91339A457D4D}"/>
                </a:ext>
              </a:extLst>
            </p:cNvPr>
            <p:cNvSpPr>
              <a:spLocks noGrp="1" noRot="1" noMove="1" noResize="1" noEditPoints="1" noAdjustHandles="1" noChangeArrowheads="1" noChangeShapeType="1"/>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a:extLst>
                <a:ext uri="{FF2B5EF4-FFF2-40B4-BE49-F238E27FC236}">
                  <a16:creationId xmlns:a16="http://schemas.microsoft.com/office/drawing/2014/main" id="{E6E1644E-4FEB-B339-461A-EEE0F04D2B0F}"/>
                </a:ext>
              </a:extLst>
            </p:cNvPr>
            <p:cNvSpPr txBox="1">
              <a:spLocks noGrp="1" noRot="1" noMove="1" noResize="1" noEditPoints="1" noAdjustHandles="1" noChangeArrowheads="1" noChangeShapeType="1"/>
            </p:cNvSpPr>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a:extLst>
                <a:ext uri="{FF2B5EF4-FFF2-40B4-BE49-F238E27FC236}">
                  <a16:creationId xmlns:a16="http://schemas.microsoft.com/office/drawing/2014/main" id="{F4DF27D0-B85A-AA7B-8776-5DF0C55965B7}"/>
                </a:ext>
              </a:extLst>
            </p:cNvPr>
            <p:cNvSpPr txBox="1">
              <a:spLocks noGrp="1" noRot="1" noMove="1" noResize="1" noEditPoints="1" noAdjustHandles="1" noChangeArrowheads="1" noChangeShapeType="1"/>
            </p:cNvSpPr>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a:extLst>
                <a:ext uri="{FF2B5EF4-FFF2-40B4-BE49-F238E27FC236}">
                  <a16:creationId xmlns:a16="http://schemas.microsoft.com/office/drawing/2014/main" id="{4BA91F9F-F981-C019-D46E-F6A8EA9D2D17}"/>
                </a:ext>
              </a:extLst>
            </p:cNvPr>
            <p:cNvSpPr txBox="1">
              <a:spLocks noGrp="1" noRot="1" noMove="1" noResize="1" noEditPoints="1" noAdjustHandles="1" noChangeArrowheads="1" noChangeShapeType="1"/>
            </p:cNvSpPr>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a:extLst>
                <a:ext uri="{FF2B5EF4-FFF2-40B4-BE49-F238E27FC236}">
                  <a16:creationId xmlns:a16="http://schemas.microsoft.com/office/drawing/2014/main" id="{5535D5AB-039E-2F59-45DF-79C38CC03BC5}"/>
                </a:ext>
              </a:extLst>
            </p:cNvPr>
            <p:cNvGrpSpPr>
              <a:grpSpLocks noGrp="1" noUngrp="1" noRot="1" noMove="1" noResize="1"/>
            </p:cNvGrpSpPr>
            <p:nvPr/>
          </p:nvGrpSpPr>
          <p:grpSpPr>
            <a:xfrm>
              <a:off x="482833" y="399657"/>
              <a:ext cx="17349108" cy="9487687"/>
              <a:chOff x="0" y="0"/>
              <a:chExt cx="5293499" cy="2894850"/>
            </a:xfrm>
          </p:grpSpPr>
          <p:sp>
            <p:nvSpPr>
              <p:cNvPr id="7" name="Freeform 7">
                <a:extLst>
                  <a:ext uri="{FF2B5EF4-FFF2-40B4-BE49-F238E27FC236}">
                    <a16:creationId xmlns:a16="http://schemas.microsoft.com/office/drawing/2014/main" id="{C3F6A5B5-6080-836F-9B31-3C8188081A65}"/>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a:extLst>
                  <a:ext uri="{FF2B5EF4-FFF2-40B4-BE49-F238E27FC236}">
                    <a16:creationId xmlns:a16="http://schemas.microsoft.com/office/drawing/2014/main" id="{FE9417A6-0D6E-2E97-B46E-5B96EE50A6C3}"/>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a:extLst>
                <a:ext uri="{FF2B5EF4-FFF2-40B4-BE49-F238E27FC236}">
                  <a16:creationId xmlns:a16="http://schemas.microsoft.com/office/drawing/2014/main" id="{6D0DA113-72FD-55BA-BA29-5C767D93EE49}"/>
                </a:ext>
              </a:extLst>
            </p:cNvPr>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1" name="AutoShape 11">
              <a:extLst>
                <a:ext uri="{FF2B5EF4-FFF2-40B4-BE49-F238E27FC236}">
                  <a16:creationId xmlns:a16="http://schemas.microsoft.com/office/drawing/2014/main" id="{5A8B5072-B86C-0F35-E564-31E449A576D4}"/>
                </a:ext>
              </a:extLst>
            </p:cNvPr>
            <p:cNvSpPr>
              <a:spLocks noGrp="1" noRot="1" noMove="1" noResize="1" noEditPoints="1" noAdjustHandles="1" noChangeArrowheads="1" noChangeShapeType="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3" name="AutoShape 13">
              <a:extLst>
                <a:ext uri="{FF2B5EF4-FFF2-40B4-BE49-F238E27FC236}">
                  <a16:creationId xmlns:a16="http://schemas.microsoft.com/office/drawing/2014/main" id="{E2C71F36-ACF5-AB07-8615-0B1E7819E10D}"/>
                </a:ext>
              </a:extLst>
            </p:cNvPr>
            <p:cNvSpPr>
              <a:spLocks noGrp="1" noRot="1" noMove="1" noResize="1" noEditPoints="1" noAdjustHandles="1" noChangeArrowheads="1" noChangeShapeType="1"/>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pSp>
      <p:sp>
        <p:nvSpPr>
          <p:cNvPr id="10" name="Title 1">
            <a:extLst>
              <a:ext uri="{FF2B5EF4-FFF2-40B4-BE49-F238E27FC236}">
                <a16:creationId xmlns:a16="http://schemas.microsoft.com/office/drawing/2014/main" id="{1852E525-9BFA-594A-D1AF-CFD219FE1448}"/>
              </a:ext>
            </a:extLst>
          </p:cNvPr>
          <p:cNvSpPr>
            <a:spLocks noGrp="1"/>
          </p:cNvSpPr>
          <p:nvPr/>
        </p:nvSpPr>
        <p:spPr>
          <a:xfrm>
            <a:off x="1868225" y="6733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cs typeface="Times New Roman" panose="02020603050405020304" pitchFamily="18" charset="0"/>
              </a:rPr>
              <a:t>Thesis 2: Grid Modernisation &amp; Integration</a:t>
            </a:r>
          </a:p>
        </p:txBody>
      </p:sp>
      <p:sp>
        <p:nvSpPr>
          <p:cNvPr id="12" name="Title 1">
            <a:extLst>
              <a:ext uri="{FF2B5EF4-FFF2-40B4-BE49-F238E27FC236}">
                <a16:creationId xmlns:a16="http://schemas.microsoft.com/office/drawing/2014/main" id="{7F3308B4-2BB1-E2F3-CFB6-B476AAB45A2D}"/>
              </a:ext>
            </a:extLst>
          </p:cNvPr>
          <p:cNvSpPr txBox="1">
            <a:spLocks/>
          </p:cNvSpPr>
          <p:nvPr/>
        </p:nvSpPr>
        <p:spPr>
          <a:xfrm>
            <a:off x="1974940" y="1662321"/>
            <a:ext cx="1051560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400" dirty="0">
                <a:latin typeface="Times New Roman" panose="02020603050405020304" pitchFamily="18" charset="0"/>
                <a:cs typeface="Times New Roman" panose="02020603050405020304" pitchFamily="18" charset="0"/>
              </a:rPr>
              <a:t>U.S. strength growing into Global Opportunity </a:t>
            </a:r>
          </a:p>
        </p:txBody>
      </p:sp>
      <p:sp>
        <p:nvSpPr>
          <p:cNvPr id="16" name="TextBox 18">
            <a:extLst>
              <a:ext uri="{FF2B5EF4-FFF2-40B4-BE49-F238E27FC236}">
                <a16:creationId xmlns:a16="http://schemas.microsoft.com/office/drawing/2014/main" id="{32FA4B30-971E-D1EB-F0C7-9AD046B9FBC9}"/>
              </a:ext>
            </a:extLst>
          </p:cNvPr>
          <p:cNvSpPr txBox="1"/>
          <p:nvPr/>
        </p:nvSpPr>
        <p:spPr>
          <a:xfrm>
            <a:off x="2423162" y="2659639"/>
            <a:ext cx="8889474"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latin typeface="Times New Roman" panose="02020603050405020304" pitchFamily="18" charset="0"/>
                <a:cs typeface="Times New Roman" panose="02020603050405020304" pitchFamily="18" charset="0"/>
              </a:rPr>
              <a:t>Over 2,600 GW of generation + storage sit in U.S interconnection queues; 3x growth in 5 years</a:t>
            </a:r>
          </a:p>
        </p:txBody>
      </p:sp>
      <p:sp>
        <p:nvSpPr>
          <p:cNvPr id="30" name="TextBox 1">
            <a:extLst>
              <a:ext uri="{FF2B5EF4-FFF2-40B4-BE49-F238E27FC236}">
                <a16:creationId xmlns:a16="http://schemas.microsoft.com/office/drawing/2014/main" id="{9942F16F-0585-C494-5062-30C8E958D54B}"/>
              </a:ext>
            </a:extLst>
          </p:cNvPr>
          <p:cNvSpPr txBox="1"/>
          <p:nvPr/>
        </p:nvSpPr>
        <p:spPr>
          <a:xfrm>
            <a:off x="9372600" y="3192833"/>
            <a:ext cx="5632749" cy="206210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This represents a </a:t>
            </a:r>
            <a:r>
              <a:rPr lang="en-GB" sz="1600" b="1" dirty="0">
                <a:latin typeface="Times New Roman" panose="02020603050405020304" pitchFamily="18" charset="0"/>
                <a:cs typeface="Times New Roman" panose="02020603050405020304" pitchFamily="18" charset="0"/>
              </a:rPr>
              <a:t>3x increase in 5 </a:t>
            </a:r>
            <a:r>
              <a:rPr lang="en-GB" sz="1600" dirty="0">
                <a:latin typeface="Times New Roman" panose="02020603050405020304" pitchFamily="18" charset="0"/>
                <a:cs typeface="Times New Roman" panose="02020603050405020304" pitchFamily="18" charset="0"/>
              </a:rPr>
              <a:t>years, highlighting rapid renewable build-out potential</a:t>
            </a:r>
          </a:p>
          <a:p>
            <a:pPr marL="171450" indent="-171450" algn="l">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Solar &amp; storage account for &gt;80%</a:t>
            </a:r>
            <a:r>
              <a:rPr lang="en-GB" sz="1600" dirty="0">
                <a:latin typeface="Times New Roman" panose="02020603050405020304" pitchFamily="18" charset="0"/>
                <a:cs typeface="Times New Roman" panose="02020603050405020304" pitchFamily="18" charset="0"/>
              </a:rPr>
              <a:t> of this queued capacity </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This indicates that the </a:t>
            </a:r>
            <a:r>
              <a:rPr lang="en-GB" sz="1600" b="1" dirty="0">
                <a:latin typeface="Times New Roman" panose="02020603050405020304" pitchFamily="18" charset="0"/>
                <a:cs typeface="Times New Roman" panose="02020603050405020304" pitchFamily="18" charset="0"/>
              </a:rPr>
              <a:t>U.S. grid is testing ground</a:t>
            </a:r>
            <a:r>
              <a:rPr lang="en-GB" sz="1600" dirty="0">
                <a:latin typeface="Times New Roman" panose="02020603050405020304" pitchFamily="18" charset="0"/>
                <a:cs typeface="Times New Roman" panose="02020603050405020304" pitchFamily="18" charset="0"/>
              </a:rPr>
              <a:t> for next-generation distributed energy systems</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Implication for Enphase: </a:t>
            </a:r>
            <a:r>
              <a:rPr lang="en-GB" sz="1600" dirty="0">
                <a:latin typeface="Times New Roman" panose="02020603050405020304" pitchFamily="18" charset="0"/>
                <a:cs typeface="Times New Roman" panose="02020603050405020304" pitchFamily="18" charset="0"/>
              </a:rPr>
              <a:t>positions in microinverters &amp; storage systems are at the heart of this scaling trend, especially as utilities modernise interconnection &amp; grid management</a:t>
            </a:r>
            <a:endParaRPr lang="en-GB" sz="1600" dirty="0">
              <a:latin typeface="Times New Roman" panose="02020603050405020304" pitchFamily="18" charset="0"/>
              <a:ea typeface="Calibri"/>
              <a:cs typeface="Times New Roman" panose="02020603050405020304" pitchFamily="18" charset="0"/>
            </a:endParaRPr>
          </a:p>
        </p:txBody>
      </p:sp>
      <p:pic>
        <p:nvPicPr>
          <p:cNvPr id="31" name="Picture 8">
            <a:extLst>
              <a:ext uri="{FF2B5EF4-FFF2-40B4-BE49-F238E27FC236}">
                <a16:creationId xmlns:a16="http://schemas.microsoft.com/office/drawing/2014/main" id="{397E0BB0-EB48-6B57-45CC-892CB0B9AC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155" y="2624728"/>
            <a:ext cx="213293" cy="426585"/>
          </a:xfrm>
          <a:prstGeom prst="rect">
            <a:avLst/>
          </a:prstGeom>
          <a:noFill/>
          <a:extLst>
            <a:ext uri="{909E8E84-426E-40DD-AFC4-6F175D3DCCD1}">
              <a14:hiddenFill xmlns:a14="http://schemas.microsoft.com/office/drawing/2010/main">
                <a:solidFill>
                  <a:srgbClr val="FFFFFF"/>
                </a:solidFill>
              </a14:hiddenFill>
            </a:ext>
          </a:extLst>
        </p:spPr>
      </p:pic>
      <p:pic>
        <p:nvPicPr>
          <p:cNvPr id="4096" name="Picture 8">
            <a:extLst>
              <a:ext uri="{FF2B5EF4-FFF2-40B4-BE49-F238E27FC236}">
                <a16:creationId xmlns:a16="http://schemas.microsoft.com/office/drawing/2014/main" id="{C820D523-1D5F-2D9B-AD0E-4D64A297C2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155" y="6541101"/>
            <a:ext cx="213293" cy="426585"/>
          </a:xfrm>
          <a:prstGeom prst="rect">
            <a:avLst/>
          </a:prstGeom>
          <a:noFill/>
          <a:extLst>
            <a:ext uri="{909E8E84-426E-40DD-AFC4-6F175D3DCCD1}">
              <a14:hiddenFill xmlns:a14="http://schemas.microsoft.com/office/drawing/2010/main">
                <a:solidFill>
                  <a:srgbClr val="FFFFFF"/>
                </a:solidFill>
              </a14:hiddenFill>
            </a:ext>
          </a:extLst>
        </p:spPr>
      </p:pic>
      <p:sp>
        <p:nvSpPr>
          <p:cNvPr id="4097" name="TextBox 31">
            <a:extLst>
              <a:ext uri="{FF2B5EF4-FFF2-40B4-BE49-F238E27FC236}">
                <a16:creationId xmlns:a16="http://schemas.microsoft.com/office/drawing/2014/main" id="{C1F91D45-810C-AFA4-3A55-366FEE932A47}"/>
              </a:ext>
            </a:extLst>
          </p:cNvPr>
          <p:cNvSpPr txBox="1"/>
          <p:nvPr/>
        </p:nvSpPr>
        <p:spPr>
          <a:xfrm>
            <a:off x="2524835" y="6577155"/>
            <a:ext cx="8748884"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latin typeface="Times New Roman" panose="02020603050405020304" pitchFamily="18" charset="0"/>
                <a:cs typeface="Times New Roman" panose="02020603050405020304" pitchFamily="18" charset="0"/>
              </a:rPr>
              <a:t>Utilities are investing heavily in grid flexibility &amp; reliability to support decentralised systems</a:t>
            </a:r>
          </a:p>
        </p:txBody>
      </p:sp>
      <p:sp>
        <p:nvSpPr>
          <p:cNvPr id="4099" name="TextBox 32">
            <a:extLst>
              <a:ext uri="{FF2B5EF4-FFF2-40B4-BE49-F238E27FC236}">
                <a16:creationId xmlns:a16="http://schemas.microsoft.com/office/drawing/2014/main" id="{154A8133-94AB-C021-269E-A164916B4674}"/>
              </a:ext>
            </a:extLst>
          </p:cNvPr>
          <p:cNvSpPr txBox="1"/>
          <p:nvPr/>
        </p:nvSpPr>
        <p:spPr>
          <a:xfrm>
            <a:off x="2423162" y="7069024"/>
            <a:ext cx="12283438" cy="200054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$62.8 Bn</a:t>
            </a:r>
            <a:r>
              <a:rPr lang="en-GB" sz="1600" dirty="0">
                <a:latin typeface="Times New Roman" panose="02020603050405020304" pitchFamily="18" charset="0"/>
                <a:cs typeface="Times New Roman" panose="02020603050405020304" pitchFamily="18" charset="0"/>
              </a:rPr>
              <a:t> requested in grid-modernisation &amp; smart grid investments by the 50 largest U.S. investor –owned utilities (EEI, 2024)</a:t>
            </a:r>
          </a:p>
          <a:p>
            <a:pPr marL="171450" indent="-171450" algn="l">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Total utility </a:t>
            </a:r>
            <a:r>
              <a:rPr lang="en-GB" sz="1600" b="1" dirty="0" err="1">
                <a:latin typeface="Times New Roman" panose="02020603050405020304" pitchFamily="18" charset="0"/>
                <a:cs typeface="Times New Roman" panose="02020603050405020304" pitchFamily="18" charset="0"/>
              </a:rPr>
              <a:t>CapEx</a:t>
            </a:r>
            <a:r>
              <a:rPr lang="en-GB" sz="1600" b="1" dirty="0">
                <a:latin typeface="Times New Roman" panose="02020603050405020304" pitchFamily="18" charset="0"/>
                <a:cs typeface="Times New Roman" panose="02020603050405020304" pitchFamily="18" charset="0"/>
              </a:rPr>
              <a:t> projected at $1.4 Tn </a:t>
            </a:r>
            <a:r>
              <a:rPr lang="en-GB" sz="1600" dirty="0">
                <a:latin typeface="Times New Roman" panose="02020603050405020304" pitchFamily="18" charset="0"/>
                <a:cs typeface="Times New Roman" panose="02020603050405020304" pitchFamily="18" charset="0"/>
              </a:rPr>
              <a:t>(2025-2030) </a:t>
            </a:r>
            <a:r>
              <a:rPr lang="en-GB" sz="1600" b="1"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nearly </a:t>
            </a:r>
            <a:r>
              <a:rPr lang="en-GB" sz="1600" b="1" dirty="0">
                <a:latin typeface="Times New Roman" panose="02020603050405020304" pitchFamily="18" charset="0"/>
                <a:cs typeface="Times New Roman" panose="02020603050405020304" pitchFamily="18" charset="0"/>
              </a:rPr>
              <a:t>double</a:t>
            </a:r>
            <a:r>
              <a:rPr lang="en-GB" sz="1600" dirty="0">
                <a:latin typeface="Times New Roman" panose="02020603050405020304" pitchFamily="18" charset="0"/>
                <a:cs typeface="Times New Roman" panose="02020603050405020304" pitchFamily="18" charset="0"/>
              </a:rPr>
              <a:t> the previous decade</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Grid infrastructure spending up 220% since 2003</a:t>
            </a:r>
            <a:r>
              <a:rPr lang="en-GB" sz="1600" dirty="0">
                <a:latin typeface="Times New Roman" panose="02020603050405020304" pitchFamily="18" charset="0"/>
                <a:cs typeface="Times New Roman" panose="02020603050405020304" pitchFamily="18" charset="0"/>
              </a:rPr>
              <a:t>, with </a:t>
            </a:r>
            <a:r>
              <a:rPr lang="en-GB" sz="1600" b="1" dirty="0">
                <a:latin typeface="Times New Roman" panose="02020603050405020304" pitchFamily="18" charset="0"/>
                <a:cs typeface="Times New Roman" panose="02020603050405020304" pitchFamily="18" charset="0"/>
              </a:rPr>
              <a:t>$17.4 Bn </a:t>
            </a:r>
            <a:r>
              <a:rPr lang="en-GB" sz="1600" dirty="0">
                <a:latin typeface="Times New Roman" panose="02020603050405020304" pitchFamily="18" charset="0"/>
                <a:cs typeface="Times New Roman" panose="02020603050405020304" pitchFamily="18" charset="0"/>
              </a:rPr>
              <a:t>on overhead &amp; </a:t>
            </a:r>
            <a:r>
              <a:rPr lang="en-GB" sz="1600" b="1" dirty="0">
                <a:latin typeface="Times New Roman" panose="02020603050405020304" pitchFamily="18" charset="0"/>
                <a:cs typeface="Times New Roman" panose="02020603050405020304" pitchFamily="18" charset="0"/>
              </a:rPr>
              <a:t>$11.3 Bn</a:t>
            </a:r>
            <a:r>
              <a:rPr lang="en-GB" sz="1600" dirty="0">
                <a:latin typeface="Times New Roman" panose="02020603050405020304" pitchFamily="18" charset="0"/>
                <a:cs typeface="Times New Roman" panose="02020603050405020304" pitchFamily="18" charset="0"/>
              </a:rPr>
              <a:t> on underground systems</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endParaRPr lang="en-GB" sz="1600" dirty="0">
              <a:latin typeface="Times New Roman" panose="02020603050405020304" pitchFamily="18" charset="0"/>
              <a:cs typeface="Times New Roman" panose="02020603050405020304" pitchFamily="18" charset="0"/>
            </a:endParaRPr>
          </a:p>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Why it matters: utilities’ focus on flexibility, automation, &amp; decentralisation aligns directly with Enphase’s distributed energy model</a:t>
            </a:r>
            <a:endParaRPr lang="en-GB" sz="1600" dirty="0">
              <a:latin typeface="Times New Roman" panose="02020603050405020304" pitchFamily="18" charset="0"/>
              <a:ea typeface="Calibri"/>
              <a:cs typeface="Times New Roman" panose="02020603050405020304" pitchFamily="18" charset="0"/>
            </a:endParaRPr>
          </a:p>
          <a:p>
            <a:pPr algn="l"/>
            <a:r>
              <a:rPr lang="en-GB" sz="1600" dirty="0">
                <a:latin typeface="Times New Roman" panose="02020603050405020304" pitchFamily="18" charset="0"/>
                <a:cs typeface="Times New Roman" panose="02020603050405020304" pitchFamily="18" charset="0"/>
              </a:rPr>
              <a:t>      - Grid modernisation = increased interoperability with home batteries, VPPs, &amp; smart inverters</a:t>
            </a:r>
            <a:endParaRPr lang="en-GB" sz="1600" dirty="0">
              <a:latin typeface="Times New Roman" panose="02020603050405020304" pitchFamily="18" charset="0"/>
              <a:ea typeface="Calibri"/>
              <a:cs typeface="Times New Roman" panose="02020603050405020304" pitchFamily="18" charset="0"/>
            </a:endParaRPr>
          </a:p>
          <a:p>
            <a:pPr algn="l"/>
            <a:r>
              <a:rPr lang="en-GB" sz="1600" dirty="0">
                <a:latin typeface="Times New Roman" panose="02020603050405020304" pitchFamily="18" charset="0"/>
                <a:cs typeface="Times New Roman" panose="02020603050405020304" pitchFamily="18" charset="0"/>
              </a:rPr>
              <a:t>      - Enphase’s U.S. leadership gives it a proven blueprint</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endParaRPr lang="en-GB" sz="1200" dirty="0">
              <a:latin typeface="Times New Roman" panose="02020603050405020304" pitchFamily="18" charset="0"/>
              <a:cs typeface="Times New Roman" panose="02020603050405020304" pitchFamily="18" charset="0"/>
            </a:endParaRPr>
          </a:p>
        </p:txBody>
      </p:sp>
      <p:graphicFrame>
        <p:nvGraphicFramePr>
          <p:cNvPr id="17" name="Chart 16">
            <a:extLst>
              <a:ext uri="{FF2B5EF4-FFF2-40B4-BE49-F238E27FC236}">
                <a16:creationId xmlns:a16="http://schemas.microsoft.com/office/drawing/2014/main" id="{57E2B9C5-9219-D239-DFB7-0FA86D60BD80}"/>
              </a:ext>
            </a:extLst>
          </p:cNvPr>
          <p:cNvGraphicFramePr>
            <a:graphicFrameLocks/>
          </p:cNvGraphicFramePr>
          <p:nvPr>
            <p:extLst>
              <p:ext uri="{D42A27DB-BD31-4B8C-83A1-F6EECF244321}">
                <p14:modId xmlns:p14="http://schemas.microsoft.com/office/powerpoint/2010/main" val="1686700829"/>
              </p:ext>
            </p:extLst>
          </p:nvPr>
        </p:nvGraphicFramePr>
        <p:xfrm>
          <a:off x="2062469" y="2987884"/>
          <a:ext cx="7094918" cy="3500097"/>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49">
            <a:extLst>
              <a:ext uri="{FF2B5EF4-FFF2-40B4-BE49-F238E27FC236}">
                <a16:creationId xmlns:a16="http://schemas.microsoft.com/office/drawing/2014/main" id="{83AD5E6C-DDBB-F2C7-AA3F-61D3BB70CE87}"/>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3709098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F3FE35FF-8C64-0ADF-9C40-23C380A895CD}"/>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E6EB0DC9-3422-A94C-5EE0-371D836F9771}"/>
              </a:ext>
            </a:extLst>
          </p:cNvPr>
          <p:cNvGrpSpPr>
            <a:grpSpLocks noGrp="1" noUngrp="1" noRot="1" noMove="1" noResize="1"/>
          </p:cNvGrpSpPr>
          <p:nvPr/>
        </p:nvGrpSpPr>
        <p:grpSpPr>
          <a:xfrm>
            <a:off x="482833" y="399657"/>
            <a:ext cx="17349108" cy="9487687"/>
            <a:chOff x="482833" y="399657"/>
            <a:chExt cx="17349108" cy="9487687"/>
          </a:xfrm>
        </p:grpSpPr>
        <p:sp>
          <p:nvSpPr>
            <p:cNvPr id="2" name="Freeform 2">
              <a:extLst>
                <a:ext uri="{FF2B5EF4-FFF2-40B4-BE49-F238E27FC236}">
                  <a16:creationId xmlns:a16="http://schemas.microsoft.com/office/drawing/2014/main" id="{39C1EC92-18C8-B96F-8CF7-D24099EB4A0F}"/>
                </a:ext>
              </a:extLst>
            </p:cNvPr>
            <p:cNvSpPr>
              <a:spLocks noGrp="1" noRot="1" noMove="1" noResize="1" noEditPoints="1" noAdjustHandles="1" noChangeArrowheads="1" noChangeShapeType="1"/>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a:extLst>
                <a:ext uri="{FF2B5EF4-FFF2-40B4-BE49-F238E27FC236}">
                  <a16:creationId xmlns:a16="http://schemas.microsoft.com/office/drawing/2014/main" id="{56614FEA-E3BE-6667-7D2E-BBD9836AEA8D}"/>
                </a:ext>
              </a:extLst>
            </p:cNvPr>
            <p:cNvSpPr txBox="1">
              <a:spLocks noGrp="1" noRot="1" noMove="1" noResize="1" noEditPoints="1" noAdjustHandles="1" noChangeArrowheads="1" noChangeShapeType="1"/>
            </p:cNvSpPr>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a:extLst>
                <a:ext uri="{FF2B5EF4-FFF2-40B4-BE49-F238E27FC236}">
                  <a16:creationId xmlns:a16="http://schemas.microsoft.com/office/drawing/2014/main" id="{9E5212E2-494C-B1AB-24C5-25013B62AC33}"/>
                </a:ext>
              </a:extLst>
            </p:cNvPr>
            <p:cNvSpPr txBox="1">
              <a:spLocks noGrp="1" noRot="1" noMove="1" noResize="1" noEditPoints="1" noAdjustHandles="1" noChangeArrowheads="1" noChangeShapeType="1"/>
            </p:cNvSpPr>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a:extLst>
                <a:ext uri="{FF2B5EF4-FFF2-40B4-BE49-F238E27FC236}">
                  <a16:creationId xmlns:a16="http://schemas.microsoft.com/office/drawing/2014/main" id="{E3084CF5-E7BD-920C-079E-394621B296EB}"/>
                </a:ext>
              </a:extLst>
            </p:cNvPr>
            <p:cNvSpPr txBox="1">
              <a:spLocks noGrp="1" noRot="1" noMove="1" noResize="1" noEditPoints="1" noAdjustHandles="1" noChangeArrowheads="1" noChangeShapeType="1"/>
            </p:cNvSpPr>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a:extLst>
                <a:ext uri="{FF2B5EF4-FFF2-40B4-BE49-F238E27FC236}">
                  <a16:creationId xmlns:a16="http://schemas.microsoft.com/office/drawing/2014/main" id="{A90C0E49-4B9D-1122-8BD0-259D9CC91877}"/>
                </a:ext>
              </a:extLst>
            </p:cNvPr>
            <p:cNvGrpSpPr>
              <a:grpSpLocks noGrp="1" noUngrp="1" noRot="1" noMove="1" noResize="1"/>
            </p:cNvGrpSpPr>
            <p:nvPr/>
          </p:nvGrpSpPr>
          <p:grpSpPr>
            <a:xfrm>
              <a:off x="482833" y="399657"/>
              <a:ext cx="17349108" cy="9487687"/>
              <a:chOff x="0" y="0"/>
              <a:chExt cx="5293499" cy="2894850"/>
            </a:xfrm>
          </p:grpSpPr>
          <p:sp>
            <p:nvSpPr>
              <p:cNvPr id="7" name="Freeform 7">
                <a:extLst>
                  <a:ext uri="{FF2B5EF4-FFF2-40B4-BE49-F238E27FC236}">
                    <a16:creationId xmlns:a16="http://schemas.microsoft.com/office/drawing/2014/main" id="{28808711-EF4F-731D-F001-72063338E6D0}"/>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a:extLst>
                  <a:ext uri="{FF2B5EF4-FFF2-40B4-BE49-F238E27FC236}">
                    <a16:creationId xmlns:a16="http://schemas.microsoft.com/office/drawing/2014/main" id="{768D4F84-1466-6C41-BC90-B925DA427C55}"/>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a:extLst>
                <a:ext uri="{FF2B5EF4-FFF2-40B4-BE49-F238E27FC236}">
                  <a16:creationId xmlns:a16="http://schemas.microsoft.com/office/drawing/2014/main" id="{6F6A177E-B682-BAFD-17DD-A19687B1AF77}"/>
                </a:ext>
              </a:extLst>
            </p:cNvPr>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1" name="AutoShape 11">
              <a:extLst>
                <a:ext uri="{FF2B5EF4-FFF2-40B4-BE49-F238E27FC236}">
                  <a16:creationId xmlns:a16="http://schemas.microsoft.com/office/drawing/2014/main" id="{AD00FD38-C5D9-5214-A5AC-BD6F78B51C0C}"/>
                </a:ext>
              </a:extLst>
            </p:cNvPr>
            <p:cNvSpPr>
              <a:spLocks noGrp="1" noRot="1" noMove="1" noResize="1" noEditPoints="1" noAdjustHandles="1" noChangeArrowheads="1" noChangeShapeType="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3" name="AutoShape 13">
              <a:extLst>
                <a:ext uri="{FF2B5EF4-FFF2-40B4-BE49-F238E27FC236}">
                  <a16:creationId xmlns:a16="http://schemas.microsoft.com/office/drawing/2014/main" id="{C83BC6A8-805E-DD70-CC90-42FD41F566CB}"/>
                </a:ext>
              </a:extLst>
            </p:cNvPr>
            <p:cNvSpPr>
              <a:spLocks noGrp="1" noRot="1" noMove="1" noResize="1" noEditPoints="1" noAdjustHandles="1" noChangeArrowheads="1" noChangeShapeType="1"/>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pSp>
      <p:sp>
        <p:nvSpPr>
          <p:cNvPr id="10" name="Title 1">
            <a:extLst>
              <a:ext uri="{FF2B5EF4-FFF2-40B4-BE49-F238E27FC236}">
                <a16:creationId xmlns:a16="http://schemas.microsoft.com/office/drawing/2014/main" id="{A5C0DAC8-9E9E-AB29-CC0E-E5CEF6556C91}"/>
              </a:ext>
            </a:extLst>
          </p:cNvPr>
          <p:cNvSpPr>
            <a:spLocks noGrp="1"/>
          </p:cNvSpPr>
          <p:nvPr/>
        </p:nvSpPr>
        <p:spPr>
          <a:xfrm>
            <a:off x="1868225" y="6733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cs typeface="Times New Roman" panose="02020603050405020304" pitchFamily="18" charset="0"/>
              </a:rPr>
              <a:t>Thesis 2: Grid Modernisation &amp; Integration</a:t>
            </a:r>
          </a:p>
        </p:txBody>
      </p:sp>
      <p:sp>
        <p:nvSpPr>
          <p:cNvPr id="15" name="TextBox 1">
            <a:extLst>
              <a:ext uri="{FF2B5EF4-FFF2-40B4-BE49-F238E27FC236}">
                <a16:creationId xmlns:a16="http://schemas.microsoft.com/office/drawing/2014/main" id="{5CDAE547-DC17-3690-DFFE-56930CEAC080}"/>
              </a:ext>
            </a:extLst>
          </p:cNvPr>
          <p:cNvSpPr txBox="1"/>
          <p:nvPr/>
        </p:nvSpPr>
        <p:spPr>
          <a:xfrm>
            <a:off x="10935955" y="2126941"/>
            <a:ext cx="4278660" cy="523220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Solar + storage LCOE continues to decline</a:t>
            </a:r>
            <a:r>
              <a:rPr lang="en-GB" sz="1600" dirty="0">
                <a:latin typeface="Times New Roman" panose="02020603050405020304" pitchFamily="18" charset="0"/>
                <a:cs typeface="Times New Roman" panose="02020603050405020304" pitchFamily="18" charset="0"/>
              </a:rPr>
              <a:t>, widening its cost gap over gas and nuclear (even before incentives)</a:t>
            </a:r>
          </a:p>
          <a:p>
            <a:pPr marL="171450" indent="-171450" algn="l">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IRA-driven cost advantages </a:t>
            </a:r>
            <a:r>
              <a:rPr lang="en-GB" sz="1600" dirty="0">
                <a:latin typeface="Times New Roman" panose="02020603050405020304" pitchFamily="18" charset="0"/>
                <a:cs typeface="Times New Roman" panose="02020603050405020304" pitchFamily="18" charset="0"/>
              </a:rPr>
              <a:t>and domestic manufacturing scale created exportable cost leadership for U.S. companies like Enphase</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As a result, </a:t>
            </a:r>
            <a:r>
              <a:rPr lang="en-GB" sz="1600" b="1" dirty="0">
                <a:latin typeface="Times New Roman" panose="02020603050405020304" pitchFamily="18" charset="0"/>
                <a:cs typeface="Times New Roman" panose="02020603050405020304" pitchFamily="18" charset="0"/>
              </a:rPr>
              <a:t>distributed solar became the backbones of smart grids</a:t>
            </a:r>
            <a:r>
              <a:rPr lang="en-GB" sz="1600" dirty="0">
                <a:latin typeface="Times New Roman" panose="02020603050405020304" pitchFamily="18" charset="0"/>
                <a:cs typeface="Times New Roman" panose="02020603050405020304" pitchFamily="18" charset="0"/>
              </a:rPr>
              <a:t> globally (due to it being flexible, resilient, and low-cost)</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endParaRPr lang="en-GB" sz="1600" dirty="0">
              <a:latin typeface="Times New Roman" panose="02020603050405020304" pitchFamily="18" charset="0"/>
              <a:cs typeface="Times New Roman" panose="02020603050405020304" pitchFamily="18" charset="0"/>
            </a:endParaRPr>
          </a:p>
          <a:p>
            <a:pPr algn="l"/>
            <a:r>
              <a:rPr lang="en-GB" sz="1600" b="1" dirty="0">
                <a:latin typeface="Times New Roman" panose="02020603050405020304" pitchFamily="18" charset="0"/>
                <a:cs typeface="Times New Roman" panose="02020603050405020304" pitchFamily="18" charset="0"/>
              </a:rPr>
              <a:t>Enphase’s opportunity:</a:t>
            </a:r>
            <a:endParaRPr lang="en-GB" sz="1600" b="1"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Leverage U.S. technology credibility</a:t>
            </a:r>
            <a:r>
              <a:rPr lang="en-GB" sz="1600" dirty="0">
                <a:latin typeface="Times New Roman" panose="02020603050405020304" pitchFamily="18" charset="0"/>
                <a:cs typeface="Times New Roman" panose="02020603050405020304" pitchFamily="18" charset="0"/>
              </a:rPr>
              <a:t> to expand into Europe (Germany, France, Spain) &amp; Asia-Pacific (Australia, Japan)</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Localised product launches (IQ Battery 5P, IQ EV charger 2) demonstrate its ability to adapt to regional markets</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Software &amp; VPP capabilities </a:t>
            </a:r>
            <a:r>
              <a:rPr lang="en-GB" sz="1600" dirty="0">
                <a:latin typeface="Times New Roman" panose="02020603050405020304" pitchFamily="18" charset="0"/>
                <a:cs typeface="Times New Roman" panose="02020603050405020304" pitchFamily="18" charset="0"/>
              </a:rPr>
              <a:t>offer scalable recurring-revenue models as utilities worldwide adopt similar decentralised frameworks</a:t>
            </a:r>
            <a:endParaRPr lang="en-GB" sz="1600" b="1" dirty="0">
              <a:latin typeface="Times New Roman" panose="02020603050405020304" pitchFamily="18" charset="0"/>
              <a:cs typeface="Times New Roman" panose="02020603050405020304" pitchFamily="18" charset="0"/>
            </a:endParaRPr>
          </a:p>
          <a:p>
            <a:pPr marL="171450" indent="-171450" algn="l">
              <a:buFont typeface="Arial" panose="020B0604020202020204" pitchFamily="34" charset="0"/>
              <a:buChar char="•"/>
            </a:pPr>
            <a:endParaRPr lang="en-GB" sz="1400"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7AA1C8B6-3056-6FF1-617C-5E17D0DB1789}"/>
              </a:ext>
            </a:extLst>
          </p:cNvPr>
          <p:cNvPicPr>
            <a:picLocks noChangeAspect="1"/>
          </p:cNvPicPr>
          <p:nvPr/>
        </p:nvPicPr>
        <p:blipFill>
          <a:blip r:embed="rId3"/>
          <a:stretch>
            <a:fillRect/>
          </a:stretch>
        </p:blipFill>
        <p:spPr>
          <a:xfrm>
            <a:off x="1625279" y="2126941"/>
            <a:ext cx="9157021" cy="5302557"/>
          </a:xfrm>
          <a:prstGeom prst="rect">
            <a:avLst/>
          </a:prstGeom>
        </p:spPr>
      </p:pic>
      <p:sp>
        <p:nvSpPr>
          <p:cNvPr id="20" name="TextBox 8">
            <a:extLst>
              <a:ext uri="{FF2B5EF4-FFF2-40B4-BE49-F238E27FC236}">
                <a16:creationId xmlns:a16="http://schemas.microsoft.com/office/drawing/2014/main" id="{24959484-7A19-B026-D40F-B80F55BA9342}"/>
              </a:ext>
            </a:extLst>
          </p:cNvPr>
          <p:cNvSpPr txBox="1"/>
          <p:nvPr/>
        </p:nvSpPr>
        <p:spPr>
          <a:xfrm>
            <a:off x="1868225" y="7574490"/>
            <a:ext cx="8255097"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latin typeface="Times New Roman" panose="02020603050405020304" pitchFamily="18" charset="0"/>
                <a:cs typeface="Times New Roman" panose="02020603050405020304" pitchFamily="18" charset="0"/>
              </a:rPr>
              <a:t>The U.S. grid’s transition toward decentralisation is both a stress test &amp; blueprint for the world. Enphase’s proven integration of solar, storage, &amp; grid-interactive technologies positions it to export its model globally – from regulatory partnerships to VPP-enabled smart energy systems</a:t>
            </a:r>
          </a:p>
        </p:txBody>
      </p:sp>
      <p:sp>
        <p:nvSpPr>
          <p:cNvPr id="16" name="TextBox 49">
            <a:extLst>
              <a:ext uri="{FF2B5EF4-FFF2-40B4-BE49-F238E27FC236}">
                <a16:creationId xmlns:a16="http://schemas.microsoft.com/office/drawing/2014/main" id="{05D29763-D5AE-6385-39D9-121E12265105}"/>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256620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DF98EEB8-04E5-9A99-C9A9-E20C27C802F3}"/>
              </a:ext>
            </a:extLst>
          </p:cNvPr>
          <p:cNvGrpSpPr>
            <a:grpSpLocks noGrp="1" noUngrp="1" noRot="1" noMove="1" noResize="1"/>
          </p:cNvGrpSpPr>
          <p:nvPr/>
        </p:nvGrpSpPr>
        <p:grpSpPr>
          <a:xfrm>
            <a:off x="482833" y="399657"/>
            <a:ext cx="17349108" cy="9487687"/>
            <a:chOff x="482833" y="399657"/>
            <a:chExt cx="17349108" cy="9487687"/>
          </a:xfrm>
        </p:grpSpPr>
        <p:sp>
          <p:nvSpPr>
            <p:cNvPr id="2" name="Freeform 2">
              <a:extLst>
                <a:ext uri="{FF2B5EF4-FFF2-40B4-BE49-F238E27FC236}">
                  <a16:creationId xmlns:a16="http://schemas.microsoft.com/office/drawing/2014/main" id="{1DC84942-76B4-4ECA-52F1-6C3E745DB165}"/>
                </a:ext>
              </a:extLst>
            </p:cNvPr>
            <p:cNvSpPr>
              <a:spLocks noGrp="1" noRot="1" noMove="1" noResize="1" noEditPoints="1" noAdjustHandles="1" noChangeArrowheads="1" noChangeShapeType="1"/>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a:extLst>
                <a:ext uri="{FF2B5EF4-FFF2-40B4-BE49-F238E27FC236}">
                  <a16:creationId xmlns:a16="http://schemas.microsoft.com/office/drawing/2014/main" id="{6F0D1B2D-3C71-0BEA-E15A-B47E5932041D}"/>
                </a:ext>
              </a:extLst>
            </p:cNvPr>
            <p:cNvSpPr txBox="1">
              <a:spLocks noGrp="1" noRot="1" noMove="1" noResize="1" noEditPoints="1" noAdjustHandles="1" noChangeArrowheads="1" noChangeShapeType="1"/>
            </p:cNvSpPr>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a:extLst>
                <a:ext uri="{FF2B5EF4-FFF2-40B4-BE49-F238E27FC236}">
                  <a16:creationId xmlns:a16="http://schemas.microsoft.com/office/drawing/2014/main" id="{C3671BAB-ED7D-1440-68A0-795A9CE9C7FD}"/>
                </a:ext>
              </a:extLst>
            </p:cNvPr>
            <p:cNvSpPr txBox="1">
              <a:spLocks noGrp="1" noRot="1" noMove="1" noResize="1" noEditPoints="1" noAdjustHandles="1" noChangeArrowheads="1" noChangeShapeType="1"/>
            </p:cNvSpPr>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a:extLst>
                <a:ext uri="{FF2B5EF4-FFF2-40B4-BE49-F238E27FC236}">
                  <a16:creationId xmlns:a16="http://schemas.microsoft.com/office/drawing/2014/main" id="{02BC7D55-03B9-EA7E-CACC-ED988C38195C}"/>
                </a:ext>
              </a:extLst>
            </p:cNvPr>
            <p:cNvSpPr txBox="1">
              <a:spLocks noGrp="1" noRot="1" noMove="1" noResize="1" noEditPoints="1" noAdjustHandles="1" noChangeArrowheads="1" noChangeShapeType="1"/>
            </p:cNvSpPr>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a:extLst>
                <a:ext uri="{FF2B5EF4-FFF2-40B4-BE49-F238E27FC236}">
                  <a16:creationId xmlns:a16="http://schemas.microsoft.com/office/drawing/2014/main" id="{9C99C49B-AD80-C2ED-E557-000839355894}"/>
                </a:ext>
              </a:extLst>
            </p:cNvPr>
            <p:cNvGrpSpPr>
              <a:grpSpLocks noGrp="1" noUngrp="1" noRot="1" noMove="1" noResize="1"/>
            </p:cNvGrpSpPr>
            <p:nvPr/>
          </p:nvGrpSpPr>
          <p:grpSpPr>
            <a:xfrm>
              <a:off x="482833" y="399657"/>
              <a:ext cx="17349108" cy="9487687"/>
              <a:chOff x="0" y="0"/>
              <a:chExt cx="5293499" cy="2894850"/>
            </a:xfrm>
          </p:grpSpPr>
          <p:sp>
            <p:nvSpPr>
              <p:cNvPr id="7" name="Freeform 7">
                <a:extLst>
                  <a:ext uri="{FF2B5EF4-FFF2-40B4-BE49-F238E27FC236}">
                    <a16:creationId xmlns:a16="http://schemas.microsoft.com/office/drawing/2014/main" id="{1F1A3DCC-56DA-0BA0-3A81-7B57303303D9}"/>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a:extLst>
                  <a:ext uri="{FF2B5EF4-FFF2-40B4-BE49-F238E27FC236}">
                    <a16:creationId xmlns:a16="http://schemas.microsoft.com/office/drawing/2014/main" id="{27C81E5F-28B0-5E10-A55C-E891F2E6B868}"/>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a:extLst>
                <a:ext uri="{FF2B5EF4-FFF2-40B4-BE49-F238E27FC236}">
                  <a16:creationId xmlns:a16="http://schemas.microsoft.com/office/drawing/2014/main" id="{C73D35C7-ED3B-3162-B209-EBE9B07635CC}"/>
                </a:ext>
              </a:extLst>
            </p:cNvPr>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1" name="AutoShape 11">
              <a:extLst>
                <a:ext uri="{FF2B5EF4-FFF2-40B4-BE49-F238E27FC236}">
                  <a16:creationId xmlns:a16="http://schemas.microsoft.com/office/drawing/2014/main" id="{A93C58D6-21DC-A913-4A3C-16BC4E13DDA9}"/>
                </a:ext>
              </a:extLst>
            </p:cNvPr>
            <p:cNvSpPr>
              <a:spLocks noGrp="1" noRot="1" noMove="1" noResize="1" noEditPoints="1" noAdjustHandles="1" noChangeArrowheads="1" noChangeShapeType="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3" name="AutoShape 13">
              <a:extLst>
                <a:ext uri="{FF2B5EF4-FFF2-40B4-BE49-F238E27FC236}">
                  <a16:creationId xmlns:a16="http://schemas.microsoft.com/office/drawing/2014/main" id="{4482ADF7-246E-F98F-F194-F7BB8008351E}"/>
                </a:ext>
              </a:extLst>
            </p:cNvPr>
            <p:cNvSpPr>
              <a:spLocks noGrp="1" noRot="1" noMove="1" noResize="1" noEditPoints="1" noAdjustHandles="1" noChangeArrowheads="1" noChangeShapeType="1"/>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pSp>
      <p:sp>
        <p:nvSpPr>
          <p:cNvPr id="15" name="Title 1">
            <a:extLst>
              <a:ext uri="{FF2B5EF4-FFF2-40B4-BE49-F238E27FC236}">
                <a16:creationId xmlns:a16="http://schemas.microsoft.com/office/drawing/2014/main" id="{E0E43686-3634-56F9-59D8-C5A26B9EE046}"/>
              </a:ext>
            </a:extLst>
          </p:cNvPr>
          <p:cNvSpPr>
            <a:spLocks noGrp="1"/>
          </p:cNvSpPr>
          <p:nvPr/>
        </p:nvSpPr>
        <p:spPr>
          <a:xfrm>
            <a:off x="1868226" y="76805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cs typeface="Times New Roman" panose="02020603050405020304" pitchFamily="18" charset="0"/>
              </a:rPr>
              <a:t>Thesis 3: Shift toward European markets</a:t>
            </a:r>
          </a:p>
        </p:txBody>
      </p:sp>
      <p:sp>
        <p:nvSpPr>
          <p:cNvPr id="17" name="Title 1">
            <a:extLst>
              <a:ext uri="{FF2B5EF4-FFF2-40B4-BE49-F238E27FC236}">
                <a16:creationId xmlns:a16="http://schemas.microsoft.com/office/drawing/2014/main" id="{D00F45C3-13E3-CABB-6389-93E73606CE88}"/>
              </a:ext>
            </a:extLst>
          </p:cNvPr>
          <p:cNvSpPr txBox="1">
            <a:spLocks/>
          </p:cNvSpPr>
          <p:nvPr/>
        </p:nvSpPr>
        <p:spPr>
          <a:xfrm>
            <a:off x="1881673" y="1661109"/>
            <a:ext cx="11033816"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400" dirty="0">
                <a:latin typeface="Times New Roman" panose="02020603050405020304" pitchFamily="18" charset="0"/>
                <a:cs typeface="Times New Roman" panose="02020603050405020304" pitchFamily="18" charset="0"/>
              </a:rPr>
              <a:t>Geopolitical tension &amp; grid instability accelerate Europe’s renewable self-sufficiency</a:t>
            </a:r>
          </a:p>
        </p:txBody>
      </p:sp>
      <p:pic>
        <p:nvPicPr>
          <p:cNvPr id="16" name="Picture 15">
            <a:extLst>
              <a:ext uri="{FF2B5EF4-FFF2-40B4-BE49-F238E27FC236}">
                <a16:creationId xmlns:a16="http://schemas.microsoft.com/office/drawing/2014/main" id="{25A7FF84-6DEE-9C38-AE27-EBE5EF330815}"/>
              </a:ext>
            </a:extLst>
          </p:cNvPr>
          <p:cNvPicPr>
            <a:picLocks noChangeAspect="1"/>
          </p:cNvPicPr>
          <p:nvPr/>
        </p:nvPicPr>
        <p:blipFill>
          <a:blip r:embed="rId3"/>
          <a:stretch>
            <a:fillRect/>
          </a:stretch>
        </p:blipFill>
        <p:spPr>
          <a:xfrm>
            <a:off x="8691159" y="5679836"/>
            <a:ext cx="2178291" cy="2335488"/>
          </a:xfrm>
          <a:prstGeom prst="rect">
            <a:avLst/>
          </a:prstGeom>
        </p:spPr>
      </p:pic>
      <p:pic>
        <p:nvPicPr>
          <p:cNvPr id="33" name="Picture 32">
            <a:extLst>
              <a:ext uri="{FF2B5EF4-FFF2-40B4-BE49-F238E27FC236}">
                <a16:creationId xmlns:a16="http://schemas.microsoft.com/office/drawing/2014/main" id="{08B9F826-CF84-825B-0AD0-64ADA4E80D2C}"/>
              </a:ext>
            </a:extLst>
          </p:cNvPr>
          <p:cNvPicPr>
            <a:picLocks noChangeAspect="1"/>
          </p:cNvPicPr>
          <p:nvPr/>
        </p:nvPicPr>
        <p:blipFill>
          <a:blip r:embed="rId4"/>
          <a:stretch>
            <a:fillRect/>
          </a:stretch>
        </p:blipFill>
        <p:spPr>
          <a:xfrm>
            <a:off x="11228264" y="5841624"/>
            <a:ext cx="3999458" cy="2689731"/>
          </a:xfrm>
          <a:prstGeom prst="rect">
            <a:avLst/>
          </a:prstGeom>
        </p:spPr>
      </p:pic>
      <p:pic>
        <p:nvPicPr>
          <p:cNvPr id="2050" name="Picture 2" descr="A map of the united states&#10;&#10;Description automatically generated">
            <a:extLst>
              <a:ext uri="{FF2B5EF4-FFF2-40B4-BE49-F238E27FC236}">
                <a16:creationId xmlns:a16="http://schemas.microsoft.com/office/drawing/2014/main" id="{06320E40-21BF-9DBC-0E6A-88019A56E7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78422" y="2714082"/>
            <a:ext cx="4117393" cy="27792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DC0651E1-7E5E-E4CF-AFA6-92C2EEDB7E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6511" y="2773133"/>
            <a:ext cx="213293" cy="42658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21">
            <a:extLst>
              <a:ext uri="{FF2B5EF4-FFF2-40B4-BE49-F238E27FC236}">
                <a16:creationId xmlns:a16="http://schemas.microsoft.com/office/drawing/2014/main" id="{205BC8A4-0E72-DC43-E294-A7CEE040BEF5}"/>
              </a:ext>
            </a:extLst>
          </p:cNvPr>
          <p:cNvSpPr txBox="1"/>
          <p:nvPr/>
        </p:nvSpPr>
        <p:spPr>
          <a:xfrm>
            <a:off x="2330927" y="2817395"/>
            <a:ext cx="8240573"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latin typeface="Times New Roman" panose="02020603050405020304" pitchFamily="18" charset="0"/>
                <a:cs typeface="Times New Roman" panose="02020603050405020304" pitchFamily="18" charset="0"/>
              </a:rPr>
              <a:t>Spain’s &gt;40% renewable share &amp; April 2025 blackout revealed weak storage &amp; grid stability…</a:t>
            </a:r>
          </a:p>
        </p:txBody>
      </p:sp>
      <p:sp>
        <p:nvSpPr>
          <p:cNvPr id="32" name="TextBox 1">
            <a:extLst>
              <a:ext uri="{FF2B5EF4-FFF2-40B4-BE49-F238E27FC236}">
                <a16:creationId xmlns:a16="http://schemas.microsoft.com/office/drawing/2014/main" id="{C8E62B4D-1374-DE14-A17A-9401F3A53E67}"/>
              </a:ext>
            </a:extLst>
          </p:cNvPr>
          <p:cNvSpPr txBox="1"/>
          <p:nvPr/>
        </p:nvSpPr>
        <p:spPr>
          <a:xfrm>
            <a:off x="1881673" y="3430854"/>
            <a:ext cx="7976908" cy="156966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This highlighted </a:t>
            </a:r>
            <a:r>
              <a:rPr lang="en-GB" sz="1600" b="1" dirty="0">
                <a:latin typeface="Times New Roman" panose="02020603050405020304" pitchFamily="18" charset="0"/>
                <a:cs typeface="Times New Roman" panose="02020603050405020304" pitchFamily="18" charset="0"/>
              </a:rPr>
              <a:t>Europe’s lack of grid-balancing capacity</a:t>
            </a:r>
            <a:r>
              <a:rPr lang="en-GB" sz="1600" dirty="0">
                <a:latin typeface="Times New Roman" panose="02020603050405020304" pitchFamily="18" charset="0"/>
                <a:cs typeface="Times New Roman" panose="02020603050405020304" pitchFamily="18" charset="0"/>
              </a:rPr>
              <a:t> despite high renewable penetration</a:t>
            </a:r>
          </a:p>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With renewables now exceeding </a:t>
            </a:r>
            <a:r>
              <a:rPr lang="en-GB" sz="1600" b="1" dirty="0">
                <a:latin typeface="Times New Roman" panose="02020603050405020304" pitchFamily="18" charset="0"/>
                <a:cs typeface="Times New Roman" panose="02020603050405020304" pitchFamily="18" charset="0"/>
              </a:rPr>
              <a:t>40% of total generation</a:t>
            </a:r>
            <a:r>
              <a:rPr lang="en-GB" sz="1600" dirty="0">
                <a:latin typeface="Times New Roman" panose="02020603050405020304" pitchFamily="18" charset="0"/>
                <a:cs typeface="Times New Roman" panose="02020603050405020304" pitchFamily="18" charset="0"/>
              </a:rPr>
              <a:t>, Spain exemplifies a </a:t>
            </a:r>
            <a:r>
              <a:rPr lang="en-GB" sz="1600" b="1" dirty="0">
                <a:latin typeface="Times New Roman" panose="02020603050405020304" pitchFamily="18" charset="0"/>
                <a:cs typeface="Times New Roman" panose="02020603050405020304" pitchFamily="18" charset="0"/>
              </a:rPr>
              <a:t>continent-wide challenge</a:t>
            </a:r>
            <a:r>
              <a:rPr lang="en-GB" sz="1600" dirty="0">
                <a:latin typeface="Times New Roman" panose="02020603050405020304" pitchFamily="18" charset="0"/>
                <a:cs typeface="Times New Roman" panose="02020603050405020304" pitchFamily="18" charset="0"/>
              </a:rPr>
              <a:t>: integrating variable energy while maintaining reliability</a:t>
            </a:r>
          </a:p>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This has driven EU utilities &amp; governments to </a:t>
            </a:r>
            <a:r>
              <a:rPr lang="en-GB" sz="1600" b="1" dirty="0">
                <a:latin typeface="Times New Roman" panose="02020603050405020304" pitchFamily="18" charset="0"/>
                <a:cs typeface="Times New Roman" panose="02020603050405020304" pitchFamily="18" charset="0"/>
              </a:rPr>
              <a:t>prioritise investment in Energy storage, distributed control systems, and smart grid software</a:t>
            </a:r>
            <a:endParaRPr lang="en-GB" sz="1600" dirty="0">
              <a:latin typeface="Times New Roman" panose="02020603050405020304" pitchFamily="18" charset="0"/>
              <a:cs typeface="Times New Roman" panose="02020603050405020304" pitchFamily="18" charset="0"/>
            </a:endParaRPr>
          </a:p>
        </p:txBody>
      </p:sp>
      <p:pic>
        <p:nvPicPr>
          <p:cNvPr id="35" name="Picture 8">
            <a:extLst>
              <a:ext uri="{FF2B5EF4-FFF2-40B4-BE49-F238E27FC236}">
                <a16:creationId xmlns:a16="http://schemas.microsoft.com/office/drawing/2014/main" id="{B9B37DF8-6F0D-C54B-CA56-F7B396EE44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6511" y="5390495"/>
            <a:ext cx="213293" cy="426585"/>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11">
            <a:extLst>
              <a:ext uri="{FF2B5EF4-FFF2-40B4-BE49-F238E27FC236}">
                <a16:creationId xmlns:a16="http://schemas.microsoft.com/office/drawing/2014/main" id="{63018250-54BA-ADED-BDE1-A103D3A61F8B}"/>
              </a:ext>
            </a:extLst>
          </p:cNvPr>
          <p:cNvSpPr txBox="1"/>
          <p:nvPr/>
        </p:nvSpPr>
        <p:spPr>
          <a:xfrm>
            <a:off x="1881673" y="5997208"/>
            <a:ext cx="6809486" cy="206210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The EU imports </a:t>
            </a:r>
            <a:r>
              <a:rPr lang="en-GB" sz="1600" b="1" i="0" u="none" strike="noStrike" dirty="0">
                <a:solidFill>
                  <a:srgbClr val="000000"/>
                </a:solidFill>
                <a:effectLst/>
                <a:latin typeface="Times New Roman" panose="02020603050405020304" pitchFamily="18" charset="0"/>
                <a:cs typeface="Times New Roman" panose="02020603050405020304" pitchFamily="18" charset="0"/>
              </a:rPr>
              <a:t>~70% of its natural gas</a:t>
            </a:r>
            <a:r>
              <a:rPr lang="en-GB" sz="1600" i="0" u="none" strike="noStrike" dirty="0">
                <a:solidFill>
                  <a:srgbClr val="000000"/>
                </a:solidFill>
                <a:effectLst/>
                <a:latin typeface="Times New Roman" panose="02020603050405020304" pitchFamily="18" charset="0"/>
                <a:cs typeface="Times New Roman" panose="02020603050405020304" pitchFamily="18" charset="0"/>
              </a:rPr>
              <a:t>, with </a:t>
            </a:r>
            <a:r>
              <a:rPr lang="en-GB" sz="1600" b="1" i="0" u="none" strike="noStrike" dirty="0">
                <a:solidFill>
                  <a:srgbClr val="000000"/>
                </a:solidFill>
                <a:effectLst/>
                <a:latin typeface="Times New Roman" panose="02020603050405020304" pitchFamily="18" charset="0"/>
                <a:cs typeface="Times New Roman" panose="02020603050405020304" pitchFamily="18" charset="0"/>
              </a:rPr>
              <a:t>16% from the U.S. &amp; 4% from Qatar</a:t>
            </a:r>
          </a:p>
          <a:p>
            <a:pPr marL="171450" indent="-171450">
              <a:buFont typeface="Arial" panose="020B0604020202020204" pitchFamily="34" charset="0"/>
              <a:buChar char="•"/>
            </a:pPr>
            <a:r>
              <a:rPr lang="en-GB" sz="1600" dirty="0">
                <a:solidFill>
                  <a:srgbClr val="000000"/>
                </a:solidFill>
                <a:latin typeface="Times New Roman" panose="02020603050405020304" pitchFamily="18" charset="0"/>
                <a:cs typeface="Times New Roman" panose="02020603050405020304" pitchFamily="18" charset="0"/>
              </a:rPr>
              <a:t>Ongoing geopolitical risk &amp; LBG price volatility have pushed the EU to </a:t>
            </a:r>
            <a:r>
              <a:rPr lang="en-GB" sz="1600" b="1" dirty="0">
                <a:solidFill>
                  <a:srgbClr val="000000"/>
                </a:solidFill>
                <a:latin typeface="Times New Roman" panose="02020603050405020304" pitchFamily="18" charset="0"/>
                <a:cs typeface="Times New Roman" panose="02020603050405020304" pitchFamily="18" charset="0"/>
              </a:rPr>
              <a:t>fast-track domestic solar, battery, &amp; hydrogen production</a:t>
            </a:r>
          </a:p>
          <a:p>
            <a:pPr marL="171450" indent="-171450">
              <a:buFont typeface="Arial" panose="020B0604020202020204" pitchFamily="34" charset="0"/>
              <a:buChar char="•"/>
            </a:pPr>
            <a:r>
              <a:rPr lang="en-GB" sz="1600" dirty="0">
                <a:solidFill>
                  <a:srgbClr val="000000"/>
                </a:solidFill>
                <a:latin typeface="Times New Roman" panose="02020603050405020304" pitchFamily="18" charset="0"/>
                <a:cs typeface="Times New Roman" panose="02020603050405020304" pitchFamily="18" charset="0"/>
              </a:rPr>
              <a:t>Reducing import dependence is now </a:t>
            </a:r>
            <a:r>
              <a:rPr lang="en-GB" sz="1600" b="1" dirty="0">
                <a:solidFill>
                  <a:srgbClr val="000000"/>
                </a:solidFill>
                <a:latin typeface="Times New Roman" panose="02020603050405020304" pitchFamily="18" charset="0"/>
                <a:cs typeface="Times New Roman" panose="02020603050405020304" pitchFamily="18" charset="0"/>
              </a:rPr>
              <a:t>both an energy security &amp; industrial policy goal</a:t>
            </a:r>
            <a:r>
              <a:rPr lang="en-GB" sz="1600" dirty="0">
                <a:solidFill>
                  <a:srgbClr val="000000"/>
                </a:solidFill>
                <a:latin typeface="Times New Roman" panose="02020603050405020304" pitchFamily="18" charset="0"/>
                <a:cs typeface="Times New Roman" panose="02020603050405020304" pitchFamily="18" charset="0"/>
              </a:rPr>
              <a:t>, reinforcing EU demand for distributed, locally-produced energy</a:t>
            </a:r>
            <a:endParaRPr lang="en-GB" sz="16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This creates long-term structural demand for solar + storage systems at national &amp; household levels</a:t>
            </a:r>
          </a:p>
        </p:txBody>
      </p:sp>
      <p:sp>
        <p:nvSpPr>
          <p:cNvPr id="38" name="TextBox 23">
            <a:extLst>
              <a:ext uri="{FF2B5EF4-FFF2-40B4-BE49-F238E27FC236}">
                <a16:creationId xmlns:a16="http://schemas.microsoft.com/office/drawing/2014/main" id="{B1CEF269-7385-41BE-F3F1-543D4E7A87DB}"/>
              </a:ext>
            </a:extLst>
          </p:cNvPr>
          <p:cNvSpPr txBox="1"/>
          <p:nvPr/>
        </p:nvSpPr>
        <p:spPr>
          <a:xfrm>
            <a:off x="2330927" y="5432011"/>
            <a:ext cx="7624386"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latin typeface="Times New Roman" panose="02020603050405020304" pitchFamily="18" charset="0"/>
                <a:cs typeface="Times New Roman" panose="02020603050405020304" pitchFamily="18" charset="0"/>
              </a:rPr>
              <a:t>U.S./Qatar LNG tensions expose reliance on external energy supply</a:t>
            </a:r>
          </a:p>
        </p:txBody>
      </p:sp>
      <p:sp>
        <p:nvSpPr>
          <p:cNvPr id="19" name="TextBox 49">
            <a:extLst>
              <a:ext uri="{FF2B5EF4-FFF2-40B4-BE49-F238E27FC236}">
                <a16:creationId xmlns:a16="http://schemas.microsoft.com/office/drawing/2014/main" id="{AEEC097B-5914-C380-3E88-626B7186A00B}"/>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2682152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CDF51C9D-A971-FB18-4F5A-A37EB69AF8F7}"/>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A0220ED3-379A-5C2E-61A3-27F1C8D949E9}"/>
              </a:ext>
            </a:extLst>
          </p:cNvPr>
          <p:cNvGrpSpPr>
            <a:grpSpLocks noGrp="1" noUngrp="1" noRot="1" noMove="1" noResize="1"/>
          </p:cNvGrpSpPr>
          <p:nvPr/>
        </p:nvGrpSpPr>
        <p:grpSpPr>
          <a:xfrm>
            <a:off x="482833" y="399657"/>
            <a:ext cx="17349108" cy="9487687"/>
            <a:chOff x="482833" y="399657"/>
            <a:chExt cx="17349108" cy="9487687"/>
          </a:xfrm>
        </p:grpSpPr>
        <p:sp>
          <p:nvSpPr>
            <p:cNvPr id="2" name="Freeform 2">
              <a:extLst>
                <a:ext uri="{FF2B5EF4-FFF2-40B4-BE49-F238E27FC236}">
                  <a16:creationId xmlns:a16="http://schemas.microsoft.com/office/drawing/2014/main" id="{23102D68-55EA-A229-5D0F-9430FB15A8D6}"/>
                </a:ext>
              </a:extLst>
            </p:cNvPr>
            <p:cNvSpPr>
              <a:spLocks noGrp="1" noRot="1" noMove="1" noResize="1" noEditPoints="1" noAdjustHandles="1" noChangeArrowheads="1" noChangeShapeType="1"/>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a:extLst>
                <a:ext uri="{FF2B5EF4-FFF2-40B4-BE49-F238E27FC236}">
                  <a16:creationId xmlns:a16="http://schemas.microsoft.com/office/drawing/2014/main" id="{55EF8C19-DA02-7302-04ED-AA83FC09E117}"/>
                </a:ext>
              </a:extLst>
            </p:cNvPr>
            <p:cNvSpPr txBox="1">
              <a:spLocks noGrp="1" noRot="1" noMove="1" noResize="1" noEditPoints="1" noAdjustHandles="1" noChangeArrowheads="1" noChangeShapeType="1"/>
            </p:cNvSpPr>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a:extLst>
                <a:ext uri="{FF2B5EF4-FFF2-40B4-BE49-F238E27FC236}">
                  <a16:creationId xmlns:a16="http://schemas.microsoft.com/office/drawing/2014/main" id="{77CEFB26-205E-81F7-F0EE-77CD356A0730}"/>
                </a:ext>
              </a:extLst>
            </p:cNvPr>
            <p:cNvSpPr txBox="1">
              <a:spLocks noGrp="1" noRot="1" noMove="1" noResize="1" noEditPoints="1" noAdjustHandles="1" noChangeArrowheads="1" noChangeShapeType="1"/>
            </p:cNvSpPr>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a:extLst>
                <a:ext uri="{FF2B5EF4-FFF2-40B4-BE49-F238E27FC236}">
                  <a16:creationId xmlns:a16="http://schemas.microsoft.com/office/drawing/2014/main" id="{79CF0388-3527-0E2A-5CA3-F4618657290B}"/>
                </a:ext>
              </a:extLst>
            </p:cNvPr>
            <p:cNvSpPr txBox="1">
              <a:spLocks noGrp="1" noRot="1" noMove="1" noResize="1" noEditPoints="1" noAdjustHandles="1" noChangeArrowheads="1" noChangeShapeType="1"/>
            </p:cNvSpPr>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a:extLst>
                <a:ext uri="{FF2B5EF4-FFF2-40B4-BE49-F238E27FC236}">
                  <a16:creationId xmlns:a16="http://schemas.microsoft.com/office/drawing/2014/main" id="{C8E510B5-B318-4057-E9D7-CCDB17B5CBF7}"/>
                </a:ext>
              </a:extLst>
            </p:cNvPr>
            <p:cNvGrpSpPr>
              <a:grpSpLocks noGrp="1" noUngrp="1" noRot="1" noMove="1" noResize="1"/>
            </p:cNvGrpSpPr>
            <p:nvPr/>
          </p:nvGrpSpPr>
          <p:grpSpPr>
            <a:xfrm>
              <a:off x="482833" y="399657"/>
              <a:ext cx="17349108" cy="9487687"/>
              <a:chOff x="0" y="0"/>
              <a:chExt cx="5293499" cy="2894850"/>
            </a:xfrm>
          </p:grpSpPr>
          <p:sp>
            <p:nvSpPr>
              <p:cNvPr id="7" name="Freeform 7">
                <a:extLst>
                  <a:ext uri="{FF2B5EF4-FFF2-40B4-BE49-F238E27FC236}">
                    <a16:creationId xmlns:a16="http://schemas.microsoft.com/office/drawing/2014/main" id="{8DD0E6D6-A13F-1D78-F00D-F2381F030EF1}"/>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a:extLst>
                  <a:ext uri="{FF2B5EF4-FFF2-40B4-BE49-F238E27FC236}">
                    <a16:creationId xmlns:a16="http://schemas.microsoft.com/office/drawing/2014/main" id="{5670E204-8D8F-765A-F7CF-E29A186EAF05}"/>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a:extLst>
                <a:ext uri="{FF2B5EF4-FFF2-40B4-BE49-F238E27FC236}">
                  <a16:creationId xmlns:a16="http://schemas.microsoft.com/office/drawing/2014/main" id="{E8D6CCC3-42D0-0AA9-4934-4D7C2C719361}"/>
                </a:ext>
              </a:extLst>
            </p:cNvPr>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1" name="AutoShape 11">
              <a:extLst>
                <a:ext uri="{FF2B5EF4-FFF2-40B4-BE49-F238E27FC236}">
                  <a16:creationId xmlns:a16="http://schemas.microsoft.com/office/drawing/2014/main" id="{F756E819-B331-860A-E08E-F9419DFC69C0}"/>
                </a:ext>
              </a:extLst>
            </p:cNvPr>
            <p:cNvSpPr>
              <a:spLocks noGrp="1" noRot="1" noMove="1" noResize="1" noEditPoints="1" noAdjustHandles="1" noChangeArrowheads="1" noChangeShapeType="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3" name="AutoShape 13">
              <a:extLst>
                <a:ext uri="{FF2B5EF4-FFF2-40B4-BE49-F238E27FC236}">
                  <a16:creationId xmlns:a16="http://schemas.microsoft.com/office/drawing/2014/main" id="{365031A4-1734-826D-3479-BBB3F6998D30}"/>
                </a:ext>
              </a:extLst>
            </p:cNvPr>
            <p:cNvSpPr>
              <a:spLocks noGrp="1" noRot="1" noMove="1" noResize="1" noEditPoints="1" noAdjustHandles="1" noChangeArrowheads="1" noChangeShapeType="1"/>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pSp>
      <p:sp>
        <p:nvSpPr>
          <p:cNvPr id="15" name="Title 1">
            <a:extLst>
              <a:ext uri="{FF2B5EF4-FFF2-40B4-BE49-F238E27FC236}">
                <a16:creationId xmlns:a16="http://schemas.microsoft.com/office/drawing/2014/main" id="{D66F979D-4406-D30D-913A-5656249A4C77}"/>
              </a:ext>
            </a:extLst>
          </p:cNvPr>
          <p:cNvSpPr>
            <a:spLocks noGrp="1"/>
          </p:cNvSpPr>
          <p:nvPr/>
        </p:nvSpPr>
        <p:spPr>
          <a:xfrm>
            <a:off x="1868226" y="76805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cs typeface="Times New Roman" panose="02020603050405020304" pitchFamily="18" charset="0"/>
              </a:rPr>
              <a:t>Thesis 3: Shift toward European markets</a:t>
            </a:r>
          </a:p>
        </p:txBody>
      </p:sp>
      <p:sp>
        <p:nvSpPr>
          <p:cNvPr id="17" name="Title 1">
            <a:extLst>
              <a:ext uri="{FF2B5EF4-FFF2-40B4-BE49-F238E27FC236}">
                <a16:creationId xmlns:a16="http://schemas.microsoft.com/office/drawing/2014/main" id="{A4B4AD41-BC0B-2790-75BD-0E8AF8D2D17B}"/>
              </a:ext>
            </a:extLst>
          </p:cNvPr>
          <p:cNvSpPr txBox="1">
            <a:spLocks/>
          </p:cNvSpPr>
          <p:nvPr/>
        </p:nvSpPr>
        <p:spPr>
          <a:xfrm>
            <a:off x="1881673" y="1777539"/>
            <a:ext cx="11033816"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2800">
              <a:solidFill>
                <a:schemeClr val="tx2">
                  <a:lumMod val="90000"/>
                  <a:lumOff val="10000"/>
                </a:schemeClr>
              </a:solidFill>
              <a:latin typeface="Times New Roman" panose="02020603050405020304" pitchFamily="18" charset="0"/>
              <a:cs typeface="Times New Roman" panose="02020603050405020304" pitchFamily="18" charset="0"/>
            </a:endParaRPr>
          </a:p>
        </p:txBody>
      </p:sp>
      <p:sp>
        <p:nvSpPr>
          <p:cNvPr id="3072" name="TextBox 16">
            <a:extLst>
              <a:ext uri="{FF2B5EF4-FFF2-40B4-BE49-F238E27FC236}">
                <a16:creationId xmlns:a16="http://schemas.microsoft.com/office/drawing/2014/main" id="{415F06C6-E52C-B165-7332-E717A9ACABD0}"/>
              </a:ext>
            </a:extLst>
          </p:cNvPr>
          <p:cNvSpPr txBox="1"/>
          <p:nvPr/>
        </p:nvSpPr>
        <p:spPr>
          <a:xfrm>
            <a:off x="10604101" y="6648409"/>
            <a:ext cx="5613714" cy="24622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000" dirty="0">
                <a:latin typeface="Times New Roman" panose="02020603050405020304" pitchFamily="18" charset="0"/>
                <a:cs typeface="Times New Roman" panose="02020603050405020304" pitchFamily="18" charset="0"/>
              </a:rPr>
              <a:t>EU-27 annual solar PV market scenarios from 2024-2030 (based on </a:t>
            </a:r>
            <a:r>
              <a:rPr lang="en-GB" sz="1000" dirty="0" err="1">
                <a:latin typeface="Times New Roman" panose="02020603050405020304" pitchFamily="18" charset="0"/>
                <a:cs typeface="Times New Roman" panose="02020603050405020304" pitchFamily="18" charset="0"/>
              </a:rPr>
              <a:t>SolarPower</a:t>
            </a:r>
            <a:r>
              <a:rPr lang="en-GB" sz="1000" dirty="0">
                <a:latin typeface="Times New Roman" panose="02020603050405020304" pitchFamily="18" charset="0"/>
                <a:cs typeface="Times New Roman" panose="02020603050405020304" pitchFamily="18" charset="0"/>
              </a:rPr>
              <a:t> Europe projections)</a:t>
            </a:r>
          </a:p>
        </p:txBody>
      </p:sp>
      <p:graphicFrame>
        <p:nvGraphicFramePr>
          <p:cNvPr id="3083" name="Chart 3082">
            <a:extLst>
              <a:ext uri="{FF2B5EF4-FFF2-40B4-BE49-F238E27FC236}">
                <a16:creationId xmlns:a16="http://schemas.microsoft.com/office/drawing/2014/main" id="{9DFAB000-7E8F-5331-8F33-40DBAD79BFAD}"/>
              </a:ext>
            </a:extLst>
          </p:cNvPr>
          <p:cNvGraphicFramePr>
            <a:graphicFrameLocks/>
          </p:cNvGraphicFramePr>
          <p:nvPr>
            <p:extLst>
              <p:ext uri="{D42A27DB-BD31-4B8C-83A1-F6EECF244321}">
                <p14:modId xmlns:p14="http://schemas.microsoft.com/office/powerpoint/2010/main" val="1582641646"/>
              </p:ext>
            </p:extLst>
          </p:nvPr>
        </p:nvGraphicFramePr>
        <p:xfrm>
          <a:off x="9954020" y="2854666"/>
          <a:ext cx="6815122" cy="3842318"/>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21">
            <a:extLst>
              <a:ext uri="{FF2B5EF4-FFF2-40B4-BE49-F238E27FC236}">
                <a16:creationId xmlns:a16="http://schemas.microsoft.com/office/drawing/2014/main" id="{9C10F0F7-0554-F342-7F52-DFC550A2C0D3}"/>
              </a:ext>
            </a:extLst>
          </p:cNvPr>
          <p:cNvSpPr txBox="1"/>
          <p:nvPr/>
        </p:nvSpPr>
        <p:spPr>
          <a:xfrm>
            <a:off x="2363528" y="2222353"/>
            <a:ext cx="8240573" cy="5847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dirty="0">
                <a:latin typeface="Times New Roman" panose="02020603050405020304" pitchFamily="18" charset="0"/>
                <a:cs typeface="Times New Roman" panose="02020603050405020304" pitchFamily="18" charset="0"/>
              </a:rPr>
              <a:t>New EU regulations push for local, sustainable energy systems</a:t>
            </a:r>
          </a:p>
          <a:p>
            <a:pPr algn="l"/>
            <a:endParaRPr lang="en-GB" sz="1600" dirty="0">
              <a:latin typeface="Times New Roman" panose="02020603050405020304" pitchFamily="18" charset="0"/>
              <a:cs typeface="Times New Roman" panose="02020603050405020304" pitchFamily="18" charset="0"/>
            </a:endParaRPr>
          </a:p>
        </p:txBody>
      </p:sp>
      <p:pic>
        <p:nvPicPr>
          <p:cNvPr id="19" name="Picture 8">
            <a:extLst>
              <a:ext uri="{FF2B5EF4-FFF2-40B4-BE49-F238E27FC236}">
                <a16:creationId xmlns:a16="http://schemas.microsoft.com/office/drawing/2014/main" id="{26FF78E8-3B95-2596-598D-8785EC79D3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6509" y="2187268"/>
            <a:ext cx="213293" cy="42658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
            <a:extLst>
              <a:ext uri="{FF2B5EF4-FFF2-40B4-BE49-F238E27FC236}">
                <a16:creationId xmlns:a16="http://schemas.microsoft.com/office/drawing/2014/main" id="{B450EDF4-6AA0-C367-994C-FC8A960CD7EC}"/>
              </a:ext>
            </a:extLst>
          </p:cNvPr>
          <p:cNvSpPr txBox="1"/>
          <p:nvPr/>
        </p:nvSpPr>
        <p:spPr>
          <a:xfrm>
            <a:off x="1991973" y="2849000"/>
            <a:ext cx="7976908" cy="181588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The </a:t>
            </a:r>
            <a:r>
              <a:rPr lang="en-GB" sz="1600" b="1" dirty="0">
                <a:latin typeface="Times New Roman" panose="02020603050405020304" pitchFamily="18" charset="0"/>
                <a:cs typeface="Times New Roman" panose="02020603050405020304" pitchFamily="18" charset="0"/>
              </a:rPr>
              <a:t>Corporate Sustainability Due Diligence Directive (CSDDD)</a:t>
            </a:r>
            <a:r>
              <a:rPr lang="en-GB" sz="1600" dirty="0">
                <a:latin typeface="Times New Roman" panose="02020603050405020304" pitchFamily="18" charset="0"/>
                <a:cs typeface="Times New Roman" panose="02020603050405020304" pitchFamily="18" charset="0"/>
              </a:rPr>
              <a:t> and complementary ESG rules now </a:t>
            </a:r>
            <a:r>
              <a:rPr lang="en-GB" sz="1600" b="1" dirty="0">
                <a:latin typeface="Times New Roman" panose="02020603050405020304" pitchFamily="18" charset="0"/>
                <a:cs typeface="Times New Roman" panose="02020603050405020304" pitchFamily="18" charset="0"/>
              </a:rPr>
              <a:t>tie energy sourcing to corporate compliance</a:t>
            </a:r>
            <a:endParaRPr lang="en-GB" sz="1600" dirty="0">
              <a:latin typeface="Times New Roman" panose="02020603050405020304" pitchFamily="18" charset="0"/>
              <a:cs typeface="Times New Roman" panose="02020603050405020304" pitchFamily="18" charset="0"/>
            </a:endParaRPr>
          </a:p>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Firms must demonstrate decarbonised supply chains, which is driving </a:t>
            </a:r>
            <a:r>
              <a:rPr lang="en-GB" sz="1600" b="1" dirty="0">
                <a:latin typeface="Times New Roman" panose="02020603050405020304" pitchFamily="18" charset="0"/>
                <a:cs typeface="Times New Roman" panose="02020603050405020304" pitchFamily="18" charset="0"/>
              </a:rPr>
              <a:t>on-site solar and behind-the-metre storage adoption</a:t>
            </a:r>
            <a:r>
              <a:rPr lang="en-GB" sz="1600" dirty="0">
                <a:latin typeface="Times New Roman" panose="02020603050405020304" pitchFamily="18" charset="0"/>
                <a:cs typeface="Times New Roman" panose="02020603050405020304" pitchFamily="18" charset="0"/>
              </a:rPr>
              <a:t> across industrial &amp; commercial sectors</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EU Green Deal funding channels, </a:t>
            </a:r>
            <a:r>
              <a:rPr lang="en-GB" sz="1600" dirty="0" err="1">
                <a:latin typeface="Times New Roman" panose="02020603050405020304" pitchFamily="18" charset="0"/>
                <a:cs typeface="Times New Roman" panose="02020603050405020304" pitchFamily="18" charset="0"/>
              </a:rPr>
              <a:t>REPowerEU</a:t>
            </a:r>
            <a:r>
              <a:rPr lang="en-GB" sz="1600" dirty="0">
                <a:latin typeface="Times New Roman" panose="02020603050405020304" pitchFamily="18" charset="0"/>
                <a:cs typeface="Times New Roman" panose="02020603050405020304" pitchFamily="18" charset="0"/>
              </a:rPr>
              <a:t>, &amp; state aid frameworks collectively support decentralised rollout</a:t>
            </a:r>
            <a:endParaRPr lang="en-GB" sz="1600" dirty="0">
              <a:latin typeface="Times New Roman" panose="02020603050405020304" pitchFamily="18" charset="0"/>
              <a:ea typeface="Calibri"/>
              <a:cs typeface="Times New Roman" panose="02020603050405020304" pitchFamily="18" charset="0"/>
            </a:endParaRPr>
          </a:p>
          <a:p>
            <a:pPr marL="171450" indent="-171450" algn="l">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This policy backdrop directly supports Enphase’s distributed energy architecture</a:t>
            </a:r>
            <a:endParaRPr lang="en-GB" sz="1600" dirty="0">
              <a:latin typeface="Times New Roman" panose="02020603050405020304" pitchFamily="18" charset="0"/>
              <a:ea typeface="Calibri"/>
              <a:cs typeface="Times New Roman" panose="02020603050405020304" pitchFamily="18" charset="0"/>
            </a:endParaRPr>
          </a:p>
        </p:txBody>
      </p:sp>
      <p:sp>
        <p:nvSpPr>
          <p:cNvPr id="21" name="TextBox 23">
            <a:extLst>
              <a:ext uri="{FF2B5EF4-FFF2-40B4-BE49-F238E27FC236}">
                <a16:creationId xmlns:a16="http://schemas.microsoft.com/office/drawing/2014/main" id="{F7FC7699-75C0-C53C-C6BB-035604E0BFE6}"/>
              </a:ext>
            </a:extLst>
          </p:cNvPr>
          <p:cNvSpPr txBox="1"/>
          <p:nvPr/>
        </p:nvSpPr>
        <p:spPr>
          <a:xfrm>
            <a:off x="2363528" y="5019145"/>
            <a:ext cx="7624386"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a:latin typeface="Times New Roman" panose="02020603050405020304" pitchFamily="18" charset="0"/>
                <a:cs typeface="Times New Roman" panose="02020603050405020304" pitchFamily="18" charset="0"/>
              </a:rPr>
              <a:t>Enphase continues to expand across Europe</a:t>
            </a:r>
          </a:p>
        </p:txBody>
      </p:sp>
      <p:pic>
        <p:nvPicPr>
          <p:cNvPr id="22" name="Picture 8">
            <a:extLst>
              <a:ext uri="{FF2B5EF4-FFF2-40B4-BE49-F238E27FC236}">
                <a16:creationId xmlns:a16="http://schemas.microsoft.com/office/drawing/2014/main" id="{FC82FD05-A535-EDD4-F70B-26FCBD70B5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973" y="4930207"/>
            <a:ext cx="213293" cy="426585"/>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11">
            <a:extLst>
              <a:ext uri="{FF2B5EF4-FFF2-40B4-BE49-F238E27FC236}">
                <a16:creationId xmlns:a16="http://schemas.microsoft.com/office/drawing/2014/main" id="{1FEFDE89-E834-172D-035A-9683B5108CA9}"/>
              </a:ext>
            </a:extLst>
          </p:cNvPr>
          <p:cNvSpPr txBox="1"/>
          <p:nvPr/>
        </p:nvSpPr>
        <p:spPr>
          <a:xfrm>
            <a:off x="1991973" y="5564876"/>
            <a:ext cx="6477088" cy="1815882"/>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Active presence in </a:t>
            </a:r>
            <a:r>
              <a:rPr lang="en-GB" sz="1600" b="1" dirty="0">
                <a:latin typeface="Times New Roman" panose="02020603050405020304" pitchFamily="18" charset="0"/>
                <a:cs typeface="Times New Roman" panose="02020603050405020304" pitchFamily="18" charset="0"/>
              </a:rPr>
              <a:t>Germany, France, Spain, Portugal, Sweden, &amp; the Netherlands</a:t>
            </a:r>
            <a:r>
              <a:rPr lang="en-GB" sz="1600" dirty="0">
                <a:latin typeface="Times New Roman" panose="02020603050405020304" pitchFamily="18" charset="0"/>
                <a:cs typeface="Times New Roman" panose="02020603050405020304" pitchFamily="18" charset="0"/>
              </a:rPr>
              <a:t>, with product localisation to meet grid &amp; regulatory standards</a:t>
            </a:r>
          </a:p>
          <a:p>
            <a:pPr marL="171450" indent="-171450">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IQ Battery 5P &amp; IQ EV charger 2</a:t>
            </a:r>
            <a:r>
              <a:rPr lang="en-GB" sz="1600" dirty="0">
                <a:latin typeface="Times New Roman" panose="02020603050405020304" pitchFamily="18" charset="0"/>
                <a:cs typeface="Times New Roman" panose="02020603050405020304" pitchFamily="18" charset="0"/>
              </a:rPr>
              <a:t> now shipping to multiple EU markets, enabling both </a:t>
            </a:r>
            <a:r>
              <a:rPr lang="en-GB" sz="1600" b="1" dirty="0">
                <a:latin typeface="Times New Roman" panose="02020603050405020304" pitchFamily="18" charset="0"/>
                <a:cs typeface="Times New Roman" panose="02020603050405020304" pitchFamily="18" charset="0"/>
              </a:rPr>
              <a:t>self-supply &amp; flexible load management</a:t>
            </a:r>
            <a:endParaRPr lang="en-GB" sz="16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GB" sz="1600" b="1" dirty="0" err="1">
                <a:latin typeface="Times New Roman" panose="02020603050405020304" pitchFamily="18" charset="0"/>
                <a:cs typeface="Times New Roman" panose="02020603050405020304" pitchFamily="18" charset="0"/>
              </a:rPr>
              <a:t>SolarGraf</a:t>
            </a:r>
            <a:r>
              <a:rPr lang="en-GB" sz="1600" b="1" dirty="0">
                <a:latin typeface="Times New Roman" panose="02020603050405020304" pitchFamily="18" charset="0"/>
                <a:cs typeface="Times New Roman" panose="02020603050405020304" pitchFamily="18" charset="0"/>
              </a:rPr>
              <a:t> AI platform</a:t>
            </a:r>
            <a:r>
              <a:rPr lang="en-GB" sz="1600" dirty="0">
                <a:latin typeface="Times New Roman" panose="02020603050405020304" pitchFamily="18" charset="0"/>
                <a:cs typeface="Times New Roman" panose="02020603050405020304" pitchFamily="18" charset="0"/>
              </a:rPr>
              <a:t> and </a:t>
            </a:r>
            <a:r>
              <a:rPr lang="en-GB" sz="1600" b="1" dirty="0">
                <a:latin typeface="Times New Roman" panose="02020603050405020304" pitchFamily="18" charset="0"/>
                <a:cs typeface="Times New Roman" panose="02020603050405020304" pitchFamily="18" charset="0"/>
              </a:rPr>
              <a:t>IQ Energy Management</a:t>
            </a:r>
            <a:r>
              <a:rPr lang="en-GB" sz="1600" dirty="0">
                <a:latin typeface="Times New Roman" panose="02020603050405020304" pitchFamily="18" charset="0"/>
                <a:cs typeface="Times New Roman" panose="02020603050405020304" pitchFamily="18" charset="0"/>
              </a:rPr>
              <a:t> integrate with European feed-in &amp; tariff systems, strengthening customer retention</a:t>
            </a:r>
            <a:endParaRPr lang="en-GB" sz="1600" b="1" dirty="0">
              <a:latin typeface="Times New Roman" panose="02020603050405020304" pitchFamily="18" charset="0"/>
              <a:cs typeface="Times New Roman" panose="02020603050405020304" pitchFamily="18" charset="0"/>
            </a:endParaRPr>
          </a:p>
        </p:txBody>
      </p:sp>
      <p:sp>
        <p:nvSpPr>
          <p:cNvPr id="10" name="TextBox 49">
            <a:extLst>
              <a:ext uri="{FF2B5EF4-FFF2-40B4-BE49-F238E27FC236}">
                <a16:creationId xmlns:a16="http://schemas.microsoft.com/office/drawing/2014/main" id="{F6C7ADB0-9228-5F1F-0C1D-86F3D2DB1825}"/>
              </a:ext>
            </a:extLst>
          </p:cNvPr>
          <p:cNvSpPr txBox="1"/>
          <p:nvPr/>
        </p:nvSpPr>
        <p:spPr>
          <a:xfrm>
            <a:off x="3586275" y="9269282"/>
            <a:ext cx="11142224" cy="466474"/>
          </a:xfrm>
          <a:prstGeom prst="rect">
            <a:avLst/>
          </a:prstGeom>
        </p:spPr>
        <p:txBody>
          <a:bodyPr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Enphase Energy, Inc - Nasdaq - ENPH</a:t>
            </a:r>
          </a:p>
        </p:txBody>
      </p:sp>
      <p:sp>
        <p:nvSpPr>
          <p:cNvPr id="12" name="TextBox 20">
            <a:extLst>
              <a:ext uri="{FF2B5EF4-FFF2-40B4-BE49-F238E27FC236}">
                <a16:creationId xmlns:a16="http://schemas.microsoft.com/office/drawing/2014/main" id="{5470C82E-D5E2-8513-7C04-4AB0288E2D97}"/>
              </a:ext>
            </a:extLst>
          </p:cNvPr>
          <p:cNvSpPr txBox="1"/>
          <p:nvPr/>
        </p:nvSpPr>
        <p:spPr>
          <a:xfrm>
            <a:off x="2363528" y="7717162"/>
            <a:ext cx="12542964"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latin typeface="Times New Roman" panose="02020603050405020304" pitchFamily="18" charset="0"/>
                <a:cs typeface="Times New Roman" panose="02020603050405020304" pitchFamily="18" charset="0"/>
              </a:rPr>
              <a:t>These forces together accelerate demand for smart, decentralised solar</a:t>
            </a:r>
          </a:p>
        </p:txBody>
      </p:sp>
      <p:sp>
        <p:nvSpPr>
          <p:cNvPr id="16" name="TextBox 26">
            <a:extLst>
              <a:ext uri="{FF2B5EF4-FFF2-40B4-BE49-F238E27FC236}">
                <a16:creationId xmlns:a16="http://schemas.microsoft.com/office/drawing/2014/main" id="{80572DEB-F74C-49B6-1490-E24D1B348872}"/>
              </a:ext>
            </a:extLst>
          </p:cNvPr>
          <p:cNvSpPr txBox="1"/>
          <p:nvPr/>
        </p:nvSpPr>
        <p:spPr>
          <a:xfrm>
            <a:off x="1991973" y="8181270"/>
            <a:ext cx="11740311" cy="8309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EU-27 solar installations expected to grow </a:t>
            </a:r>
            <a:r>
              <a:rPr lang="en-GB" sz="1600" dirty="0">
                <a:latin typeface="Times New Roman" panose="02020603050405020304" pitchFamily="18" charset="0"/>
                <a:cs typeface="Times New Roman" panose="02020603050405020304" pitchFamily="18" charset="0"/>
              </a:rPr>
              <a:t>3x between 2024 &amp; 2030 </a:t>
            </a:r>
          </a:p>
          <a:p>
            <a:pPr marL="171450" indent="-171450">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Grid instability, energy independence, &amp; policy incentives all converge to create a</a:t>
            </a:r>
            <a:r>
              <a:rPr lang="en-GB" sz="1600" b="1" dirty="0">
                <a:latin typeface="Times New Roman" panose="02020603050405020304" pitchFamily="18" charset="0"/>
                <a:cs typeface="Times New Roman" panose="02020603050405020304" pitchFamily="18" charset="0"/>
              </a:rPr>
              <a:t> structural tailwind</a:t>
            </a:r>
            <a:r>
              <a:rPr lang="en-GB" sz="1600" dirty="0">
                <a:latin typeface="Times New Roman" panose="02020603050405020304" pitchFamily="18" charset="0"/>
                <a:cs typeface="Times New Roman" panose="02020603050405020304" pitchFamily="18" charset="0"/>
              </a:rPr>
              <a:t> for integrated platforms like Enphase</a:t>
            </a:r>
          </a:p>
        </p:txBody>
      </p:sp>
      <p:pic>
        <p:nvPicPr>
          <p:cNvPr id="24" name="Picture 8">
            <a:extLst>
              <a:ext uri="{FF2B5EF4-FFF2-40B4-BE49-F238E27FC236}">
                <a16:creationId xmlns:a16="http://schemas.microsoft.com/office/drawing/2014/main" id="{E6EAFF32-5EE2-A9D3-B1DE-5D9978E00F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973" y="7673147"/>
            <a:ext cx="213293" cy="426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643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6" name="TextBox 8">
            <a:extLst>
              <a:ext uri="{FF2B5EF4-FFF2-40B4-BE49-F238E27FC236}">
                <a16:creationId xmlns:a16="http://schemas.microsoft.com/office/drawing/2014/main" id="{4F02B4FF-64F5-0146-0114-B16E566451F5}"/>
              </a:ext>
            </a:extLst>
          </p:cNvPr>
          <p:cNvSpPr txBox="1"/>
          <p:nvPr/>
        </p:nvSpPr>
        <p:spPr>
          <a:xfrm>
            <a:off x="482833" y="306004"/>
            <a:ext cx="17349108" cy="9581340"/>
          </a:xfrm>
          <a:prstGeom prst="rect">
            <a:avLst/>
          </a:prstGeom>
        </p:spPr>
        <p:txBody>
          <a:bodyPr lIns="43850" tIns="43850" rIns="43850" bIns="43850" rtlCol="0" anchor="ctr"/>
          <a:lstStyle/>
          <a:p>
            <a:pPr algn="ctr">
              <a:lnSpc>
                <a:spcPts val="2296"/>
              </a:lnSpc>
              <a:spcBef>
                <a:spcPct val="0"/>
              </a:spcBef>
            </a:pPr>
            <a:endParaRPr/>
          </a:p>
        </p:txBody>
      </p:sp>
      <p:sp>
        <p:nvSpPr>
          <p:cNvPr id="19" name="Freeform 2">
            <a:extLst>
              <a:ext uri="{FF2B5EF4-FFF2-40B4-BE49-F238E27FC236}">
                <a16:creationId xmlns:a16="http://schemas.microsoft.com/office/drawing/2014/main" id="{F6D18EE2-FC5D-B38A-2B03-1380B4B82EC7}"/>
              </a:ext>
            </a:extLst>
          </p:cNvPr>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p>
        </p:txBody>
      </p:sp>
      <p:sp>
        <p:nvSpPr>
          <p:cNvPr id="20" name="TextBox 3">
            <a:extLst>
              <a:ext uri="{FF2B5EF4-FFF2-40B4-BE49-F238E27FC236}">
                <a16:creationId xmlns:a16="http://schemas.microsoft.com/office/drawing/2014/main" id="{5B188720-8876-16A6-1AA3-36ED1EF4352A}"/>
              </a:ext>
            </a:extLst>
          </p:cNvPr>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21" name="TextBox 4">
            <a:extLst>
              <a:ext uri="{FF2B5EF4-FFF2-40B4-BE49-F238E27FC236}">
                <a16:creationId xmlns:a16="http://schemas.microsoft.com/office/drawing/2014/main" id="{0CECB009-6678-B2A9-96CC-FE5398D5764C}"/>
              </a:ext>
            </a:extLst>
          </p:cNvPr>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22" name="TextBox 5">
            <a:extLst>
              <a:ext uri="{FF2B5EF4-FFF2-40B4-BE49-F238E27FC236}">
                <a16:creationId xmlns:a16="http://schemas.microsoft.com/office/drawing/2014/main" id="{EDDFBD9C-1487-C1E9-91C8-F7C03EB78653}"/>
              </a:ext>
            </a:extLst>
          </p:cNvPr>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23" name="Group 6">
            <a:extLst>
              <a:ext uri="{FF2B5EF4-FFF2-40B4-BE49-F238E27FC236}">
                <a16:creationId xmlns:a16="http://schemas.microsoft.com/office/drawing/2014/main" id="{9F675C95-8371-4AA7-4B97-3C582BAEB2E0}"/>
              </a:ext>
            </a:extLst>
          </p:cNvPr>
          <p:cNvGrpSpPr>
            <a:grpSpLocks noGrp="1" noUngrp="1" noRot="1" noMove="1" noResize="1"/>
          </p:cNvGrpSpPr>
          <p:nvPr/>
        </p:nvGrpSpPr>
        <p:grpSpPr>
          <a:xfrm>
            <a:off x="482833" y="399657"/>
            <a:ext cx="17349108" cy="9487687"/>
            <a:chOff x="0" y="0"/>
            <a:chExt cx="5293499" cy="2894850"/>
          </a:xfrm>
        </p:grpSpPr>
        <p:sp>
          <p:nvSpPr>
            <p:cNvPr id="24" name="Freeform 7">
              <a:extLst>
                <a:ext uri="{FF2B5EF4-FFF2-40B4-BE49-F238E27FC236}">
                  <a16:creationId xmlns:a16="http://schemas.microsoft.com/office/drawing/2014/main" id="{880692AA-A4A5-5AA4-BDEF-2654D3518DAC}"/>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25" name="TextBox 8">
              <a:extLst>
                <a:ext uri="{FF2B5EF4-FFF2-40B4-BE49-F238E27FC236}">
                  <a16:creationId xmlns:a16="http://schemas.microsoft.com/office/drawing/2014/main" id="{7CFC85CF-CE1D-CFDF-3146-2A288BB4A43C}"/>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26" name="Freeform 9">
            <a:extLst>
              <a:ext uri="{FF2B5EF4-FFF2-40B4-BE49-F238E27FC236}">
                <a16:creationId xmlns:a16="http://schemas.microsoft.com/office/drawing/2014/main" id="{544E5EBB-0A1D-27F5-6DC1-29C75E300682}"/>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p>
        </p:txBody>
      </p:sp>
      <p:sp>
        <p:nvSpPr>
          <p:cNvPr id="28" name="AutoShape 11">
            <a:extLst>
              <a:ext uri="{FF2B5EF4-FFF2-40B4-BE49-F238E27FC236}">
                <a16:creationId xmlns:a16="http://schemas.microsoft.com/office/drawing/2014/main" id="{187070AA-07AC-66A6-F35E-5EFC738A80C2}"/>
              </a:ext>
            </a:extLst>
          </p:cNvPr>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30" name="AutoShape 13">
            <a:extLst>
              <a:ext uri="{FF2B5EF4-FFF2-40B4-BE49-F238E27FC236}">
                <a16:creationId xmlns:a16="http://schemas.microsoft.com/office/drawing/2014/main" id="{0B6B62CA-360C-CBE4-C126-F4FEB1D15074}"/>
              </a:ext>
            </a:extLst>
          </p:cNvPr>
          <p:cNvSpPr/>
          <p:nvPr/>
        </p:nvSpPr>
        <p:spPr>
          <a:xfrm>
            <a:off x="1901373"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graphicFrame>
        <p:nvGraphicFramePr>
          <p:cNvPr id="32" name="Chart 31">
            <a:extLst>
              <a:ext uri="{FF2B5EF4-FFF2-40B4-BE49-F238E27FC236}">
                <a16:creationId xmlns:a16="http://schemas.microsoft.com/office/drawing/2014/main" id="{E6C1817D-A5A7-B12F-079F-E49C8631ACBA}"/>
              </a:ext>
            </a:extLst>
          </p:cNvPr>
          <p:cNvGraphicFramePr>
            <a:graphicFrameLocks/>
          </p:cNvGraphicFramePr>
          <p:nvPr>
            <p:extLst>
              <p:ext uri="{D42A27DB-BD31-4B8C-83A1-F6EECF244321}">
                <p14:modId xmlns:p14="http://schemas.microsoft.com/office/powerpoint/2010/main" val="3240674102"/>
              </p:ext>
            </p:extLst>
          </p:nvPr>
        </p:nvGraphicFramePr>
        <p:xfrm>
          <a:off x="8782040" y="2393437"/>
          <a:ext cx="6324600" cy="260308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B1FE53EF-16AD-F265-AC1F-7602CF96692A}"/>
              </a:ext>
            </a:extLst>
          </p:cNvPr>
          <p:cNvSpPr>
            <a:spLocks noGrp="1"/>
          </p:cNvSpPr>
          <p:nvPr/>
        </p:nvSpPr>
        <p:spPr>
          <a:xfrm>
            <a:off x="1868226" y="78245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ea typeface="Calibri"/>
                <a:cs typeface="Times New Roman" panose="02020603050405020304" pitchFamily="18" charset="0"/>
              </a:rPr>
              <a:t>Comparable Companies Analysis</a:t>
            </a:r>
          </a:p>
        </p:txBody>
      </p:sp>
      <p:graphicFrame>
        <p:nvGraphicFramePr>
          <p:cNvPr id="5" name="Chart 4">
            <a:extLst>
              <a:ext uri="{FF2B5EF4-FFF2-40B4-BE49-F238E27FC236}">
                <a16:creationId xmlns:a16="http://schemas.microsoft.com/office/drawing/2014/main" id="{B969EFEE-5E25-4DF0-A229-92FD94ACC1FB}"/>
              </a:ext>
            </a:extLst>
          </p:cNvPr>
          <p:cNvGraphicFramePr>
            <a:graphicFrameLocks/>
          </p:cNvGraphicFramePr>
          <p:nvPr>
            <p:extLst>
              <p:ext uri="{D42A27DB-BD31-4B8C-83A1-F6EECF244321}">
                <p14:modId xmlns:p14="http://schemas.microsoft.com/office/powerpoint/2010/main" val="2853459602"/>
              </p:ext>
            </p:extLst>
          </p:nvPr>
        </p:nvGraphicFramePr>
        <p:xfrm>
          <a:off x="1868225" y="2391508"/>
          <a:ext cx="6192041" cy="2605008"/>
        </p:xfrm>
        <a:graphic>
          <a:graphicData uri="http://schemas.openxmlformats.org/drawingml/2006/chart">
            <c:chart xmlns:c="http://schemas.openxmlformats.org/drawingml/2006/chart" xmlns:r="http://schemas.openxmlformats.org/officeDocument/2006/relationships" r:id="rId4"/>
          </a:graphicData>
        </a:graphic>
      </p:graphicFrame>
      <p:pic>
        <p:nvPicPr>
          <p:cNvPr id="7" name="Picture 6">
            <a:extLst>
              <a:ext uri="{FF2B5EF4-FFF2-40B4-BE49-F238E27FC236}">
                <a16:creationId xmlns:a16="http://schemas.microsoft.com/office/drawing/2014/main" id="{B408A3B1-0A8A-83DB-9126-B8AC854EDE36}"/>
              </a:ext>
            </a:extLst>
          </p:cNvPr>
          <p:cNvPicPr>
            <a:picLocks noChangeAspect="1"/>
          </p:cNvPicPr>
          <p:nvPr/>
        </p:nvPicPr>
        <p:blipFill>
          <a:blip r:embed="rId5"/>
          <a:stretch>
            <a:fillRect/>
          </a:stretch>
        </p:blipFill>
        <p:spPr>
          <a:xfrm>
            <a:off x="2433609" y="5389718"/>
            <a:ext cx="12696861" cy="2815970"/>
          </a:xfrm>
          <a:prstGeom prst="rect">
            <a:avLst/>
          </a:prstGeom>
        </p:spPr>
      </p:pic>
      <p:sp>
        <p:nvSpPr>
          <p:cNvPr id="4" name="TextBox 49">
            <a:extLst>
              <a:ext uri="{FF2B5EF4-FFF2-40B4-BE49-F238E27FC236}">
                <a16:creationId xmlns:a16="http://schemas.microsoft.com/office/drawing/2014/main" id="{772B817B-A543-3900-5CEB-826BAD1D5077}"/>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954991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4A471863-40E9-F7BF-0308-CAFB9FFC63CF}"/>
            </a:ext>
          </a:extLst>
        </p:cNvPr>
        <p:cNvGrpSpPr/>
        <p:nvPr/>
      </p:nvGrpSpPr>
      <p:grpSpPr>
        <a:xfrm>
          <a:off x="0" y="0"/>
          <a:ext cx="0" cy="0"/>
          <a:chOff x="0" y="0"/>
          <a:chExt cx="0" cy="0"/>
        </a:xfrm>
      </p:grpSpPr>
      <p:sp>
        <p:nvSpPr>
          <p:cNvPr id="6" name="TextBox 8">
            <a:extLst>
              <a:ext uri="{FF2B5EF4-FFF2-40B4-BE49-F238E27FC236}">
                <a16:creationId xmlns:a16="http://schemas.microsoft.com/office/drawing/2014/main" id="{A4D4F670-F6D1-F88C-C609-41A4B8BD8E36}"/>
              </a:ext>
            </a:extLst>
          </p:cNvPr>
          <p:cNvSpPr txBox="1"/>
          <p:nvPr/>
        </p:nvSpPr>
        <p:spPr>
          <a:xfrm>
            <a:off x="482833" y="306004"/>
            <a:ext cx="17349108" cy="9581340"/>
          </a:xfrm>
          <a:prstGeom prst="rect">
            <a:avLst/>
          </a:prstGeom>
        </p:spPr>
        <p:txBody>
          <a:bodyPr lIns="43850" tIns="43850" rIns="43850" bIns="43850" rtlCol="0" anchor="ctr"/>
          <a:lstStyle/>
          <a:p>
            <a:pPr algn="ctr">
              <a:lnSpc>
                <a:spcPts val="2296"/>
              </a:lnSpc>
              <a:spcBef>
                <a:spcPct val="0"/>
              </a:spcBef>
            </a:pPr>
            <a:endParaRPr/>
          </a:p>
        </p:txBody>
      </p:sp>
      <p:sp>
        <p:nvSpPr>
          <p:cNvPr id="19" name="Freeform 2">
            <a:extLst>
              <a:ext uri="{FF2B5EF4-FFF2-40B4-BE49-F238E27FC236}">
                <a16:creationId xmlns:a16="http://schemas.microsoft.com/office/drawing/2014/main" id="{8C9A29A0-CD9C-F639-FFB1-3952FED57350}"/>
              </a:ext>
            </a:extLst>
          </p:cNvPr>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p>
        </p:txBody>
      </p:sp>
      <p:sp>
        <p:nvSpPr>
          <p:cNvPr id="20" name="TextBox 3">
            <a:extLst>
              <a:ext uri="{FF2B5EF4-FFF2-40B4-BE49-F238E27FC236}">
                <a16:creationId xmlns:a16="http://schemas.microsoft.com/office/drawing/2014/main" id="{0F430366-C96F-B4DB-9F28-E970CCD0E07A}"/>
              </a:ext>
            </a:extLst>
          </p:cNvPr>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21" name="TextBox 4">
            <a:extLst>
              <a:ext uri="{FF2B5EF4-FFF2-40B4-BE49-F238E27FC236}">
                <a16:creationId xmlns:a16="http://schemas.microsoft.com/office/drawing/2014/main" id="{C012C48E-191C-561D-CE27-9E4F35E1D4B7}"/>
              </a:ext>
            </a:extLst>
          </p:cNvPr>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22" name="TextBox 5">
            <a:extLst>
              <a:ext uri="{FF2B5EF4-FFF2-40B4-BE49-F238E27FC236}">
                <a16:creationId xmlns:a16="http://schemas.microsoft.com/office/drawing/2014/main" id="{B712EABE-8A4C-AF43-C76C-CECB196244F6}"/>
              </a:ext>
            </a:extLst>
          </p:cNvPr>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23" name="Group 6">
            <a:extLst>
              <a:ext uri="{FF2B5EF4-FFF2-40B4-BE49-F238E27FC236}">
                <a16:creationId xmlns:a16="http://schemas.microsoft.com/office/drawing/2014/main" id="{D0964B77-CCC3-CB0B-40A8-F88B06E168BA}"/>
              </a:ext>
            </a:extLst>
          </p:cNvPr>
          <p:cNvGrpSpPr>
            <a:grpSpLocks noGrp="1" noUngrp="1" noRot="1" noMove="1" noResize="1"/>
          </p:cNvGrpSpPr>
          <p:nvPr/>
        </p:nvGrpSpPr>
        <p:grpSpPr>
          <a:xfrm>
            <a:off x="482833" y="399657"/>
            <a:ext cx="17349108" cy="9487687"/>
            <a:chOff x="0" y="0"/>
            <a:chExt cx="5293499" cy="2894850"/>
          </a:xfrm>
        </p:grpSpPr>
        <p:sp>
          <p:nvSpPr>
            <p:cNvPr id="24" name="Freeform 7">
              <a:extLst>
                <a:ext uri="{FF2B5EF4-FFF2-40B4-BE49-F238E27FC236}">
                  <a16:creationId xmlns:a16="http://schemas.microsoft.com/office/drawing/2014/main" id="{1FFC702B-6294-3533-C046-7A0B40E978B8}"/>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25" name="TextBox 8">
              <a:extLst>
                <a:ext uri="{FF2B5EF4-FFF2-40B4-BE49-F238E27FC236}">
                  <a16:creationId xmlns:a16="http://schemas.microsoft.com/office/drawing/2014/main" id="{2F606412-DEEA-2C20-85A5-DADE5366DFEB}"/>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26" name="Freeform 9">
            <a:extLst>
              <a:ext uri="{FF2B5EF4-FFF2-40B4-BE49-F238E27FC236}">
                <a16:creationId xmlns:a16="http://schemas.microsoft.com/office/drawing/2014/main" id="{5D599570-10D4-7719-6C89-5EBF334808D2}"/>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p>
        </p:txBody>
      </p:sp>
      <p:sp>
        <p:nvSpPr>
          <p:cNvPr id="28" name="AutoShape 11">
            <a:extLst>
              <a:ext uri="{FF2B5EF4-FFF2-40B4-BE49-F238E27FC236}">
                <a16:creationId xmlns:a16="http://schemas.microsoft.com/office/drawing/2014/main" id="{C618548D-C4EB-D702-9930-06F7A52F32B4}"/>
              </a:ext>
            </a:extLst>
          </p:cNvPr>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30" name="AutoShape 13">
            <a:extLst>
              <a:ext uri="{FF2B5EF4-FFF2-40B4-BE49-F238E27FC236}">
                <a16:creationId xmlns:a16="http://schemas.microsoft.com/office/drawing/2014/main" id="{CE547A8A-15B7-62B4-8F9C-F226178175CC}"/>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pic>
        <p:nvPicPr>
          <p:cNvPr id="5" name="Picture 4">
            <a:extLst>
              <a:ext uri="{FF2B5EF4-FFF2-40B4-BE49-F238E27FC236}">
                <a16:creationId xmlns:a16="http://schemas.microsoft.com/office/drawing/2014/main" id="{1B4E5DB6-A047-7C90-F89E-5AAB6039151E}"/>
              </a:ext>
            </a:extLst>
          </p:cNvPr>
          <p:cNvPicPr>
            <a:picLocks noChangeAspect="1"/>
          </p:cNvPicPr>
          <p:nvPr/>
        </p:nvPicPr>
        <p:blipFill>
          <a:blip r:embed="rId3"/>
          <a:stretch>
            <a:fillRect/>
          </a:stretch>
        </p:blipFill>
        <p:spPr>
          <a:xfrm>
            <a:off x="1868226" y="2105830"/>
            <a:ext cx="10821910" cy="6392167"/>
          </a:xfrm>
          <a:prstGeom prst="rect">
            <a:avLst/>
          </a:prstGeom>
        </p:spPr>
      </p:pic>
      <p:sp>
        <p:nvSpPr>
          <p:cNvPr id="2" name="Title 1">
            <a:extLst>
              <a:ext uri="{FF2B5EF4-FFF2-40B4-BE49-F238E27FC236}">
                <a16:creationId xmlns:a16="http://schemas.microsoft.com/office/drawing/2014/main" id="{F1F1DE0E-7DF8-86F1-994A-725758E3051A}"/>
              </a:ext>
            </a:extLst>
          </p:cNvPr>
          <p:cNvSpPr>
            <a:spLocks noGrp="1"/>
          </p:cNvSpPr>
          <p:nvPr/>
        </p:nvSpPr>
        <p:spPr>
          <a:xfrm>
            <a:off x="1868226" y="78245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latin typeface="Times New Roman" panose="02020603050405020304" pitchFamily="18" charset="0"/>
                <a:cs typeface="Times New Roman" panose="02020603050405020304" pitchFamily="18" charset="0"/>
              </a:rPr>
              <a:t>Discounted Cash Flow Analysis</a:t>
            </a:r>
          </a:p>
        </p:txBody>
      </p:sp>
      <p:sp>
        <p:nvSpPr>
          <p:cNvPr id="4" name="TextBox 49">
            <a:extLst>
              <a:ext uri="{FF2B5EF4-FFF2-40B4-BE49-F238E27FC236}">
                <a16:creationId xmlns:a16="http://schemas.microsoft.com/office/drawing/2014/main" id="{BC5030B1-C0D0-5124-83EA-C7EF379E7F49}"/>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382598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55ACD646-01C9-9C54-A380-743B3DB8A5F2}"/>
            </a:ext>
          </a:extLst>
        </p:cNvPr>
        <p:cNvGrpSpPr/>
        <p:nvPr/>
      </p:nvGrpSpPr>
      <p:grpSpPr>
        <a:xfrm>
          <a:off x="0" y="0"/>
          <a:ext cx="0" cy="0"/>
          <a:chOff x="0" y="0"/>
          <a:chExt cx="0" cy="0"/>
        </a:xfrm>
      </p:grpSpPr>
      <p:grpSp>
        <p:nvGrpSpPr>
          <p:cNvPr id="3" name="Group 6">
            <a:extLst>
              <a:ext uri="{FF2B5EF4-FFF2-40B4-BE49-F238E27FC236}">
                <a16:creationId xmlns:a16="http://schemas.microsoft.com/office/drawing/2014/main" id="{441A3EFA-114A-FC38-49D6-4E51BB33DD61}"/>
              </a:ext>
            </a:extLst>
          </p:cNvPr>
          <p:cNvGrpSpPr>
            <a:grpSpLocks noGrp="1" noUngrp="1" noRot="1" noMove="1" noResize="1"/>
          </p:cNvGrpSpPr>
          <p:nvPr/>
        </p:nvGrpSpPr>
        <p:grpSpPr>
          <a:xfrm>
            <a:off x="482833" y="306004"/>
            <a:ext cx="17349108" cy="9581340"/>
            <a:chOff x="0" y="-28575"/>
            <a:chExt cx="5293499" cy="2923425"/>
          </a:xfrm>
        </p:grpSpPr>
        <p:sp>
          <p:nvSpPr>
            <p:cNvPr id="4" name="Freeform 7">
              <a:extLst>
                <a:ext uri="{FF2B5EF4-FFF2-40B4-BE49-F238E27FC236}">
                  <a16:creationId xmlns:a16="http://schemas.microsoft.com/office/drawing/2014/main" id="{5EE57491-43CF-8D84-A574-199B5347E5D8}"/>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5" name="TextBox 8">
              <a:extLst>
                <a:ext uri="{FF2B5EF4-FFF2-40B4-BE49-F238E27FC236}">
                  <a16:creationId xmlns:a16="http://schemas.microsoft.com/office/drawing/2014/main" id="{693644F8-C9A4-FFDF-D4E8-1189572FF43D}"/>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6" name="TextBox 8">
            <a:extLst>
              <a:ext uri="{FF2B5EF4-FFF2-40B4-BE49-F238E27FC236}">
                <a16:creationId xmlns:a16="http://schemas.microsoft.com/office/drawing/2014/main" id="{8B8A7E9F-B39F-115D-B73D-598F91027DE7}"/>
              </a:ext>
            </a:extLst>
          </p:cNvPr>
          <p:cNvSpPr txBox="1"/>
          <p:nvPr/>
        </p:nvSpPr>
        <p:spPr>
          <a:xfrm>
            <a:off x="482833" y="306004"/>
            <a:ext cx="17349108" cy="9581340"/>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sp>
        <p:nvSpPr>
          <p:cNvPr id="25" name="TextBox 8">
            <a:extLst>
              <a:ext uri="{FF2B5EF4-FFF2-40B4-BE49-F238E27FC236}">
                <a16:creationId xmlns:a16="http://schemas.microsoft.com/office/drawing/2014/main" id="{7FC24DC7-21B3-7B00-F583-4C925CC03A79}"/>
              </a:ext>
            </a:extLst>
          </p:cNvPr>
          <p:cNvSpPr txBox="1">
            <a:spLocks noGrp="1" noRot="1" noMove="1" noResize="1" noEditPoints="1" noAdjustHandles="1" noChangeArrowheads="1" noChangeShapeType="1"/>
          </p:cNvSpPr>
          <p:nvPr/>
        </p:nvSpPr>
        <p:spPr>
          <a:xfrm>
            <a:off x="482833" y="306004"/>
            <a:ext cx="17349108" cy="9581340"/>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sp>
        <p:nvSpPr>
          <p:cNvPr id="26" name="Freeform 9">
            <a:extLst>
              <a:ext uri="{FF2B5EF4-FFF2-40B4-BE49-F238E27FC236}">
                <a16:creationId xmlns:a16="http://schemas.microsoft.com/office/drawing/2014/main" id="{D7708A17-C3F8-8D75-7611-6BF9CD9FF9CA}"/>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27" name="TextBox 10">
            <a:extLst>
              <a:ext uri="{FF2B5EF4-FFF2-40B4-BE49-F238E27FC236}">
                <a16:creationId xmlns:a16="http://schemas.microsoft.com/office/drawing/2014/main" id="{FA97134E-FF8F-629F-C2C8-5954F9CB43FE}"/>
              </a:ext>
            </a:extLst>
          </p:cNvPr>
          <p:cNvSpPr txBox="1"/>
          <p:nvPr/>
        </p:nvSpPr>
        <p:spPr>
          <a:xfrm>
            <a:off x="1868225" y="1215052"/>
            <a:ext cx="4048481" cy="525785"/>
          </a:xfrm>
          <a:prstGeom prst="rect">
            <a:avLst/>
          </a:prstGeom>
        </p:spPr>
        <p:txBody>
          <a:bodyPr wrap="square" lIns="0" tIns="0" rIns="0" bIns="0" rtlCol="0" anchor="t">
            <a:spAutoFit/>
          </a:bodyPr>
          <a:lstStyle/>
          <a:p>
            <a:pPr>
              <a:lnSpc>
                <a:spcPts val="4060"/>
              </a:lnSpc>
              <a:spcBef>
                <a:spcPct val="0"/>
              </a:spcBef>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Risks and Mitigants</a:t>
            </a:r>
          </a:p>
        </p:txBody>
      </p:sp>
      <p:sp>
        <p:nvSpPr>
          <p:cNvPr id="28" name="AutoShape 11">
            <a:extLst>
              <a:ext uri="{FF2B5EF4-FFF2-40B4-BE49-F238E27FC236}">
                <a16:creationId xmlns:a16="http://schemas.microsoft.com/office/drawing/2014/main" id="{97BF5352-8EE1-10B9-2CEF-986E96098E49}"/>
              </a:ext>
            </a:extLst>
          </p:cNvPr>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30" name="AutoShape 13">
            <a:extLst>
              <a:ext uri="{FF2B5EF4-FFF2-40B4-BE49-F238E27FC236}">
                <a16:creationId xmlns:a16="http://schemas.microsoft.com/office/drawing/2014/main" id="{39C9AF20-D6B9-E892-6FB9-B773F5BED32F}"/>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aphicFrame>
        <p:nvGraphicFramePr>
          <p:cNvPr id="115" name="Diagram 114">
            <a:extLst>
              <a:ext uri="{FF2B5EF4-FFF2-40B4-BE49-F238E27FC236}">
                <a16:creationId xmlns:a16="http://schemas.microsoft.com/office/drawing/2014/main" id="{AC2A9DCD-8712-D97C-054B-0713067E411E}"/>
              </a:ext>
            </a:extLst>
          </p:cNvPr>
          <p:cNvGraphicFramePr>
            <a:graphicFrameLocks/>
          </p:cNvGraphicFramePr>
          <p:nvPr>
            <p:extLst>
              <p:ext uri="{D42A27DB-BD31-4B8C-83A1-F6EECF244321}">
                <p14:modId xmlns:p14="http://schemas.microsoft.com/office/powerpoint/2010/main" val="83136050"/>
              </p:ext>
            </p:extLst>
          </p:nvPr>
        </p:nvGraphicFramePr>
        <p:xfrm>
          <a:off x="304801" y="2301175"/>
          <a:ext cx="11887200" cy="65231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49">
            <a:extLst>
              <a:ext uri="{FF2B5EF4-FFF2-40B4-BE49-F238E27FC236}">
                <a16:creationId xmlns:a16="http://schemas.microsoft.com/office/drawing/2014/main" id="{B09B0512-D790-DBD6-238E-DAB0FE895250}"/>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2201442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7E6519C-1963-CCBE-58F1-FE44BD4DC7A1}"/>
            </a:ext>
          </a:extLst>
        </p:cNvPr>
        <p:cNvGrpSpPr/>
        <p:nvPr/>
      </p:nvGrpSpPr>
      <p:grpSpPr>
        <a:xfrm>
          <a:off x="0" y="0"/>
          <a:ext cx="0" cy="0"/>
          <a:chOff x="0" y="0"/>
          <a:chExt cx="0" cy="0"/>
        </a:xfrm>
      </p:grpSpPr>
      <p:sp>
        <p:nvSpPr>
          <p:cNvPr id="6" name="TextBox 8">
            <a:extLst>
              <a:ext uri="{FF2B5EF4-FFF2-40B4-BE49-F238E27FC236}">
                <a16:creationId xmlns:a16="http://schemas.microsoft.com/office/drawing/2014/main" id="{5E6BD311-9C53-0733-81A5-A30E2D2FB465}"/>
              </a:ext>
            </a:extLst>
          </p:cNvPr>
          <p:cNvSpPr txBox="1"/>
          <p:nvPr/>
        </p:nvSpPr>
        <p:spPr>
          <a:xfrm>
            <a:off x="482833" y="306004"/>
            <a:ext cx="17349108" cy="9581340"/>
          </a:xfrm>
          <a:prstGeom prst="rect">
            <a:avLst/>
          </a:prstGeom>
        </p:spPr>
        <p:txBody>
          <a:bodyPr lIns="43850" tIns="43850" rIns="43850" bIns="43850" rtlCol="0" anchor="ctr"/>
          <a:lstStyle/>
          <a:p>
            <a:pPr algn="ctr">
              <a:lnSpc>
                <a:spcPts val="2296"/>
              </a:lnSpc>
              <a:spcBef>
                <a:spcPct val="0"/>
              </a:spcBef>
            </a:pPr>
            <a:endParaRPr/>
          </a:p>
        </p:txBody>
      </p:sp>
      <p:sp>
        <p:nvSpPr>
          <p:cNvPr id="19" name="Freeform 2">
            <a:extLst>
              <a:ext uri="{FF2B5EF4-FFF2-40B4-BE49-F238E27FC236}">
                <a16:creationId xmlns:a16="http://schemas.microsoft.com/office/drawing/2014/main" id="{236D0779-2CE5-2438-A6BE-945DC18AED93}"/>
              </a:ext>
            </a:extLst>
          </p:cNvPr>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p>
        </p:txBody>
      </p:sp>
      <p:sp>
        <p:nvSpPr>
          <p:cNvPr id="20" name="TextBox 3">
            <a:extLst>
              <a:ext uri="{FF2B5EF4-FFF2-40B4-BE49-F238E27FC236}">
                <a16:creationId xmlns:a16="http://schemas.microsoft.com/office/drawing/2014/main" id="{F808FC27-664D-B9EC-ACF8-7179D41C80CF}"/>
              </a:ext>
            </a:extLst>
          </p:cNvPr>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21" name="TextBox 4">
            <a:extLst>
              <a:ext uri="{FF2B5EF4-FFF2-40B4-BE49-F238E27FC236}">
                <a16:creationId xmlns:a16="http://schemas.microsoft.com/office/drawing/2014/main" id="{0425F3F8-75F2-FC1F-B142-9F55E162F359}"/>
              </a:ext>
            </a:extLst>
          </p:cNvPr>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22" name="TextBox 5">
            <a:extLst>
              <a:ext uri="{FF2B5EF4-FFF2-40B4-BE49-F238E27FC236}">
                <a16:creationId xmlns:a16="http://schemas.microsoft.com/office/drawing/2014/main" id="{BD24C81E-151E-858B-4366-63F28D71F328}"/>
              </a:ext>
            </a:extLst>
          </p:cNvPr>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23" name="Group 6">
            <a:extLst>
              <a:ext uri="{FF2B5EF4-FFF2-40B4-BE49-F238E27FC236}">
                <a16:creationId xmlns:a16="http://schemas.microsoft.com/office/drawing/2014/main" id="{4FF0F561-29C8-3217-2F68-4BC5E9AE613E}"/>
              </a:ext>
            </a:extLst>
          </p:cNvPr>
          <p:cNvGrpSpPr>
            <a:grpSpLocks noGrp="1" noUngrp="1" noRot="1" noMove="1" noResize="1"/>
          </p:cNvGrpSpPr>
          <p:nvPr/>
        </p:nvGrpSpPr>
        <p:grpSpPr>
          <a:xfrm>
            <a:off x="482833" y="399657"/>
            <a:ext cx="17349108" cy="9487687"/>
            <a:chOff x="0" y="0"/>
            <a:chExt cx="5293499" cy="2894850"/>
          </a:xfrm>
        </p:grpSpPr>
        <p:sp>
          <p:nvSpPr>
            <p:cNvPr id="24" name="Freeform 7">
              <a:extLst>
                <a:ext uri="{FF2B5EF4-FFF2-40B4-BE49-F238E27FC236}">
                  <a16:creationId xmlns:a16="http://schemas.microsoft.com/office/drawing/2014/main" id="{294909BD-D5DC-0B23-B0F7-CF735D183C9F}"/>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25" name="TextBox 8">
              <a:extLst>
                <a:ext uri="{FF2B5EF4-FFF2-40B4-BE49-F238E27FC236}">
                  <a16:creationId xmlns:a16="http://schemas.microsoft.com/office/drawing/2014/main" id="{2659F792-1354-E9D5-B22A-8BC99214A2CB}"/>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26" name="Freeform 9">
            <a:extLst>
              <a:ext uri="{FF2B5EF4-FFF2-40B4-BE49-F238E27FC236}">
                <a16:creationId xmlns:a16="http://schemas.microsoft.com/office/drawing/2014/main" id="{7BA59270-26BB-0BFB-A351-7D64D9727B8F}"/>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p>
        </p:txBody>
      </p:sp>
      <p:sp>
        <p:nvSpPr>
          <p:cNvPr id="27" name="TextBox 10">
            <a:extLst>
              <a:ext uri="{FF2B5EF4-FFF2-40B4-BE49-F238E27FC236}">
                <a16:creationId xmlns:a16="http://schemas.microsoft.com/office/drawing/2014/main" id="{177E93E1-C73D-7B0A-BF7B-308E35383537}"/>
              </a:ext>
            </a:extLst>
          </p:cNvPr>
          <p:cNvSpPr txBox="1"/>
          <p:nvPr/>
        </p:nvSpPr>
        <p:spPr>
          <a:xfrm>
            <a:off x="1868226" y="1215052"/>
            <a:ext cx="2613124" cy="525785"/>
          </a:xfrm>
          <a:prstGeom prst="rect">
            <a:avLst/>
          </a:prstGeom>
        </p:spPr>
        <p:txBody>
          <a:bodyPr lIns="0" tIns="0" rIns="0" bIns="0" rtlCol="0" anchor="t">
            <a:spAutoFit/>
          </a:bodyPr>
          <a:lstStyle/>
          <a:p>
            <a:pPr algn="l">
              <a:lnSpc>
                <a:spcPts val="4060"/>
              </a:lnSpc>
              <a:spcBef>
                <a:spcPct val="0"/>
              </a:spcBef>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Appendix</a:t>
            </a:r>
          </a:p>
        </p:txBody>
      </p:sp>
      <p:sp>
        <p:nvSpPr>
          <p:cNvPr id="28" name="AutoShape 11">
            <a:extLst>
              <a:ext uri="{FF2B5EF4-FFF2-40B4-BE49-F238E27FC236}">
                <a16:creationId xmlns:a16="http://schemas.microsoft.com/office/drawing/2014/main" id="{66A5DC9E-5A75-3398-6DA1-38787E8A997B}"/>
              </a:ext>
            </a:extLst>
          </p:cNvPr>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30" name="AutoShape 13">
            <a:extLst>
              <a:ext uri="{FF2B5EF4-FFF2-40B4-BE49-F238E27FC236}">
                <a16:creationId xmlns:a16="http://schemas.microsoft.com/office/drawing/2014/main" id="{F98A839D-41BA-248E-9B92-292775BED78C}"/>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pic>
        <p:nvPicPr>
          <p:cNvPr id="5" name="Picture 4">
            <a:extLst>
              <a:ext uri="{FF2B5EF4-FFF2-40B4-BE49-F238E27FC236}">
                <a16:creationId xmlns:a16="http://schemas.microsoft.com/office/drawing/2014/main" id="{9EC3B950-4170-F546-18CE-D21EA74A798B}"/>
              </a:ext>
            </a:extLst>
          </p:cNvPr>
          <p:cNvPicPr>
            <a:picLocks noChangeAspect="1"/>
          </p:cNvPicPr>
          <p:nvPr/>
        </p:nvPicPr>
        <p:blipFill>
          <a:blip r:embed="rId3"/>
          <a:stretch>
            <a:fillRect/>
          </a:stretch>
        </p:blipFill>
        <p:spPr>
          <a:xfrm>
            <a:off x="1868226" y="2209910"/>
            <a:ext cx="13490264" cy="5524387"/>
          </a:xfrm>
          <a:prstGeom prst="rect">
            <a:avLst/>
          </a:prstGeom>
        </p:spPr>
      </p:pic>
      <p:sp>
        <p:nvSpPr>
          <p:cNvPr id="3" name="TextBox 49">
            <a:extLst>
              <a:ext uri="{FF2B5EF4-FFF2-40B4-BE49-F238E27FC236}">
                <a16:creationId xmlns:a16="http://schemas.microsoft.com/office/drawing/2014/main" id="{6800DCB2-3459-B1B2-E929-FDBD8F7979C5}"/>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4068192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DEC4CC99-73CA-F4E5-52B9-6CE3624198BC}"/>
            </a:ext>
          </a:extLst>
        </p:cNvPr>
        <p:cNvGrpSpPr/>
        <p:nvPr/>
      </p:nvGrpSpPr>
      <p:grpSpPr>
        <a:xfrm>
          <a:off x="0" y="0"/>
          <a:ext cx="0" cy="0"/>
          <a:chOff x="0" y="0"/>
          <a:chExt cx="0" cy="0"/>
        </a:xfrm>
      </p:grpSpPr>
      <p:sp>
        <p:nvSpPr>
          <p:cNvPr id="6" name="TextBox 8">
            <a:extLst>
              <a:ext uri="{FF2B5EF4-FFF2-40B4-BE49-F238E27FC236}">
                <a16:creationId xmlns:a16="http://schemas.microsoft.com/office/drawing/2014/main" id="{872B26DC-D523-ADD9-D9D6-6CABA35E2BBE}"/>
              </a:ext>
            </a:extLst>
          </p:cNvPr>
          <p:cNvSpPr txBox="1"/>
          <p:nvPr/>
        </p:nvSpPr>
        <p:spPr>
          <a:xfrm>
            <a:off x="482833" y="306004"/>
            <a:ext cx="17349108" cy="9581340"/>
          </a:xfrm>
          <a:prstGeom prst="rect">
            <a:avLst/>
          </a:prstGeom>
        </p:spPr>
        <p:txBody>
          <a:bodyPr lIns="43850" tIns="43850" rIns="43850" bIns="43850" rtlCol="0" anchor="ctr"/>
          <a:lstStyle/>
          <a:p>
            <a:pPr algn="ctr">
              <a:lnSpc>
                <a:spcPts val="2296"/>
              </a:lnSpc>
              <a:spcBef>
                <a:spcPct val="0"/>
              </a:spcBef>
            </a:pPr>
            <a:endParaRPr/>
          </a:p>
        </p:txBody>
      </p:sp>
      <p:sp>
        <p:nvSpPr>
          <p:cNvPr id="19" name="Freeform 2">
            <a:extLst>
              <a:ext uri="{FF2B5EF4-FFF2-40B4-BE49-F238E27FC236}">
                <a16:creationId xmlns:a16="http://schemas.microsoft.com/office/drawing/2014/main" id="{BACD6F33-8EE6-85CE-4632-68ACC9A38597}"/>
              </a:ext>
            </a:extLst>
          </p:cNvPr>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p>
        </p:txBody>
      </p:sp>
      <p:sp>
        <p:nvSpPr>
          <p:cNvPr id="20" name="TextBox 3">
            <a:extLst>
              <a:ext uri="{FF2B5EF4-FFF2-40B4-BE49-F238E27FC236}">
                <a16:creationId xmlns:a16="http://schemas.microsoft.com/office/drawing/2014/main" id="{6342FCBC-1EA6-2A2F-1616-FD6E5231026F}"/>
              </a:ext>
            </a:extLst>
          </p:cNvPr>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21" name="TextBox 4">
            <a:extLst>
              <a:ext uri="{FF2B5EF4-FFF2-40B4-BE49-F238E27FC236}">
                <a16:creationId xmlns:a16="http://schemas.microsoft.com/office/drawing/2014/main" id="{EE9F81C1-96B0-F2E7-8FE2-0168B0107A20}"/>
              </a:ext>
            </a:extLst>
          </p:cNvPr>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22" name="TextBox 5">
            <a:extLst>
              <a:ext uri="{FF2B5EF4-FFF2-40B4-BE49-F238E27FC236}">
                <a16:creationId xmlns:a16="http://schemas.microsoft.com/office/drawing/2014/main" id="{06AFA3BD-8F17-C7D1-60AF-A6C5BB176F56}"/>
              </a:ext>
            </a:extLst>
          </p:cNvPr>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23" name="Group 6">
            <a:extLst>
              <a:ext uri="{FF2B5EF4-FFF2-40B4-BE49-F238E27FC236}">
                <a16:creationId xmlns:a16="http://schemas.microsoft.com/office/drawing/2014/main" id="{BB274DCB-D29D-593D-A5CD-B7C8F0FD3476}"/>
              </a:ext>
            </a:extLst>
          </p:cNvPr>
          <p:cNvGrpSpPr>
            <a:grpSpLocks noGrp="1" noUngrp="1" noRot="1" noMove="1" noResize="1"/>
          </p:cNvGrpSpPr>
          <p:nvPr/>
        </p:nvGrpSpPr>
        <p:grpSpPr>
          <a:xfrm>
            <a:off x="482833" y="399657"/>
            <a:ext cx="17349108" cy="9487687"/>
            <a:chOff x="0" y="0"/>
            <a:chExt cx="5293499" cy="2894850"/>
          </a:xfrm>
        </p:grpSpPr>
        <p:sp>
          <p:nvSpPr>
            <p:cNvPr id="24" name="Freeform 7">
              <a:extLst>
                <a:ext uri="{FF2B5EF4-FFF2-40B4-BE49-F238E27FC236}">
                  <a16:creationId xmlns:a16="http://schemas.microsoft.com/office/drawing/2014/main" id="{67C13262-DC20-5125-9CA9-F26E89100C98}"/>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25" name="TextBox 8">
              <a:extLst>
                <a:ext uri="{FF2B5EF4-FFF2-40B4-BE49-F238E27FC236}">
                  <a16:creationId xmlns:a16="http://schemas.microsoft.com/office/drawing/2014/main" id="{156BF024-5C7F-C743-9BEB-518D215C8490}"/>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26" name="Freeform 9">
            <a:extLst>
              <a:ext uri="{FF2B5EF4-FFF2-40B4-BE49-F238E27FC236}">
                <a16:creationId xmlns:a16="http://schemas.microsoft.com/office/drawing/2014/main" id="{AF4ED276-4870-A5BB-7862-A8CE3DF048C7}"/>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p>
        </p:txBody>
      </p:sp>
      <p:sp>
        <p:nvSpPr>
          <p:cNvPr id="27" name="TextBox 10">
            <a:extLst>
              <a:ext uri="{FF2B5EF4-FFF2-40B4-BE49-F238E27FC236}">
                <a16:creationId xmlns:a16="http://schemas.microsoft.com/office/drawing/2014/main" id="{0D4A275B-6486-5EE8-B56D-2918676B9E08}"/>
              </a:ext>
            </a:extLst>
          </p:cNvPr>
          <p:cNvSpPr txBox="1"/>
          <p:nvPr/>
        </p:nvSpPr>
        <p:spPr>
          <a:xfrm>
            <a:off x="1868226" y="1215052"/>
            <a:ext cx="2613124" cy="525785"/>
          </a:xfrm>
          <a:prstGeom prst="rect">
            <a:avLst/>
          </a:prstGeom>
        </p:spPr>
        <p:txBody>
          <a:bodyPr lIns="0" tIns="0" rIns="0" bIns="0" rtlCol="0" anchor="t">
            <a:spAutoFit/>
          </a:bodyPr>
          <a:lstStyle/>
          <a:p>
            <a:pPr algn="l">
              <a:lnSpc>
                <a:spcPts val="4060"/>
              </a:lnSpc>
              <a:spcBef>
                <a:spcPct val="0"/>
              </a:spcBef>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Appendix</a:t>
            </a:r>
          </a:p>
        </p:txBody>
      </p:sp>
      <p:sp>
        <p:nvSpPr>
          <p:cNvPr id="28" name="AutoShape 11">
            <a:extLst>
              <a:ext uri="{FF2B5EF4-FFF2-40B4-BE49-F238E27FC236}">
                <a16:creationId xmlns:a16="http://schemas.microsoft.com/office/drawing/2014/main" id="{DC9CA6EE-AA68-E546-C055-A974BF4D6094}"/>
              </a:ext>
            </a:extLst>
          </p:cNvPr>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30" name="AutoShape 13">
            <a:extLst>
              <a:ext uri="{FF2B5EF4-FFF2-40B4-BE49-F238E27FC236}">
                <a16:creationId xmlns:a16="http://schemas.microsoft.com/office/drawing/2014/main" id="{4D7C1000-C3D2-C10B-1964-59D7A8E844AD}"/>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pic>
        <p:nvPicPr>
          <p:cNvPr id="7" name="Picture 6">
            <a:extLst>
              <a:ext uri="{FF2B5EF4-FFF2-40B4-BE49-F238E27FC236}">
                <a16:creationId xmlns:a16="http://schemas.microsoft.com/office/drawing/2014/main" id="{6FDA53C0-1917-0477-1C39-2FBD8C924110}"/>
              </a:ext>
            </a:extLst>
          </p:cNvPr>
          <p:cNvPicPr>
            <a:picLocks noChangeAspect="1"/>
          </p:cNvPicPr>
          <p:nvPr/>
        </p:nvPicPr>
        <p:blipFill>
          <a:blip r:embed="rId3"/>
          <a:stretch>
            <a:fillRect/>
          </a:stretch>
        </p:blipFill>
        <p:spPr>
          <a:xfrm>
            <a:off x="1868225" y="2070934"/>
            <a:ext cx="11855765" cy="6981960"/>
          </a:xfrm>
          <a:prstGeom prst="rect">
            <a:avLst/>
          </a:prstGeom>
        </p:spPr>
      </p:pic>
      <p:sp>
        <p:nvSpPr>
          <p:cNvPr id="3" name="TextBox 49">
            <a:extLst>
              <a:ext uri="{FF2B5EF4-FFF2-40B4-BE49-F238E27FC236}">
                <a16:creationId xmlns:a16="http://schemas.microsoft.com/office/drawing/2014/main" id="{3CC5ACF9-CAC0-F342-6351-F87F14C9B24E}"/>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2267662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A05C86F9-70B1-0113-E796-87B80931C671}"/>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ACA31E90-A704-20A7-01FD-A4FFE6B90F8C}"/>
              </a:ext>
            </a:extLst>
          </p:cNvPr>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20" name="TextBox 3">
            <a:extLst>
              <a:ext uri="{FF2B5EF4-FFF2-40B4-BE49-F238E27FC236}">
                <a16:creationId xmlns:a16="http://schemas.microsoft.com/office/drawing/2014/main" id="{0901EAB7-4756-4429-F941-578764AC81F4}"/>
              </a:ext>
            </a:extLst>
          </p:cNvPr>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21" name="TextBox 4">
            <a:extLst>
              <a:ext uri="{FF2B5EF4-FFF2-40B4-BE49-F238E27FC236}">
                <a16:creationId xmlns:a16="http://schemas.microsoft.com/office/drawing/2014/main" id="{04B74EC8-0143-03A8-790D-AC19E017F1E1}"/>
              </a:ext>
            </a:extLst>
          </p:cNvPr>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22" name="TextBox 5">
            <a:extLst>
              <a:ext uri="{FF2B5EF4-FFF2-40B4-BE49-F238E27FC236}">
                <a16:creationId xmlns:a16="http://schemas.microsoft.com/office/drawing/2014/main" id="{890C2269-760E-3D72-3970-1763D7480FAB}"/>
              </a:ext>
            </a:extLst>
          </p:cNvPr>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23" name="Group 6">
            <a:extLst>
              <a:ext uri="{FF2B5EF4-FFF2-40B4-BE49-F238E27FC236}">
                <a16:creationId xmlns:a16="http://schemas.microsoft.com/office/drawing/2014/main" id="{92820F54-F762-8F23-314E-B0BFBACACB40}"/>
              </a:ext>
            </a:extLst>
          </p:cNvPr>
          <p:cNvGrpSpPr>
            <a:grpSpLocks noGrp="1" noUngrp="1" noRot="1" noMove="1" noResize="1"/>
          </p:cNvGrpSpPr>
          <p:nvPr/>
        </p:nvGrpSpPr>
        <p:grpSpPr>
          <a:xfrm>
            <a:off x="482833" y="399657"/>
            <a:ext cx="17349108" cy="9487687"/>
            <a:chOff x="0" y="0"/>
            <a:chExt cx="5293499" cy="2894850"/>
          </a:xfrm>
        </p:grpSpPr>
        <p:sp>
          <p:nvSpPr>
            <p:cNvPr id="24" name="Freeform 7">
              <a:extLst>
                <a:ext uri="{FF2B5EF4-FFF2-40B4-BE49-F238E27FC236}">
                  <a16:creationId xmlns:a16="http://schemas.microsoft.com/office/drawing/2014/main" id="{26E72E3F-67A7-2C5F-AC81-E77BD333BB78}"/>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25" name="TextBox 8">
              <a:extLst>
                <a:ext uri="{FF2B5EF4-FFF2-40B4-BE49-F238E27FC236}">
                  <a16:creationId xmlns:a16="http://schemas.microsoft.com/office/drawing/2014/main" id="{C04146BF-9ADE-D7BC-3337-6182AD8E4F25}"/>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26" name="Freeform 9">
            <a:extLst>
              <a:ext uri="{FF2B5EF4-FFF2-40B4-BE49-F238E27FC236}">
                <a16:creationId xmlns:a16="http://schemas.microsoft.com/office/drawing/2014/main" id="{F77B9940-FE85-7D81-4CD2-B5546F96A6D3}"/>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27" name="TextBox 10">
            <a:extLst>
              <a:ext uri="{FF2B5EF4-FFF2-40B4-BE49-F238E27FC236}">
                <a16:creationId xmlns:a16="http://schemas.microsoft.com/office/drawing/2014/main" id="{B791B123-FC6F-0838-8487-AE6C9D4C6A40}"/>
              </a:ext>
            </a:extLst>
          </p:cNvPr>
          <p:cNvSpPr txBox="1"/>
          <p:nvPr/>
        </p:nvSpPr>
        <p:spPr>
          <a:xfrm>
            <a:off x="1868226" y="1215052"/>
            <a:ext cx="2613124" cy="525785"/>
          </a:xfrm>
          <a:prstGeom prst="rect">
            <a:avLst/>
          </a:prstGeom>
        </p:spPr>
        <p:txBody>
          <a:bodyPr lIns="0" tIns="0" rIns="0" bIns="0" rtlCol="0" anchor="t">
            <a:spAutoFit/>
          </a:bodyPr>
          <a:lstStyle/>
          <a:p>
            <a:pPr algn="l">
              <a:lnSpc>
                <a:spcPts val="4060"/>
              </a:lnSpc>
              <a:spcBef>
                <a:spcPct val="0"/>
              </a:spcBef>
            </a:pP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Reference</a:t>
            </a:r>
          </a:p>
        </p:txBody>
      </p:sp>
      <p:sp>
        <p:nvSpPr>
          <p:cNvPr id="28" name="AutoShape 11">
            <a:extLst>
              <a:ext uri="{FF2B5EF4-FFF2-40B4-BE49-F238E27FC236}">
                <a16:creationId xmlns:a16="http://schemas.microsoft.com/office/drawing/2014/main" id="{A4C82F4F-2101-372B-8715-85B88B534246}"/>
              </a:ext>
            </a:extLst>
          </p:cNvPr>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30" name="AutoShape 13">
            <a:extLst>
              <a:ext uri="{FF2B5EF4-FFF2-40B4-BE49-F238E27FC236}">
                <a16:creationId xmlns:a16="http://schemas.microsoft.com/office/drawing/2014/main" id="{EB699B1D-73D9-15EA-4BC9-E337A47B71A0}"/>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F454170-D883-3788-3358-179570A70F60}"/>
              </a:ext>
            </a:extLst>
          </p:cNvPr>
          <p:cNvSpPr txBox="1"/>
          <p:nvPr/>
        </p:nvSpPr>
        <p:spPr>
          <a:xfrm>
            <a:off x="1870362" y="2768034"/>
            <a:ext cx="15579142"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latin typeface="Times New Roman" panose="02020603050405020304" pitchFamily="18" charset="0"/>
                <a:ea typeface="+mn-lt"/>
                <a:cs typeface="Times New Roman" panose="02020603050405020304" pitchFamily="18" charset="0"/>
              </a:rPr>
              <a:t>Enphase Energy (2024) </a:t>
            </a:r>
            <a:r>
              <a:rPr lang="en-GB" sz="2000" i="1" dirty="0">
                <a:latin typeface="Times New Roman" panose="02020603050405020304" pitchFamily="18" charset="0"/>
                <a:ea typeface="+mn-lt"/>
                <a:cs typeface="Times New Roman" panose="02020603050405020304" pitchFamily="18" charset="0"/>
              </a:rPr>
              <a:t>Enphase Energy acquires </a:t>
            </a:r>
            <a:r>
              <a:rPr lang="en-GB" sz="2000" i="1" dirty="0" err="1">
                <a:latin typeface="Times New Roman" panose="02020603050405020304" pitchFamily="18" charset="0"/>
                <a:ea typeface="+mn-lt"/>
                <a:cs typeface="Times New Roman" panose="02020603050405020304" pitchFamily="18" charset="0"/>
              </a:rPr>
              <a:t>SolarLeadFactory</a:t>
            </a:r>
            <a:r>
              <a:rPr lang="en-GB" sz="2000" dirty="0">
                <a:latin typeface="Times New Roman" panose="02020603050405020304" pitchFamily="18" charset="0"/>
                <a:ea typeface="+mn-lt"/>
                <a:cs typeface="Times New Roman" panose="02020603050405020304" pitchFamily="18" charset="0"/>
              </a:rPr>
              <a:t>. Available at: </a:t>
            </a:r>
            <a:r>
              <a:rPr lang="en-GB" sz="2000" dirty="0">
                <a:latin typeface="Times New Roman" panose="02020603050405020304" pitchFamily="18" charset="0"/>
                <a:ea typeface="+mn-lt"/>
                <a:cs typeface="Times New Roman" panose="02020603050405020304" pitchFamily="18" charset="0"/>
                <a:hlinkClick r:id="rId3">
                  <a:extLst>
                    <a:ext uri="{A12FA001-AC4F-418D-AE19-62706E023703}">
                      <ahyp:hlinkClr xmlns:ahyp="http://schemas.microsoft.com/office/drawing/2018/hyperlinkcolor" val="tx"/>
                    </a:ext>
                  </a:extLst>
                </a:hlinkClick>
              </a:rPr>
              <a:t>https://newsroom.enphase.com/news-releases/news-release-details/enphase-energy-acquires-solarleadfactory/</a:t>
            </a:r>
            <a:r>
              <a:rPr lang="en-GB" sz="2000" dirty="0">
                <a:latin typeface="Times New Roman" panose="02020603050405020304" pitchFamily="18" charset="0"/>
                <a:ea typeface="+mn-lt"/>
                <a:cs typeface="Times New Roman" panose="02020603050405020304" pitchFamily="18" charset="0"/>
              </a:rPr>
              <a:t> (Accessed: 29 October 2025).</a:t>
            </a:r>
            <a:endParaRPr lang="en-GB" sz="1500" dirty="0">
              <a:latin typeface="Times New Roman" panose="02020603050405020304" pitchFamily="18" charset="0"/>
              <a:ea typeface="Calibri"/>
              <a:cs typeface="Times New Roman" panose="02020603050405020304" pitchFamily="18" charset="0"/>
            </a:endParaRPr>
          </a:p>
          <a:p>
            <a:endParaRPr lang="en-GB" sz="2000" dirty="0">
              <a:latin typeface="Times New Roman" panose="02020603050405020304" pitchFamily="18" charset="0"/>
              <a:ea typeface="+mn-lt"/>
              <a:cs typeface="Times New Roman" panose="02020603050405020304" pitchFamily="18" charset="0"/>
            </a:endParaRPr>
          </a:p>
          <a:p>
            <a:r>
              <a:rPr lang="en-GB" sz="2000" dirty="0">
                <a:latin typeface="Times New Roman" panose="02020603050405020304" pitchFamily="18" charset="0"/>
                <a:ea typeface="+mn-lt"/>
                <a:cs typeface="Times New Roman" panose="02020603050405020304" pitchFamily="18" charset="0"/>
              </a:rPr>
              <a:t>International Energy Agency (2024) </a:t>
            </a:r>
            <a:r>
              <a:rPr lang="en-GB" sz="2000" i="1" dirty="0">
                <a:latin typeface="Times New Roman" panose="02020603050405020304" pitchFamily="18" charset="0"/>
                <a:ea typeface="+mn-lt"/>
                <a:cs typeface="Times New Roman" panose="02020603050405020304" pitchFamily="18" charset="0"/>
              </a:rPr>
              <a:t>Renewables 2024 – Analysis</a:t>
            </a:r>
            <a:r>
              <a:rPr lang="en-GB" sz="2000" dirty="0">
                <a:latin typeface="Times New Roman" panose="02020603050405020304" pitchFamily="18" charset="0"/>
                <a:ea typeface="+mn-lt"/>
                <a:cs typeface="Times New Roman" panose="02020603050405020304" pitchFamily="18" charset="0"/>
              </a:rPr>
              <a:t>. Available at: </a:t>
            </a:r>
            <a:r>
              <a:rPr lang="en-GB" sz="2000" dirty="0">
                <a:latin typeface="Times New Roman" panose="02020603050405020304" pitchFamily="18" charset="0"/>
                <a:ea typeface="+mn-lt"/>
                <a:cs typeface="Times New Roman" panose="02020603050405020304" pitchFamily="18" charset="0"/>
                <a:hlinkClick r:id="rId4">
                  <a:extLst>
                    <a:ext uri="{A12FA001-AC4F-418D-AE19-62706E023703}">
                      <ahyp:hlinkClr xmlns:ahyp="http://schemas.microsoft.com/office/drawing/2018/hyperlinkcolor" val="tx"/>
                    </a:ext>
                  </a:extLst>
                </a:hlinkClick>
              </a:rPr>
              <a:t>https://www.iea.org/reports/renewables-2024</a:t>
            </a:r>
            <a:r>
              <a:rPr lang="en-GB" sz="2000" dirty="0">
                <a:latin typeface="Times New Roman" panose="02020603050405020304" pitchFamily="18" charset="0"/>
                <a:ea typeface="+mn-lt"/>
                <a:cs typeface="Times New Roman" panose="02020603050405020304" pitchFamily="18" charset="0"/>
              </a:rPr>
              <a:t> (Accessed: 29 October 2025).</a:t>
            </a:r>
            <a:endParaRPr lang="en-GB" sz="1400" dirty="0">
              <a:latin typeface="Times New Roman" panose="02020603050405020304" pitchFamily="18" charset="0"/>
              <a:ea typeface="Calibri"/>
              <a:cs typeface="Times New Roman" panose="02020603050405020304" pitchFamily="18" charset="0"/>
            </a:endParaRPr>
          </a:p>
          <a:p>
            <a:endParaRPr lang="en-GB" sz="2000" dirty="0">
              <a:latin typeface="Times New Roman" panose="02020603050405020304" pitchFamily="18" charset="0"/>
              <a:ea typeface="+mn-lt"/>
              <a:cs typeface="Times New Roman" panose="02020603050405020304" pitchFamily="18" charset="0"/>
            </a:endParaRPr>
          </a:p>
          <a:p>
            <a:r>
              <a:rPr lang="en-GB" sz="2000" dirty="0">
                <a:latin typeface="Times New Roman" panose="02020603050405020304" pitchFamily="18" charset="0"/>
                <a:ea typeface="+mn-lt"/>
                <a:cs typeface="Times New Roman" panose="02020603050405020304" pitchFamily="18" charset="0"/>
              </a:rPr>
              <a:t>Lazard (2025) </a:t>
            </a:r>
            <a:r>
              <a:rPr lang="en-GB" sz="2000" i="1" dirty="0">
                <a:latin typeface="Times New Roman" panose="02020603050405020304" pitchFamily="18" charset="0"/>
                <a:ea typeface="+mn-lt"/>
                <a:cs typeface="Times New Roman" panose="02020603050405020304" pitchFamily="18" charset="0"/>
              </a:rPr>
              <a:t>Lazard's levelized cost of energy analysis—version 19.0</a:t>
            </a:r>
            <a:r>
              <a:rPr lang="en-GB" sz="2000" dirty="0">
                <a:latin typeface="Times New Roman" panose="02020603050405020304" pitchFamily="18" charset="0"/>
                <a:ea typeface="+mn-lt"/>
                <a:cs typeface="Times New Roman" panose="02020603050405020304" pitchFamily="18" charset="0"/>
              </a:rPr>
              <a:t>. Available at: </a:t>
            </a:r>
            <a:r>
              <a:rPr lang="en-GB" sz="2000" dirty="0">
                <a:latin typeface="Times New Roman" panose="02020603050405020304" pitchFamily="18" charset="0"/>
                <a:ea typeface="+mn-lt"/>
                <a:cs typeface="Times New Roman" panose="02020603050405020304" pitchFamily="18" charset="0"/>
                <a:hlinkClick r:id="rId5">
                  <a:extLst>
                    <a:ext uri="{A12FA001-AC4F-418D-AE19-62706E023703}">
                      <ahyp:hlinkClr xmlns:ahyp="http://schemas.microsoft.com/office/drawing/2018/hyperlinkcolor" val="tx"/>
                    </a:ext>
                  </a:extLst>
                </a:hlinkClick>
              </a:rPr>
              <a:t>https://www.lazard.com/research/</a:t>
            </a:r>
            <a:r>
              <a:rPr lang="en-GB" sz="2000" dirty="0">
                <a:latin typeface="Times New Roman" panose="02020603050405020304" pitchFamily="18" charset="0"/>
                <a:ea typeface="+mn-lt"/>
                <a:cs typeface="Times New Roman" panose="02020603050405020304" pitchFamily="18" charset="0"/>
              </a:rPr>
              <a:t> (Accessed: 29 October 2025).</a:t>
            </a:r>
            <a:endParaRPr lang="en-GB" sz="2000" dirty="0">
              <a:latin typeface="Times New Roman" panose="02020603050405020304" pitchFamily="18" charset="0"/>
              <a:ea typeface="Calibri"/>
              <a:cs typeface="Times New Roman" panose="02020603050405020304" pitchFamily="18" charset="0"/>
            </a:endParaRPr>
          </a:p>
          <a:p>
            <a:endParaRPr lang="en-GB" sz="2000" dirty="0">
              <a:latin typeface="Times New Roman" panose="02020603050405020304" pitchFamily="18" charset="0"/>
              <a:ea typeface="+mn-lt"/>
              <a:cs typeface="Times New Roman" panose="02020603050405020304" pitchFamily="18" charset="0"/>
            </a:endParaRPr>
          </a:p>
          <a:p>
            <a:r>
              <a:rPr lang="en-GB" sz="2000" dirty="0">
                <a:latin typeface="Times New Roman" panose="02020603050405020304" pitchFamily="18" charset="0"/>
                <a:ea typeface="+mn-lt"/>
                <a:cs typeface="Times New Roman" panose="02020603050405020304" pitchFamily="18" charset="0"/>
              </a:rPr>
              <a:t>Enphase Energy (2025) </a:t>
            </a:r>
            <a:r>
              <a:rPr lang="en-GB" sz="2000" i="1" dirty="0">
                <a:latin typeface="Times New Roman" panose="02020603050405020304" pitchFamily="18" charset="0"/>
                <a:ea typeface="+mn-lt"/>
                <a:cs typeface="Times New Roman" panose="02020603050405020304" pitchFamily="18" charset="0"/>
              </a:rPr>
              <a:t>Enphase Energy reports financial results for the first quarter of 2025</a:t>
            </a:r>
            <a:r>
              <a:rPr lang="en-GB" sz="2000" dirty="0">
                <a:latin typeface="Times New Roman" panose="02020603050405020304" pitchFamily="18" charset="0"/>
                <a:ea typeface="+mn-lt"/>
                <a:cs typeface="Times New Roman" panose="02020603050405020304" pitchFamily="18" charset="0"/>
              </a:rPr>
              <a:t>. Available at: </a:t>
            </a:r>
            <a:r>
              <a:rPr lang="en-GB" sz="2000" dirty="0">
                <a:latin typeface="Times New Roman" panose="02020603050405020304" pitchFamily="18" charset="0"/>
                <a:ea typeface="+mn-lt"/>
                <a:cs typeface="Times New Roman" panose="02020603050405020304" pitchFamily="18" charset="0"/>
                <a:hlinkClick r:id="rId6">
                  <a:extLst>
                    <a:ext uri="{A12FA001-AC4F-418D-AE19-62706E023703}">
                      <ahyp:hlinkClr xmlns:ahyp="http://schemas.microsoft.com/office/drawing/2018/hyperlinkcolor" val="tx"/>
                    </a:ext>
                  </a:extLst>
                </a:hlinkClick>
              </a:rPr>
              <a:t>https://investor.enphase.com/news-releases/news-release-details/enphase-energy-reports-financial-results-first-quarter-2025</a:t>
            </a:r>
            <a:r>
              <a:rPr lang="en-GB" sz="2000" dirty="0">
                <a:latin typeface="Times New Roman" panose="02020603050405020304" pitchFamily="18" charset="0"/>
                <a:ea typeface="+mn-lt"/>
                <a:cs typeface="Times New Roman" panose="02020603050405020304" pitchFamily="18" charset="0"/>
              </a:rPr>
              <a:t> (Accessed: 29 October 2025).</a:t>
            </a:r>
            <a:endParaRPr lang="en-GB" sz="2000" dirty="0">
              <a:latin typeface="Times New Roman" panose="02020603050405020304" pitchFamily="18" charset="0"/>
              <a:ea typeface="Calibri"/>
              <a:cs typeface="Times New Roman" panose="02020603050405020304" pitchFamily="18" charset="0"/>
            </a:endParaRPr>
          </a:p>
          <a:p>
            <a:endParaRPr lang="en-GB" sz="2000" dirty="0">
              <a:latin typeface="Times New Roman" panose="02020603050405020304" pitchFamily="18" charset="0"/>
              <a:ea typeface="+mn-lt"/>
              <a:cs typeface="Times New Roman" panose="02020603050405020304" pitchFamily="18" charset="0"/>
            </a:endParaRPr>
          </a:p>
          <a:p>
            <a:r>
              <a:rPr lang="en-GB" sz="2000" dirty="0">
                <a:latin typeface="Times New Roman" panose="02020603050405020304" pitchFamily="18" charset="0"/>
                <a:ea typeface="+mn-lt"/>
                <a:cs typeface="Times New Roman" panose="02020603050405020304" pitchFamily="18" charset="0"/>
              </a:rPr>
              <a:t>Enphase Energy (2025) </a:t>
            </a:r>
            <a:r>
              <a:rPr lang="en-GB" sz="2000" i="1" dirty="0">
                <a:latin typeface="Times New Roman" panose="02020603050405020304" pitchFamily="18" charset="0"/>
                <a:ea typeface="+mn-lt"/>
                <a:cs typeface="Times New Roman" panose="02020603050405020304" pitchFamily="18" charset="0"/>
              </a:rPr>
              <a:t>Enphase Energy reports financial results for the second quarter of 2025</a:t>
            </a:r>
            <a:r>
              <a:rPr lang="en-GB" sz="2000" dirty="0">
                <a:latin typeface="Times New Roman" panose="02020603050405020304" pitchFamily="18" charset="0"/>
                <a:ea typeface="+mn-lt"/>
                <a:cs typeface="Times New Roman" panose="02020603050405020304" pitchFamily="18" charset="0"/>
              </a:rPr>
              <a:t>. Available at: </a:t>
            </a:r>
            <a:r>
              <a:rPr lang="en-GB" sz="2000" dirty="0">
                <a:latin typeface="Times New Roman" panose="02020603050405020304" pitchFamily="18" charset="0"/>
                <a:ea typeface="+mn-lt"/>
                <a:cs typeface="Times New Roman" panose="02020603050405020304" pitchFamily="18" charset="0"/>
                <a:hlinkClick r:id="rId7">
                  <a:extLst>
                    <a:ext uri="{A12FA001-AC4F-418D-AE19-62706E023703}">
                      <ahyp:hlinkClr xmlns:ahyp="http://schemas.microsoft.com/office/drawing/2018/hyperlinkcolor" val="tx"/>
                    </a:ext>
                  </a:extLst>
                </a:hlinkClick>
              </a:rPr>
              <a:t>https://investor.enphase.com/news-releases/news-release-details/enphase-energy-reports-financial-results-second-quarter-2025</a:t>
            </a:r>
            <a:r>
              <a:rPr lang="en-GB" sz="2000" dirty="0">
                <a:latin typeface="Times New Roman" panose="02020603050405020304" pitchFamily="18" charset="0"/>
                <a:ea typeface="+mn-lt"/>
                <a:cs typeface="Times New Roman" panose="02020603050405020304" pitchFamily="18" charset="0"/>
              </a:rPr>
              <a:t>(Accessed: 29 October 2025).</a:t>
            </a:r>
            <a:endParaRPr lang="en-GB" sz="2000" dirty="0">
              <a:latin typeface="Times New Roman" panose="02020603050405020304" pitchFamily="18" charset="0"/>
              <a:ea typeface="Calibri"/>
              <a:cs typeface="Times New Roman" panose="02020603050405020304" pitchFamily="18" charset="0"/>
            </a:endParaRPr>
          </a:p>
          <a:p>
            <a:endParaRPr lang="en-GB" sz="2000" dirty="0">
              <a:latin typeface="Times New Roman" panose="02020603050405020304" pitchFamily="18" charset="0"/>
              <a:ea typeface="+mn-lt"/>
              <a:cs typeface="Times New Roman" panose="02020603050405020304" pitchFamily="18" charset="0"/>
            </a:endParaRPr>
          </a:p>
          <a:p>
            <a:r>
              <a:rPr lang="en-GB" sz="2000" dirty="0">
                <a:latin typeface="Times New Roman" panose="02020603050405020304" pitchFamily="18" charset="0"/>
                <a:ea typeface="+mn-lt"/>
                <a:cs typeface="Times New Roman" panose="02020603050405020304" pitchFamily="18" charset="0"/>
              </a:rPr>
              <a:t>Lawrence Berkeley National Laboratory (2024) </a:t>
            </a:r>
            <a:r>
              <a:rPr lang="en-GB" sz="2000" i="1" dirty="0">
                <a:latin typeface="Times New Roman" panose="02020603050405020304" pitchFamily="18" charset="0"/>
                <a:ea typeface="+mn-lt"/>
                <a:cs typeface="Times New Roman" panose="02020603050405020304" pitchFamily="18" charset="0"/>
              </a:rPr>
              <a:t>Queued up: 2024 edition</a:t>
            </a:r>
            <a:r>
              <a:rPr lang="en-GB" sz="2000" dirty="0">
                <a:latin typeface="Times New Roman" panose="02020603050405020304" pitchFamily="18" charset="0"/>
                <a:ea typeface="+mn-lt"/>
                <a:cs typeface="Times New Roman" panose="02020603050405020304" pitchFamily="18" charset="0"/>
              </a:rPr>
              <a:t>. Available at: </a:t>
            </a:r>
            <a:r>
              <a:rPr lang="en-GB" sz="2000" dirty="0">
                <a:latin typeface="Times New Roman" panose="02020603050405020304" pitchFamily="18" charset="0"/>
                <a:ea typeface="+mn-lt"/>
                <a:cs typeface="Times New Roman" panose="02020603050405020304" pitchFamily="18" charset="0"/>
                <a:hlinkClick r:id="rId8">
                  <a:extLst>
                    <a:ext uri="{A12FA001-AC4F-418D-AE19-62706E023703}">
                      <ahyp:hlinkClr xmlns:ahyp="http://schemas.microsoft.com/office/drawing/2018/hyperlinkcolor" val="tx"/>
                    </a:ext>
                  </a:extLst>
                </a:hlinkClick>
              </a:rPr>
              <a:t>https://emp.lbl.gov/sites/default/files/2024-04/Queued%20Up%202024%20Edition_0.pdf</a:t>
            </a:r>
            <a:r>
              <a:rPr lang="en-GB" sz="2000" dirty="0">
                <a:latin typeface="Times New Roman" panose="02020603050405020304" pitchFamily="18" charset="0"/>
                <a:ea typeface="+mn-lt"/>
                <a:cs typeface="Times New Roman" panose="02020603050405020304" pitchFamily="18" charset="0"/>
              </a:rPr>
              <a:t> (Accessed: 29 October 2025).</a:t>
            </a:r>
            <a:endParaRPr lang="en-GB" sz="2000" dirty="0">
              <a:latin typeface="Times New Roman" panose="02020603050405020304" pitchFamily="18" charset="0"/>
              <a:ea typeface="Calibri"/>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ea typeface="Calibri"/>
              <a:cs typeface="Times New Roman" panose="02020603050405020304" pitchFamily="18" charset="0"/>
            </a:endParaRPr>
          </a:p>
          <a:p>
            <a:endParaRPr lang="en-GB" sz="2000" dirty="0">
              <a:latin typeface="Times New Roman" panose="02020603050405020304" pitchFamily="18" charset="0"/>
              <a:ea typeface="Calibri"/>
              <a:cs typeface="Times New Roman" panose="02020603050405020304" pitchFamily="18" charset="0"/>
            </a:endParaRPr>
          </a:p>
        </p:txBody>
      </p:sp>
      <p:sp>
        <p:nvSpPr>
          <p:cNvPr id="4" name="TextBox 49">
            <a:extLst>
              <a:ext uri="{FF2B5EF4-FFF2-40B4-BE49-F238E27FC236}">
                <a16:creationId xmlns:a16="http://schemas.microsoft.com/office/drawing/2014/main" id="{4AEFB4A2-5231-5FA9-4358-CA8D91F8EEF0}"/>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3658384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AA9D90E7-2059-EF7D-9229-087BF4737A7D}"/>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5D2F605B-DCAF-3542-16B0-2D1620FABAE0}"/>
              </a:ext>
            </a:extLst>
          </p:cNvPr>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20" name="TextBox 3">
            <a:extLst>
              <a:ext uri="{FF2B5EF4-FFF2-40B4-BE49-F238E27FC236}">
                <a16:creationId xmlns:a16="http://schemas.microsoft.com/office/drawing/2014/main" id="{0DA91923-1F8C-F863-6608-4B8AC79B4FAF}"/>
              </a:ext>
            </a:extLst>
          </p:cNvPr>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21" name="TextBox 4">
            <a:extLst>
              <a:ext uri="{FF2B5EF4-FFF2-40B4-BE49-F238E27FC236}">
                <a16:creationId xmlns:a16="http://schemas.microsoft.com/office/drawing/2014/main" id="{7478D77F-93B3-38D6-2156-3E3885D08D7F}"/>
              </a:ext>
            </a:extLst>
          </p:cNvPr>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22" name="TextBox 5">
            <a:extLst>
              <a:ext uri="{FF2B5EF4-FFF2-40B4-BE49-F238E27FC236}">
                <a16:creationId xmlns:a16="http://schemas.microsoft.com/office/drawing/2014/main" id="{C6502D2D-CA3B-87FE-2AD1-41C895222897}"/>
              </a:ext>
            </a:extLst>
          </p:cNvPr>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23" name="Group 6">
            <a:extLst>
              <a:ext uri="{FF2B5EF4-FFF2-40B4-BE49-F238E27FC236}">
                <a16:creationId xmlns:a16="http://schemas.microsoft.com/office/drawing/2014/main" id="{9D7F3C67-725A-C1FB-E2A3-41463F503F30}"/>
              </a:ext>
            </a:extLst>
          </p:cNvPr>
          <p:cNvGrpSpPr>
            <a:grpSpLocks noGrp="1" noUngrp="1" noRot="1" noMove="1" noResize="1"/>
          </p:cNvGrpSpPr>
          <p:nvPr/>
        </p:nvGrpSpPr>
        <p:grpSpPr>
          <a:xfrm>
            <a:off x="482833" y="399657"/>
            <a:ext cx="17349108" cy="9487687"/>
            <a:chOff x="0" y="0"/>
            <a:chExt cx="5293499" cy="2894850"/>
          </a:xfrm>
        </p:grpSpPr>
        <p:sp>
          <p:nvSpPr>
            <p:cNvPr id="24" name="Freeform 7">
              <a:extLst>
                <a:ext uri="{FF2B5EF4-FFF2-40B4-BE49-F238E27FC236}">
                  <a16:creationId xmlns:a16="http://schemas.microsoft.com/office/drawing/2014/main" id="{C3BC6C5D-7F78-C105-2673-55BF9B90FF4A}"/>
                </a:ext>
              </a:extLst>
            </p:cNvPr>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25" name="TextBox 8">
              <a:extLst>
                <a:ext uri="{FF2B5EF4-FFF2-40B4-BE49-F238E27FC236}">
                  <a16:creationId xmlns:a16="http://schemas.microsoft.com/office/drawing/2014/main" id="{0E240F15-7B68-B6A0-7B22-AC1E376CB585}"/>
                </a:ext>
              </a:extLst>
            </p:cNvPr>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26" name="Freeform 9">
            <a:extLst>
              <a:ext uri="{FF2B5EF4-FFF2-40B4-BE49-F238E27FC236}">
                <a16:creationId xmlns:a16="http://schemas.microsoft.com/office/drawing/2014/main" id="{0ADDE371-C9F3-88DD-3A76-FDC2200062F8}"/>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2"/>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27" name="TextBox 10">
            <a:extLst>
              <a:ext uri="{FF2B5EF4-FFF2-40B4-BE49-F238E27FC236}">
                <a16:creationId xmlns:a16="http://schemas.microsoft.com/office/drawing/2014/main" id="{D8930406-EACB-4E5A-5CE3-1D5529B6B156}"/>
              </a:ext>
            </a:extLst>
          </p:cNvPr>
          <p:cNvSpPr txBox="1"/>
          <p:nvPr/>
        </p:nvSpPr>
        <p:spPr>
          <a:xfrm>
            <a:off x="1868226" y="1215052"/>
            <a:ext cx="2613124" cy="553998"/>
          </a:xfrm>
          <a:prstGeom prst="rect">
            <a:avLst/>
          </a:prstGeom>
        </p:spPr>
        <p:txBody>
          <a:bodyPr lIns="0" tIns="0" rIns="0" bIns="0" rtlCol="0" anchor="t">
            <a:spAutoFit/>
          </a:bodyPr>
          <a:lstStyle/>
          <a:p>
            <a:pPr algn="l" rtl="0"/>
            <a:r>
              <a:rPr lang="en-HK" sz="3600" i="0" dirty="0">
                <a:solidFill>
                  <a:srgbClr val="000000"/>
                </a:solidFill>
                <a:effectLst/>
                <a:latin typeface="Times New Roman" panose="02020603050405020304" pitchFamily="18" charset="0"/>
                <a:cs typeface="Times New Roman" panose="02020603050405020304" pitchFamily="18" charset="0"/>
              </a:rPr>
              <a:t>Disclaimer</a:t>
            </a:r>
          </a:p>
        </p:txBody>
      </p:sp>
      <p:sp>
        <p:nvSpPr>
          <p:cNvPr id="28" name="AutoShape 11">
            <a:extLst>
              <a:ext uri="{FF2B5EF4-FFF2-40B4-BE49-F238E27FC236}">
                <a16:creationId xmlns:a16="http://schemas.microsoft.com/office/drawing/2014/main" id="{CB12182A-006E-F48C-A506-C7B8BE165010}"/>
              </a:ext>
            </a:extLst>
          </p:cNvPr>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30" name="AutoShape 13">
            <a:extLst>
              <a:ext uri="{FF2B5EF4-FFF2-40B4-BE49-F238E27FC236}">
                <a16:creationId xmlns:a16="http://schemas.microsoft.com/office/drawing/2014/main" id="{D381054C-B6E7-DBDE-A08A-CA5BF9EF11CE}"/>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BDD7F0A-7D62-9A06-6B9F-5F6672AB81DD}"/>
              </a:ext>
            </a:extLst>
          </p:cNvPr>
          <p:cNvSpPr txBox="1"/>
          <p:nvPr/>
        </p:nvSpPr>
        <p:spPr>
          <a:xfrm>
            <a:off x="1292716" y="2320108"/>
            <a:ext cx="15579142" cy="74481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HK" sz="2000" b="1" i="0" dirty="0">
                <a:solidFill>
                  <a:srgbClr val="000000"/>
                </a:solidFill>
                <a:effectLst/>
                <a:latin typeface="Times New Roman" panose="02020603050405020304" pitchFamily="18" charset="0"/>
                <a:cs typeface="Times New Roman" panose="02020603050405020304" pitchFamily="18" charset="0"/>
              </a:rPr>
              <a:t>Analyst Disclaimer</a:t>
            </a:r>
            <a:endParaRPr lang="en-HK" sz="2000" dirty="0">
              <a:effectLst/>
              <a:latin typeface="Times New Roman" panose="02020603050405020304" pitchFamily="18" charset="0"/>
              <a:cs typeface="Times New Roman" panose="02020603050405020304" pitchFamily="18" charset="0"/>
            </a:endParaRPr>
          </a:p>
          <a:p>
            <a:pPr algn="l" rtl="0"/>
            <a:r>
              <a:rPr lang="en-HK" sz="2000" b="0" i="0" dirty="0">
                <a:solidFill>
                  <a:srgbClr val="000000"/>
                </a:solidFill>
                <a:effectLst/>
                <a:latin typeface="Times New Roman" panose="02020603050405020304" pitchFamily="18" charset="0"/>
                <a:cs typeface="Times New Roman" panose="02020603050405020304" pitchFamily="18" charset="0"/>
              </a:rPr>
              <a:t>This communication is prepared by students at the Newcastle University for the sole and educational purpose of the Newcastle University Investment Fund. The Newcastle University Investment Fund is not authorised, supervised, nor regulated by any financial authority in the world to provide financial services or advisory. The Newcastle University Investment Fund may hold a position in any security mentioned and may change that position at any</a:t>
            </a:r>
            <a:r>
              <a:rPr lang="en-HK" sz="2000" dirty="0">
                <a:latin typeface="Times New Roman" panose="02020603050405020304" pitchFamily="18" charset="0"/>
                <a:cs typeface="Times New Roman" panose="02020603050405020304" pitchFamily="18" charset="0"/>
              </a:rPr>
              <a:t> </a:t>
            </a:r>
            <a:r>
              <a:rPr lang="en-HK" sz="2000" b="0" i="0" dirty="0">
                <a:solidFill>
                  <a:srgbClr val="000000"/>
                </a:solidFill>
                <a:effectLst/>
                <a:latin typeface="Times New Roman" panose="02020603050405020304" pitchFamily="18" charset="0"/>
                <a:cs typeface="Times New Roman" panose="02020603050405020304" pitchFamily="18" charset="0"/>
              </a:rPr>
              <a:t>time, without public announcement.</a:t>
            </a:r>
          </a:p>
          <a:p>
            <a:pPr algn="l" rtl="0"/>
            <a:endParaRPr lang="en-HK" sz="2000" dirty="0">
              <a:effectLst/>
              <a:latin typeface="Times New Roman" panose="02020603050405020304" pitchFamily="18" charset="0"/>
              <a:cs typeface="Times New Roman" panose="02020603050405020304" pitchFamily="18" charset="0"/>
            </a:endParaRPr>
          </a:p>
          <a:p>
            <a:pPr algn="l" rtl="0"/>
            <a:r>
              <a:rPr lang="en-HK" sz="2000" b="1" i="0" dirty="0">
                <a:solidFill>
                  <a:srgbClr val="000000"/>
                </a:solidFill>
                <a:effectLst/>
                <a:latin typeface="Times New Roman" panose="02020603050405020304" pitchFamily="18" charset="0"/>
                <a:cs typeface="Times New Roman" panose="02020603050405020304" pitchFamily="18" charset="0"/>
              </a:rPr>
              <a:t>General Disclaimer</a:t>
            </a:r>
            <a:endParaRPr lang="en-HK" sz="2000" dirty="0">
              <a:effectLst/>
              <a:latin typeface="Times New Roman" panose="02020603050405020304" pitchFamily="18" charset="0"/>
              <a:cs typeface="Times New Roman" panose="02020603050405020304" pitchFamily="18" charset="0"/>
            </a:endParaRPr>
          </a:p>
          <a:p>
            <a:pPr algn="l" rtl="0"/>
            <a:r>
              <a:rPr lang="en-HK" sz="2000" b="0" i="0" dirty="0">
                <a:solidFill>
                  <a:srgbClr val="000000"/>
                </a:solidFill>
                <a:effectLst/>
                <a:latin typeface="Times New Roman" panose="02020603050405020304" pitchFamily="18" charset="0"/>
                <a:cs typeface="Times New Roman" panose="02020603050405020304" pitchFamily="18" charset="0"/>
              </a:rPr>
              <a:t>The information in this pitch is not intended to be and does not constitute investment or financial advice. You should not make any decision based on the information provided without conducting independent due diligence. This communication may contain an investment recommendation, however, the Newcastle University Investment Fund and all members disclaim all liability for providing this investment recommendation and accept no liability whatsoever for any direct, indirect or consequential loss arising from its use. Not all investment strategies are appropriate at all times, and past performance is not necessarily a guide to future performance. You should consider yourself warned that following the investment recommendations of untrained University students is unlikely to be a profitable investment strategy.</a:t>
            </a:r>
          </a:p>
          <a:p>
            <a:pPr algn="l" rtl="0"/>
            <a:endParaRPr lang="en-HK" sz="2000" dirty="0">
              <a:effectLst/>
              <a:latin typeface="Times New Roman" panose="02020603050405020304" pitchFamily="18" charset="0"/>
              <a:cs typeface="Times New Roman" panose="02020603050405020304" pitchFamily="18" charset="0"/>
            </a:endParaRPr>
          </a:p>
          <a:p>
            <a:pPr algn="l" rtl="0"/>
            <a:r>
              <a:rPr lang="en-HK" sz="2000" b="0" i="0" dirty="0">
                <a:solidFill>
                  <a:srgbClr val="000000"/>
                </a:solidFill>
                <a:effectLst/>
                <a:latin typeface="Times New Roman" panose="02020603050405020304" pitchFamily="18" charset="0"/>
                <a:cs typeface="Times New Roman" panose="02020603050405020304" pitchFamily="18" charset="0"/>
              </a:rPr>
              <a:t>Any opinions or estimates expressed herein reflect the judgment of the author(s) as of the date the presentation was prepared and are subject to change at any time without notice. Unless otherwise stated, the information or opinions presented, or the research or analysis upon which they are based, are valid at the point of publication, as they are not updated in real time to take account of changes in the financial markets or new news about the issuer or financial instruments. The author(s) may provide hyperlinks to websites of entities mentioned in this investment recommendation, however the</a:t>
            </a:r>
          </a:p>
          <a:p>
            <a:pPr algn="l" rtl="0"/>
            <a:r>
              <a:rPr lang="en-HK" sz="2000" b="0" i="0" dirty="0">
                <a:solidFill>
                  <a:srgbClr val="000000"/>
                </a:solidFill>
                <a:effectLst/>
                <a:latin typeface="Times New Roman" panose="02020603050405020304" pitchFamily="18" charset="0"/>
                <a:cs typeface="Times New Roman" panose="02020603050405020304" pitchFamily="18" charset="0"/>
              </a:rPr>
              <a:t>inclusion of a link does not imply that the Newcastle University Investment Fund endorses, recommends or approves any material on the linked page or accessible from it.</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ea typeface="Calibri"/>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ea typeface="Calibri"/>
              <a:cs typeface="Times New Roman" panose="02020603050405020304" pitchFamily="18" charset="0"/>
            </a:endParaRPr>
          </a:p>
          <a:p>
            <a:endParaRPr lang="en-GB" sz="2000" dirty="0">
              <a:latin typeface="Times New Roman" panose="02020603050405020304" pitchFamily="18" charset="0"/>
              <a:ea typeface="Calibri"/>
              <a:cs typeface="Times New Roman" panose="02020603050405020304" pitchFamily="18" charset="0"/>
            </a:endParaRPr>
          </a:p>
        </p:txBody>
      </p:sp>
      <p:sp>
        <p:nvSpPr>
          <p:cNvPr id="4" name="TextBox 49">
            <a:extLst>
              <a:ext uri="{FF2B5EF4-FFF2-40B4-BE49-F238E27FC236}">
                <a16:creationId xmlns:a16="http://schemas.microsoft.com/office/drawing/2014/main" id="{7B50BD94-DF08-03B8-C6B4-C8D2D7C8D16D}"/>
              </a:ext>
            </a:extLst>
          </p:cNvPr>
          <p:cNvSpPr txBox="1"/>
          <p:nvPr/>
        </p:nvSpPr>
        <p:spPr>
          <a:xfrm>
            <a:off x="3233349" y="9275233"/>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Enphase Energy, Inc – (Nasdaq</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ENPH)</a:t>
            </a:r>
          </a:p>
        </p:txBody>
      </p:sp>
    </p:spTree>
    <p:extLst>
      <p:ext uri="{BB962C8B-B14F-4D97-AF65-F5344CB8AC3E}">
        <p14:creationId xmlns:p14="http://schemas.microsoft.com/office/powerpoint/2010/main" val="347181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am Sirius Enphase Pitch" id="{6B2DBAD3-D0B6-2649-9BAB-AA3BC38B8CA5}" vid="{A1162FFB-FC6E-1B40-B943-795368C15E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1904</TotalTime>
  <Words>4086</Words>
  <Application>Microsoft Macintosh PowerPoint</Application>
  <PresentationFormat>Custom</PresentationFormat>
  <Paragraphs>325</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Times New Roman</vt:lpstr>
      <vt:lpstr>Calibri</vt:lpstr>
      <vt:lpstr>Cormorant Garamond</vt:lpstr>
      <vt:lpstr>Aptos</vt:lpstr>
      <vt:lpstr>Montserrat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Enphase Stock Pitch</dc:title>
  <cp:lastModifiedBy>Oscar Peters (UG)</cp:lastModifiedBy>
  <cp:revision>42</cp:revision>
  <dcterms:created xsi:type="dcterms:W3CDTF">2006-08-16T00:00:00Z</dcterms:created>
  <dcterms:modified xsi:type="dcterms:W3CDTF">2025-11-25T10:05:50Z</dcterms:modified>
  <dc:identifier>DAG3ArUgUk4</dc:identifier>
</cp:coreProperties>
</file>