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5.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8.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drawings/drawing1.xml" ContentType="application/vnd.openxmlformats-officedocument.drawingml.chartshapes+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diagrams/data6.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diagrams/data4.xml" ContentType="application/vnd.openxmlformats-officedocument.drawingml.diagramData+xml"/>
  <Override PartName="/ppt/diagrams/layout30.xml" ContentType="application/vnd.openxmlformats-officedocument.drawingml.diagramLayout+xml"/>
  <Override PartName="/ppt/diagrams/quickStyle30.xml" ContentType="application/vnd.openxmlformats-officedocument.drawingml.diagramStyle+xml"/>
  <Override PartName="/ppt/diagrams/colors30.xml" ContentType="application/vnd.openxmlformats-officedocument.drawingml.diagramColor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7" r:id="rId11"/>
    <p:sldId id="269" r:id="rId12"/>
  </p:sldIdLst>
  <p:sldSz cx="18288000" cy="10287000"/>
  <p:notesSz cx="6858000" cy="9144000"/>
  <p:embeddedFontLst>
    <p:embeddedFont>
      <p:font typeface="Cambria Math" panose="02040503050406030204" pitchFamily="18" charset="0"/>
      <p:regular r:id="rId14"/>
    </p:embeddedFont>
    <p:embeddedFont>
      <p:font typeface="Montserrat" pitchFamily="2" charset="77"/>
      <p:regular r:id="rId15"/>
      <p:bold r:id="rId16"/>
      <p:italic r:id="rId17"/>
      <p:boldItalic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3487B"/>
    <a:srgbClr val="F2F2F2"/>
    <a:srgbClr val="D9D9D9"/>
    <a:srgbClr val="29B3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8541A78-0CC6-4F4B-AE5B-BE79FD6C883E}" v="24" dt="2025-11-25T09:59:57.92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483"/>
    <p:restoredTop sz="94626"/>
  </p:normalViewPr>
  <p:slideViewPr>
    <p:cSldViewPr snapToGrid="0">
      <p:cViewPr varScale="1">
        <p:scale>
          <a:sx n="80" d="100"/>
          <a:sy n="80" d="100"/>
        </p:scale>
        <p:origin x="896" y="21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oleObject" Target="https://newcastle-my.sharepoint.com/personal/c3036883_newcastle_ac_uk/Documents/NUIF%20DCF%20FOR%20ME.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newcastle-my.sharepoint.com/personal/c3036883_newcastle_ac_uk/Documents/NUIF%20DCF%20FOR%20ME.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https://newcastle-my.sharepoint.com/personal/c3036883_newcastle_ac_uk/Documents/NUIF%20DCF%20FOR%20ME.xlsx" TargetMode="External"/><Relationship Id="rId2" Type="http://schemas.microsoft.com/office/2011/relationships/chartColorStyle" Target="colors5.xml"/><Relationship Id="rId1" Type="http://schemas.microsoft.com/office/2011/relationships/chartStyle" Target="style5.xml"/><Relationship Id="rId4" Type="http://schemas.openxmlformats.org/officeDocument/2006/relationships/chartUserShapes" Target="../drawings/drawing1.xml"/></Relationships>
</file>

<file path=ppt/charts/_rels/chart6.xml.rels><?xml version="1.0" encoding="UTF-8" standalone="yes"?>
<Relationships xmlns="http://schemas.openxmlformats.org/package/2006/relationships"><Relationship Id="rId3" Type="http://schemas.openxmlformats.org/officeDocument/2006/relationships/oleObject" Target="https://newcastle-my.sharepoint.com/personal/c3036883_newcastle_ac_uk/Documents/NUIF%20DCF%20FOR%20ME.xlsx" TargetMode="External"/><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0" i="0" u="none" strike="noStrike" kern="1200" cap="none" spc="50" normalizeH="0" baseline="0">
                <a:solidFill>
                  <a:schemeClr val="tx1">
                    <a:lumMod val="65000"/>
                    <a:lumOff val="35000"/>
                  </a:schemeClr>
                </a:solidFill>
                <a:latin typeface="Times New Roman" panose="02020603050405020304" pitchFamily="18" charset="0"/>
                <a:ea typeface="+mj-ea"/>
                <a:cs typeface="Times New Roman" panose="02020603050405020304" pitchFamily="18" charset="0"/>
              </a:defRPr>
            </a:pPr>
            <a:r>
              <a:rPr lang="en-GB">
                <a:latin typeface="Times New Roman" panose="02020603050405020304" pitchFamily="18" charset="0"/>
                <a:cs typeface="Times New Roman" panose="02020603050405020304" pitchFamily="18" charset="0"/>
              </a:rPr>
              <a:t>Revenue</a:t>
            </a:r>
          </a:p>
        </c:rich>
      </c:tx>
      <c:overlay val="0"/>
      <c:spPr>
        <a:noFill/>
        <a:ln>
          <a:noFill/>
        </a:ln>
        <a:effectLst/>
      </c:spPr>
      <c:txPr>
        <a:bodyPr rot="0" spcFirstLastPara="1" vertOverflow="ellipsis" vert="horz" wrap="square" anchor="ctr" anchorCtr="1"/>
        <a:lstStyle/>
        <a:p>
          <a:pPr>
            <a:defRPr sz="1600" b="0" i="0" u="none" strike="noStrike" kern="1200" cap="none" spc="50" normalizeH="0" baseline="0">
              <a:solidFill>
                <a:schemeClr val="tx1">
                  <a:lumMod val="65000"/>
                  <a:lumOff val="35000"/>
                </a:schemeClr>
              </a:solidFill>
              <a:latin typeface="Times New Roman" panose="02020603050405020304" pitchFamily="18" charset="0"/>
              <a:ea typeface="+mj-ea"/>
              <a:cs typeface="Times New Roman" panose="02020603050405020304" pitchFamily="18" charset="0"/>
            </a:defRPr>
          </a:pPr>
          <a:endParaRPr lang="en-US"/>
        </a:p>
      </c:txPr>
    </c:title>
    <c:autoTitleDeleted val="0"/>
    <c:plotArea>
      <c:layout/>
      <c:barChart>
        <c:barDir val="col"/>
        <c:grouping val="clustered"/>
        <c:varyColors val="0"/>
        <c:ser>
          <c:idx val="0"/>
          <c:order val="0"/>
          <c:spPr>
            <a:solidFill>
              <a:srgbClr val="23487B"/>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Beast!$E$5:$I$5</c:f>
              <c:strCache>
                <c:ptCount val="5"/>
                <c:pt idx="0">
                  <c:v>2022</c:v>
                </c:pt>
                <c:pt idx="1">
                  <c:v>2023</c:v>
                </c:pt>
                <c:pt idx="2">
                  <c:v>2024</c:v>
                </c:pt>
                <c:pt idx="3">
                  <c:v>2025E</c:v>
                </c:pt>
                <c:pt idx="4">
                  <c:v>2026E</c:v>
                </c:pt>
              </c:strCache>
            </c:strRef>
          </c:cat>
          <c:val>
            <c:numRef>
              <c:f>Beast!$E$6:$I$6</c:f>
              <c:numCache>
                <c:formatCode>[$€-2]\ #,##0;[Red]\-[$€-2]\ #,##0</c:formatCode>
                <c:ptCount val="5"/>
                <c:pt idx="0">
                  <c:v>6618</c:v>
                </c:pt>
                <c:pt idx="1">
                  <c:v>6270</c:v>
                </c:pt>
                <c:pt idx="2">
                  <c:v>6455</c:v>
                </c:pt>
                <c:pt idx="3">
                  <c:v>6821.5</c:v>
                </c:pt>
                <c:pt idx="4">
                  <c:v>7157</c:v>
                </c:pt>
              </c:numCache>
            </c:numRef>
          </c:val>
          <c:extLst>
            <c:ext xmlns:c16="http://schemas.microsoft.com/office/drawing/2014/chart" uri="{C3380CC4-5D6E-409C-BE32-E72D297353CC}">
              <c16:uniqueId val="{00000000-EF0C-43E8-BF65-4FB3C3546EAB}"/>
            </c:ext>
          </c:extLst>
        </c:ser>
        <c:dLbls>
          <c:dLblPos val="inEnd"/>
          <c:showLegendKey val="0"/>
          <c:showVal val="1"/>
          <c:showCatName val="0"/>
          <c:showSerName val="0"/>
          <c:showPercent val="0"/>
          <c:showBubbleSize val="0"/>
        </c:dLbls>
        <c:gapWidth val="80"/>
        <c:overlap val="25"/>
        <c:axId val="709991784"/>
        <c:axId val="709992144"/>
      </c:barChart>
      <c:catAx>
        <c:axId val="709991784"/>
        <c:scaling>
          <c:orientation val="minMax"/>
        </c:scaling>
        <c:delete val="0"/>
        <c:axPos val="b"/>
        <c:numFmt formatCode="General" sourceLinked="1"/>
        <c:majorTickMark val="out"/>
        <c:minorTickMark val="none"/>
        <c:tickLblPos val="nextTo"/>
        <c:spPr>
          <a:noFill/>
          <a:ln w="1587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cap="none" spc="20" normalizeH="0" baseline="0">
                <a:solidFill>
                  <a:schemeClr val="tx1">
                    <a:lumMod val="65000"/>
                    <a:lumOff val="35000"/>
                  </a:schemeClr>
                </a:solidFill>
                <a:latin typeface="+mn-lt"/>
                <a:ea typeface="+mn-ea"/>
                <a:cs typeface="+mn-cs"/>
              </a:defRPr>
            </a:pPr>
            <a:endParaRPr lang="en-US"/>
          </a:p>
        </c:txPr>
        <c:crossAx val="709992144"/>
        <c:crosses val="autoZero"/>
        <c:auto val="1"/>
        <c:lblAlgn val="ctr"/>
        <c:lblOffset val="100"/>
        <c:noMultiLvlLbl val="0"/>
      </c:catAx>
      <c:valAx>
        <c:axId val="709992144"/>
        <c:scaling>
          <c:orientation val="minMax"/>
        </c:scaling>
        <c:delete val="1"/>
        <c:axPos val="l"/>
        <c:majorGridlines>
          <c:spPr>
            <a:ln w="9525" cap="flat" cmpd="sng" algn="ctr">
              <a:solidFill>
                <a:schemeClr val="tx1">
                  <a:lumMod val="5000"/>
                  <a:lumOff val="95000"/>
                </a:schemeClr>
              </a:solidFill>
              <a:round/>
            </a:ln>
            <a:effectLst/>
          </c:spPr>
        </c:majorGridlines>
        <c:numFmt formatCode="[$€-2]\ #,##0;[Red]\-[$€-2]\ #,##0" sourceLinked="1"/>
        <c:majorTickMark val="out"/>
        <c:minorTickMark val="none"/>
        <c:tickLblPos val="nextTo"/>
        <c:crossAx val="709991784"/>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defRPr sz="16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GB" b="0">
                <a:latin typeface="Times New Roman" panose="02020603050405020304" pitchFamily="18" charset="0"/>
                <a:cs typeface="Times New Roman" panose="02020603050405020304" pitchFamily="18" charset="0"/>
              </a:rPr>
              <a:t>Revenue</a:t>
            </a:r>
            <a:r>
              <a:rPr lang="en-GB" b="0" baseline="0">
                <a:latin typeface="Times New Roman" panose="02020603050405020304" pitchFamily="18" charset="0"/>
                <a:cs typeface="Times New Roman" panose="02020603050405020304" pitchFamily="18" charset="0"/>
              </a:rPr>
              <a:t> by Area</a:t>
            </a:r>
            <a:endParaRPr lang="en-GB" b="0">
              <a:latin typeface="Times New Roman" panose="02020603050405020304" pitchFamily="18" charset="0"/>
              <a:cs typeface="Times New Roman" panose="02020603050405020304" pitchFamily="18" charset="0"/>
            </a:endParaRPr>
          </a:p>
        </c:rich>
      </c:tx>
      <c:layout>
        <c:manualLayout>
          <c:xMode val="edge"/>
          <c:yMode val="edge"/>
          <c:x val="0.33446522309711285"/>
          <c:y val="0"/>
        </c:manualLayout>
      </c:layout>
      <c:overlay val="0"/>
      <c:spPr>
        <a:noFill/>
        <a:ln>
          <a:noFill/>
        </a:ln>
        <a:effectLst/>
      </c:spPr>
      <c:txPr>
        <a:bodyPr rot="0" spcFirstLastPara="1" vertOverflow="ellipsis" vert="horz" wrap="square" anchor="ctr" anchorCtr="1"/>
        <a:lstStyle/>
        <a:p>
          <a:pPr>
            <a:defRPr sz="16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pieChart>
        <c:varyColors val="1"/>
        <c:ser>
          <c:idx val="0"/>
          <c:order val="0"/>
          <c:dPt>
            <c:idx val="0"/>
            <c:bubble3D val="0"/>
            <c:spPr>
              <a:gradFill rotWithShape="1">
                <a:gsLst>
                  <a:gs pos="0">
                    <a:schemeClr val="accent1">
                      <a:shade val="50000"/>
                      <a:shade val="51000"/>
                      <a:satMod val="130000"/>
                    </a:schemeClr>
                  </a:gs>
                  <a:gs pos="80000">
                    <a:schemeClr val="accent1">
                      <a:shade val="50000"/>
                      <a:shade val="93000"/>
                      <a:satMod val="130000"/>
                    </a:schemeClr>
                  </a:gs>
                  <a:gs pos="100000">
                    <a:schemeClr val="accent1">
                      <a:shade val="50000"/>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extLst>
              <c:ext xmlns:c16="http://schemas.microsoft.com/office/drawing/2014/chart" uri="{C3380CC4-5D6E-409C-BE32-E72D297353CC}">
                <c16:uniqueId val="{00000001-4AD1-4268-A10E-5D82FD622C7A}"/>
              </c:ext>
            </c:extLst>
          </c:dPt>
          <c:dPt>
            <c:idx val="1"/>
            <c:bubble3D val="0"/>
            <c:spPr>
              <a:gradFill rotWithShape="1">
                <a:gsLst>
                  <a:gs pos="0">
                    <a:schemeClr val="accent1">
                      <a:shade val="70000"/>
                      <a:shade val="51000"/>
                      <a:satMod val="130000"/>
                    </a:schemeClr>
                  </a:gs>
                  <a:gs pos="80000">
                    <a:schemeClr val="accent1">
                      <a:shade val="70000"/>
                      <a:shade val="93000"/>
                      <a:satMod val="130000"/>
                    </a:schemeClr>
                  </a:gs>
                  <a:gs pos="100000">
                    <a:schemeClr val="accent1">
                      <a:shade val="70000"/>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extLst>
              <c:ext xmlns:c16="http://schemas.microsoft.com/office/drawing/2014/chart" uri="{C3380CC4-5D6E-409C-BE32-E72D297353CC}">
                <c16:uniqueId val="{00000003-4AD1-4268-A10E-5D82FD622C7A}"/>
              </c:ext>
            </c:extLst>
          </c:dPt>
          <c:dPt>
            <c:idx val="2"/>
            <c:bubble3D val="0"/>
            <c:spPr>
              <a:gradFill rotWithShape="1">
                <a:gsLst>
                  <a:gs pos="0">
                    <a:schemeClr val="accent1">
                      <a:shade val="90000"/>
                      <a:shade val="51000"/>
                      <a:satMod val="130000"/>
                    </a:schemeClr>
                  </a:gs>
                  <a:gs pos="80000">
                    <a:schemeClr val="accent1">
                      <a:shade val="90000"/>
                      <a:shade val="93000"/>
                      <a:satMod val="130000"/>
                    </a:schemeClr>
                  </a:gs>
                  <a:gs pos="100000">
                    <a:schemeClr val="accent1">
                      <a:shade val="90000"/>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extLst>
              <c:ext xmlns:c16="http://schemas.microsoft.com/office/drawing/2014/chart" uri="{C3380CC4-5D6E-409C-BE32-E72D297353CC}">
                <c16:uniqueId val="{00000005-4AD1-4268-A10E-5D82FD622C7A}"/>
              </c:ext>
            </c:extLst>
          </c:dPt>
          <c:dPt>
            <c:idx val="3"/>
            <c:bubble3D val="0"/>
            <c:spPr>
              <a:gradFill rotWithShape="1">
                <a:gsLst>
                  <a:gs pos="0">
                    <a:schemeClr val="accent1">
                      <a:tint val="90000"/>
                      <a:shade val="51000"/>
                      <a:satMod val="130000"/>
                    </a:schemeClr>
                  </a:gs>
                  <a:gs pos="80000">
                    <a:schemeClr val="accent1">
                      <a:tint val="90000"/>
                      <a:shade val="93000"/>
                      <a:satMod val="130000"/>
                    </a:schemeClr>
                  </a:gs>
                  <a:gs pos="100000">
                    <a:schemeClr val="accent1">
                      <a:tint val="90000"/>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extLst>
              <c:ext xmlns:c16="http://schemas.microsoft.com/office/drawing/2014/chart" uri="{C3380CC4-5D6E-409C-BE32-E72D297353CC}">
                <c16:uniqueId val="{00000007-4AD1-4268-A10E-5D82FD622C7A}"/>
              </c:ext>
            </c:extLst>
          </c:dPt>
          <c:dPt>
            <c:idx val="4"/>
            <c:bubble3D val="0"/>
            <c:spPr>
              <a:gradFill rotWithShape="1">
                <a:gsLst>
                  <a:gs pos="0">
                    <a:schemeClr val="accent1">
                      <a:tint val="70000"/>
                      <a:shade val="51000"/>
                      <a:satMod val="130000"/>
                    </a:schemeClr>
                  </a:gs>
                  <a:gs pos="80000">
                    <a:schemeClr val="accent1">
                      <a:tint val="70000"/>
                      <a:shade val="93000"/>
                      <a:satMod val="130000"/>
                    </a:schemeClr>
                  </a:gs>
                  <a:gs pos="100000">
                    <a:schemeClr val="accent1">
                      <a:tint val="70000"/>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extLst>
              <c:ext xmlns:c16="http://schemas.microsoft.com/office/drawing/2014/chart" uri="{C3380CC4-5D6E-409C-BE32-E72D297353CC}">
                <c16:uniqueId val="{00000009-4AD1-4268-A10E-5D82FD622C7A}"/>
              </c:ext>
            </c:extLst>
          </c:dPt>
          <c:dPt>
            <c:idx val="5"/>
            <c:bubble3D val="0"/>
            <c:spPr>
              <a:gradFill rotWithShape="1">
                <a:gsLst>
                  <a:gs pos="0">
                    <a:schemeClr val="accent1">
                      <a:tint val="50000"/>
                      <a:shade val="51000"/>
                      <a:satMod val="130000"/>
                    </a:schemeClr>
                  </a:gs>
                  <a:gs pos="80000">
                    <a:schemeClr val="accent1">
                      <a:tint val="50000"/>
                      <a:shade val="93000"/>
                      <a:satMod val="130000"/>
                    </a:schemeClr>
                  </a:gs>
                  <a:gs pos="100000">
                    <a:schemeClr val="accent1">
                      <a:tint val="50000"/>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extLst>
              <c:ext xmlns:c16="http://schemas.microsoft.com/office/drawing/2014/chart" uri="{C3380CC4-5D6E-409C-BE32-E72D297353CC}">
                <c16:uniqueId val="{0000000B-4AD1-4268-A10E-5D82FD622C7A}"/>
              </c:ext>
            </c:extLst>
          </c:dPt>
          <c:dLbls>
            <c:dLbl>
              <c:idx val="1"/>
              <c:layout>
                <c:manualLayout>
                  <c:x val="4.3710312241099988E-2"/>
                  <c:y val="-1.9395427718815167E-2"/>
                </c:manualLayout>
              </c:layout>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3-4AD1-4268-A10E-5D82FD622C7A}"/>
                </c:ext>
              </c:extLst>
            </c:dLbl>
            <c:dLbl>
              <c:idx val="5"/>
              <c:layout>
                <c:manualLayout>
                  <c:x val="2.4999999999999897E-2"/>
                  <c:y val="-4.6296296296296294E-3"/>
                </c:manualLayout>
              </c:layout>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B-4AD1-4268-A10E-5D82FD622C7A}"/>
                </c:ext>
              </c:extLst>
            </c:dLbl>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Beast!$H$31:$M$31</c:f>
              <c:strCache>
                <c:ptCount val="6"/>
                <c:pt idx="0">
                  <c:v>Construction and Property (NE) </c:v>
                </c:pt>
                <c:pt idx="1">
                  <c:v>Civil Engineering (UK) </c:v>
                </c:pt>
                <c:pt idx="2">
                  <c:v>Civil Engineering (NE) </c:v>
                </c:pt>
                <c:pt idx="3">
                  <c:v>Construction (UK) </c:v>
                </c:pt>
                <c:pt idx="4">
                  <c:v>Ventures (UK) </c:v>
                </c:pt>
                <c:pt idx="5">
                  <c:v>Ireland </c:v>
                </c:pt>
              </c:strCache>
            </c:strRef>
          </c:cat>
          <c:val>
            <c:numRef>
              <c:f>Beast!$H$32:$M$32</c:f>
              <c:numCache>
                <c:formatCode>0.00%</c:formatCode>
                <c:ptCount val="6"/>
                <c:pt idx="0">
                  <c:v>0.35</c:v>
                </c:pt>
                <c:pt idx="1">
                  <c:v>0.24</c:v>
                </c:pt>
                <c:pt idx="2">
                  <c:v>0.15</c:v>
                </c:pt>
                <c:pt idx="3">
                  <c:v>0.14000000000000001</c:v>
                </c:pt>
                <c:pt idx="4">
                  <c:v>0.05</c:v>
                </c:pt>
                <c:pt idx="5">
                  <c:v>7.0000000000000007E-2</c:v>
                </c:pt>
              </c:numCache>
            </c:numRef>
          </c:val>
          <c:extLst>
            <c:ext xmlns:c16="http://schemas.microsoft.com/office/drawing/2014/chart" uri="{C3380CC4-5D6E-409C-BE32-E72D297353CC}">
              <c16:uniqueId val="{0000000C-4AD1-4268-A10E-5D82FD622C7A}"/>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GB"/>
              <a:t>Adj.</a:t>
            </a:r>
            <a:r>
              <a:rPr lang="en-GB" baseline="0"/>
              <a:t> EBITDA Margins</a:t>
            </a:r>
            <a:endParaRPr lang="en-GB"/>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3.7416938736316498E-2"/>
          <c:y val="0.1492553608240802"/>
          <c:w val="0.93819281736124449"/>
          <c:h val="0.78621175691398804"/>
        </c:manualLayout>
      </c:layout>
      <c:barChart>
        <c:barDir val="col"/>
        <c:grouping val="clustered"/>
        <c:varyColors val="0"/>
        <c:ser>
          <c:idx val="0"/>
          <c:order val="0"/>
          <c:spPr>
            <a:solidFill>
              <a:srgbClr val="23487B"/>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trendline>
            <c:spPr>
              <a:ln w="19050" cap="rnd">
                <a:solidFill>
                  <a:schemeClr val="accent1"/>
                </a:solidFill>
                <a:prstDash val="sysDot"/>
              </a:ln>
              <a:effectLst/>
            </c:spPr>
            <c:trendlineType val="linear"/>
            <c:dispRSqr val="0"/>
            <c:dispEq val="0"/>
          </c:trendline>
          <c:cat>
            <c:numRef>
              <c:f>Sheet1!$C$5:$G$5</c:f>
              <c:numCache>
                <c:formatCode>General</c:formatCode>
                <c:ptCount val="5"/>
                <c:pt idx="0">
                  <c:v>2020</c:v>
                </c:pt>
                <c:pt idx="1">
                  <c:v>2021</c:v>
                </c:pt>
                <c:pt idx="2">
                  <c:v>2022</c:v>
                </c:pt>
                <c:pt idx="3">
                  <c:v>2023</c:v>
                </c:pt>
                <c:pt idx="4">
                  <c:v>2024</c:v>
                </c:pt>
              </c:numCache>
            </c:numRef>
          </c:cat>
          <c:val>
            <c:numRef>
              <c:f>Sheet1!$C$6:$G$6</c:f>
              <c:numCache>
                <c:formatCode>General</c:formatCode>
                <c:ptCount val="5"/>
                <c:pt idx="0">
                  <c:v>2.9</c:v>
                </c:pt>
                <c:pt idx="1">
                  <c:v>3.8</c:v>
                </c:pt>
                <c:pt idx="2">
                  <c:v>5.3</c:v>
                </c:pt>
                <c:pt idx="3">
                  <c:v>4.9000000000000004</c:v>
                </c:pt>
                <c:pt idx="4">
                  <c:v>5.2</c:v>
                </c:pt>
              </c:numCache>
            </c:numRef>
          </c:val>
          <c:extLst>
            <c:ext xmlns:c16="http://schemas.microsoft.com/office/drawing/2014/chart" uri="{C3380CC4-5D6E-409C-BE32-E72D297353CC}">
              <c16:uniqueId val="{00000000-8C78-4308-819A-B5CAA721E8B5}"/>
            </c:ext>
          </c:extLst>
        </c:ser>
        <c:dLbls>
          <c:dLblPos val="outEnd"/>
          <c:showLegendKey val="0"/>
          <c:showVal val="1"/>
          <c:showCatName val="0"/>
          <c:showSerName val="0"/>
          <c:showPercent val="0"/>
          <c:showBubbleSize val="0"/>
        </c:dLbls>
        <c:gapWidth val="219"/>
        <c:overlap val="-27"/>
        <c:axId val="994279408"/>
        <c:axId val="994277608"/>
      </c:barChart>
      <c:catAx>
        <c:axId val="9942794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94277608"/>
        <c:crosses val="autoZero"/>
        <c:auto val="1"/>
        <c:lblAlgn val="ctr"/>
        <c:lblOffset val="100"/>
        <c:noMultiLvlLbl val="0"/>
      </c:catAx>
      <c:valAx>
        <c:axId val="99427760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94279408"/>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defRPr sz="1680" b="1"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GB">
                <a:latin typeface="Times New Roman" panose="02020603050405020304" pitchFamily="18" charset="0"/>
                <a:cs typeface="Times New Roman" panose="02020603050405020304" pitchFamily="18" charset="0"/>
              </a:rPr>
              <a:t>Revenue</a:t>
            </a:r>
          </a:p>
        </c:rich>
      </c:tx>
      <c:layout>
        <c:manualLayout>
          <c:xMode val="edge"/>
          <c:yMode val="edge"/>
          <c:x val="0.35035729324324411"/>
          <c:y val="7.5382260773356705E-2"/>
        </c:manualLayout>
      </c:layout>
      <c:overlay val="0"/>
      <c:spPr>
        <a:noFill/>
        <a:ln>
          <a:noFill/>
        </a:ln>
        <a:effectLst/>
      </c:spPr>
      <c:txPr>
        <a:bodyPr rot="0" spcFirstLastPara="1" vertOverflow="ellipsis" vert="horz" wrap="square" anchor="ctr" anchorCtr="1"/>
        <a:lstStyle/>
        <a:p>
          <a:pPr>
            <a:defRPr sz="1680" b="1"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pieChart>
        <c:varyColors val="1"/>
        <c:ser>
          <c:idx val="0"/>
          <c:order val="0"/>
          <c:tx>
            <c:strRef>
              <c:f>Sheet1!$B$1</c:f>
              <c:strCache>
                <c:ptCount val="1"/>
                <c:pt idx="0">
                  <c:v>Revenue</c:v>
                </c:pt>
              </c:strCache>
            </c:strRef>
          </c:tx>
          <c:dPt>
            <c:idx val="0"/>
            <c:bubble3D val="0"/>
            <c:spPr>
              <a:gradFill rotWithShape="1">
                <a:gsLst>
                  <a:gs pos="0">
                    <a:schemeClr val="accent1">
                      <a:shade val="65000"/>
                      <a:shade val="51000"/>
                      <a:satMod val="130000"/>
                    </a:schemeClr>
                  </a:gs>
                  <a:gs pos="80000">
                    <a:schemeClr val="accent1">
                      <a:shade val="65000"/>
                      <a:shade val="93000"/>
                      <a:satMod val="130000"/>
                    </a:schemeClr>
                  </a:gs>
                  <a:gs pos="100000">
                    <a:schemeClr val="accent1">
                      <a:shade val="65000"/>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extLst>
              <c:ext xmlns:c16="http://schemas.microsoft.com/office/drawing/2014/chart" uri="{C3380CC4-5D6E-409C-BE32-E72D297353CC}">
                <c16:uniqueId val="{00000001-4AD1-4268-A10E-5D82FD622C7A}"/>
              </c:ext>
            </c:extLst>
          </c:dPt>
          <c:dPt>
            <c:idx val="1"/>
            <c:bubble3D val="0"/>
            <c:spPr>
              <a:gradFill rotWithShape="1">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extLst>
              <c:ext xmlns:c16="http://schemas.microsoft.com/office/drawing/2014/chart" uri="{C3380CC4-5D6E-409C-BE32-E72D297353CC}">
                <c16:uniqueId val="{00000003-4AD1-4268-A10E-5D82FD622C7A}"/>
              </c:ext>
            </c:extLst>
          </c:dPt>
          <c:dPt>
            <c:idx val="2"/>
            <c:bubble3D val="0"/>
            <c:spPr>
              <a:gradFill rotWithShape="1">
                <a:gsLst>
                  <a:gs pos="0">
                    <a:schemeClr val="accent1">
                      <a:tint val="65000"/>
                      <a:shade val="51000"/>
                      <a:satMod val="130000"/>
                    </a:schemeClr>
                  </a:gs>
                  <a:gs pos="80000">
                    <a:schemeClr val="accent1">
                      <a:tint val="65000"/>
                      <a:shade val="93000"/>
                      <a:satMod val="130000"/>
                    </a:schemeClr>
                  </a:gs>
                  <a:gs pos="100000">
                    <a:schemeClr val="accent1">
                      <a:tint val="65000"/>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extLst>
              <c:ext xmlns:c16="http://schemas.microsoft.com/office/drawing/2014/chart" uri="{C3380CC4-5D6E-409C-BE32-E72D297353CC}">
                <c16:uniqueId val="{00000005-4AD1-4268-A10E-5D82FD622C7A}"/>
              </c:ext>
            </c:extLst>
          </c:dPt>
          <c:dPt>
            <c:idx val="3"/>
            <c:bubble3D val="0"/>
            <c:spPr>
              <a:gradFill rotWithShape="1">
                <a:gsLst>
                  <a:gs pos="0">
                    <a:schemeClr val="accent1">
                      <a:tint val="30000"/>
                      <a:shade val="51000"/>
                      <a:satMod val="130000"/>
                    </a:schemeClr>
                  </a:gs>
                  <a:gs pos="80000">
                    <a:schemeClr val="accent1">
                      <a:tint val="30000"/>
                      <a:shade val="93000"/>
                      <a:satMod val="130000"/>
                    </a:schemeClr>
                  </a:gs>
                  <a:gs pos="100000">
                    <a:schemeClr val="accent1">
                      <a:tint val="30000"/>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extLst>
              <c:ext xmlns:c16="http://schemas.microsoft.com/office/drawing/2014/chart" uri="{C3380CC4-5D6E-409C-BE32-E72D297353CC}">
                <c16:uniqueId val="{00000007-4AD1-4268-A10E-5D82FD622C7A}"/>
              </c:ext>
            </c:extLst>
          </c:dPt>
          <c:dPt>
            <c:idx val="4"/>
            <c:bubble3D val="0"/>
            <c:spPr>
              <a:gradFill rotWithShape="1">
                <a:gsLst>
                  <a:gs pos="0">
                    <a:schemeClr val="accent1">
                      <a:tint val="95000"/>
                      <a:shade val="51000"/>
                      <a:satMod val="130000"/>
                    </a:schemeClr>
                  </a:gs>
                  <a:gs pos="80000">
                    <a:schemeClr val="accent1">
                      <a:tint val="95000"/>
                      <a:shade val="93000"/>
                      <a:satMod val="130000"/>
                    </a:schemeClr>
                  </a:gs>
                  <a:gs pos="100000">
                    <a:schemeClr val="accent1">
                      <a:tint val="95000"/>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extLst>
              <c:ext xmlns:c16="http://schemas.microsoft.com/office/drawing/2014/chart" uri="{C3380CC4-5D6E-409C-BE32-E72D297353CC}">
                <c16:uniqueId val="{00000009-4AD1-4268-A10E-5D82FD622C7A}"/>
              </c:ext>
            </c:extLst>
          </c:dPt>
          <c:dPt>
            <c:idx val="5"/>
            <c:bubble3D val="0"/>
            <c:spPr>
              <a:gradFill rotWithShape="1">
                <a:gsLst>
                  <a:gs pos="0">
                    <a:schemeClr val="accent1">
                      <a:tint val="60000"/>
                      <a:shade val="51000"/>
                      <a:satMod val="130000"/>
                    </a:schemeClr>
                  </a:gs>
                  <a:gs pos="80000">
                    <a:schemeClr val="accent1">
                      <a:tint val="60000"/>
                      <a:shade val="93000"/>
                      <a:satMod val="130000"/>
                    </a:schemeClr>
                  </a:gs>
                  <a:gs pos="100000">
                    <a:schemeClr val="accent1">
                      <a:tint val="60000"/>
                      <a:shade val="94000"/>
                      <a:satMod val="135000"/>
                    </a:schemeClr>
                  </a:gs>
                </a:gsLst>
                <a:lin ang="162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extLst>
              <c:ext xmlns:c16="http://schemas.microsoft.com/office/drawing/2014/chart" uri="{C3380CC4-5D6E-409C-BE32-E72D297353CC}">
                <c16:uniqueId val="{0000000B-4AD1-4268-A10E-5D82FD622C7A}"/>
              </c:ext>
            </c:extLst>
          </c:dPt>
          <c:dLbls>
            <c:spPr>
              <a:noFill/>
              <a:ln>
                <a:noFill/>
              </a:ln>
              <a:effectLst/>
            </c:spPr>
            <c:txPr>
              <a:bodyPr rot="0" spcFirstLastPara="1" vertOverflow="ellipsis" vert="horz" wrap="square" anchor="ctr" anchorCtr="1"/>
              <a:lstStyle/>
              <a:p>
                <a:pPr>
                  <a:defRPr sz="14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Sheet1!$A$2:$A$4</c:f>
              <c:strCache>
                <c:ptCount val="3"/>
                <c:pt idx="0">
                  <c:v>Netherlands</c:v>
                </c:pt>
                <c:pt idx="1">
                  <c:v>UK</c:v>
                </c:pt>
                <c:pt idx="2">
                  <c:v>Ireland</c:v>
                </c:pt>
              </c:strCache>
            </c:strRef>
          </c:cat>
          <c:val>
            <c:numRef>
              <c:f>Sheet1!$B$2:$B$4</c:f>
              <c:numCache>
                <c:formatCode>0%</c:formatCode>
                <c:ptCount val="3"/>
                <c:pt idx="0">
                  <c:v>0.5</c:v>
                </c:pt>
                <c:pt idx="1">
                  <c:v>0.45</c:v>
                </c:pt>
                <c:pt idx="2">
                  <c:v>0.05</c:v>
                </c:pt>
              </c:numCache>
            </c:numRef>
          </c:val>
          <c:extLst>
            <c:ext xmlns:c16="http://schemas.microsoft.com/office/drawing/2014/chart" uri="{C3380CC4-5D6E-409C-BE32-E72D297353CC}">
              <c16:uniqueId val="{0000000C-4AD1-4268-A10E-5D82FD622C7A}"/>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sz="1400"/>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US" b="1">
                <a:latin typeface="Times New Roman" panose="02020603050405020304" pitchFamily="18" charset="0"/>
                <a:cs typeface="Times New Roman" panose="02020603050405020304" pitchFamily="18" charset="0"/>
              </a:rPr>
              <a:t>EV/EBITDA Adj  </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Sheet3!$O$7</c:f>
              <c:strCache>
                <c:ptCount val="1"/>
                <c:pt idx="0">
                  <c:v>EV/EBITDA Adj  </c:v>
                </c:pt>
              </c:strCache>
            </c:strRef>
          </c:tx>
          <c:spPr>
            <a:solidFill>
              <a:srgbClr val="23487B"/>
            </a:solidFill>
            <a:ln>
              <a:noFill/>
            </a:ln>
            <a:effectLst/>
          </c:spPr>
          <c:invertIfNegative val="0"/>
          <c:dPt>
            <c:idx val="2"/>
            <c:invertIfNegative val="0"/>
            <c:bubble3D val="0"/>
            <c:spPr>
              <a:solidFill>
                <a:srgbClr val="23487B"/>
              </a:solidFill>
              <a:ln>
                <a:solidFill>
                  <a:srgbClr val="23487B"/>
                </a:solidFill>
              </a:ln>
              <a:effectLst/>
            </c:spPr>
            <c:extLst>
              <c:ext xmlns:c16="http://schemas.microsoft.com/office/drawing/2014/chart" uri="{C3380CC4-5D6E-409C-BE32-E72D297353CC}">
                <c16:uniqueId val="{00000001-543A-403D-AF27-EA2D73917764}"/>
              </c:ext>
            </c:extLst>
          </c:dPt>
          <c:trendline>
            <c:spPr>
              <a:ln w="19050" cap="rnd">
                <a:noFill/>
                <a:prstDash val="sysDot"/>
              </a:ln>
              <a:effectLst/>
            </c:spPr>
            <c:trendlineType val="linear"/>
            <c:dispRSqr val="0"/>
            <c:dispEq val="0"/>
          </c:trendline>
          <c:cat>
            <c:strRef>
              <c:f>Sheet3!$P$6:$T$6</c:f>
              <c:strCache>
                <c:ptCount val="5"/>
                <c:pt idx="0">
                  <c:v>Royal Bam </c:v>
                </c:pt>
                <c:pt idx="1">
                  <c:v>Hochtief </c:v>
                </c:pt>
                <c:pt idx="2">
                  <c:v>Balfour Beatty </c:v>
                </c:pt>
                <c:pt idx="3">
                  <c:v>Sanska </c:v>
                </c:pt>
                <c:pt idx="4">
                  <c:v>Veidekke </c:v>
                </c:pt>
              </c:strCache>
            </c:strRef>
          </c:cat>
          <c:val>
            <c:numRef>
              <c:f>Sheet3!$P$7:$T$7</c:f>
              <c:numCache>
                <c:formatCode>#,##0.0_);\(#,##0.0\);0.0_);@_)</c:formatCode>
                <c:ptCount val="5"/>
                <c:pt idx="0">
                  <c:v>6.34</c:v>
                </c:pt>
                <c:pt idx="1">
                  <c:v>10.4</c:v>
                </c:pt>
                <c:pt idx="2">
                  <c:v>9.14</c:v>
                </c:pt>
                <c:pt idx="3">
                  <c:v>10.16</c:v>
                </c:pt>
                <c:pt idx="4">
                  <c:v>7.79</c:v>
                </c:pt>
              </c:numCache>
            </c:numRef>
          </c:val>
          <c:extLst>
            <c:ext xmlns:c16="http://schemas.microsoft.com/office/drawing/2014/chart" uri="{C3380CC4-5D6E-409C-BE32-E72D297353CC}">
              <c16:uniqueId val="{00000000-84C6-42CA-8CC4-A157C828E7F8}"/>
            </c:ext>
          </c:extLst>
        </c:ser>
        <c:dLbls>
          <c:showLegendKey val="0"/>
          <c:showVal val="0"/>
          <c:showCatName val="0"/>
          <c:showSerName val="0"/>
          <c:showPercent val="0"/>
          <c:showBubbleSize val="0"/>
        </c:dLbls>
        <c:gapWidth val="219"/>
        <c:overlap val="-27"/>
        <c:axId val="941220792"/>
        <c:axId val="941224032"/>
      </c:barChart>
      <c:catAx>
        <c:axId val="941220792"/>
        <c:scaling>
          <c:orientation val="minMax"/>
        </c:scaling>
        <c:delete val="1"/>
        <c:axPos val="b"/>
        <c:numFmt formatCode="General" sourceLinked="1"/>
        <c:majorTickMark val="none"/>
        <c:minorTickMark val="none"/>
        <c:tickLblPos val="nextTo"/>
        <c:crossAx val="941224032"/>
        <c:crosses val="autoZero"/>
        <c:auto val="1"/>
        <c:lblAlgn val="ctr"/>
        <c:lblOffset val="100"/>
        <c:noMultiLvlLbl val="0"/>
      </c:catAx>
      <c:valAx>
        <c:axId val="941224032"/>
        <c:scaling>
          <c:orientation val="minMax"/>
        </c:scaling>
        <c:delete val="0"/>
        <c:axPos val="l"/>
        <c:majorGridlines>
          <c:spPr>
            <a:ln w="9525" cap="flat" cmpd="sng" algn="ctr">
              <a:solidFill>
                <a:schemeClr val="tx1">
                  <a:lumMod val="15000"/>
                  <a:lumOff val="85000"/>
                </a:schemeClr>
              </a:solidFill>
              <a:round/>
            </a:ln>
            <a:effectLst/>
          </c:spPr>
        </c:majorGridlines>
        <c:numFmt formatCode="#,##0.0_);\(#,##0.0\);0.0_);@_)"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4122079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userShapes r:id="rId4"/>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GB" b="1">
                <a:latin typeface="Times New Roman" panose="02020603050405020304" pitchFamily="18" charset="0"/>
                <a:cs typeface="Times New Roman" panose="02020603050405020304" pitchFamily="18" charset="0"/>
              </a:rPr>
              <a:t>FCF yield (EV)  </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Sheet3!$O$12</c:f>
              <c:strCache>
                <c:ptCount val="1"/>
                <c:pt idx="0">
                  <c:v>FCF yield (EV)  </c:v>
                </c:pt>
              </c:strCache>
            </c:strRef>
          </c:tx>
          <c:spPr>
            <a:solidFill>
              <a:srgbClr val="23487B"/>
            </a:solidFill>
            <a:ln>
              <a:noFill/>
            </a:ln>
            <a:effectLst/>
          </c:spPr>
          <c:invertIfNegative val="0"/>
          <c:cat>
            <c:strRef>
              <c:f>Sheet3!$P$11:$T$11</c:f>
              <c:strCache>
                <c:ptCount val="5"/>
                <c:pt idx="0">
                  <c:v>Royal Bam </c:v>
                </c:pt>
                <c:pt idx="1">
                  <c:v>Hochtief </c:v>
                </c:pt>
                <c:pt idx="2">
                  <c:v>Balfour Beatty </c:v>
                </c:pt>
                <c:pt idx="3">
                  <c:v>Sanska </c:v>
                </c:pt>
                <c:pt idx="4">
                  <c:v>Veidekke </c:v>
                </c:pt>
              </c:strCache>
            </c:strRef>
          </c:cat>
          <c:val>
            <c:numRef>
              <c:f>Sheet3!$P$12:$T$12</c:f>
              <c:numCache>
                <c:formatCode>#,##0.0_);\(#,##0.0\);0.0_);@_)</c:formatCode>
                <c:ptCount val="5"/>
                <c:pt idx="0">
                  <c:v>10.36</c:v>
                </c:pt>
                <c:pt idx="1">
                  <c:v>6.37</c:v>
                </c:pt>
                <c:pt idx="2">
                  <c:v>11.4</c:v>
                </c:pt>
                <c:pt idx="3">
                  <c:v>12.79</c:v>
                </c:pt>
                <c:pt idx="4">
                  <c:v>9.85</c:v>
                </c:pt>
              </c:numCache>
            </c:numRef>
          </c:val>
          <c:extLst>
            <c:ext xmlns:c16="http://schemas.microsoft.com/office/drawing/2014/chart" uri="{C3380CC4-5D6E-409C-BE32-E72D297353CC}">
              <c16:uniqueId val="{00000000-2766-4527-9373-0F8CB0A74211}"/>
            </c:ext>
          </c:extLst>
        </c:ser>
        <c:dLbls>
          <c:showLegendKey val="0"/>
          <c:showVal val="0"/>
          <c:showCatName val="0"/>
          <c:showSerName val="0"/>
          <c:showPercent val="0"/>
          <c:showBubbleSize val="0"/>
        </c:dLbls>
        <c:gapWidth val="219"/>
        <c:overlap val="-27"/>
        <c:axId val="782663744"/>
        <c:axId val="782672024"/>
      </c:barChart>
      <c:catAx>
        <c:axId val="782663744"/>
        <c:scaling>
          <c:orientation val="minMax"/>
        </c:scaling>
        <c:delete val="1"/>
        <c:axPos val="b"/>
        <c:numFmt formatCode="General" sourceLinked="1"/>
        <c:majorTickMark val="none"/>
        <c:minorTickMark val="none"/>
        <c:tickLblPos val="nextTo"/>
        <c:crossAx val="782672024"/>
        <c:crosses val="autoZero"/>
        <c:auto val="1"/>
        <c:lblAlgn val="ctr"/>
        <c:lblOffset val="100"/>
        <c:noMultiLvlLbl val="0"/>
      </c:catAx>
      <c:valAx>
        <c:axId val="782672024"/>
        <c:scaling>
          <c:orientation val="minMax"/>
        </c:scaling>
        <c:delete val="0"/>
        <c:axPos val="l"/>
        <c:majorGridlines>
          <c:spPr>
            <a:ln w="9525" cap="flat" cmpd="sng" algn="ctr">
              <a:solidFill>
                <a:schemeClr val="tx1">
                  <a:lumMod val="15000"/>
                  <a:lumOff val="85000"/>
                </a:schemeClr>
              </a:solidFill>
              <a:round/>
            </a:ln>
            <a:effectLst/>
          </c:spPr>
        </c:majorGridlines>
        <c:numFmt formatCode="#,##0.0_);\(#,##0.0\);0.0_);@_)"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82663744"/>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withinLinear" id="14">
  <a:schemeClr val="accent1"/>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withinLinear" id="14">
  <a:schemeClr val="accent1"/>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5">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15875" cap="flat" cmpd="sng" algn="ctr">
        <a:solidFill>
          <a:schemeClr val="tx1">
            <a:lumMod val="25000"/>
            <a:lumOff val="75000"/>
          </a:schemeClr>
        </a:solidFill>
        <a:round/>
      </a:ln>
    </cs:spPr>
    <cs:defRPr sz="900" kern="1200" cap="none" spc="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bg1"/>
    </cs:fontRef>
    <cs:spPr>
      <a:solidFill>
        <a:schemeClr val="tx1">
          <a:lumMod val="50000"/>
          <a:lumOff val="50000"/>
        </a:schemeClr>
      </a:solidFill>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70000"/>
        </a:schemeClr>
      </a:solidFill>
    </cs:spPr>
  </cs:dataPoint>
  <cs:dataPoint3D>
    <cs:lnRef idx="0"/>
    <cs:fillRef idx="0">
      <cs:styleClr val="auto"/>
    </cs:fillRef>
    <cs:effectRef idx="0"/>
    <cs:fontRef idx="minor">
      <a:schemeClr val="dk1"/>
    </cs:fontRef>
    <cs:spPr>
      <a:solidFill>
        <a:schemeClr val="phClr">
          <a:alpha val="70000"/>
        </a:schemeClr>
      </a:solidFill>
    </cs:spPr>
  </cs:dataPoint3D>
  <cs:dataPointLine>
    <cs:lnRef idx="0">
      <cs:styleClr val="auto"/>
    </cs:lnRef>
    <cs:fillRef idx="0"/>
    <cs:effectRef idx="0"/>
    <cs:fontRef idx="minor">
      <a:schemeClr val="dk1"/>
    </cs:fontRef>
    <cs:spPr>
      <a:ln w="28575" cap="rnd">
        <a:solidFill>
          <a:schemeClr val="phClr">
            <a:alpha val="70000"/>
          </a:schemeClr>
        </a:solidFill>
        <a:round/>
      </a:ln>
    </cs:spPr>
  </cs:dataPointLine>
  <cs:dataPointMarker>
    <cs:lnRef idx="0"/>
    <cs:fillRef idx="0">
      <cs:styleClr val="auto"/>
    </cs:fillRef>
    <cs:effectRef idx="0"/>
    <cs:fontRef idx="minor">
      <a:schemeClr val="dk1"/>
    </cs:fontRef>
    <cs:spPr>
      <a:solidFill>
        <a:schemeClr val="phClr">
          <a:alpha val="70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5000"/>
            <a:lumOff val="9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baseline="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1600" b="0" i="0" kern="1200" cap="none" spc="50" normalizeH="0" baseline="0"/>
  </cs:title>
  <cs:trendline>
    <cs:lnRef idx="0">
      <cs:styleClr val="auto"/>
    </cs:lnRef>
    <cs:fillRef idx="0"/>
    <cs:effectRef idx="0"/>
    <cs:fontRef idx="minor">
      <a:schemeClr val="dk1"/>
    </cs:fontRef>
    <cs:spPr>
      <a:ln w="15875"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900" kern="1200" spc="20" baseline="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344">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344">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_rels/data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image" Target="../media/image16.jpeg"/></Relationships>
</file>

<file path=ppt/diagrams/_rels/data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image" Target="../media/image18.png"/><Relationship Id="rId4" Type="http://schemas.openxmlformats.org/officeDocument/2006/relationships/image" Target="../media/image18.jpeg"/></Relationships>
</file>

<file path=ppt/diagrams/_rels/data6.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image" Target="../media/image24.jpeg"/></Relationships>
</file>

<file path=ppt/diagrams/_rels/drawing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image" Target="../media/image16.jpeg"/></Relationships>
</file>

<file path=ppt/diagrams/_rels/drawing5.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image" Target="../media/image24.jpe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83E90A8-5A23-4E8E-8BD4-3C52A22EFF11}"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GB"/>
        </a:p>
      </dgm:t>
    </dgm:pt>
    <dgm:pt modelId="{583792F2-9E76-4DE8-BAA4-C20560B079FC}">
      <dgm:prSet phldrT="[Text]" custT="1"/>
      <dgm:spPr>
        <a:solidFill>
          <a:schemeClr val="tx2"/>
        </a:solidFill>
      </dgm:spPr>
      <dgm:t>
        <a:bodyPr/>
        <a:lstStyle/>
        <a:p>
          <a:r>
            <a:rPr lang="en-GB" sz="1600" dirty="0">
              <a:solidFill>
                <a:srgbClr val="F2F2F2"/>
              </a:solidFill>
              <a:latin typeface="Times New Roman" panose="02020603050405020304" pitchFamily="18" charset="0"/>
              <a:ea typeface="+mn-lt"/>
              <a:cs typeface="Times New Roman" panose="02020603050405020304" pitchFamily="18" charset="0"/>
            </a:rPr>
            <a:t>Leading European construction and civil engineering company headquartered in the Netherlands, operating across the Netherlands, UK, Ireland, Belgium, and Germany</a:t>
          </a:r>
          <a:r>
            <a:rPr lang="en-GB" sz="1600" dirty="0">
              <a:solidFill>
                <a:schemeClr val="tx2">
                  <a:lumMod val="76000"/>
                </a:schemeClr>
              </a:solidFill>
              <a:latin typeface="Times New Roman" panose="02020603050405020304" pitchFamily="18" charset="0"/>
              <a:ea typeface="+mn-lt"/>
              <a:cs typeface="Times New Roman" panose="02020603050405020304" pitchFamily="18" charset="0"/>
            </a:rPr>
            <a:t>.</a:t>
          </a:r>
          <a:endParaRPr lang="en-GB" sz="1600" dirty="0">
            <a:latin typeface="Times New Roman" panose="02020603050405020304" pitchFamily="18" charset="0"/>
            <a:cs typeface="Times New Roman" panose="02020603050405020304" pitchFamily="18" charset="0"/>
          </a:endParaRPr>
        </a:p>
      </dgm:t>
    </dgm:pt>
    <dgm:pt modelId="{1FD4411B-96E7-4DCA-94D8-25D5D30D0D4D}" type="parTrans" cxnId="{AD57EF8B-80BE-4E53-86DE-74719EC7347F}">
      <dgm:prSet/>
      <dgm:spPr/>
      <dgm:t>
        <a:bodyPr/>
        <a:lstStyle/>
        <a:p>
          <a:endParaRPr lang="en-GB" sz="1400">
            <a:latin typeface="Times New Roman" panose="02020603050405020304" pitchFamily="18" charset="0"/>
            <a:cs typeface="Times New Roman" panose="02020603050405020304" pitchFamily="18" charset="0"/>
          </a:endParaRPr>
        </a:p>
      </dgm:t>
    </dgm:pt>
    <dgm:pt modelId="{EE40BE19-2FD8-4C13-821E-68EC7A7BABDA}" type="sibTrans" cxnId="{AD57EF8B-80BE-4E53-86DE-74719EC7347F}">
      <dgm:prSet/>
      <dgm:spPr/>
      <dgm:t>
        <a:bodyPr/>
        <a:lstStyle/>
        <a:p>
          <a:endParaRPr lang="en-GB" sz="1400">
            <a:latin typeface="Times New Roman" panose="02020603050405020304" pitchFamily="18" charset="0"/>
            <a:cs typeface="Times New Roman" panose="02020603050405020304" pitchFamily="18" charset="0"/>
          </a:endParaRPr>
        </a:p>
      </dgm:t>
    </dgm:pt>
    <dgm:pt modelId="{7E304D60-EE53-4B07-8595-96E8883A28E0}">
      <dgm:prSet phldrT="[Text]" custT="1"/>
      <dgm:spPr>
        <a:solidFill>
          <a:schemeClr val="tx2"/>
        </a:solidFill>
      </dgm:spPr>
      <dgm:t>
        <a:bodyPr/>
        <a:lstStyle/>
        <a:p>
          <a:pPr>
            <a:buFont typeface="Arial"/>
            <a:buChar char="•"/>
          </a:pPr>
          <a:r>
            <a:rPr lang="en-GB" sz="1600" dirty="0">
              <a:solidFill>
                <a:srgbClr val="F2F2F2"/>
              </a:solidFill>
              <a:latin typeface="Times New Roman" panose="02020603050405020304" pitchFamily="18" charset="0"/>
              <a:ea typeface="Calibri"/>
              <a:cs typeface="Times New Roman" panose="02020603050405020304" pitchFamily="18" charset="0"/>
            </a:rPr>
            <a:t>BAM’s 2021-2026 strategy emphasises </a:t>
          </a:r>
          <a:r>
            <a:rPr lang="en-GB" sz="1600" b="1" i="1" dirty="0">
              <a:solidFill>
                <a:srgbClr val="F2F2F2"/>
              </a:solidFill>
              <a:latin typeface="Times New Roman" panose="02020603050405020304" pitchFamily="18" charset="0"/>
              <a:ea typeface="Calibri"/>
              <a:cs typeface="Times New Roman" panose="02020603050405020304" pitchFamily="18" charset="0"/>
            </a:rPr>
            <a:t>Focus</a:t>
          </a:r>
          <a:r>
            <a:rPr lang="en-GB" sz="1600" i="1" dirty="0">
              <a:solidFill>
                <a:srgbClr val="F2F2F2"/>
              </a:solidFill>
              <a:latin typeface="Times New Roman" panose="02020603050405020304" pitchFamily="18" charset="0"/>
              <a:ea typeface="Calibri"/>
              <a:cs typeface="Times New Roman" panose="02020603050405020304" pitchFamily="18" charset="0"/>
            </a:rPr>
            <a:t>, </a:t>
          </a:r>
          <a:r>
            <a:rPr lang="en-GB" sz="1600" b="1" i="1" dirty="0">
              <a:solidFill>
                <a:srgbClr val="F2F2F2"/>
              </a:solidFill>
              <a:latin typeface="Times New Roman" panose="02020603050405020304" pitchFamily="18" charset="0"/>
              <a:ea typeface="Calibri"/>
              <a:cs typeface="Times New Roman" panose="02020603050405020304" pitchFamily="18" charset="0"/>
            </a:rPr>
            <a:t>Transform</a:t>
          </a:r>
          <a:r>
            <a:rPr lang="en-GB" sz="1600" i="1" dirty="0">
              <a:solidFill>
                <a:srgbClr val="F2F2F2"/>
              </a:solidFill>
              <a:latin typeface="Times New Roman" panose="02020603050405020304" pitchFamily="18" charset="0"/>
              <a:ea typeface="Calibri"/>
              <a:cs typeface="Times New Roman" panose="02020603050405020304" pitchFamily="18" charset="0"/>
            </a:rPr>
            <a:t>, </a:t>
          </a:r>
          <a:r>
            <a:rPr lang="en-GB" sz="1600" b="1" i="1" dirty="0">
              <a:solidFill>
                <a:srgbClr val="F2F2F2"/>
              </a:solidFill>
              <a:latin typeface="Times New Roman" panose="02020603050405020304" pitchFamily="18" charset="0"/>
              <a:ea typeface="Calibri"/>
              <a:cs typeface="Times New Roman" panose="02020603050405020304" pitchFamily="18" charset="0"/>
            </a:rPr>
            <a:t>Expand</a:t>
          </a:r>
          <a:r>
            <a:rPr lang="en-GB" sz="1600" dirty="0">
              <a:solidFill>
                <a:srgbClr val="F2F2F2"/>
              </a:solidFill>
              <a:latin typeface="Times New Roman" panose="02020603050405020304" pitchFamily="18" charset="0"/>
              <a:ea typeface="Calibri"/>
              <a:cs typeface="Times New Roman" panose="02020603050405020304" pitchFamily="18" charset="0"/>
            </a:rPr>
            <a:t>, aligned with sustainability, digitalisation and predictable profitability</a:t>
          </a:r>
          <a:endParaRPr lang="en-GB" sz="1600" dirty="0">
            <a:solidFill>
              <a:srgbClr val="F2F2F2"/>
            </a:solidFill>
            <a:latin typeface="Times New Roman" panose="02020603050405020304" pitchFamily="18" charset="0"/>
            <a:cs typeface="Times New Roman" panose="02020603050405020304" pitchFamily="18" charset="0"/>
          </a:endParaRPr>
        </a:p>
      </dgm:t>
    </dgm:pt>
    <dgm:pt modelId="{34F9FB18-5467-41FC-B87E-E0C7A9D48E9D}" type="parTrans" cxnId="{E12985BD-F33A-427E-B72B-2AD5C4D93175}">
      <dgm:prSet/>
      <dgm:spPr/>
      <dgm:t>
        <a:bodyPr/>
        <a:lstStyle/>
        <a:p>
          <a:endParaRPr lang="en-GB" sz="1400">
            <a:latin typeface="Times New Roman" panose="02020603050405020304" pitchFamily="18" charset="0"/>
            <a:cs typeface="Times New Roman" panose="02020603050405020304" pitchFamily="18" charset="0"/>
          </a:endParaRPr>
        </a:p>
      </dgm:t>
    </dgm:pt>
    <dgm:pt modelId="{63C3FB82-BC3D-4326-8C81-C2A7ED19AF82}" type="sibTrans" cxnId="{E12985BD-F33A-427E-B72B-2AD5C4D93175}">
      <dgm:prSet/>
      <dgm:spPr/>
      <dgm:t>
        <a:bodyPr/>
        <a:lstStyle/>
        <a:p>
          <a:endParaRPr lang="en-GB" sz="1400">
            <a:latin typeface="Times New Roman" panose="02020603050405020304" pitchFamily="18" charset="0"/>
            <a:cs typeface="Times New Roman" panose="02020603050405020304" pitchFamily="18" charset="0"/>
          </a:endParaRPr>
        </a:p>
      </dgm:t>
    </dgm:pt>
    <dgm:pt modelId="{F396E921-1DBC-44B4-9ED3-D66A8A066C67}">
      <dgm:prSet custT="1"/>
      <dgm:spPr>
        <a:solidFill>
          <a:schemeClr val="tx2"/>
        </a:solidFill>
      </dgm:spPr>
      <dgm:t>
        <a:bodyPr/>
        <a:lstStyle/>
        <a:p>
          <a:r>
            <a:rPr lang="en-GB" sz="1600">
              <a:solidFill>
                <a:srgbClr val="F2F2F2"/>
              </a:solidFill>
              <a:latin typeface="Times New Roman" panose="02020603050405020304" pitchFamily="18" charset="0"/>
              <a:ea typeface="+mn-lt"/>
              <a:cs typeface="Times New Roman" panose="02020603050405020304" pitchFamily="18" charset="0"/>
            </a:rPr>
            <a:t>Provides integrated solutions in building, infrastructure, and public-private partnerships, with a strategic focus on </a:t>
          </a:r>
          <a:r>
            <a:rPr lang="en-GB" sz="1600" b="1">
              <a:solidFill>
                <a:srgbClr val="F2F2F2"/>
              </a:solidFill>
              <a:latin typeface="Times New Roman" panose="02020603050405020304" pitchFamily="18" charset="0"/>
              <a:ea typeface="+mn-lt"/>
              <a:cs typeface="Times New Roman" panose="02020603050405020304" pitchFamily="18" charset="0"/>
            </a:rPr>
            <a:t>sustainable</a:t>
          </a:r>
          <a:r>
            <a:rPr lang="en-GB" sz="1600">
              <a:solidFill>
                <a:srgbClr val="F2F2F2"/>
              </a:solidFill>
              <a:latin typeface="Times New Roman" panose="02020603050405020304" pitchFamily="18" charset="0"/>
              <a:ea typeface="+mn-lt"/>
              <a:cs typeface="Times New Roman" panose="02020603050405020304" pitchFamily="18" charset="0"/>
            </a:rPr>
            <a:t> and </a:t>
          </a:r>
          <a:r>
            <a:rPr lang="en-GB" sz="1600" b="1">
              <a:solidFill>
                <a:srgbClr val="F2F2F2"/>
              </a:solidFill>
              <a:latin typeface="Times New Roman" panose="02020603050405020304" pitchFamily="18" charset="0"/>
              <a:ea typeface="+mn-lt"/>
              <a:cs typeface="Times New Roman" panose="02020603050405020304" pitchFamily="18" charset="0"/>
            </a:rPr>
            <a:t>digital</a:t>
          </a:r>
          <a:r>
            <a:rPr lang="en-GB" sz="1600">
              <a:solidFill>
                <a:srgbClr val="F2F2F2"/>
              </a:solidFill>
              <a:latin typeface="Times New Roman" panose="02020603050405020304" pitchFamily="18" charset="0"/>
              <a:ea typeface="+mn-lt"/>
              <a:cs typeface="Times New Roman" panose="02020603050405020304" pitchFamily="18" charset="0"/>
            </a:rPr>
            <a:t> </a:t>
          </a:r>
          <a:r>
            <a:rPr lang="en-GB" sz="1600" b="1">
              <a:solidFill>
                <a:srgbClr val="F2F2F2"/>
              </a:solidFill>
              <a:latin typeface="Times New Roman" panose="02020603050405020304" pitchFamily="18" charset="0"/>
              <a:ea typeface="+mn-lt"/>
              <a:cs typeface="Times New Roman" panose="02020603050405020304" pitchFamily="18" charset="0"/>
            </a:rPr>
            <a:t>construction</a:t>
          </a:r>
          <a:r>
            <a:rPr lang="en-GB" sz="1600">
              <a:solidFill>
                <a:srgbClr val="F2F2F2"/>
              </a:solidFill>
              <a:latin typeface="Times New Roman" panose="02020603050405020304" pitchFamily="18" charset="0"/>
              <a:ea typeface="+mn-lt"/>
              <a:cs typeface="Times New Roman" panose="02020603050405020304" pitchFamily="18" charset="0"/>
            </a:rPr>
            <a:t>.</a:t>
          </a:r>
          <a:endParaRPr lang="en-GB" sz="1600">
            <a:solidFill>
              <a:srgbClr val="F2F2F2"/>
            </a:solidFill>
            <a:latin typeface="Times New Roman" panose="02020603050405020304" pitchFamily="18" charset="0"/>
            <a:ea typeface="Calibri"/>
            <a:cs typeface="Times New Roman" panose="02020603050405020304" pitchFamily="18" charset="0"/>
          </a:endParaRPr>
        </a:p>
      </dgm:t>
    </dgm:pt>
    <dgm:pt modelId="{BBDE0572-A17D-44C8-B64C-FB077CD17247}" type="parTrans" cxnId="{3BE87D31-325D-45F8-95DE-2441DE4685C6}">
      <dgm:prSet/>
      <dgm:spPr/>
      <dgm:t>
        <a:bodyPr/>
        <a:lstStyle/>
        <a:p>
          <a:endParaRPr lang="en-GB" sz="1400">
            <a:latin typeface="Times New Roman" panose="02020603050405020304" pitchFamily="18" charset="0"/>
            <a:cs typeface="Times New Roman" panose="02020603050405020304" pitchFamily="18" charset="0"/>
          </a:endParaRPr>
        </a:p>
      </dgm:t>
    </dgm:pt>
    <dgm:pt modelId="{A4E80054-036E-4D14-8DD5-C0534A3DB5A2}" type="sibTrans" cxnId="{3BE87D31-325D-45F8-95DE-2441DE4685C6}">
      <dgm:prSet/>
      <dgm:spPr/>
      <dgm:t>
        <a:bodyPr/>
        <a:lstStyle/>
        <a:p>
          <a:endParaRPr lang="en-GB" sz="1400">
            <a:latin typeface="Times New Roman" panose="02020603050405020304" pitchFamily="18" charset="0"/>
            <a:cs typeface="Times New Roman" panose="02020603050405020304" pitchFamily="18" charset="0"/>
          </a:endParaRPr>
        </a:p>
      </dgm:t>
    </dgm:pt>
    <dgm:pt modelId="{A6C283B5-B877-4806-B3E1-AEFF5E73A529}" type="pres">
      <dgm:prSet presAssocID="{583E90A8-5A23-4E8E-8BD4-3C52A22EFF11}" presName="linear" presStyleCnt="0">
        <dgm:presLayoutVars>
          <dgm:animLvl val="lvl"/>
          <dgm:resizeHandles val="exact"/>
        </dgm:presLayoutVars>
      </dgm:prSet>
      <dgm:spPr/>
    </dgm:pt>
    <dgm:pt modelId="{0F3D5B2F-2E37-4566-BB02-BC69170D97E7}" type="pres">
      <dgm:prSet presAssocID="{583792F2-9E76-4DE8-BAA4-C20560B079FC}" presName="parentText" presStyleLbl="node1" presStyleIdx="0" presStyleCnt="3" custLinFactY="-9584" custLinFactNeighborY="-100000">
        <dgm:presLayoutVars>
          <dgm:chMax val="0"/>
          <dgm:bulletEnabled val="1"/>
        </dgm:presLayoutVars>
      </dgm:prSet>
      <dgm:spPr/>
    </dgm:pt>
    <dgm:pt modelId="{E3BE85DE-7D40-43EE-A33E-8EFD266B0E1B}" type="pres">
      <dgm:prSet presAssocID="{EE40BE19-2FD8-4C13-821E-68EC7A7BABDA}" presName="spacer" presStyleCnt="0"/>
      <dgm:spPr/>
    </dgm:pt>
    <dgm:pt modelId="{694903F0-AD8D-4005-B2CD-B6498816AF2D}" type="pres">
      <dgm:prSet presAssocID="{F396E921-1DBC-44B4-9ED3-D66A8A066C67}" presName="parentText" presStyleLbl="node1" presStyleIdx="1" presStyleCnt="3" custLinFactNeighborX="-91" custLinFactNeighborY="1087">
        <dgm:presLayoutVars>
          <dgm:chMax val="0"/>
          <dgm:bulletEnabled val="1"/>
        </dgm:presLayoutVars>
      </dgm:prSet>
      <dgm:spPr/>
    </dgm:pt>
    <dgm:pt modelId="{0752760A-2425-4BD7-8145-65A0FF50B0C3}" type="pres">
      <dgm:prSet presAssocID="{A4E80054-036E-4D14-8DD5-C0534A3DB5A2}" presName="spacer" presStyleCnt="0"/>
      <dgm:spPr/>
    </dgm:pt>
    <dgm:pt modelId="{9092A7EC-895C-4EE0-8212-7BF7FF9DAD12}" type="pres">
      <dgm:prSet presAssocID="{7E304D60-EE53-4B07-8595-96E8883A28E0}" presName="parentText" presStyleLbl="node1" presStyleIdx="2" presStyleCnt="3" custLinFactNeighborX="393" custLinFactNeighborY="-23487">
        <dgm:presLayoutVars>
          <dgm:chMax val="0"/>
          <dgm:bulletEnabled val="1"/>
        </dgm:presLayoutVars>
      </dgm:prSet>
      <dgm:spPr/>
    </dgm:pt>
  </dgm:ptLst>
  <dgm:cxnLst>
    <dgm:cxn modelId="{3BE87D31-325D-45F8-95DE-2441DE4685C6}" srcId="{583E90A8-5A23-4E8E-8BD4-3C52A22EFF11}" destId="{F396E921-1DBC-44B4-9ED3-D66A8A066C67}" srcOrd="1" destOrd="0" parTransId="{BBDE0572-A17D-44C8-B64C-FB077CD17247}" sibTransId="{A4E80054-036E-4D14-8DD5-C0534A3DB5A2}"/>
    <dgm:cxn modelId="{AD57EF8B-80BE-4E53-86DE-74719EC7347F}" srcId="{583E90A8-5A23-4E8E-8BD4-3C52A22EFF11}" destId="{583792F2-9E76-4DE8-BAA4-C20560B079FC}" srcOrd="0" destOrd="0" parTransId="{1FD4411B-96E7-4DCA-94D8-25D5D30D0D4D}" sibTransId="{EE40BE19-2FD8-4C13-821E-68EC7A7BABDA}"/>
    <dgm:cxn modelId="{1F9F348D-AFE5-4A5C-9EB2-02BE3C8249BC}" type="presOf" srcId="{7E304D60-EE53-4B07-8595-96E8883A28E0}" destId="{9092A7EC-895C-4EE0-8212-7BF7FF9DAD12}" srcOrd="0" destOrd="0" presId="urn:microsoft.com/office/officeart/2005/8/layout/vList2"/>
    <dgm:cxn modelId="{E12985BD-F33A-427E-B72B-2AD5C4D93175}" srcId="{583E90A8-5A23-4E8E-8BD4-3C52A22EFF11}" destId="{7E304D60-EE53-4B07-8595-96E8883A28E0}" srcOrd="2" destOrd="0" parTransId="{34F9FB18-5467-41FC-B87E-E0C7A9D48E9D}" sibTransId="{63C3FB82-BC3D-4326-8C81-C2A7ED19AF82}"/>
    <dgm:cxn modelId="{51D4B0C5-A47D-4916-B195-13547D45ED13}" type="presOf" srcId="{583E90A8-5A23-4E8E-8BD4-3C52A22EFF11}" destId="{A6C283B5-B877-4806-B3E1-AEFF5E73A529}" srcOrd="0" destOrd="0" presId="urn:microsoft.com/office/officeart/2005/8/layout/vList2"/>
    <dgm:cxn modelId="{448A2FCC-5DF4-4AE2-AB14-C29158D33643}" type="presOf" srcId="{F396E921-1DBC-44B4-9ED3-D66A8A066C67}" destId="{694903F0-AD8D-4005-B2CD-B6498816AF2D}" srcOrd="0" destOrd="0" presId="urn:microsoft.com/office/officeart/2005/8/layout/vList2"/>
    <dgm:cxn modelId="{499096D4-F835-4338-A1D6-56B0E42006BF}" type="presOf" srcId="{583792F2-9E76-4DE8-BAA4-C20560B079FC}" destId="{0F3D5B2F-2E37-4566-BB02-BC69170D97E7}" srcOrd="0" destOrd="0" presId="urn:microsoft.com/office/officeart/2005/8/layout/vList2"/>
    <dgm:cxn modelId="{32504508-8DD0-4379-997B-84270F373326}" type="presParOf" srcId="{A6C283B5-B877-4806-B3E1-AEFF5E73A529}" destId="{0F3D5B2F-2E37-4566-BB02-BC69170D97E7}" srcOrd="0" destOrd="0" presId="urn:microsoft.com/office/officeart/2005/8/layout/vList2"/>
    <dgm:cxn modelId="{39E8D64F-1805-4F50-8AC6-85F878A946FD}" type="presParOf" srcId="{A6C283B5-B877-4806-B3E1-AEFF5E73A529}" destId="{E3BE85DE-7D40-43EE-A33E-8EFD266B0E1B}" srcOrd="1" destOrd="0" presId="urn:microsoft.com/office/officeart/2005/8/layout/vList2"/>
    <dgm:cxn modelId="{FDA8147B-DA29-4B2C-887B-143C7DEEB647}" type="presParOf" srcId="{A6C283B5-B877-4806-B3E1-AEFF5E73A529}" destId="{694903F0-AD8D-4005-B2CD-B6498816AF2D}" srcOrd="2" destOrd="0" presId="urn:microsoft.com/office/officeart/2005/8/layout/vList2"/>
    <dgm:cxn modelId="{1CC356FA-6386-4F0C-825A-0CE85B1786ED}" type="presParOf" srcId="{A6C283B5-B877-4806-B3E1-AEFF5E73A529}" destId="{0752760A-2425-4BD7-8145-65A0FF50B0C3}" srcOrd="3" destOrd="0" presId="urn:microsoft.com/office/officeart/2005/8/layout/vList2"/>
    <dgm:cxn modelId="{933B7CEB-6EDB-4595-959B-FF6FDD857F41}" type="presParOf" srcId="{A6C283B5-B877-4806-B3E1-AEFF5E73A529}" destId="{9092A7EC-895C-4EE0-8212-7BF7FF9DAD12}" srcOrd="4" destOrd="0" presId="urn:microsoft.com/office/officeart/2005/8/layout/vList2"/>
  </dgm:cxnLst>
  <dgm:bg/>
  <dgm:whole/>
  <dgm:extLst>
    <a:ext uri="http://schemas.microsoft.com/office/drawing/2008/diagram">
      <dsp:dataModelExt xmlns:dsp="http://schemas.microsoft.com/office/drawing/2008/diagram" relId="rId14"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A296366-00D5-44E6-8174-E7F9DD2E700F}" type="doc">
      <dgm:prSet loTypeId="urn:microsoft.com/office/officeart/2016/7/layout/BasicTimeline" loCatId="timeline" qsTypeId="urn:microsoft.com/office/officeart/2005/8/quickstyle/simple1" qsCatId="simple" csTypeId="urn:microsoft.com/office/officeart/2005/8/colors/accent1_2" csCatId="accent1" phldr="1"/>
      <dgm:spPr/>
      <dgm:t>
        <a:bodyPr/>
        <a:lstStyle/>
        <a:p>
          <a:endParaRPr lang="en-GB"/>
        </a:p>
      </dgm:t>
    </dgm:pt>
    <dgm:pt modelId="{F0320E81-934B-4200-80F2-639658963269}">
      <dgm:prSet phldrT="[Text]" phldr="0" custT="1"/>
      <dgm:spPr/>
      <dgm:t>
        <a:bodyPr/>
        <a:lstStyle/>
        <a:p>
          <a:pPr>
            <a:defRPr b="1"/>
          </a:pPr>
          <a:r>
            <a:rPr lang="en-GB" sz="1800">
              <a:latin typeface="Times New Roman" panose="02020603050405020304" pitchFamily="18" charset="0"/>
              <a:cs typeface="Times New Roman" panose="02020603050405020304" pitchFamily="18" charset="0"/>
            </a:rPr>
            <a:t>09/01</a:t>
          </a:r>
        </a:p>
      </dgm:t>
    </dgm:pt>
    <dgm:pt modelId="{B1996A88-8C2F-41B7-BA0E-0FBE407DEA86}" type="parTrans" cxnId="{5C624510-B5C4-4F86-A56E-AD1DD2CC5610}">
      <dgm:prSet/>
      <dgm:spPr/>
      <dgm:t>
        <a:bodyPr/>
        <a:lstStyle/>
        <a:p>
          <a:endParaRPr lang="en-GB" sz="1800">
            <a:latin typeface="Times New Roman" panose="02020603050405020304" pitchFamily="18" charset="0"/>
            <a:cs typeface="Times New Roman" panose="02020603050405020304" pitchFamily="18" charset="0"/>
          </a:endParaRPr>
        </a:p>
      </dgm:t>
    </dgm:pt>
    <dgm:pt modelId="{EB6CCF4C-5D19-40AA-B519-3650BFC24276}" type="sibTrans" cxnId="{5C624510-B5C4-4F86-A56E-AD1DD2CC5610}">
      <dgm:prSet/>
      <dgm:spPr/>
      <dgm:t>
        <a:bodyPr/>
        <a:lstStyle/>
        <a:p>
          <a:endParaRPr lang="en-GB" sz="1800">
            <a:latin typeface="Times New Roman" panose="02020603050405020304" pitchFamily="18" charset="0"/>
            <a:cs typeface="Times New Roman" panose="02020603050405020304" pitchFamily="18" charset="0"/>
          </a:endParaRPr>
        </a:p>
      </dgm:t>
    </dgm:pt>
    <dgm:pt modelId="{83CE0FC2-17DE-40DB-8C71-FA726E2738AB}">
      <dgm:prSet phldrT="[Text]" custT="1"/>
      <dgm:spPr/>
      <dgm:t>
        <a:bodyPr/>
        <a:lstStyle/>
        <a:p>
          <a:r>
            <a:rPr lang="en-GB" sz="1400" dirty="0">
              <a:solidFill>
                <a:schemeClr val="tx1"/>
              </a:solidFill>
              <a:latin typeface="Times New Roman" panose="02020603050405020304" pitchFamily="18" charset="0"/>
              <a:cs typeface="Times New Roman" panose="02020603050405020304" pitchFamily="18" charset="0"/>
            </a:rPr>
            <a:t>CINEA announced </a:t>
          </a:r>
          <a:r>
            <a:rPr lang="en-GB" sz="1400" b="1" dirty="0">
              <a:solidFill>
                <a:schemeClr val="tx1"/>
              </a:solidFill>
              <a:latin typeface="Times New Roman" panose="02020603050405020304" pitchFamily="18" charset="0"/>
              <a:cs typeface="Times New Roman" panose="02020603050405020304" pitchFamily="18" charset="0"/>
            </a:rPr>
            <a:t>€422 million</a:t>
          </a:r>
          <a:r>
            <a:rPr lang="en-GB" sz="1400" dirty="0">
              <a:solidFill>
                <a:schemeClr val="tx1"/>
              </a:solidFill>
              <a:latin typeface="Times New Roman" panose="02020603050405020304" pitchFamily="18" charset="0"/>
              <a:cs typeface="Times New Roman" panose="02020603050405020304" pitchFamily="18" charset="0"/>
            </a:rPr>
            <a:t> in EU funding for alternative fuels infrastructure, boost to transport-infrastructure, and energy transition sub-sectors</a:t>
          </a:r>
        </a:p>
      </dgm:t>
    </dgm:pt>
    <dgm:pt modelId="{CAAE48C6-D4DA-4DB2-B31D-B5DA70D0EECE}" type="parTrans" cxnId="{AF2D5B1D-EB64-4BB1-B24C-C565BA0FEF81}">
      <dgm:prSet/>
      <dgm:spPr/>
      <dgm:t>
        <a:bodyPr/>
        <a:lstStyle/>
        <a:p>
          <a:endParaRPr lang="en-GB" sz="1800">
            <a:latin typeface="Times New Roman" panose="02020603050405020304" pitchFamily="18" charset="0"/>
            <a:cs typeface="Times New Roman" panose="02020603050405020304" pitchFamily="18" charset="0"/>
          </a:endParaRPr>
        </a:p>
      </dgm:t>
    </dgm:pt>
    <dgm:pt modelId="{54EB89EB-5332-4651-931D-DDFAE820DEA0}" type="sibTrans" cxnId="{AF2D5B1D-EB64-4BB1-B24C-C565BA0FEF81}">
      <dgm:prSet/>
      <dgm:spPr/>
      <dgm:t>
        <a:bodyPr/>
        <a:lstStyle/>
        <a:p>
          <a:endParaRPr lang="en-GB" sz="1800">
            <a:latin typeface="Times New Roman" panose="02020603050405020304" pitchFamily="18" charset="0"/>
            <a:cs typeface="Times New Roman" panose="02020603050405020304" pitchFamily="18" charset="0"/>
          </a:endParaRPr>
        </a:p>
      </dgm:t>
    </dgm:pt>
    <dgm:pt modelId="{B3E2FEA5-A367-4177-B390-3B643C47B3C5}">
      <dgm:prSet phldrT="[Text]" phldr="0" custT="1"/>
      <dgm:spPr/>
      <dgm:t>
        <a:bodyPr/>
        <a:lstStyle/>
        <a:p>
          <a:pPr>
            <a:defRPr b="1"/>
          </a:pPr>
          <a:r>
            <a:rPr lang="en-GB" sz="1800" b="1">
              <a:latin typeface="Times New Roman" panose="02020603050405020304" pitchFamily="18" charset="0"/>
              <a:cs typeface="Times New Roman" panose="02020603050405020304" pitchFamily="18" charset="0"/>
            </a:rPr>
            <a:t>03/05</a:t>
          </a:r>
        </a:p>
      </dgm:t>
    </dgm:pt>
    <dgm:pt modelId="{C57E4B6B-32DA-4BEE-9EE4-D8869A4B43F0}" type="parTrans" cxnId="{7E38EAA6-78FB-485D-BC17-1A364E1DB44A}">
      <dgm:prSet/>
      <dgm:spPr/>
      <dgm:t>
        <a:bodyPr/>
        <a:lstStyle/>
        <a:p>
          <a:endParaRPr lang="en-GB" sz="1800">
            <a:latin typeface="Times New Roman" panose="02020603050405020304" pitchFamily="18" charset="0"/>
            <a:cs typeface="Times New Roman" panose="02020603050405020304" pitchFamily="18" charset="0"/>
          </a:endParaRPr>
        </a:p>
      </dgm:t>
    </dgm:pt>
    <dgm:pt modelId="{6EA149F6-166D-4C38-85CB-9F76D942146B}" type="sibTrans" cxnId="{7E38EAA6-78FB-485D-BC17-1A364E1DB44A}">
      <dgm:prSet/>
      <dgm:spPr/>
      <dgm:t>
        <a:bodyPr/>
        <a:lstStyle/>
        <a:p>
          <a:endParaRPr lang="en-GB" sz="1800">
            <a:latin typeface="Times New Roman" panose="02020603050405020304" pitchFamily="18" charset="0"/>
            <a:cs typeface="Times New Roman" panose="02020603050405020304" pitchFamily="18" charset="0"/>
          </a:endParaRPr>
        </a:p>
      </dgm:t>
    </dgm:pt>
    <dgm:pt modelId="{62BDC920-21F1-4D3F-BACB-E96A48D2E1D1}">
      <dgm:prSet phldrT="[Text]" custT="1"/>
      <dgm:spPr/>
      <dgm:t>
        <a:bodyPr/>
        <a:lstStyle/>
        <a:p>
          <a:r>
            <a:rPr lang="en-GB" sz="1400" b="0" dirty="0">
              <a:solidFill>
                <a:schemeClr val="tx1"/>
              </a:solidFill>
              <a:latin typeface="Times New Roman" panose="02020603050405020304" pitchFamily="18" charset="0"/>
              <a:cs typeface="Times New Roman" panose="02020603050405020304" pitchFamily="18" charset="0"/>
            </a:rPr>
            <a:t>Europe’s construction outlook from Fitch Solutions indicated moderate growth, emphasises the importance of scale, efficiency, and picking the right segments which BAM is doing </a:t>
          </a:r>
        </a:p>
      </dgm:t>
    </dgm:pt>
    <dgm:pt modelId="{3C32B1D2-44AB-4676-8C21-9123B1B4E1EA}" type="parTrans" cxnId="{EFA5F37F-E71D-430E-9D95-6B40BE0AE26C}">
      <dgm:prSet/>
      <dgm:spPr/>
      <dgm:t>
        <a:bodyPr/>
        <a:lstStyle/>
        <a:p>
          <a:endParaRPr lang="en-GB" sz="1800">
            <a:latin typeface="Times New Roman" panose="02020603050405020304" pitchFamily="18" charset="0"/>
            <a:cs typeface="Times New Roman" panose="02020603050405020304" pitchFamily="18" charset="0"/>
          </a:endParaRPr>
        </a:p>
      </dgm:t>
    </dgm:pt>
    <dgm:pt modelId="{2CC148E9-D3EF-42AD-ACA9-B67F44CF3538}" type="sibTrans" cxnId="{EFA5F37F-E71D-430E-9D95-6B40BE0AE26C}">
      <dgm:prSet/>
      <dgm:spPr/>
      <dgm:t>
        <a:bodyPr/>
        <a:lstStyle/>
        <a:p>
          <a:endParaRPr lang="en-GB" sz="1800">
            <a:latin typeface="Times New Roman" panose="02020603050405020304" pitchFamily="18" charset="0"/>
            <a:cs typeface="Times New Roman" panose="02020603050405020304" pitchFamily="18" charset="0"/>
          </a:endParaRPr>
        </a:p>
      </dgm:t>
    </dgm:pt>
    <dgm:pt modelId="{6A291940-202C-414B-AC42-F78FD9A48D5A}">
      <dgm:prSet phldrT="[Text]" custT="1"/>
      <dgm:spPr/>
      <dgm:t>
        <a:bodyPr/>
        <a:lstStyle/>
        <a:p>
          <a:pPr>
            <a:defRPr b="1"/>
          </a:pPr>
          <a:r>
            <a:rPr lang="en-GB" sz="1800" b="1">
              <a:solidFill>
                <a:srgbClr val="000000"/>
              </a:solidFill>
              <a:latin typeface="Times New Roman" panose="02020603050405020304" pitchFamily="18" charset="0"/>
              <a:ea typeface="Calibri"/>
              <a:cs typeface="Times New Roman" panose="02020603050405020304" pitchFamily="18" charset="0"/>
            </a:rPr>
            <a:t>24/07</a:t>
          </a:r>
          <a:endParaRPr lang="en-GB" sz="2000" b="1">
            <a:solidFill>
              <a:srgbClr val="000000"/>
            </a:solidFill>
            <a:latin typeface="Times New Roman" panose="02020603050405020304" pitchFamily="18" charset="0"/>
            <a:ea typeface="Calibri"/>
            <a:cs typeface="Times New Roman" panose="02020603050405020304" pitchFamily="18" charset="0"/>
          </a:endParaRPr>
        </a:p>
      </dgm:t>
    </dgm:pt>
    <dgm:pt modelId="{47ACC83F-D72F-480F-B27A-BF7BFC9A4727}" type="parTrans" cxnId="{B569CEFB-06A6-4725-8AB8-B4AF70161FD4}">
      <dgm:prSet/>
      <dgm:spPr/>
      <dgm:t>
        <a:bodyPr/>
        <a:lstStyle/>
        <a:p>
          <a:endParaRPr lang="en-GB" sz="1800">
            <a:latin typeface="Times New Roman" panose="02020603050405020304" pitchFamily="18" charset="0"/>
            <a:cs typeface="Times New Roman" panose="02020603050405020304" pitchFamily="18" charset="0"/>
          </a:endParaRPr>
        </a:p>
      </dgm:t>
    </dgm:pt>
    <dgm:pt modelId="{A45B8C24-5FBA-4FEB-83C6-5D90FBCF9DEE}" type="sibTrans" cxnId="{B569CEFB-06A6-4725-8AB8-B4AF70161FD4}">
      <dgm:prSet/>
      <dgm:spPr/>
      <dgm:t>
        <a:bodyPr/>
        <a:lstStyle/>
        <a:p>
          <a:endParaRPr lang="en-GB" sz="1800">
            <a:latin typeface="Times New Roman" panose="02020603050405020304" pitchFamily="18" charset="0"/>
            <a:cs typeface="Times New Roman" panose="02020603050405020304" pitchFamily="18" charset="0"/>
          </a:endParaRPr>
        </a:p>
      </dgm:t>
    </dgm:pt>
    <dgm:pt modelId="{2A0A14CE-AA52-4195-A512-005AF0ED7E31}">
      <dgm:prSet phldrT="[Text]" phldr="0" custT="1"/>
      <dgm:spPr/>
      <dgm:t>
        <a:bodyPr/>
        <a:lstStyle/>
        <a:p>
          <a:r>
            <a:rPr lang="en-GB" sz="1400" b="0" dirty="0">
              <a:solidFill>
                <a:schemeClr val="tx1"/>
              </a:solidFill>
              <a:latin typeface="Times New Roman" panose="02020603050405020304" pitchFamily="18" charset="0"/>
              <a:cs typeface="Times New Roman" panose="02020603050405020304" pitchFamily="18" charset="0"/>
            </a:rPr>
            <a:t>BAM’s H1 2025 results showed revenue up 7%, adjusted EBITDA up ~40% with margin ~5.2%. The company pointed to robust demand for energy transition, infrastructure and affordable housing. </a:t>
          </a:r>
        </a:p>
      </dgm:t>
    </dgm:pt>
    <dgm:pt modelId="{4EF029FF-EF5B-4AB5-82BB-BD1822E5A969}" type="parTrans" cxnId="{428A3E66-B6C1-4BF2-BAAE-1170183D72CA}">
      <dgm:prSet/>
      <dgm:spPr/>
      <dgm:t>
        <a:bodyPr/>
        <a:lstStyle/>
        <a:p>
          <a:endParaRPr lang="en-GB" sz="1800">
            <a:latin typeface="Times New Roman" panose="02020603050405020304" pitchFamily="18" charset="0"/>
            <a:cs typeface="Times New Roman" panose="02020603050405020304" pitchFamily="18" charset="0"/>
          </a:endParaRPr>
        </a:p>
      </dgm:t>
    </dgm:pt>
    <dgm:pt modelId="{330F46F8-FC72-43E1-A415-ADA344B84A9C}" type="sibTrans" cxnId="{428A3E66-B6C1-4BF2-BAAE-1170183D72CA}">
      <dgm:prSet/>
      <dgm:spPr/>
      <dgm:t>
        <a:bodyPr/>
        <a:lstStyle/>
        <a:p>
          <a:endParaRPr lang="en-GB" sz="1800">
            <a:latin typeface="Times New Roman" panose="02020603050405020304" pitchFamily="18" charset="0"/>
            <a:cs typeface="Times New Roman" panose="02020603050405020304" pitchFamily="18" charset="0"/>
          </a:endParaRPr>
        </a:p>
      </dgm:t>
    </dgm:pt>
    <dgm:pt modelId="{518A4BFA-61ED-41FA-8BE7-F2968E5ED7D6}">
      <dgm:prSet phldr="0" custT="1"/>
      <dgm:spPr/>
      <dgm:t>
        <a:bodyPr/>
        <a:lstStyle/>
        <a:p>
          <a:r>
            <a:rPr lang="en-GB" sz="1400" b="0" dirty="0">
              <a:solidFill>
                <a:schemeClr val="tx1"/>
              </a:solidFill>
              <a:latin typeface="Times New Roman" panose="02020603050405020304" pitchFamily="18" charset="0"/>
              <a:cs typeface="Times New Roman" panose="02020603050405020304" pitchFamily="18" charset="0"/>
            </a:rPr>
            <a:t>Boost to transport-infrastructure and energy-transition sub-sectors, favourable for BAM given its infrastructure capabilities.</a:t>
          </a:r>
          <a:endParaRPr lang="en-GB" sz="1400" b="1" dirty="0">
            <a:solidFill>
              <a:schemeClr val="tx1"/>
            </a:solidFill>
            <a:latin typeface="Times New Roman" panose="02020603050405020304" pitchFamily="18" charset="0"/>
            <a:ea typeface="Calibri"/>
            <a:cs typeface="Times New Roman" panose="02020603050405020304" pitchFamily="18" charset="0"/>
          </a:endParaRPr>
        </a:p>
      </dgm:t>
    </dgm:pt>
    <dgm:pt modelId="{68295DC3-D71A-4FBA-A671-072D3F2CFDC6}" type="parTrans" cxnId="{8E23AE1F-123E-45F2-9CF4-0A51C6BA347A}">
      <dgm:prSet/>
      <dgm:spPr/>
      <dgm:t>
        <a:bodyPr/>
        <a:lstStyle/>
        <a:p>
          <a:endParaRPr lang="en-GB" sz="1800">
            <a:latin typeface="Times New Roman" panose="02020603050405020304" pitchFamily="18" charset="0"/>
            <a:cs typeface="Times New Roman" panose="02020603050405020304" pitchFamily="18" charset="0"/>
          </a:endParaRPr>
        </a:p>
      </dgm:t>
    </dgm:pt>
    <dgm:pt modelId="{3156E89B-2130-4731-A779-1B4A42500D47}" type="sibTrans" cxnId="{8E23AE1F-123E-45F2-9CF4-0A51C6BA347A}">
      <dgm:prSet/>
      <dgm:spPr/>
      <dgm:t>
        <a:bodyPr/>
        <a:lstStyle/>
        <a:p>
          <a:endParaRPr lang="en-GB" sz="1800">
            <a:latin typeface="Times New Roman" panose="02020603050405020304" pitchFamily="18" charset="0"/>
            <a:cs typeface="Times New Roman" panose="02020603050405020304" pitchFamily="18" charset="0"/>
          </a:endParaRPr>
        </a:p>
      </dgm:t>
    </dgm:pt>
    <dgm:pt modelId="{C42E8168-AD3F-49C8-B750-7EEE6C84A475}">
      <dgm:prSet phldr="0" custT="1"/>
      <dgm:spPr/>
      <dgm:t>
        <a:bodyPr/>
        <a:lstStyle/>
        <a:p>
          <a:pPr>
            <a:defRPr b="1"/>
          </a:pPr>
          <a:r>
            <a:rPr lang="en-GB" sz="1800" b="1">
              <a:solidFill>
                <a:srgbClr val="000000"/>
              </a:solidFill>
              <a:latin typeface="Times New Roman" panose="02020603050405020304" pitchFamily="18" charset="0"/>
              <a:ea typeface="Calibri"/>
              <a:cs typeface="Times New Roman" panose="02020603050405020304" pitchFamily="18" charset="0"/>
            </a:rPr>
            <a:t>06/02</a:t>
          </a:r>
        </a:p>
      </dgm:t>
    </dgm:pt>
    <dgm:pt modelId="{BA00DA81-B129-4822-8F70-1FACBED19903}" type="parTrans" cxnId="{B5E53929-A07A-4032-AE05-257A64BBFA45}">
      <dgm:prSet/>
      <dgm:spPr/>
      <dgm:t>
        <a:bodyPr/>
        <a:lstStyle/>
        <a:p>
          <a:endParaRPr lang="en-GB" sz="1800">
            <a:latin typeface="Times New Roman" panose="02020603050405020304" pitchFamily="18" charset="0"/>
            <a:cs typeface="Times New Roman" panose="02020603050405020304" pitchFamily="18" charset="0"/>
          </a:endParaRPr>
        </a:p>
      </dgm:t>
    </dgm:pt>
    <dgm:pt modelId="{6552382A-FBE0-4016-A775-C4C1406562DC}" type="sibTrans" cxnId="{B5E53929-A07A-4032-AE05-257A64BBFA45}">
      <dgm:prSet/>
      <dgm:spPr/>
      <dgm:t>
        <a:bodyPr/>
        <a:lstStyle/>
        <a:p>
          <a:endParaRPr lang="en-GB" sz="1800">
            <a:latin typeface="Times New Roman" panose="02020603050405020304" pitchFamily="18" charset="0"/>
            <a:cs typeface="Times New Roman" panose="02020603050405020304" pitchFamily="18" charset="0"/>
          </a:endParaRPr>
        </a:p>
      </dgm:t>
    </dgm:pt>
    <dgm:pt modelId="{C96E1873-B07E-41DF-BAAC-F70F2D722B83}" type="pres">
      <dgm:prSet presAssocID="{DA296366-00D5-44E6-8174-E7F9DD2E700F}" presName="root" presStyleCnt="0">
        <dgm:presLayoutVars>
          <dgm:chMax/>
          <dgm:chPref/>
          <dgm:animLvl val="lvl"/>
        </dgm:presLayoutVars>
      </dgm:prSet>
      <dgm:spPr/>
    </dgm:pt>
    <dgm:pt modelId="{0F77FB4A-BEE5-4126-803A-202D266D5427}" type="pres">
      <dgm:prSet presAssocID="{DA296366-00D5-44E6-8174-E7F9DD2E700F}" presName="divider" presStyleLbl="fgAccFollowNode1" presStyleIdx="0" presStyleCnt="1"/>
      <dgm:spPr>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tailEnd type="triangle" w="lg" len="lg"/>
        </a:ln>
        <a:effectLst/>
      </dgm:spPr>
    </dgm:pt>
    <dgm:pt modelId="{67E6E5E6-EBB1-45C7-A8E8-8DD315F66325}" type="pres">
      <dgm:prSet presAssocID="{DA296366-00D5-44E6-8174-E7F9DD2E700F}" presName="nodes" presStyleCnt="0">
        <dgm:presLayoutVars>
          <dgm:chMax/>
          <dgm:chPref/>
          <dgm:animLvl val="lvl"/>
        </dgm:presLayoutVars>
      </dgm:prSet>
      <dgm:spPr/>
    </dgm:pt>
    <dgm:pt modelId="{B0A95D2E-0B95-43A2-8397-89FB55F4006C}" type="pres">
      <dgm:prSet presAssocID="{F0320E81-934B-4200-80F2-639658963269}" presName="composite" presStyleCnt="0"/>
      <dgm:spPr/>
    </dgm:pt>
    <dgm:pt modelId="{5327CF96-183F-488E-9567-69975D69C14F}" type="pres">
      <dgm:prSet presAssocID="{F0320E81-934B-4200-80F2-639658963269}" presName="L1TextContainer" presStyleLbl="revTx" presStyleIdx="0" presStyleCnt="4">
        <dgm:presLayoutVars>
          <dgm:chMax val="1"/>
          <dgm:chPref val="1"/>
          <dgm:bulletEnabled val="1"/>
        </dgm:presLayoutVars>
      </dgm:prSet>
      <dgm:spPr/>
    </dgm:pt>
    <dgm:pt modelId="{FAA11D48-E3C5-4F74-9F21-D78863C03AC8}" type="pres">
      <dgm:prSet presAssocID="{F0320E81-934B-4200-80F2-639658963269}" presName="L2TextContainerWrapper" presStyleCnt="0">
        <dgm:presLayoutVars>
          <dgm:chMax val="0"/>
          <dgm:chPref val="0"/>
          <dgm:bulletEnabled val="1"/>
        </dgm:presLayoutVars>
      </dgm:prSet>
      <dgm:spPr/>
    </dgm:pt>
    <dgm:pt modelId="{BFAAEA10-7AD6-4513-9CE3-9AA6F714594E}" type="pres">
      <dgm:prSet presAssocID="{F0320E81-934B-4200-80F2-639658963269}" presName="L2TextContainer" presStyleLbl="bgAcc1" presStyleIdx="0" presStyleCnt="4" custLinFactY="-114916" custLinFactNeighborX="-2420" custLinFactNeighborY="-200000"/>
      <dgm:spPr/>
    </dgm:pt>
    <dgm:pt modelId="{ED9C0FC2-07C3-495B-AF87-ACEAF05238B0}" type="pres">
      <dgm:prSet presAssocID="{F0320E81-934B-4200-80F2-639658963269}" presName="FlexibleEmptyPlaceHolder" presStyleCnt="0"/>
      <dgm:spPr/>
    </dgm:pt>
    <dgm:pt modelId="{5F2BB2D8-96DE-44D7-B709-AC9E2772976A}" type="pres">
      <dgm:prSet presAssocID="{F0320E81-934B-4200-80F2-639658963269}" presName="ConnectLine" presStyleLbl="sibTrans1D1" presStyleIdx="0" presStyleCnt="4"/>
      <dgm:spPr>
        <a:noFill/>
        <a:ln w="9525" cap="flat" cmpd="sng" algn="ctr">
          <a:solidFill>
            <a:schemeClr val="accent1">
              <a:hueOff val="0"/>
              <a:satOff val="0"/>
              <a:lumOff val="0"/>
              <a:alphaOff val="0"/>
            </a:schemeClr>
          </a:solidFill>
          <a:prstDash val="dash"/>
        </a:ln>
        <a:effectLst/>
      </dgm:spPr>
    </dgm:pt>
    <dgm:pt modelId="{88A8BCD1-F88F-4725-B750-B9CDB46D9AD0}" type="pres">
      <dgm:prSet presAssocID="{F0320E81-934B-4200-80F2-639658963269}" presName="ConnectorPoint" presStyleLbl="alignNode1" presStyleIdx="0" presStyleCnt="4"/>
      <dgm:spPr/>
    </dgm:pt>
    <dgm:pt modelId="{C7F2B8ED-77CB-4BCE-802B-B4F786C29A75}" type="pres">
      <dgm:prSet presAssocID="{F0320E81-934B-4200-80F2-639658963269}" presName="EmptyPlaceHolder" presStyleCnt="0"/>
      <dgm:spPr/>
    </dgm:pt>
    <dgm:pt modelId="{5AA5969C-73A7-4BB1-B581-C9AC8B0837C7}" type="pres">
      <dgm:prSet presAssocID="{EB6CCF4C-5D19-40AA-B519-3650BFC24276}" presName="spaceBetweenRectangles" presStyleCnt="0"/>
      <dgm:spPr/>
    </dgm:pt>
    <dgm:pt modelId="{E152D449-DD36-4761-BA40-866AD4A6E7F2}" type="pres">
      <dgm:prSet presAssocID="{C42E8168-AD3F-49C8-B750-7EEE6C84A475}" presName="composite" presStyleCnt="0"/>
      <dgm:spPr/>
    </dgm:pt>
    <dgm:pt modelId="{E39643B6-3660-45D8-895B-32E64F63CCAD}" type="pres">
      <dgm:prSet presAssocID="{C42E8168-AD3F-49C8-B750-7EEE6C84A475}" presName="L1TextContainer" presStyleLbl="revTx" presStyleIdx="1" presStyleCnt="4">
        <dgm:presLayoutVars>
          <dgm:chMax val="1"/>
          <dgm:chPref val="1"/>
          <dgm:bulletEnabled val="1"/>
        </dgm:presLayoutVars>
      </dgm:prSet>
      <dgm:spPr/>
    </dgm:pt>
    <dgm:pt modelId="{FE577684-68B4-4CF8-9B05-2375BEE260CE}" type="pres">
      <dgm:prSet presAssocID="{C42E8168-AD3F-49C8-B750-7EEE6C84A475}" presName="L2TextContainerWrapper" presStyleCnt="0">
        <dgm:presLayoutVars>
          <dgm:chMax val="0"/>
          <dgm:chPref val="0"/>
          <dgm:bulletEnabled val="1"/>
        </dgm:presLayoutVars>
      </dgm:prSet>
      <dgm:spPr/>
    </dgm:pt>
    <dgm:pt modelId="{07880A02-088D-4A48-964D-5A8BC5BA5E2B}" type="pres">
      <dgm:prSet presAssocID="{C42E8168-AD3F-49C8-B750-7EEE6C84A475}" presName="L2TextContainer" presStyleLbl="bgAcc1" presStyleIdx="1" presStyleCnt="4"/>
      <dgm:spPr/>
    </dgm:pt>
    <dgm:pt modelId="{73DEB7EC-E1AA-4329-A19F-156634E264BE}" type="pres">
      <dgm:prSet presAssocID="{C42E8168-AD3F-49C8-B750-7EEE6C84A475}" presName="FlexibleEmptyPlaceHolder" presStyleCnt="0"/>
      <dgm:spPr/>
    </dgm:pt>
    <dgm:pt modelId="{017625AF-4F32-40F1-B2BA-1D4BA64CDFF0}" type="pres">
      <dgm:prSet presAssocID="{C42E8168-AD3F-49C8-B750-7EEE6C84A475}" presName="ConnectLine" presStyleLbl="sibTrans1D1" presStyleIdx="1" presStyleCnt="4"/>
      <dgm:spPr>
        <a:noFill/>
        <a:ln w="9525" cap="flat" cmpd="sng" algn="ctr">
          <a:solidFill>
            <a:schemeClr val="accent1">
              <a:hueOff val="0"/>
              <a:satOff val="0"/>
              <a:lumOff val="0"/>
              <a:alphaOff val="0"/>
            </a:schemeClr>
          </a:solidFill>
          <a:prstDash val="dash"/>
        </a:ln>
        <a:effectLst/>
      </dgm:spPr>
    </dgm:pt>
    <dgm:pt modelId="{473E76BE-A991-4397-9900-769A1B3054F6}" type="pres">
      <dgm:prSet presAssocID="{C42E8168-AD3F-49C8-B750-7EEE6C84A475}" presName="ConnectorPoint" presStyleLbl="alignNode1" presStyleIdx="1" presStyleCnt="4"/>
      <dgm:spPr/>
    </dgm:pt>
    <dgm:pt modelId="{1C118309-5619-4D6B-897E-72448DC9B214}" type="pres">
      <dgm:prSet presAssocID="{C42E8168-AD3F-49C8-B750-7EEE6C84A475}" presName="EmptyPlaceHolder" presStyleCnt="0"/>
      <dgm:spPr/>
    </dgm:pt>
    <dgm:pt modelId="{3750C924-CAE1-4B2D-9C77-1899D4748011}" type="pres">
      <dgm:prSet presAssocID="{6552382A-FBE0-4016-A775-C4C1406562DC}" presName="spaceBetweenRectangles" presStyleCnt="0"/>
      <dgm:spPr/>
    </dgm:pt>
    <dgm:pt modelId="{19F46AEB-2DAB-41C3-8454-B492679DEC05}" type="pres">
      <dgm:prSet presAssocID="{B3E2FEA5-A367-4177-B390-3B643C47B3C5}" presName="composite" presStyleCnt="0"/>
      <dgm:spPr/>
    </dgm:pt>
    <dgm:pt modelId="{54B0BD7D-20EF-4419-8EA4-5C205165C399}" type="pres">
      <dgm:prSet presAssocID="{B3E2FEA5-A367-4177-B390-3B643C47B3C5}" presName="L1TextContainer" presStyleLbl="revTx" presStyleIdx="2" presStyleCnt="4">
        <dgm:presLayoutVars>
          <dgm:chMax val="1"/>
          <dgm:chPref val="1"/>
          <dgm:bulletEnabled val="1"/>
        </dgm:presLayoutVars>
      </dgm:prSet>
      <dgm:spPr/>
    </dgm:pt>
    <dgm:pt modelId="{B6366588-B6E4-4C4C-A58B-934D90F462B6}" type="pres">
      <dgm:prSet presAssocID="{B3E2FEA5-A367-4177-B390-3B643C47B3C5}" presName="L2TextContainerWrapper" presStyleCnt="0">
        <dgm:presLayoutVars>
          <dgm:chMax val="0"/>
          <dgm:chPref val="0"/>
          <dgm:bulletEnabled val="1"/>
        </dgm:presLayoutVars>
      </dgm:prSet>
      <dgm:spPr/>
    </dgm:pt>
    <dgm:pt modelId="{E4B025FF-F15D-4F63-BFB1-B04F18174C21}" type="pres">
      <dgm:prSet presAssocID="{B3E2FEA5-A367-4177-B390-3B643C47B3C5}" presName="L2TextContainer" presStyleLbl="bgAcc1" presStyleIdx="2" presStyleCnt="4"/>
      <dgm:spPr/>
    </dgm:pt>
    <dgm:pt modelId="{8F60C49F-6E2E-491A-B92A-72FF74E6AD58}" type="pres">
      <dgm:prSet presAssocID="{B3E2FEA5-A367-4177-B390-3B643C47B3C5}" presName="FlexibleEmptyPlaceHolder" presStyleCnt="0"/>
      <dgm:spPr/>
    </dgm:pt>
    <dgm:pt modelId="{986631C0-AA86-4B58-A077-E21DF3B19E92}" type="pres">
      <dgm:prSet presAssocID="{B3E2FEA5-A367-4177-B390-3B643C47B3C5}" presName="ConnectLine" presStyleLbl="sibTrans1D1" presStyleIdx="2" presStyleCnt="4"/>
      <dgm:spPr>
        <a:noFill/>
        <a:ln w="9525" cap="flat" cmpd="sng" algn="ctr">
          <a:solidFill>
            <a:schemeClr val="accent1">
              <a:hueOff val="0"/>
              <a:satOff val="0"/>
              <a:lumOff val="0"/>
              <a:alphaOff val="0"/>
            </a:schemeClr>
          </a:solidFill>
          <a:prstDash val="dash"/>
        </a:ln>
        <a:effectLst/>
      </dgm:spPr>
    </dgm:pt>
    <dgm:pt modelId="{63287593-68F1-4077-A067-1E2004F65DF3}" type="pres">
      <dgm:prSet presAssocID="{B3E2FEA5-A367-4177-B390-3B643C47B3C5}" presName="ConnectorPoint" presStyleLbl="alignNode1" presStyleIdx="2" presStyleCnt="4"/>
      <dgm:spPr/>
    </dgm:pt>
    <dgm:pt modelId="{E6F4107E-2DA3-41E7-A855-E69521C905A9}" type="pres">
      <dgm:prSet presAssocID="{B3E2FEA5-A367-4177-B390-3B643C47B3C5}" presName="EmptyPlaceHolder" presStyleCnt="0"/>
      <dgm:spPr/>
    </dgm:pt>
    <dgm:pt modelId="{922CE5C5-32A5-4019-B182-2DC14F0065A6}" type="pres">
      <dgm:prSet presAssocID="{6EA149F6-166D-4C38-85CB-9F76D942146B}" presName="spaceBetweenRectangles" presStyleCnt="0"/>
      <dgm:spPr/>
    </dgm:pt>
    <dgm:pt modelId="{120042EC-8F2B-4C7C-B9EF-0FDA83F849C9}" type="pres">
      <dgm:prSet presAssocID="{6A291940-202C-414B-AC42-F78FD9A48D5A}" presName="composite" presStyleCnt="0"/>
      <dgm:spPr/>
    </dgm:pt>
    <dgm:pt modelId="{6BE37A20-226E-4DA1-AC99-38AA8DB376DD}" type="pres">
      <dgm:prSet presAssocID="{6A291940-202C-414B-AC42-F78FD9A48D5A}" presName="L1TextContainer" presStyleLbl="revTx" presStyleIdx="3" presStyleCnt="4">
        <dgm:presLayoutVars>
          <dgm:chMax val="1"/>
          <dgm:chPref val="1"/>
          <dgm:bulletEnabled val="1"/>
        </dgm:presLayoutVars>
      </dgm:prSet>
      <dgm:spPr/>
    </dgm:pt>
    <dgm:pt modelId="{D1D64A4E-1C1F-45E2-B193-21F8FD4C052A}" type="pres">
      <dgm:prSet presAssocID="{6A291940-202C-414B-AC42-F78FD9A48D5A}" presName="L2TextContainerWrapper" presStyleCnt="0">
        <dgm:presLayoutVars>
          <dgm:chMax val="0"/>
          <dgm:chPref val="0"/>
          <dgm:bulletEnabled val="1"/>
        </dgm:presLayoutVars>
      </dgm:prSet>
      <dgm:spPr/>
    </dgm:pt>
    <dgm:pt modelId="{77F8220B-F2B7-4AEB-95D7-1FECC2DC0DDC}" type="pres">
      <dgm:prSet presAssocID="{6A291940-202C-414B-AC42-F78FD9A48D5A}" presName="L2TextContainer" presStyleLbl="bgAcc1" presStyleIdx="3" presStyleCnt="4"/>
      <dgm:spPr/>
    </dgm:pt>
    <dgm:pt modelId="{9124F0CF-1A10-4CD4-9B03-7E3705165AF6}" type="pres">
      <dgm:prSet presAssocID="{6A291940-202C-414B-AC42-F78FD9A48D5A}" presName="FlexibleEmptyPlaceHolder" presStyleCnt="0"/>
      <dgm:spPr/>
    </dgm:pt>
    <dgm:pt modelId="{6403DCB8-D23D-4086-92CD-1EFBF3D16F02}" type="pres">
      <dgm:prSet presAssocID="{6A291940-202C-414B-AC42-F78FD9A48D5A}" presName="ConnectLine" presStyleLbl="sibTrans1D1" presStyleIdx="3" presStyleCnt="4"/>
      <dgm:spPr>
        <a:noFill/>
        <a:ln w="9525" cap="flat" cmpd="sng" algn="ctr">
          <a:solidFill>
            <a:schemeClr val="accent1">
              <a:hueOff val="0"/>
              <a:satOff val="0"/>
              <a:lumOff val="0"/>
              <a:alphaOff val="0"/>
            </a:schemeClr>
          </a:solidFill>
          <a:prstDash val="dash"/>
        </a:ln>
        <a:effectLst/>
      </dgm:spPr>
    </dgm:pt>
    <dgm:pt modelId="{DD5A4152-5771-4E62-8A61-D084EE10A59B}" type="pres">
      <dgm:prSet presAssocID="{6A291940-202C-414B-AC42-F78FD9A48D5A}" presName="ConnectorPoint" presStyleLbl="alignNode1" presStyleIdx="3" presStyleCnt="4"/>
      <dgm:spPr/>
    </dgm:pt>
    <dgm:pt modelId="{307A15C9-970B-4A39-83E1-104DD14709EB}" type="pres">
      <dgm:prSet presAssocID="{6A291940-202C-414B-AC42-F78FD9A48D5A}" presName="EmptyPlaceHolder" presStyleCnt="0"/>
      <dgm:spPr/>
    </dgm:pt>
  </dgm:ptLst>
  <dgm:cxnLst>
    <dgm:cxn modelId="{5C624510-B5C4-4F86-A56E-AD1DD2CC5610}" srcId="{DA296366-00D5-44E6-8174-E7F9DD2E700F}" destId="{F0320E81-934B-4200-80F2-639658963269}" srcOrd="0" destOrd="0" parTransId="{B1996A88-8C2F-41B7-BA0E-0FBE407DEA86}" sibTransId="{EB6CCF4C-5D19-40AA-B519-3650BFC24276}"/>
    <dgm:cxn modelId="{9DD55C16-6599-46C4-A5AD-6AA9C3C8AA64}" type="presOf" srcId="{62BDC920-21F1-4D3F-BACB-E96A48D2E1D1}" destId="{E4B025FF-F15D-4F63-BFB1-B04F18174C21}" srcOrd="0" destOrd="0" presId="urn:microsoft.com/office/officeart/2016/7/layout/BasicTimeline"/>
    <dgm:cxn modelId="{AF2D5B1D-EB64-4BB1-B24C-C565BA0FEF81}" srcId="{C42E8168-AD3F-49C8-B750-7EEE6C84A475}" destId="{83CE0FC2-17DE-40DB-8C71-FA726E2738AB}" srcOrd="0" destOrd="0" parTransId="{CAAE48C6-D4DA-4DB2-B31D-B5DA70D0EECE}" sibTransId="{54EB89EB-5332-4651-931D-DDFAE820DEA0}"/>
    <dgm:cxn modelId="{8E23AE1F-123E-45F2-9CF4-0A51C6BA347A}" srcId="{F0320E81-934B-4200-80F2-639658963269}" destId="{518A4BFA-61ED-41FA-8BE7-F2968E5ED7D6}" srcOrd="0" destOrd="0" parTransId="{68295DC3-D71A-4FBA-A671-072D3F2CFDC6}" sibTransId="{3156E89B-2130-4731-A779-1B4A42500D47}"/>
    <dgm:cxn modelId="{B5E53929-A07A-4032-AE05-257A64BBFA45}" srcId="{DA296366-00D5-44E6-8174-E7F9DD2E700F}" destId="{C42E8168-AD3F-49C8-B750-7EEE6C84A475}" srcOrd="1" destOrd="0" parTransId="{BA00DA81-B129-4822-8F70-1FACBED19903}" sibTransId="{6552382A-FBE0-4016-A775-C4C1406562DC}"/>
    <dgm:cxn modelId="{7F8E214E-4878-43B9-9B62-3BD019ACFA0B}" type="presOf" srcId="{DA296366-00D5-44E6-8174-E7F9DD2E700F}" destId="{C96E1873-B07E-41DF-BAAC-F70F2D722B83}" srcOrd="0" destOrd="0" presId="urn:microsoft.com/office/officeart/2016/7/layout/BasicTimeline"/>
    <dgm:cxn modelId="{D00C0254-C843-4E5D-A43C-C8FC0F52956B}" type="presOf" srcId="{518A4BFA-61ED-41FA-8BE7-F2968E5ED7D6}" destId="{BFAAEA10-7AD6-4513-9CE3-9AA6F714594E}" srcOrd="0" destOrd="0" presId="urn:microsoft.com/office/officeart/2016/7/layout/BasicTimeline"/>
    <dgm:cxn modelId="{428A3E66-B6C1-4BF2-BAAE-1170183D72CA}" srcId="{6A291940-202C-414B-AC42-F78FD9A48D5A}" destId="{2A0A14CE-AA52-4195-A512-005AF0ED7E31}" srcOrd="0" destOrd="0" parTransId="{4EF029FF-EF5B-4AB5-82BB-BD1822E5A969}" sibTransId="{330F46F8-FC72-43E1-A415-ADA344B84A9C}"/>
    <dgm:cxn modelId="{5DF2027C-E97E-4C11-8834-E5E3A653A30C}" type="presOf" srcId="{B3E2FEA5-A367-4177-B390-3B643C47B3C5}" destId="{54B0BD7D-20EF-4419-8EA4-5C205165C399}" srcOrd="0" destOrd="0" presId="urn:microsoft.com/office/officeart/2016/7/layout/BasicTimeline"/>
    <dgm:cxn modelId="{EFA5F37F-E71D-430E-9D95-6B40BE0AE26C}" srcId="{B3E2FEA5-A367-4177-B390-3B643C47B3C5}" destId="{62BDC920-21F1-4D3F-BACB-E96A48D2E1D1}" srcOrd="0" destOrd="0" parTransId="{3C32B1D2-44AB-4676-8C21-9123B1B4E1EA}" sibTransId="{2CC148E9-D3EF-42AD-ACA9-B67F44CF3538}"/>
    <dgm:cxn modelId="{1A9EA98C-59F3-431B-98AE-145A09D63DAD}" type="presOf" srcId="{F0320E81-934B-4200-80F2-639658963269}" destId="{5327CF96-183F-488E-9567-69975D69C14F}" srcOrd="0" destOrd="0" presId="urn:microsoft.com/office/officeart/2016/7/layout/BasicTimeline"/>
    <dgm:cxn modelId="{34B8FD95-3A3C-41E4-9DF0-DF6B01BF83F3}" type="presOf" srcId="{2A0A14CE-AA52-4195-A512-005AF0ED7E31}" destId="{77F8220B-F2B7-4AEB-95D7-1FECC2DC0DDC}" srcOrd="0" destOrd="0" presId="urn:microsoft.com/office/officeart/2016/7/layout/BasicTimeline"/>
    <dgm:cxn modelId="{7E38EAA6-78FB-485D-BC17-1A364E1DB44A}" srcId="{DA296366-00D5-44E6-8174-E7F9DD2E700F}" destId="{B3E2FEA5-A367-4177-B390-3B643C47B3C5}" srcOrd="2" destOrd="0" parTransId="{C57E4B6B-32DA-4BEE-9EE4-D8869A4B43F0}" sibTransId="{6EA149F6-166D-4C38-85CB-9F76D942146B}"/>
    <dgm:cxn modelId="{5DBA17BC-9AC6-4D75-A065-612AE0AC5649}" type="presOf" srcId="{6A291940-202C-414B-AC42-F78FD9A48D5A}" destId="{6BE37A20-226E-4DA1-AC99-38AA8DB376DD}" srcOrd="0" destOrd="0" presId="urn:microsoft.com/office/officeart/2016/7/layout/BasicTimeline"/>
    <dgm:cxn modelId="{56E0AABD-320A-4351-A99A-5B958745394D}" type="presOf" srcId="{83CE0FC2-17DE-40DB-8C71-FA726E2738AB}" destId="{07880A02-088D-4A48-964D-5A8BC5BA5E2B}" srcOrd="0" destOrd="0" presId="urn:microsoft.com/office/officeart/2016/7/layout/BasicTimeline"/>
    <dgm:cxn modelId="{AC1F5DFB-EC73-4D98-A27E-2E9FCCD6222B}" type="presOf" srcId="{C42E8168-AD3F-49C8-B750-7EEE6C84A475}" destId="{E39643B6-3660-45D8-895B-32E64F63CCAD}" srcOrd="0" destOrd="0" presId="urn:microsoft.com/office/officeart/2016/7/layout/BasicTimeline"/>
    <dgm:cxn modelId="{B569CEFB-06A6-4725-8AB8-B4AF70161FD4}" srcId="{DA296366-00D5-44E6-8174-E7F9DD2E700F}" destId="{6A291940-202C-414B-AC42-F78FD9A48D5A}" srcOrd="3" destOrd="0" parTransId="{47ACC83F-D72F-480F-B27A-BF7BFC9A4727}" sibTransId="{A45B8C24-5FBA-4FEB-83C6-5D90FBCF9DEE}"/>
    <dgm:cxn modelId="{FA701F23-AEA4-4A8F-8163-5B4E44794961}" type="presParOf" srcId="{C96E1873-B07E-41DF-BAAC-F70F2D722B83}" destId="{0F77FB4A-BEE5-4126-803A-202D266D5427}" srcOrd="0" destOrd="0" presId="urn:microsoft.com/office/officeart/2016/7/layout/BasicTimeline"/>
    <dgm:cxn modelId="{A9FA77D8-71A1-4C44-BE91-2659BE70903E}" type="presParOf" srcId="{C96E1873-B07E-41DF-BAAC-F70F2D722B83}" destId="{67E6E5E6-EBB1-45C7-A8E8-8DD315F66325}" srcOrd="1" destOrd="0" presId="urn:microsoft.com/office/officeart/2016/7/layout/BasicTimeline"/>
    <dgm:cxn modelId="{6B723194-FEE0-4357-BA88-C54E6B7B8EFA}" type="presParOf" srcId="{67E6E5E6-EBB1-45C7-A8E8-8DD315F66325}" destId="{B0A95D2E-0B95-43A2-8397-89FB55F4006C}" srcOrd="0" destOrd="0" presId="urn:microsoft.com/office/officeart/2016/7/layout/BasicTimeline"/>
    <dgm:cxn modelId="{FFDDCA9C-C17A-4236-A324-07DEF2FAEFCF}" type="presParOf" srcId="{B0A95D2E-0B95-43A2-8397-89FB55F4006C}" destId="{5327CF96-183F-488E-9567-69975D69C14F}" srcOrd="0" destOrd="0" presId="urn:microsoft.com/office/officeart/2016/7/layout/BasicTimeline"/>
    <dgm:cxn modelId="{51BADE98-4FB1-43FD-ABE9-F22AB4E204C5}" type="presParOf" srcId="{B0A95D2E-0B95-43A2-8397-89FB55F4006C}" destId="{FAA11D48-E3C5-4F74-9F21-D78863C03AC8}" srcOrd="1" destOrd="0" presId="urn:microsoft.com/office/officeart/2016/7/layout/BasicTimeline"/>
    <dgm:cxn modelId="{F1BFF38C-D782-43B1-B138-BA5AAAB2726E}" type="presParOf" srcId="{FAA11D48-E3C5-4F74-9F21-D78863C03AC8}" destId="{BFAAEA10-7AD6-4513-9CE3-9AA6F714594E}" srcOrd="0" destOrd="0" presId="urn:microsoft.com/office/officeart/2016/7/layout/BasicTimeline"/>
    <dgm:cxn modelId="{C8BAFAFE-9551-4998-9409-A594CD3DA4DC}" type="presParOf" srcId="{FAA11D48-E3C5-4F74-9F21-D78863C03AC8}" destId="{ED9C0FC2-07C3-495B-AF87-ACEAF05238B0}" srcOrd="1" destOrd="0" presId="urn:microsoft.com/office/officeart/2016/7/layout/BasicTimeline"/>
    <dgm:cxn modelId="{1565D8A0-BD00-4816-B92B-77605D5200A6}" type="presParOf" srcId="{B0A95D2E-0B95-43A2-8397-89FB55F4006C}" destId="{5F2BB2D8-96DE-44D7-B709-AC9E2772976A}" srcOrd="2" destOrd="0" presId="urn:microsoft.com/office/officeart/2016/7/layout/BasicTimeline"/>
    <dgm:cxn modelId="{3DD4C1F4-E335-4545-959B-C01ECB52FB32}" type="presParOf" srcId="{B0A95D2E-0B95-43A2-8397-89FB55F4006C}" destId="{88A8BCD1-F88F-4725-B750-B9CDB46D9AD0}" srcOrd="3" destOrd="0" presId="urn:microsoft.com/office/officeart/2016/7/layout/BasicTimeline"/>
    <dgm:cxn modelId="{3A8F2443-4A89-46B4-8285-169BCAA85C90}" type="presParOf" srcId="{B0A95D2E-0B95-43A2-8397-89FB55F4006C}" destId="{C7F2B8ED-77CB-4BCE-802B-B4F786C29A75}" srcOrd="4" destOrd="0" presId="urn:microsoft.com/office/officeart/2016/7/layout/BasicTimeline"/>
    <dgm:cxn modelId="{35BA3DE8-2C59-406E-B0B5-B6CAF6A92D02}" type="presParOf" srcId="{67E6E5E6-EBB1-45C7-A8E8-8DD315F66325}" destId="{5AA5969C-73A7-4BB1-B581-C9AC8B0837C7}" srcOrd="1" destOrd="0" presId="urn:microsoft.com/office/officeart/2016/7/layout/BasicTimeline"/>
    <dgm:cxn modelId="{77F16B90-AC39-4075-BDE4-16B3542B6CBE}" type="presParOf" srcId="{67E6E5E6-EBB1-45C7-A8E8-8DD315F66325}" destId="{E152D449-DD36-4761-BA40-866AD4A6E7F2}" srcOrd="2" destOrd="0" presId="urn:microsoft.com/office/officeart/2016/7/layout/BasicTimeline"/>
    <dgm:cxn modelId="{335E032F-3908-4010-82E6-155AB0DFB60E}" type="presParOf" srcId="{E152D449-DD36-4761-BA40-866AD4A6E7F2}" destId="{E39643B6-3660-45D8-895B-32E64F63CCAD}" srcOrd="0" destOrd="0" presId="urn:microsoft.com/office/officeart/2016/7/layout/BasicTimeline"/>
    <dgm:cxn modelId="{80BCB7F8-0606-4CC8-AD58-733E048B555F}" type="presParOf" srcId="{E152D449-DD36-4761-BA40-866AD4A6E7F2}" destId="{FE577684-68B4-4CF8-9B05-2375BEE260CE}" srcOrd="1" destOrd="0" presId="urn:microsoft.com/office/officeart/2016/7/layout/BasicTimeline"/>
    <dgm:cxn modelId="{E03627F7-4C2D-44A7-983E-91910341CB24}" type="presParOf" srcId="{FE577684-68B4-4CF8-9B05-2375BEE260CE}" destId="{07880A02-088D-4A48-964D-5A8BC5BA5E2B}" srcOrd="0" destOrd="0" presId="urn:microsoft.com/office/officeart/2016/7/layout/BasicTimeline"/>
    <dgm:cxn modelId="{B7202867-3682-477A-9529-E9655D347FB2}" type="presParOf" srcId="{FE577684-68B4-4CF8-9B05-2375BEE260CE}" destId="{73DEB7EC-E1AA-4329-A19F-156634E264BE}" srcOrd="1" destOrd="0" presId="urn:microsoft.com/office/officeart/2016/7/layout/BasicTimeline"/>
    <dgm:cxn modelId="{25745D11-7D43-4E5B-AFAB-5BAF95D13340}" type="presParOf" srcId="{E152D449-DD36-4761-BA40-866AD4A6E7F2}" destId="{017625AF-4F32-40F1-B2BA-1D4BA64CDFF0}" srcOrd="2" destOrd="0" presId="urn:microsoft.com/office/officeart/2016/7/layout/BasicTimeline"/>
    <dgm:cxn modelId="{D0329BFB-4414-4FC8-8281-4888F10AB4D1}" type="presParOf" srcId="{E152D449-DD36-4761-BA40-866AD4A6E7F2}" destId="{473E76BE-A991-4397-9900-769A1B3054F6}" srcOrd="3" destOrd="0" presId="urn:microsoft.com/office/officeart/2016/7/layout/BasicTimeline"/>
    <dgm:cxn modelId="{BD59713B-E3C9-491E-8254-130326735AB9}" type="presParOf" srcId="{E152D449-DD36-4761-BA40-866AD4A6E7F2}" destId="{1C118309-5619-4D6B-897E-72448DC9B214}" srcOrd="4" destOrd="0" presId="urn:microsoft.com/office/officeart/2016/7/layout/BasicTimeline"/>
    <dgm:cxn modelId="{249DA358-9047-48F8-9EE6-FA9C7B79AD48}" type="presParOf" srcId="{67E6E5E6-EBB1-45C7-A8E8-8DD315F66325}" destId="{3750C924-CAE1-4B2D-9C77-1899D4748011}" srcOrd="3" destOrd="0" presId="urn:microsoft.com/office/officeart/2016/7/layout/BasicTimeline"/>
    <dgm:cxn modelId="{8CE28361-4163-4BAF-BAB4-93FD8F83A3A2}" type="presParOf" srcId="{67E6E5E6-EBB1-45C7-A8E8-8DD315F66325}" destId="{19F46AEB-2DAB-41C3-8454-B492679DEC05}" srcOrd="4" destOrd="0" presId="urn:microsoft.com/office/officeart/2016/7/layout/BasicTimeline"/>
    <dgm:cxn modelId="{FDF0B8A4-B35B-4577-90C8-2E5F895110B2}" type="presParOf" srcId="{19F46AEB-2DAB-41C3-8454-B492679DEC05}" destId="{54B0BD7D-20EF-4419-8EA4-5C205165C399}" srcOrd="0" destOrd="0" presId="urn:microsoft.com/office/officeart/2016/7/layout/BasicTimeline"/>
    <dgm:cxn modelId="{7809329D-B74F-4A30-9A90-AE734F960A1D}" type="presParOf" srcId="{19F46AEB-2DAB-41C3-8454-B492679DEC05}" destId="{B6366588-B6E4-4C4C-A58B-934D90F462B6}" srcOrd="1" destOrd="0" presId="urn:microsoft.com/office/officeart/2016/7/layout/BasicTimeline"/>
    <dgm:cxn modelId="{48F93FD9-F09B-49C1-9633-DBE611495D15}" type="presParOf" srcId="{B6366588-B6E4-4C4C-A58B-934D90F462B6}" destId="{E4B025FF-F15D-4F63-BFB1-B04F18174C21}" srcOrd="0" destOrd="0" presId="urn:microsoft.com/office/officeart/2016/7/layout/BasicTimeline"/>
    <dgm:cxn modelId="{262C76F9-9C52-4AF1-B8BF-71346ABE069C}" type="presParOf" srcId="{B6366588-B6E4-4C4C-A58B-934D90F462B6}" destId="{8F60C49F-6E2E-491A-B92A-72FF74E6AD58}" srcOrd="1" destOrd="0" presId="urn:microsoft.com/office/officeart/2016/7/layout/BasicTimeline"/>
    <dgm:cxn modelId="{953CE75E-52BB-45C9-A9BD-2265B8C687AF}" type="presParOf" srcId="{19F46AEB-2DAB-41C3-8454-B492679DEC05}" destId="{986631C0-AA86-4B58-A077-E21DF3B19E92}" srcOrd="2" destOrd="0" presId="urn:microsoft.com/office/officeart/2016/7/layout/BasicTimeline"/>
    <dgm:cxn modelId="{25CF6337-8D53-4286-8CFB-8B8B7AA515F1}" type="presParOf" srcId="{19F46AEB-2DAB-41C3-8454-B492679DEC05}" destId="{63287593-68F1-4077-A067-1E2004F65DF3}" srcOrd="3" destOrd="0" presId="urn:microsoft.com/office/officeart/2016/7/layout/BasicTimeline"/>
    <dgm:cxn modelId="{03922272-6E38-4A57-88D3-466883CA1A27}" type="presParOf" srcId="{19F46AEB-2DAB-41C3-8454-B492679DEC05}" destId="{E6F4107E-2DA3-41E7-A855-E69521C905A9}" srcOrd="4" destOrd="0" presId="urn:microsoft.com/office/officeart/2016/7/layout/BasicTimeline"/>
    <dgm:cxn modelId="{03936B34-5081-46AE-86FD-04457D823F3E}" type="presParOf" srcId="{67E6E5E6-EBB1-45C7-A8E8-8DD315F66325}" destId="{922CE5C5-32A5-4019-B182-2DC14F0065A6}" srcOrd="5" destOrd="0" presId="urn:microsoft.com/office/officeart/2016/7/layout/BasicTimeline"/>
    <dgm:cxn modelId="{17DC651A-003C-49DA-B0F0-AC8EED9E406C}" type="presParOf" srcId="{67E6E5E6-EBB1-45C7-A8E8-8DD315F66325}" destId="{120042EC-8F2B-4C7C-B9EF-0FDA83F849C9}" srcOrd="6" destOrd="0" presId="urn:microsoft.com/office/officeart/2016/7/layout/BasicTimeline"/>
    <dgm:cxn modelId="{834F6580-7713-452B-854D-7C94AEEC7C20}" type="presParOf" srcId="{120042EC-8F2B-4C7C-B9EF-0FDA83F849C9}" destId="{6BE37A20-226E-4DA1-AC99-38AA8DB376DD}" srcOrd="0" destOrd="0" presId="urn:microsoft.com/office/officeart/2016/7/layout/BasicTimeline"/>
    <dgm:cxn modelId="{F92F524F-3780-4541-A7C6-255A5E41A766}" type="presParOf" srcId="{120042EC-8F2B-4C7C-B9EF-0FDA83F849C9}" destId="{D1D64A4E-1C1F-45E2-B193-21F8FD4C052A}" srcOrd="1" destOrd="0" presId="urn:microsoft.com/office/officeart/2016/7/layout/BasicTimeline"/>
    <dgm:cxn modelId="{5910BE12-DA01-4C07-A508-DFCF42E9A5E9}" type="presParOf" srcId="{D1D64A4E-1C1F-45E2-B193-21F8FD4C052A}" destId="{77F8220B-F2B7-4AEB-95D7-1FECC2DC0DDC}" srcOrd="0" destOrd="0" presId="urn:microsoft.com/office/officeart/2016/7/layout/BasicTimeline"/>
    <dgm:cxn modelId="{8EF7D657-E6BB-4670-9BE3-6BD3286906E6}" type="presParOf" srcId="{D1D64A4E-1C1F-45E2-B193-21F8FD4C052A}" destId="{9124F0CF-1A10-4CD4-9B03-7E3705165AF6}" srcOrd="1" destOrd="0" presId="urn:microsoft.com/office/officeart/2016/7/layout/BasicTimeline"/>
    <dgm:cxn modelId="{D1F4ED92-2851-4750-859A-B6C4CEEDBBBB}" type="presParOf" srcId="{120042EC-8F2B-4C7C-B9EF-0FDA83F849C9}" destId="{6403DCB8-D23D-4086-92CD-1EFBF3D16F02}" srcOrd="2" destOrd="0" presId="urn:microsoft.com/office/officeart/2016/7/layout/BasicTimeline"/>
    <dgm:cxn modelId="{1704DBAE-DE46-4BE0-B7BF-FF2EF2B81D78}" type="presParOf" srcId="{120042EC-8F2B-4C7C-B9EF-0FDA83F849C9}" destId="{DD5A4152-5771-4E62-8A61-D084EE10A59B}" srcOrd="3" destOrd="0" presId="urn:microsoft.com/office/officeart/2016/7/layout/BasicTimeline"/>
    <dgm:cxn modelId="{8F28DEF3-D7A5-40C0-80EE-108F2E626433}" type="presParOf" srcId="{120042EC-8F2B-4C7C-B9EF-0FDA83F849C9}" destId="{307A15C9-970B-4A39-83E1-104DD14709EB}" srcOrd="4" destOrd="0" presId="urn:microsoft.com/office/officeart/2016/7/layout/BasicTimeline"/>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5A8BD98-C588-4B4D-BEE8-6E4CED87AA49}" type="doc">
      <dgm:prSet loTypeId="urn:microsoft.com/office/officeart/2005/8/layout/hList2" loCatId="list" qsTypeId="urn:microsoft.com/office/officeart/2005/8/quickstyle/simple1" qsCatId="simple" csTypeId="urn:microsoft.com/office/officeart/2005/8/colors/accent1_2" csCatId="accent1" phldr="1"/>
      <dgm:spPr/>
      <dgm:t>
        <a:bodyPr/>
        <a:lstStyle/>
        <a:p>
          <a:endParaRPr lang="en-GB"/>
        </a:p>
      </dgm:t>
    </dgm:pt>
    <dgm:pt modelId="{8931E14E-88E5-45B2-832C-E34A9516EDF5}">
      <dgm:prSet phldrT="[Text]"/>
      <dgm:spPr/>
      <dgm:t>
        <a:bodyPr/>
        <a:lstStyle/>
        <a:p>
          <a:r>
            <a:rPr lang="en-GB">
              <a:latin typeface="Times New Roman" panose="02020603050405020304" pitchFamily="18" charset="0"/>
              <a:cs typeface="Times New Roman" panose="02020603050405020304" pitchFamily="18" charset="0"/>
            </a:rPr>
            <a:t>United Kingdom</a:t>
          </a:r>
        </a:p>
      </dgm:t>
    </dgm:pt>
    <dgm:pt modelId="{34089966-1C49-4AD5-ABAC-4CB5C95EDD3C}" type="parTrans" cxnId="{18153E7F-A758-4B44-9FE7-BAA73CCC170D}">
      <dgm:prSet/>
      <dgm:spPr/>
      <dgm:t>
        <a:bodyPr/>
        <a:lstStyle/>
        <a:p>
          <a:endParaRPr lang="en-GB"/>
        </a:p>
      </dgm:t>
    </dgm:pt>
    <dgm:pt modelId="{AC668A05-14C3-4EC2-B92D-94435376EC28}" type="sibTrans" cxnId="{18153E7F-A758-4B44-9FE7-BAA73CCC170D}">
      <dgm:prSet/>
      <dgm:spPr/>
      <dgm:t>
        <a:bodyPr/>
        <a:lstStyle/>
        <a:p>
          <a:endParaRPr lang="en-GB"/>
        </a:p>
      </dgm:t>
    </dgm:pt>
    <dgm:pt modelId="{A4E986C6-5BCC-4405-AB14-4E3930E202A5}">
      <dgm:prSet phldrT="[Text]" custT="1"/>
      <dgm:spPr>
        <a:solidFill>
          <a:schemeClr val="tx2"/>
        </a:solidFill>
      </dgm:spPr>
      <dgm:t>
        <a:bodyPr/>
        <a:lstStyle/>
        <a:p>
          <a:r>
            <a:rPr lang="en-GB" sz="1400">
              <a:latin typeface="Times New Roman" panose="02020603050405020304" pitchFamily="18" charset="0"/>
              <a:cs typeface="Times New Roman" panose="02020603050405020304" pitchFamily="18" charset="0"/>
            </a:rPr>
            <a:t>UK 10 Year Infrastructure Project provides a strong macroeconomic tailwind, promising over £725bn in public infrastructure over the next decade</a:t>
          </a:r>
        </a:p>
      </dgm:t>
    </dgm:pt>
    <dgm:pt modelId="{826561B1-A961-42C6-A6E1-9104EB1E422D}" type="parTrans" cxnId="{AB88D742-8BF6-4D73-B451-ABA015CE3DDE}">
      <dgm:prSet/>
      <dgm:spPr/>
      <dgm:t>
        <a:bodyPr/>
        <a:lstStyle/>
        <a:p>
          <a:endParaRPr lang="en-GB"/>
        </a:p>
      </dgm:t>
    </dgm:pt>
    <dgm:pt modelId="{4C5D4B69-BC70-4E5A-95CC-E606CD553DD0}" type="sibTrans" cxnId="{AB88D742-8BF6-4D73-B451-ABA015CE3DDE}">
      <dgm:prSet/>
      <dgm:spPr/>
      <dgm:t>
        <a:bodyPr/>
        <a:lstStyle/>
        <a:p>
          <a:endParaRPr lang="en-GB"/>
        </a:p>
      </dgm:t>
    </dgm:pt>
    <dgm:pt modelId="{F9F02DBD-3283-4283-B29B-7B1396D280C3}">
      <dgm:prSet phldrT="[Text]" custT="1"/>
      <dgm:spPr/>
      <dgm:t>
        <a:bodyPr/>
        <a:lstStyle/>
        <a:p>
          <a:r>
            <a:rPr lang="en-GB" sz="2800">
              <a:latin typeface="Times New Roman" panose="02020603050405020304" pitchFamily="18" charset="0"/>
              <a:cs typeface="Times New Roman" panose="02020603050405020304" pitchFamily="18" charset="0"/>
            </a:rPr>
            <a:t>Ireland</a:t>
          </a:r>
        </a:p>
      </dgm:t>
    </dgm:pt>
    <dgm:pt modelId="{8DAE545F-D076-4E16-B06C-29F474EEAB3E}" type="parTrans" cxnId="{0C33859C-B9D7-400C-811F-723B61ABD9DB}">
      <dgm:prSet/>
      <dgm:spPr/>
      <dgm:t>
        <a:bodyPr/>
        <a:lstStyle/>
        <a:p>
          <a:endParaRPr lang="en-GB"/>
        </a:p>
      </dgm:t>
    </dgm:pt>
    <dgm:pt modelId="{FDC39312-9864-4959-8975-0FD235DE3F31}" type="sibTrans" cxnId="{0C33859C-B9D7-400C-811F-723B61ABD9DB}">
      <dgm:prSet/>
      <dgm:spPr/>
      <dgm:t>
        <a:bodyPr/>
        <a:lstStyle/>
        <a:p>
          <a:endParaRPr lang="en-GB"/>
        </a:p>
      </dgm:t>
    </dgm:pt>
    <mc:AlternateContent xmlns:mc="http://schemas.openxmlformats.org/markup-compatibility/2006" xmlns:a14="http://schemas.microsoft.com/office/drawing/2010/main">
      <mc:Choice Requires="a14">
        <dgm:pt modelId="{6840967C-9B8C-4ECD-8F6C-4231B2E83D4E}">
          <dgm:prSet phldrT="[Text]" custT="1"/>
          <dgm:spPr>
            <a:solidFill>
              <a:schemeClr val="tx2"/>
            </a:solidFill>
          </dgm:spPr>
          <dgm:t>
            <a:bodyPr/>
            <a:lstStyle/>
            <a:p>
              <a:r>
                <a:rPr lang="en-GB" sz="1400">
                  <a:latin typeface="Times New Roman" panose="02020603050405020304" pitchFamily="18" charset="0"/>
                  <a:cs typeface="Times New Roman" panose="02020603050405020304" pitchFamily="18" charset="0"/>
                </a:rPr>
                <a:t>National Development Plan refresh confirms a record </a:t>
              </a:r>
              <a14:m>
                <m:oMath xmlns:m="http://schemas.openxmlformats.org/officeDocument/2006/math">
                  <m:r>
                    <a:rPr lang="en-GB" sz="1400" i="1" smtClean="0">
                      <a:latin typeface="Cambria Math" panose="02040503050406030204" pitchFamily="18" charset="0"/>
                    </a:rPr>
                    <m:t>€</m:t>
                  </m:r>
                </m:oMath>
              </a14:m>
              <a:r>
                <a:rPr lang="en-GB" sz="1400">
                  <a:latin typeface="Times New Roman" panose="02020603050405020304" pitchFamily="18" charset="0"/>
                  <a:cs typeface="Times New Roman" panose="02020603050405020304" pitchFamily="18" charset="0"/>
                </a:rPr>
                <a:t>275bn capital envelope to 2035 across transport, health, education, water and energy</a:t>
              </a:r>
            </a:p>
          </dgm:t>
        </dgm:pt>
      </mc:Choice>
      <mc:Fallback xmlns="">
        <dgm:pt modelId="{6840967C-9B8C-4ECD-8F6C-4231B2E83D4E}">
          <dgm:prSet phldrT="[Text]" custT="1"/>
          <dgm:spPr>
            <a:solidFill>
              <a:schemeClr val="tx2"/>
            </a:solidFill>
          </dgm:spPr>
          <dgm:t>
            <a:bodyPr/>
            <a:lstStyle/>
            <a:p>
              <a:r>
                <a:rPr lang="en-GB" sz="1400">
                  <a:latin typeface="Times New Roman" panose="02020603050405020304" pitchFamily="18" charset="0"/>
                  <a:cs typeface="Times New Roman" panose="02020603050405020304" pitchFamily="18" charset="0"/>
                </a:rPr>
                <a:t>National Development Plan refresh confirms a record </a:t>
              </a:r>
              <a:r>
                <a:rPr lang="en-GB" sz="1400" i="0">
                  <a:latin typeface="Cambria Math" panose="02040503050406030204" pitchFamily="18" charset="0"/>
                </a:rPr>
                <a:t>€</a:t>
              </a:r>
              <a:r>
                <a:rPr lang="en-GB" sz="1400">
                  <a:latin typeface="Times New Roman" panose="02020603050405020304" pitchFamily="18" charset="0"/>
                  <a:cs typeface="Times New Roman" panose="02020603050405020304" pitchFamily="18" charset="0"/>
                </a:rPr>
                <a:t>275bn capital envelope to 2035 across transport, health, education, water and energy</a:t>
              </a:r>
            </a:p>
          </dgm:t>
        </dgm:pt>
      </mc:Fallback>
    </mc:AlternateContent>
    <dgm:pt modelId="{238E78E0-DEF4-48EB-9BFF-43268E7F3B11}" type="parTrans" cxnId="{56AE904D-F7CE-43A9-83A8-8A09E0BD4F19}">
      <dgm:prSet/>
      <dgm:spPr/>
      <dgm:t>
        <a:bodyPr/>
        <a:lstStyle/>
        <a:p>
          <a:endParaRPr lang="en-GB"/>
        </a:p>
      </dgm:t>
    </dgm:pt>
    <dgm:pt modelId="{F0FD4E76-34E8-47B8-8C1C-B115AA286AED}" type="sibTrans" cxnId="{56AE904D-F7CE-43A9-83A8-8A09E0BD4F19}">
      <dgm:prSet/>
      <dgm:spPr/>
      <dgm:t>
        <a:bodyPr/>
        <a:lstStyle/>
        <a:p>
          <a:endParaRPr lang="en-GB"/>
        </a:p>
      </dgm:t>
    </dgm:pt>
    <dgm:pt modelId="{A1159068-0FE6-4503-9700-3E2DB33FC9B4}">
      <dgm:prSet phldrT="[Text]"/>
      <dgm:spPr/>
      <dgm:t>
        <a:bodyPr/>
        <a:lstStyle/>
        <a:p>
          <a:r>
            <a:rPr lang="en-GB">
              <a:latin typeface="Times New Roman" panose="02020603050405020304" pitchFamily="18" charset="0"/>
              <a:cs typeface="Times New Roman" panose="02020603050405020304" pitchFamily="18" charset="0"/>
            </a:rPr>
            <a:t>Netherlands</a:t>
          </a:r>
        </a:p>
      </dgm:t>
    </dgm:pt>
    <dgm:pt modelId="{1D30405A-337D-4577-A679-9B412DE4D258}" type="parTrans" cxnId="{964BED04-7846-4713-B326-9FF7465AD09C}">
      <dgm:prSet/>
      <dgm:spPr/>
      <dgm:t>
        <a:bodyPr/>
        <a:lstStyle/>
        <a:p>
          <a:endParaRPr lang="en-GB"/>
        </a:p>
      </dgm:t>
    </dgm:pt>
    <dgm:pt modelId="{6A10580A-AF1C-47D1-9E6F-37620A6E2DB9}" type="sibTrans" cxnId="{964BED04-7846-4713-B326-9FF7465AD09C}">
      <dgm:prSet/>
      <dgm:spPr/>
      <dgm:t>
        <a:bodyPr/>
        <a:lstStyle/>
        <a:p>
          <a:endParaRPr lang="en-GB"/>
        </a:p>
      </dgm:t>
    </dgm:pt>
    <dgm:pt modelId="{C32E36B3-06B9-4F6A-B97F-1CF0ABEB6642}">
      <dgm:prSet phldrT="[Text]" custT="1"/>
      <dgm:spPr>
        <a:solidFill>
          <a:schemeClr val="tx2"/>
        </a:solidFill>
      </dgm:spPr>
      <dgm:t>
        <a:bodyPr/>
        <a:lstStyle/>
        <a:p>
          <a:r>
            <a:rPr lang="en-GB" sz="1400">
              <a:latin typeface="Times New Roman" panose="02020603050405020304" pitchFamily="18" charset="0"/>
              <a:cs typeface="Times New Roman" panose="02020603050405020304" pitchFamily="18" charset="0"/>
            </a:rPr>
            <a:t>Delta Programme 2025 is the national plan across flood risk management, freshwater, and climate-resilient spatial planning. Plans across the coming years involve upgrades in which BAM has already been selected for (e.g. Meuse dyke strengthening)</a:t>
          </a:r>
        </a:p>
      </dgm:t>
    </dgm:pt>
    <dgm:pt modelId="{96461937-4062-4652-9F80-9F240240382A}" type="parTrans" cxnId="{CB149A9E-99AC-4ED9-9C08-7154292DD3EF}">
      <dgm:prSet/>
      <dgm:spPr/>
      <dgm:t>
        <a:bodyPr/>
        <a:lstStyle/>
        <a:p>
          <a:endParaRPr lang="en-GB"/>
        </a:p>
      </dgm:t>
    </dgm:pt>
    <dgm:pt modelId="{8A762F4D-839B-4CFE-9716-48214E705E29}" type="sibTrans" cxnId="{CB149A9E-99AC-4ED9-9C08-7154292DD3EF}">
      <dgm:prSet/>
      <dgm:spPr/>
      <dgm:t>
        <a:bodyPr/>
        <a:lstStyle/>
        <a:p>
          <a:endParaRPr lang="en-GB"/>
        </a:p>
      </dgm:t>
    </dgm:pt>
    <dgm:pt modelId="{0087CF24-1230-4BCB-81DC-73D9E1039FC7}">
      <dgm:prSet phldrT="[Text]" custT="1"/>
      <dgm:spPr>
        <a:solidFill>
          <a:schemeClr val="tx2"/>
        </a:solidFill>
      </dgm:spPr>
      <dgm:t>
        <a:bodyPr/>
        <a:lstStyle/>
        <a:p>
          <a:r>
            <a:rPr lang="en-GB" sz="1400">
              <a:latin typeface="Times New Roman" panose="02020603050405020304" pitchFamily="18" charset="0"/>
              <a:cs typeface="Times New Roman" panose="02020603050405020304" pitchFamily="18" charset="0"/>
            </a:rPr>
            <a:t>Eastern Green Link 2 green-lit by Ofgem, BAM positioned to deliver both converter stations and positioned for repeat business in the Great Grid Upgrade</a:t>
          </a:r>
        </a:p>
      </dgm:t>
    </dgm:pt>
    <dgm:pt modelId="{0BE8F778-6A44-4F86-8B67-6744661BEF4A}" type="parTrans" cxnId="{FCEA8555-3F15-4017-B5F0-4A031C292DE9}">
      <dgm:prSet/>
      <dgm:spPr/>
      <dgm:t>
        <a:bodyPr/>
        <a:lstStyle/>
        <a:p>
          <a:endParaRPr lang="en-GB"/>
        </a:p>
      </dgm:t>
    </dgm:pt>
    <dgm:pt modelId="{CE3B0443-E483-439D-B19E-037AD4209644}" type="sibTrans" cxnId="{FCEA8555-3F15-4017-B5F0-4A031C292DE9}">
      <dgm:prSet/>
      <dgm:spPr/>
      <dgm:t>
        <a:bodyPr/>
        <a:lstStyle/>
        <a:p>
          <a:endParaRPr lang="en-GB"/>
        </a:p>
      </dgm:t>
    </dgm:pt>
    <dgm:pt modelId="{A4995A9B-1868-457C-9A56-16F6B600A7E5}">
      <dgm:prSet phldrT="[Text]" custT="1"/>
      <dgm:spPr>
        <a:solidFill>
          <a:schemeClr val="tx2"/>
        </a:solidFill>
      </dgm:spPr>
      <dgm:t>
        <a:bodyPr/>
        <a:lstStyle/>
        <a:p>
          <a:r>
            <a:rPr lang="en-GB" sz="1400">
              <a:latin typeface="Times New Roman" panose="02020603050405020304" pitchFamily="18" charset="0"/>
              <a:cs typeface="Times New Roman" panose="02020603050405020304" pitchFamily="18" charset="0"/>
            </a:rPr>
            <a:t>BAM re-appointed in EA’s Collaborative Delivery Framework, ramping toward £5bn of capital</a:t>
          </a:r>
        </a:p>
      </dgm:t>
    </dgm:pt>
    <dgm:pt modelId="{90F99F07-9686-4C5E-B34D-BA0401D1FD0A}" type="parTrans" cxnId="{77A82260-FD91-4851-AFFD-E4859D6DC326}">
      <dgm:prSet/>
      <dgm:spPr/>
      <dgm:t>
        <a:bodyPr/>
        <a:lstStyle/>
        <a:p>
          <a:endParaRPr lang="en-GB"/>
        </a:p>
      </dgm:t>
    </dgm:pt>
    <dgm:pt modelId="{B7BAC6E0-7160-4007-BA48-505357AD99E6}" type="sibTrans" cxnId="{77A82260-FD91-4851-AFFD-E4859D6DC326}">
      <dgm:prSet/>
      <dgm:spPr/>
      <dgm:t>
        <a:bodyPr/>
        <a:lstStyle/>
        <a:p>
          <a:endParaRPr lang="en-GB"/>
        </a:p>
      </dgm:t>
    </dgm:pt>
    <dgm:pt modelId="{A07994E6-11E4-48E4-A730-EB80FBC6A1BC}">
      <dgm:prSet phldrT="[Text]" custT="1"/>
      <dgm:spPr>
        <a:solidFill>
          <a:schemeClr val="tx2"/>
        </a:solidFill>
      </dgm:spPr>
      <dgm:t>
        <a:bodyPr/>
        <a:lstStyle/>
        <a:p>
          <a:endParaRPr lang="en-GB" sz="1200"/>
        </a:p>
      </dgm:t>
    </dgm:pt>
    <dgm:pt modelId="{CA54F81A-2ED8-4FCB-8F99-E4493BD04257}" type="parTrans" cxnId="{19BAAF52-5948-45A5-8557-54F8341EB9AB}">
      <dgm:prSet/>
      <dgm:spPr/>
      <dgm:t>
        <a:bodyPr/>
        <a:lstStyle/>
        <a:p>
          <a:endParaRPr lang="en-GB"/>
        </a:p>
      </dgm:t>
    </dgm:pt>
    <dgm:pt modelId="{38271C18-62DC-463E-973E-1DDAC323CF3C}" type="sibTrans" cxnId="{19BAAF52-5948-45A5-8557-54F8341EB9AB}">
      <dgm:prSet/>
      <dgm:spPr/>
      <dgm:t>
        <a:bodyPr/>
        <a:lstStyle/>
        <a:p>
          <a:endParaRPr lang="en-GB"/>
        </a:p>
      </dgm:t>
    </dgm:pt>
    <dgm:pt modelId="{95798E9C-090F-436E-9F7C-867C9825B613}">
      <dgm:prSet phldrT="[Text]" custT="1"/>
      <dgm:spPr>
        <a:solidFill>
          <a:schemeClr val="tx2"/>
        </a:solidFill>
      </dgm:spPr>
      <dgm:t>
        <a:bodyPr/>
        <a:lstStyle/>
        <a:p>
          <a:r>
            <a:rPr lang="en-GB" sz="1400">
              <a:latin typeface="Times New Roman" panose="02020603050405020304" pitchFamily="18" charset="0"/>
              <a:cs typeface="Times New Roman" panose="02020603050405020304" pitchFamily="18" charset="0"/>
            </a:rPr>
            <a:t>Afsluitdijk – a giant sea well protecting Netherlands from flooding, BAM selected to build and now maintain for next 25 years</a:t>
          </a:r>
        </a:p>
      </dgm:t>
    </dgm:pt>
    <dgm:pt modelId="{25BEC79A-6A7F-4225-B244-6018992C4CDA}" type="parTrans" cxnId="{0D5E1A7F-CAB2-40E9-9AAD-0131285D4E47}">
      <dgm:prSet/>
      <dgm:spPr/>
      <dgm:t>
        <a:bodyPr/>
        <a:lstStyle/>
        <a:p>
          <a:endParaRPr lang="en-GB"/>
        </a:p>
      </dgm:t>
    </dgm:pt>
    <dgm:pt modelId="{73AA8767-C2F8-4976-A19E-41AE4CA6D4A6}" type="sibTrans" cxnId="{0D5E1A7F-CAB2-40E9-9AAD-0131285D4E47}">
      <dgm:prSet/>
      <dgm:spPr/>
      <dgm:t>
        <a:bodyPr/>
        <a:lstStyle/>
        <a:p>
          <a:endParaRPr lang="en-GB"/>
        </a:p>
      </dgm:t>
    </dgm:pt>
    <dgm:pt modelId="{26023F9D-B2C0-4234-8CEC-D24BCF519A90}">
      <dgm:prSet phldrT="[Text]" custT="1"/>
      <dgm:spPr>
        <a:solidFill>
          <a:schemeClr val="tx2"/>
        </a:solidFill>
      </dgm:spPr>
      <dgm:t>
        <a:bodyPr/>
        <a:lstStyle/>
        <a:p>
          <a:r>
            <a:rPr lang="en-GB" sz="1400">
              <a:latin typeface="Times New Roman" panose="02020603050405020304" pitchFamily="18" charset="0"/>
              <a:cs typeface="Times New Roman" panose="02020603050405020304" pitchFamily="18" charset="0"/>
            </a:rPr>
            <a:t>TenneT plans around £200bn of investments until 2034 across energy grid infrastructure</a:t>
          </a:r>
        </a:p>
      </dgm:t>
    </dgm:pt>
    <dgm:pt modelId="{4E1BE1B3-8733-4263-8A68-9721A7482F33}" type="parTrans" cxnId="{7B6972E4-624B-4B02-ADEB-3D2573551547}">
      <dgm:prSet/>
      <dgm:spPr/>
      <dgm:t>
        <a:bodyPr/>
        <a:lstStyle/>
        <a:p>
          <a:endParaRPr lang="en-GB"/>
        </a:p>
      </dgm:t>
    </dgm:pt>
    <dgm:pt modelId="{D0484F9F-EB19-4D31-B62E-1644E24A136A}" type="sibTrans" cxnId="{7B6972E4-624B-4B02-ADEB-3D2573551547}">
      <dgm:prSet/>
      <dgm:spPr/>
      <dgm:t>
        <a:bodyPr/>
        <a:lstStyle/>
        <a:p>
          <a:endParaRPr lang="en-GB"/>
        </a:p>
      </dgm:t>
    </dgm:pt>
    <dgm:pt modelId="{6664CEC1-62C5-470D-A1AC-7BD4BC2624CB}">
      <dgm:prSet phldrT="[Text]" custT="1"/>
      <dgm:spPr>
        <a:solidFill>
          <a:schemeClr val="tx2"/>
        </a:solidFill>
      </dgm:spPr>
      <dgm:t>
        <a:bodyPr/>
        <a:lstStyle/>
        <a:p>
          <a:r>
            <a:rPr lang="en-GB" sz="1400">
              <a:latin typeface="Times New Roman" panose="02020603050405020304" pitchFamily="18" charset="0"/>
              <a:cs typeface="Times New Roman" panose="02020603050405020304" pitchFamily="18" charset="0"/>
            </a:rPr>
            <a:t>EirGrid – a 2030 roadmap to ~80% renewables target, delivered via Grid Implementation plan 2023-2028, including hundreds of grid projects</a:t>
          </a:r>
        </a:p>
      </dgm:t>
    </dgm:pt>
    <dgm:pt modelId="{7A283218-9267-48DF-AF26-CF29487C0784}" type="parTrans" cxnId="{50539FC8-F24E-4270-940B-950A66BBDD89}">
      <dgm:prSet/>
      <dgm:spPr/>
      <dgm:t>
        <a:bodyPr/>
        <a:lstStyle/>
        <a:p>
          <a:endParaRPr lang="en-GB"/>
        </a:p>
      </dgm:t>
    </dgm:pt>
    <dgm:pt modelId="{6FB81B02-DE1F-4D02-95D1-02659B91B3CB}" type="sibTrans" cxnId="{50539FC8-F24E-4270-940B-950A66BBDD89}">
      <dgm:prSet/>
      <dgm:spPr/>
      <dgm:t>
        <a:bodyPr/>
        <a:lstStyle/>
        <a:p>
          <a:endParaRPr lang="en-GB"/>
        </a:p>
      </dgm:t>
    </dgm:pt>
    <dgm:pt modelId="{4002F694-4A2B-4690-B897-3D870FEF25B7}">
      <dgm:prSet phldrT="[Text]" custT="1"/>
      <dgm:spPr>
        <a:solidFill>
          <a:schemeClr val="tx2"/>
        </a:solidFill>
      </dgm:spPr>
      <dgm:t>
        <a:bodyPr/>
        <a:lstStyle/>
        <a:p>
          <a:r>
            <a:rPr lang="en-GB" sz="1400">
              <a:latin typeface="Times New Roman" panose="02020603050405020304" pitchFamily="18" charset="0"/>
              <a:cs typeface="Times New Roman" panose="02020603050405020304" pitchFamily="18" charset="0"/>
            </a:rPr>
            <a:t>OPW Flood Relief Programme – state committed €1.3bn for flood schemes until 2030</a:t>
          </a:r>
        </a:p>
      </dgm:t>
    </dgm:pt>
    <dgm:pt modelId="{00A92F1F-0F9A-45B1-8E4B-ECC9633310DD}" type="parTrans" cxnId="{73428D92-A510-4421-8687-90C5BC661567}">
      <dgm:prSet/>
      <dgm:spPr/>
      <dgm:t>
        <a:bodyPr/>
        <a:lstStyle/>
        <a:p>
          <a:endParaRPr lang="en-GB"/>
        </a:p>
      </dgm:t>
    </dgm:pt>
    <dgm:pt modelId="{B4A1F68E-2EC1-4264-A329-E038B11B13A1}" type="sibTrans" cxnId="{73428D92-A510-4421-8687-90C5BC661567}">
      <dgm:prSet/>
      <dgm:spPr/>
      <dgm:t>
        <a:bodyPr/>
        <a:lstStyle/>
        <a:p>
          <a:endParaRPr lang="en-GB"/>
        </a:p>
      </dgm:t>
    </dgm:pt>
    <dgm:pt modelId="{B68D998B-296D-4EE7-8BF8-3BAF6037AA2B}" type="pres">
      <dgm:prSet presAssocID="{E5A8BD98-C588-4B4D-BEE8-6E4CED87AA49}" presName="linearFlow" presStyleCnt="0">
        <dgm:presLayoutVars>
          <dgm:dir/>
          <dgm:animLvl val="lvl"/>
          <dgm:resizeHandles/>
        </dgm:presLayoutVars>
      </dgm:prSet>
      <dgm:spPr/>
    </dgm:pt>
    <dgm:pt modelId="{6B81D97C-69D0-4DCC-A37D-A3E066BD5CFB}" type="pres">
      <dgm:prSet presAssocID="{8931E14E-88E5-45B2-832C-E34A9516EDF5}" presName="compositeNode" presStyleCnt="0">
        <dgm:presLayoutVars>
          <dgm:bulletEnabled val="1"/>
        </dgm:presLayoutVars>
      </dgm:prSet>
      <dgm:spPr/>
    </dgm:pt>
    <dgm:pt modelId="{3F25EA00-EB7F-4A57-88E9-B0F708E367FC}" type="pres">
      <dgm:prSet presAssocID="{8931E14E-88E5-45B2-832C-E34A9516EDF5}" presName="image" presStyleLbl="fgImgPlace1" presStyleIdx="0" presStyleCnt="3" custAng="0" custLinFactNeighborX="319" custLinFactNeighborY="-1818"/>
      <dgm:spPr>
        <a:blipFill>
          <a:blip xmlns:r="http://schemas.openxmlformats.org/officeDocument/2006/relationships" r:embed="rId1"/>
          <a:srcRect/>
          <a:stretch>
            <a:fillRect l="-16000" r="-16000"/>
          </a:stretch>
        </a:blipFill>
      </dgm:spPr>
    </dgm:pt>
    <dgm:pt modelId="{7210D373-0F57-43C0-AFF4-1536EA0FC370}" type="pres">
      <dgm:prSet presAssocID="{8931E14E-88E5-45B2-832C-E34A9516EDF5}" presName="childNode" presStyleLbl="node1" presStyleIdx="0" presStyleCnt="3" custScaleY="89309" custLinFactNeighborX="-159" custLinFactNeighborY="-5327">
        <dgm:presLayoutVars>
          <dgm:bulletEnabled val="1"/>
        </dgm:presLayoutVars>
      </dgm:prSet>
      <dgm:spPr/>
    </dgm:pt>
    <dgm:pt modelId="{9DE145E1-2B28-45AD-8962-7A40A7AEB20D}" type="pres">
      <dgm:prSet presAssocID="{8931E14E-88E5-45B2-832C-E34A9516EDF5}" presName="parentNode" presStyleLbl="revTx" presStyleIdx="0" presStyleCnt="3">
        <dgm:presLayoutVars>
          <dgm:chMax val="0"/>
          <dgm:bulletEnabled val="1"/>
        </dgm:presLayoutVars>
      </dgm:prSet>
      <dgm:spPr/>
    </dgm:pt>
    <dgm:pt modelId="{A89FF685-E7F2-416E-AF8B-D143B12F11B4}" type="pres">
      <dgm:prSet presAssocID="{AC668A05-14C3-4EC2-B92D-94435376EC28}" presName="sibTrans" presStyleCnt="0"/>
      <dgm:spPr/>
    </dgm:pt>
    <dgm:pt modelId="{E4840DF5-8177-48BB-9AC4-495FCF13E3B9}" type="pres">
      <dgm:prSet presAssocID="{F9F02DBD-3283-4283-B29B-7B1396D280C3}" presName="compositeNode" presStyleCnt="0">
        <dgm:presLayoutVars>
          <dgm:bulletEnabled val="1"/>
        </dgm:presLayoutVars>
      </dgm:prSet>
      <dgm:spPr/>
    </dgm:pt>
    <dgm:pt modelId="{76E4971B-BCD5-4071-A1FD-D69A9521D77B}" type="pres">
      <dgm:prSet presAssocID="{F9F02DBD-3283-4283-B29B-7B1396D280C3}" presName="image" presStyleLbl="fgImgPlace1" presStyleIdx="1" presStyleCnt="3"/>
      <dgm:spPr>
        <a:blipFill>
          <a:blip xmlns:r="http://schemas.openxmlformats.org/officeDocument/2006/relationships" r:embed="rId2"/>
          <a:srcRect/>
          <a:stretch>
            <a:fillRect/>
          </a:stretch>
        </a:blipFill>
      </dgm:spPr>
    </dgm:pt>
    <dgm:pt modelId="{35128DED-17E6-48A8-9018-181BFCB088F7}" type="pres">
      <dgm:prSet presAssocID="{F9F02DBD-3283-4283-B29B-7B1396D280C3}" presName="childNode" presStyleLbl="node1" presStyleIdx="1" presStyleCnt="3" custScaleY="81475" custLinFactNeighborX="-1107" custLinFactNeighborY="-9370">
        <dgm:presLayoutVars>
          <dgm:bulletEnabled val="1"/>
        </dgm:presLayoutVars>
      </dgm:prSet>
      <dgm:spPr/>
    </dgm:pt>
    <dgm:pt modelId="{3C7C5795-8B85-420F-BA5A-9433529A240F}" type="pres">
      <dgm:prSet presAssocID="{F9F02DBD-3283-4283-B29B-7B1396D280C3}" presName="parentNode" presStyleLbl="revTx" presStyleIdx="1" presStyleCnt="3">
        <dgm:presLayoutVars>
          <dgm:chMax val="0"/>
          <dgm:bulletEnabled val="1"/>
        </dgm:presLayoutVars>
      </dgm:prSet>
      <dgm:spPr/>
    </dgm:pt>
    <dgm:pt modelId="{85CD59E7-A6F0-4DAF-8156-5450C428A89C}" type="pres">
      <dgm:prSet presAssocID="{FDC39312-9864-4959-8975-0FD235DE3F31}" presName="sibTrans" presStyleCnt="0"/>
      <dgm:spPr/>
    </dgm:pt>
    <dgm:pt modelId="{39EC38C6-C1B3-4B59-AF7A-C422BCCF37D6}" type="pres">
      <dgm:prSet presAssocID="{A1159068-0FE6-4503-9700-3E2DB33FC9B4}" presName="compositeNode" presStyleCnt="0">
        <dgm:presLayoutVars>
          <dgm:bulletEnabled val="1"/>
        </dgm:presLayoutVars>
      </dgm:prSet>
      <dgm:spPr/>
    </dgm:pt>
    <dgm:pt modelId="{BDA45926-D13B-41A5-89BD-8309C7CE89CE}" type="pres">
      <dgm:prSet presAssocID="{A1159068-0FE6-4503-9700-3E2DB33FC9B4}" presName="image" presStyleLbl="fgImgPlace1" presStyleIdx="2" presStyleCnt="3"/>
      <dgm:spPr>
        <a:blipFill>
          <a:blip xmlns:r="http://schemas.openxmlformats.org/officeDocument/2006/relationships" r:embed="rId3"/>
          <a:srcRect/>
          <a:stretch>
            <a:fillRect l="-25000" r="-25000"/>
          </a:stretch>
        </a:blipFill>
      </dgm:spPr>
    </dgm:pt>
    <dgm:pt modelId="{41D2AAD7-097E-451E-A7FC-5CC4127E766D}" type="pres">
      <dgm:prSet presAssocID="{A1159068-0FE6-4503-9700-3E2DB33FC9B4}" presName="childNode" presStyleLbl="node1" presStyleIdx="2" presStyleCnt="3">
        <dgm:presLayoutVars>
          <dgm:bulletEnabled val="1"/>
        </dgm:presLayoutVars>
      </dgm:prSet>
      <dgm:spPr/>
    </dgm:pt>
    <dgm:pt modelId="{C9C1636F-DD18-4C4B-B3B0-0F254EDFEAB7}" type="pres">
      <dgm:prSet presAssocID="{A1159068-0FE6-4503-9700-3E2DB33FC9B4}" presName="parentNode" presStyleLbl="revTx" presStyleIdx="2" presStyleCnt="3">
        <dgm:presLayoutVars>
          <dgm:chMax val="0"/>
          <dgm:bulletEnabled val="1"/>
        </dgm:presLayoutVars>
      </dgm:prSet>
      <dgm:spPr/>
    </dgm:pt>
  </dgm:ptLst>
  <dgm:cxnLst>
    <dgm:cxn modelId="{81CB7103-1C9A-4894-A71B-CA0812573397}" type="presOf" srcId="{A4995A9B-1868-457C-9A56-16F6B600A7E5}" destId="{7210D373-0F57-43C0-AFF4-1536EA0FC370}" srcOrd="0" destOrd="2" presId="urn:microsoft.com/office/officeart/2005/8/layout/hList2"/>
    <dgm:cxn modelId="{964BED04-7846-4713-B326-9FF7465AD09C}" srcId="{E5A8BD98-C588-4B4D-BEE8-6E4CED87AA49}" destId="{A1159068-0FE6-4503-9700-3E2DB33FC9B4}" srcOrd="2" destOrd="0" parTransId="{1D30405A-337D-4577-A679-9B412DE4D258}" sibTransId="{6A10580A-AF1C-47D1-9E6F-37620A6E2DB9}"/>
    <dgm:cxn modelId="{0DED7205-2489-4124-9A9C-ABA6EDB7E202}" type="presOf" srcId="{A1159068-0FE6-4503-9700-3E2DB33FC9B4}" destId="{C9C1636F-DD18-4C4B-B3B0-0F254EDFEAB7}" srcOrd="0" destOrd="0" presId="urn:microsoft.com/office/officeart/2005/8/layout/hList2"/>
    <dgm:cxn modelId="{C75BEB0B-BB58-4759-8AA3-8C34E8EDD50C}" type="presOf" srcId="{6664CEC1-62C5-470D-A1AC-7BD4BC2624CB}" destId="{35128DED-17E6-48A8-9018-181BFCB088F7}" srcOrd="0" destOrd="1" presId="urn:microsoft.com/office/officeart/2005/8/layout/hList2"/>
    <dgm:cxn modelId="{CA16E522-99FF-4434-8078-A6A0B50F345C}" type="presOf" srcId="{8931E14E-88E5-45B2-832C-E34A9516EDF5}" destId="{9DE145E1-2B28-45AD-8962-7A40A7AEB20D}" srcOrd="0" destOrd="0" presId="urn:microsoft.com/office/officeart/2005/8/layout/hList2"/>
    <dgm:cxn modelId="{AB88D742-8BF6-4D73-B451-ABA015CE3DDE}" srcId="{8931E14E-88E5-45B2-832C-E34A9516EDF5}" destId="{A4E986C6-5BCC-4405-AB14-4E3930E202A5}" srcOrd="0" destOrd="0" parTransId="{826561B1-A961-42C6-A6E1-9104EB1E422D}" sibTransId="{4C5D4B69-BC70-4E5A-95CC-E606CD553DD0}"/>
    <dgm:cxn modelId="{56AE904D-F7CE-43A9-83A8-8A09E0BD4F19}" srcId="{F9F02DBD-3283-4283-B29B-7B1396D280C3}" destId="{6840967C-9B8C-4ECD-8F6C-4231B2E83D4E}" srcOrd="0" destOrd="0" parTransId="{238E78E0-DEF4-48EB-9BFF-43268E7F3B11}" sibTransId="{F0FD4E76-34E8-47B8-8C1C-B115AA286AED}"/>
    <dgm:cxn modelId="{19BAAF52-5948-45A5-8557-54F8341EB9AB}" srcId="{8931E14E-88E5-45B2-832C-E34A9516EDF5}" destId="{A07994E6-11E4-48E4-A730-EB80FBC6A1BC}" srcOrd="3" destOrd="0" parTransId="{CA54F81A-2ED8-4FCB-8F99-E4493BD04257}" sibTransId="{38271C18-62DC-463E-973E-1DDAC323CF3C}"/>
    <dgm:cxn modelId="{612FB954-8689-4ED6-A2C7-8BE523D1CCCC}" type="presOf" srcId="{A4E986C6-5BCC-4405-AB14-4E3930E202A5}" destId="{7210D373-0F57-43C0-AFF4-1536EA0FC370}" srcOrd="0" destOrd="0" presId="urn:microsoft.com/office/officeart/2005/8/layout/hList2"/>
    <dgm:cxn modelId="{FCEA8555-3F15-4017-B5F0-4A031C292DE9}" srcId="{8931E14E-88E5-45B2-832C-E34A9516EDF5}" destId="{0087CF24-1230-4BCB-81DC-73D9E1039FC7}" srcOrd="1" destOrd="0" parTransId="{0BE8F778-6A44-4F86-8B67-6744661BEF4A}" sibTransId="{CE3B0443-E483-439D-B19E-037AD4209644}"/>
    <dgm:cxn modelId="{9F82355E-B5EB-4A2D-99F7-B23D54EA4A4C}" type="presOf" srcId="{E5A8BD98-C588-4B4D-BEE8-6E4CED87AA49}" destId="{B68D998B-296D-4EE7-8BF8-3BAF6037AA2B}" srcOrd="0" destOrd="0" presId="urn:microsoft.com/office/officeart/2005/8/layout/hList2"/>
    <dgm:cxn modelId="{77A82260-FD91-4851-AFFD-E4859D6DC326}" srcId="{8931E14E-88E5-45B2-832C-E34A9516EDF5}" destId="{A4995A9B-1868-457C-9A56-16F6B600A7E5}" srcOrd="2" destOrd="0" parTransId="{90F99F07-9686-4C5E-B34D-BA0401D1FD0A}" sibTransId="{B7BAC6E0-7160-4007-BA48-505357AD99E6}"/>
    <dgm:cxn modelId="{E6C79477-E113-4AA8-AC5C-10CD6ABB9DAB}" type="presOf" srcId="{26023F9D-B2C0-4234-8CEC-D24BCF519A90}" destId="{41D2AAD7-097E-451E-A7FC-5CC4127E766D}" srcOrd="0" destOrd="2" presId="urn:microsoft.com/office/officeart/2005/8/layout/hList2"/>
    <dgm:cxn modelId="{0D5E1A7F-CAB2-40E9-9AAD-0131285D4E47}" srcId="{A1159068-0FE6-4503-9700-3E2DB33FC9B4}" destId="{95798E9C-090F-436E-9F7C-867C9825B613}" srcOrd="1" destOrd="0" parTransId="{25BEC79A-6A7F-4225-B244-6018992C4CDA}" sibTransId="{73AA8767-C2F8-4976-A19E-41AE4CA6D4A6}"/>
    <dgm:cxn modelId="{18153E7F-A758-4B44-9FE7-BAA73CCC170D}" srcId="{E5A8BD98-C588-4B4D-BEE8-6E4CED87AA49}" destId="{8931E14E-88E5-45B2-832C-E34A9516EDF5}" srcOrd="0" destOrd="0" parTransId="{34089966-1C49-4AD5-ABAC-4CB5C95EDD3C}" sibTransId="{AC668A05-14C3-4EC2-B92D-94435376EC28}"/>
    <dgm:cxn modelId="{73428D92-A510-4421-8687-90C5BC661567}" srcId="{F9F02DBD-3283-4283-B29B-7B1396D280C3}" destId="{4002F694-4A2B-4690-B897-3D870FEF25B7}" srcOrd="2" destOrd="0" parTransId="{00A92F1F-0F9A-45B1-8E4B-ECC9633310DD}" sibTransId="{B4A1F68E-2EC1-4264-A329-E038B11B13A1}"/>
    <dgm:cxn modelId="{79DFCC96-7D38-46E8-A84D-5C52CF205CF6}" type="presOf" srcId="{C32E36B3-06B9-4F6A-B97F-1CF0ABEB6642}" destId="{41D2AAD7-097E-451E-A7FC-5CC4127E766D}" srcOrd="0" destOrd="0" presId="urn:microsoft.com/office/officeart/2005/8/layout/hList2"/>
    <dgm:cxn modelId="{0C33859C-B9D7-400C-811F-723B61ABD9DB}" srcId="{E5A8BD98-C588-4B4D-BEE8-6E4CED87AA49}" destId="{F9F02DBD-3283-4283-B29B-7B1396D280C3}" srcOrd="1" destOrd="0" parTransId="{8DAE545F-D076-4E16-B06C-29F474EEAB3E}" sibTransId="{FDC39312-9864-4959-8975-0FD235DE3F31}"/>
    <dgm:cxn modelId="{CB149A9E-99AC-4ED9-9C08-7154292DD3EF}" srcId="{A1159068-0FE6-4503-9700-3E2DB33FC9B4}" destId="{C32E36B3-06B9-4F6A-B97F-1CF0ABEB6642}" srcOrd="0" destOrd="0" parTransId="{96461937-4062-4652-9F80-9F240240382A}" sibTransId="{8A762F4D-839B-4CFE-9716-48214E705E29}"/>
    <dgm:cxn modelId="{E1EE3DC1-36A1-43CE-A47E-D16D5334B013}" type="presOf" srcId="{0087CF24-1230-4BCB-81DC-73D9E1039FC7}" destId="{7210D373-0F57-43C0-AFF4-1536EA0FC370}" srcOrd="0" destOrd="1" presId="urn:microsoft.com/office/officeart/2005/8/layout/hList2"/>
    <dgm:cxn modelId="{50539FC8-F24E-4270-940B-950A66BBDD89}" srcId="{F9F02DBD-3283-4283-B29B-7B1396D280C3}" destId="{6664CEC1-62C5-470D-A1AC-7BD4BC2624CB}" srcOrd="1" destOrd="0" parTransId="{7A283218-9267-48DF-AF26-CF29487C0784}" sibTransId="{6FB81B02-DE1F-4D02-95D1-02659B91B3CB}"/>
    <dgm:cxn modelId="{678D6ED2-558C-4AEE-B84F-570A9D7B110C}" type="presOf" srcId="{4002F694-4A2B-4690-B897-3D870FEF25B7}" destId="{35128DED-17E6-48A8-9018-181BFCB088F7}" srcOrd="0" destOrd="2" presId="urn:microsoft.com/office/officeart/2005/8/layout/hList2"/>
    <dgm:cxn modelId="{FF3976DB-6DE1-4473-A474-B4C2C595F893}" type="presOf" srcId="{F9F02DBD-3283-4283-B29B-7B1396D280C3}" destId="{3C7C5795-8B85-420F-BA5A-9433529A240F}" srcOrd="0" destOrd="0" presId="urn:microsoft.com/office/officeart/2005/8/layout/hList2"/>
    <dgm:cxn modelId="{7F384FDE-72C7-4DCD-AF8C-2AF6442DAE95}" type="presOf" srcId="{A07994E6-11E4-48E4-A730-EB80FBC6A1BC}" destId="{7210D373-0F57-43C0-AFF4-1536EA0FC370}" srcOrd="0" destOrd="3" presId="urn:microsoft.com/office/officeart/2005/8/layout/hList2"/>
    <dgm:cxn modelId="{43E2EBE2-C56E-4D3B-B682-03C3E7AEFD36}" type="presOf" srcId="{95798E9C-090F-436E-9F7C-867C9825B613}" destId="{41D2AAD7-097E-451E-A7FC-5CC4127E766D}" srcOrd="0" destOrd="1" presId="urn:microsoft.com/office/officeart/2005/8/layout/hList2"/>
    <dgm:cxn modelId="{7B6972E4-624B-4B02-ADEB-3D2573551547}" srcId="{A1159068-0FE6-4503-9700-3E2DB33FC9B4}" destId="{26023F9D-B2C0-4234-8CEC-D24BCF519A90}" srcOrd="2" destOrd="0" parTransId="{4E1BE1B3-8733-4263-8A68-9721A7482F33}" sibTransId="{D0484F9F-EB19-4D31-B62E-1644E24A136A}"/>
    <dgm:cxn modelId="{4C036FF1-3812-497D-A32F-94E79E997E80}" type="presOf" srcId="{6840967C-9B8C-4ECD-8F6C-4231B2E83D4E}" destId="{35128DED-17E6-48A8-9018-181BFCB088F7}" srcOrd="0" destOrd="0" presId="urn:microsoft.com/office/officeart/2005/8/layout/hList2"/>
    <dgm:cxn modelId="{E2681C15-18A0-4416-8553-EE99B32816F7}" type="presParOf" srcId="{B68D998B-296D-4EE7-8BF8-3BAF6037AA2B}" destId="{6B81D97C-69D0-4DCC-A37D-A3E066BD5CFB}" srcOrd="0" destOrd="0" presId="urn:microsoft.com/office/officeart/2005/8/layout/hList2"/>
    <dgm:cxn modelId="{592B5EF0-BB03-4F25-9B92-E9C035C2E02C}" type="presParOf" srcId="{6B81D97C-69D0-4DCC-A37D-A3E066BD5CFB}" destId="{3F25EA00-EB7F-4A57-88E9-B0F708E367FC}" srcOrd="0" destOrd="0" presId="urn:microsoft.com/office/officeart/2005/8/layout/hList2"/>
    <dgm:cxn modelId="{DAA24972-CF2A-4F1D-92E6-06B6ECBA15A3}" type="presParOf" srcId="{6B81D97C-69D0-4DCC-A37D-A3E066BD5CFB}" destId="{7210D373-0F57-43C0-AFF4-1536EA0FC370}" srcOrd="1" destOrd="0" presId="urn:microsoft.com/office/officeart/2005/8/layout/hList2"/>
    <dgm:cxn modelId="{34FA2FD7-5535-4393-9199-030E12270240}" type="presParOf" srcId="{6B81D97C-69D0-4DCC-A37D-A3E066BD5CFB}" destId="{9DE145E1-2B28-45AD-8962-7A40A7AEB20D}" srcOrd="2" destOrd="0" presId="urn:microsoft.com/office/officeart/2005/8/layout/hList2"/>
    <dgm:cxn modelId="{08CE057F-E33F-48D9-A8A9-22E879B1680E}" type="presParOf" srcId="{B68D998B-296D-4EE7-8BF8-3BAF6037AA2B}" destId="{A89FF685-E7F2-416E-AF8B-D143B12F11B4}" srcOrd="1" destOrd="0" presId="urn:microsoft.com/office/officeart/2005/8/layout/hList2"/>
    <dgm:cxn modelId="{EE7E2040-63EA-4D79-88D3-34B1CEA56D87}" type="presParOf" srcId="{B68D998B-296D-4EE7-8BF8-3BAF6037AA2B}" destId="{E4840DF5-8177-48BB-9AC4-495FCF13E3B9}" srcOrd="2" destOrd="0" presId="urn:microsoft.com/office/officeart/2005/8/layout/hList2"/>
    <dgm:cxn modelId="{E24291C8-8C70-40F2-B174-A1ED632ABFE9}" type="presParOf" srcId="{E4840DF5-8177-48BB-9AC4-495FCF13E3B9}" destId="{76E4971B-BCD5-4071-A1FD-D69A9521D77B}" srcOrd="0" destOrd="0" presId="urn:microsoft.com/office/officeart/2005/8/layout/hList2"/>
    <dgm:cxn modelId="{54380B43-8373-4387-9A05-F3502970DDF9}" type="presParOf" srcId="{E4840DF5-8177-48BB-9AC4-495FCF13E3B9}" destId="{35128DED-17E6-48A8-9018-181BFCB088F7}" srcOrd="1" destOrd="0" presId="urn:microsoft.com/office/officeart/2005/8/layout/hList2"/>
    <dgm:cxn modelId="{36E15F18-2579-4719-A309-152EE97207B5}" type="presParOf" srcId="{E4840DF5-8177-48BB-9AC4-495FCF13E3B9}" destId="{3C7C5795-8B85-420F-BA5A-9433529A240F}" srcOrd="2" destOrd="0" presId="urn:microsoft.com/office/officeart/2005/8/layout/hList2"/>
    <dgm:cxn modelId="{252C38DB-949F-4601-AFD0-75AAE7A3ADE4}" type="presParOf" srcId="{B68D998B-296D-4EE7-8BF8-3BAF6037AA2B}" destId="{85CD59E7-A6F0-4DAF-8156-5450C428A89C}" srcOrd="3" destOrd="0" presId="urn:microsoft.com/office/officeart/2005/8/layout/hList2"/>
    <dgm:cxn modelId="{ECFFD75E-615B-4EF8-816F-AE379601334D}" type="presParOf" srcId="{B68D998B-296D-4EE7-8BF8-3BAF6037AA2B}" destId="{39EC38C6-C1B3-4B59-AF7A-C422BCCF37D6}" srcOrd="4" destOrd="0" presId="urn:microsoft.com/office/officeart/2005/8/layout/hList2"/>
    <dgm:cxn modelId="{E12ED5E1-E600-41C2-88FF-4F65457E4794}" type="presParOf" srcId="{39EC38C6-C1B3-4B59-AF7A-C422BCCF37D6}" destId="{BDA45926-D13B-41A5-89BD-8309C7CE89CE}" srcOrd="0" destOrd="0" presId="urn:microsoft.com/office/officeart/2005/8/layout/hList2"/>
    <dgm:cxn modelId="{5E6FE361-61FB-41E9-BC76-06170E2BDAA9}" type="presParOf" srcId="{39EC38C6-C1B3-4B59-AF7A-C422BCCF37D6}" destId="{41D2AAD7-097E-451E-A7FC-5CC4127E766D}" srcOrd="1" destOrd="0" presId="urn:microsoft.com/office/officeart/2005/8/layout/hList2"/>
    <dgm:cxn modelId="{3B851F81-3856-418A-A223-7E20DF4ACDB9}" type="presParOf" srcId="{39EC38C6-C1B3-4B59-AF7A-C422BCCF37D6}" destId="{C9C1636F-DD18-4C4B-B3B0-0F254EDFEAB7}" srcOrd="2" destOrd="0" presId="urn:microsoft.com/office/officeart/2005/8/layout/hList2"/>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5A8BD98-C588-4B4D-BEE8-6E4CED87AA49}" type="doc">
      <dgm:prSet loTypeId="urn:microsoft.com/office/officeart/2005/8/layout/hList2" loCatId="list" qsTypeId="urn:microsoft.com/office/officeart/2005/8/quickstyle/simple1" qsCatId="simple" csTypeId="urn:microsoft.com/office/officeart/2005/8/colors/accent1_2" csCatId="accent1" phldr="1"/>
      <dgm:spPr/>
      <dgm:t>
        <a:bodyPr/>
        <a:lstStyle/>
        <a:p>
          <a:endParaRPr lang="en-GB"/>
        </a:p>
      </dgm:t>
    </dgm:pt>
    <dgm:pt modelId="{8931E14E-88E5-45B2-832C-E34A9516EDF5}">
      <dgm:prSet phldrT="[Text]"/>
      <dgm:spPr/>
      <dgm:t>
        <a:bodyPr/>
        <a:lstStyle/>
        <a:p>
          <a:r>
            <a:rPr lang="en-GB">
              <a:latin typeface="Times New Roman" panose="02020603050405020304" pitchFamily="18" charset="0"/>
              <a:cs typeface="Times New Roman" panose="02020603050405020304" pitchFamily="18" charset="0"/>
            </a:rPr>
            <a:t>United Kingdom</a:t>
          </a:r>
        </a:p>
      </dgm:t>
    </dgm:pt>
    <dgm:pt modelId="{34089966-1C49-4AD5-ABAC-4CB5C95EDD3C}" type="parTrans" cxnId="{18153E7F-A758-4B44-9FE7-BAA73CCC170D}">
      <dgm:prSet/>
      <dgm:spPr/>
      <dgm:t>
        <a:bodyPr/>
        <a:lstStyle/>
        <a:p>
          <a:endParaRPr lang="en-GB"/>
        </a:p>
      </dgm:t>
    </dgm:pt>
    <dgm:pt modelId="{AC668A05-14C3-4EC2-B92D-94435376EC28}" type="sibTrans" cxnId="{18153E7F-A758-4B44-9FE7-BAA73CCC170D}">
      <dgm:prSet/>
      <dgm:spPr/>
      <dgm:t>
        <a:bodyPr/>
        <a:lstStyle/>
        <a:p>
          <a:endParaRPr lang="en-GB"/>
        </a:p>
      </dgm:t>
    </dgm:pt>
    <dgm:pt modelId="{A4E986C6-5BCC-4405-AB14-4E3930E202A5}">
      <dgm:prSet phldrT="[Text]" custT="1"/>
      <dgm:spPr>
        <a:solidFill>
          <a:schemeClr val="tx2"/>
        </a:solidFill>
      </dgm:spPr>
      <dgm:t>
        <a:bodyPr/>
        <a:lstStyle/>
        <a:p>
          <a:r>
            <a:rPr lang="en-GB" sz="1400">
              <a:latin typeface="Times New Roman" panose="02020603050405020304" pitchFamily="18" charset="0"/>
              <a:cs typeface="Times New Roman" panose="02020603050405020304" pitchFamily="18" charset="0"/>
            </a:rPr>
            <a:t>UK 10 Year Infrastructure Project provides a strong macroeconomic tailwind, promising over £725bn in public infrastructure over the next decade</a:t>
          </a:r>
        </a:p>
      </dgm:t>
    </dgm:pt>
    <dgm:pt modelId="{826561B1-A961-42C6-A6E1-9104EB1E422D}" type="parTrans" cxnId="{AB88D742-8BF6-4D73-B451-ABA015CE3DDE}">
      <dgm:prSet/>
      <dgm:spPr/>
      <dgm:t>
        <a:bodyPr/>
        <a:lstStyle/>
        <a:p>
          <a:endParaRPr lang="en-GB"/>
        </a:p>
      </dgm:t>
    </dgm:pt>
    <dgm:pt modelId="{4C5D4B69-BC70-4E5A-95CC-E606CD553DD0}" type="sibTrans" cxnId="{AB88D742-8BF6-4D73-B451-ABA015CE3DDE}">
      <dgm:prSet/>
      <dgm:spPr/>
      <dgm:t>
        <a:bodyPr/>
        <a:lstStyle/>
        <a:p>
          <a:endParaRPr lang="en-GB"/>
        </a:p>
      </dgm:t>
    </dgm:pt>
    <dgm:pt modelId="{F9F02DBD-3283-4283-B29B-7B1396D280C3}">
      <dgm:prSet phldrT="[Text]" custT="1"/>
      <dgm:spPr/>
      <dgm:t>
        <a:bodyPr/>
        <a:lstStyle/>
        <a:p>
          <a:r>
            <a:rPr lang="en-GB" sz="2800">
              <a:latin typeface="Times New Roman" panose="02020603050405020304" pitchFamily="18" charset="0"/>
              <a:cs typeface="Times New Roman" panose="02020603050405020304" pitchFamily="18" charset="0"/>
            </a:rPr>
            <a:t>Ireland</a:t>
          </a:r>
        </a:p>
      </dgm:t>
    </dgm:pt>
    <dgm:pt modelId="{8DAE545F-D076-4E16-B06C-29F474EEAB3E}" type="parTrans" cxnId="{0C33859C-B9D7-400C-811F-723B61ABD9DB}">
      <dgm:prSet/>
      <dgm:spPr/>
      <dgm:t>
        <a:bodyPr/>
        <a:lstStyle/>
        <a:p>
          <a:endParaRPr lang="en-GB"/>
        </a:p>
      </dgm:t>
    </dgm:pt>
    <dgm:pt modelId="{FDC39312-9864-4959-8975-0FD235DE3F31}" type="sibTrans" cxnId="{0C33859C-B9D7-400C-811F-723B61ABD9DB}">
      <dgm:prSet/>
      <dgm:spPr/>
      <dgm:t>
        <a:bodyPr/>
        <a:lstStyle/>
        <a:p>
          <a:endParaRPr lang="en-GB"/>
        </a:p>
      </dgm:t>
    </dgm:pt>
    <dgm:pt modelId="{6840967C-9B8C-4ECD-8F6C-4231B2E83D4E}">
      <dgm:prSet phldrT="[Text]" custT="1"/>
      <dgm:spPr>
        <a:blipFill>
          <a:blip xmlns:r="http://schemas.openxmlformats.org/officeDocument/2006/relationships" r:embed="rId1"/>
          <a:stretch>
            <a:fillRect r="-906"/>
          </a:stretch>
        </a:blipFill>
      </dgm:spPr>
      <dgm:t>
        <a:bodyPr/>
        <a:lstStyle/>
        <a:p>
          <a:r>
            <a:rPr lang="en-GB">
              <a:noFill/>
            </a:rPr>
            <a:t> </a:t>
          </a:r>
        </a:p>
      </dgm:t>
    </dgm:pt>
    <dgm:pt modelId="{238E78E0-DEF4-48EB-9BFF-43268E7F3B11}" type="parTrans" cxnId="{56AE904D-F7CE-43A9-83A8-8A09E0BD4F19}">
      <dgm:prSet/>
      <dgm:spPr/>
      <dgm:t>
        <a:bodyPr/>
        <a:lstStyle/>
        <a:p>
          <a:endParaRPr lang="en-GB"/>
        </a:p>
      </dgm:t>
    </dgm:pt>
    <dgm:pt modelId="{F0FD4E76-34E8-47B8-8C1C-B115AA286AED}" type="sibTrans" cxnId="{56AE904D-F7CE-43A9-83A8-8A09E0BD4F19}">
      <dgm:prSet/>
      <dgm:spPr/>
      <dgm:t>
        <a:bodyPr/>
        <a:lstStyle/>
        <a:p>
          <a:endParaRPr lang="en-GB"/>
        </a:p>
      </dgm:t>
    </dgm:pt>
    <dgm:pt modelId="{A1159068-0FE6-4503-9700-3E2DB33FC9B4}">
      <dgm:prSet phldrT="[Text]"/>
      <dgm:spPr/>
      <dgm:t>
        <a:bodyPr/>
        <a:lstStyle/>
        <a:p>
          <a:r>
            <a:rPr lang="en-GB">
              <a:latin typeface="Times New Roman" panose="02020603050405020304" pitchFamily="18" charset="0"/>
              <a:cs typeface="Times New Roman" panose="02020603050405020304" pitchFamily="18" charset="0"/>
            </a:rPr>
            <a:t>Netherlands</a:t>
          </a:r>
        </a:p>
      </dgm:t>
    </dgm:pt>
    <dgm:pt modelId="{1D30405A-337D-4577-A679-9B412DE4D258}" type="parTrans" cxnId="{964BED04-7846-4713-B326-9FF7465AD09C}">
      <dgm:prSet/>
      <dgm:spPr/>
      <dgm:t>
        <a:bodyPr/>
        <a:lstStyle/>
        <a:p>
          <a:endParaRPr lang="en-GB"/>
        </a:p>
      </dgm:t>
    </dgm:pt>
    <dgm:pt modelId="{6A10580A-AF1C-47D1-9E6F-37620A6E2DB9}" type="sibTrans" cxnId="{964BED04-7846-4713-B326-9FF7465AD09C}">
      <dgm:prSet/>
      <dgm:spPr/>
      <dgm:t>
        <a:bodyPr/>
        <a:lstStyle/>
        <a:p>
          <a:endParaRPr lang="en-GB"/>
        </a:p>
      </dgm:t>
    </dgm:pt>
    <dgm:pt modelId="{C32E36B3-06B9-4F6A-B97F-1CF0ABEB6642}">
      <dgm:prSet phldrT="[Text]" custT="1"/>
      <dgm:spPr>
        <a:solidFill>
          <a:schemeClr val="tx2"/>
        </a:solidFill>
      </dgm:spPr>
      <dgm:t>
        <a:bodyPr/>
        <a:lstStyle/>
        <a:p>
          <a:r>
            <a:rPr lang="en-GB" sz="1400">
              <a:latin typeface="Times New Roman" panose="02020603050405020304" pitchFamily="18" charset="0"/>
              <a:cs typeface="Times New Roman" panose="02020603050405020304" pitchFamily="18" charset="0"/>
            </a:rPr>
            <a:t>Delta Programme 2025 is the national plan across flood risk management, freshwater, and climate-resilient spatial planning. Plans across the coming years involve upgrades in which BAM has already been selected for (e.g. Meuse dyke strengthening)</a:t>
          </a:r>
        </a:p>
      </dgm:t>
    </dgm:pt>
    <dgm:pt modelId="{96461937-4062-4652-9F80-9F240240382A}" type="parTrans" cxnId="{CB149A9E-99AC-4ED9-9C08-7154292DD3EF}">
      <dgm:prSet/>
      <dgm:spPr/>
      <dgm:t>
        <a:bodyPr/>
        <a:lstStyle/>
        <a:p>
          <a:endParaRPr lang="en-GB"/>
        </a:p>
      </dgm:t>
    </dgm:pt>
    <dgm:pt modelId="{8A762F4D-839B-4CFE-9716-48214E705E29}" type="sibTrans" cxnId="{CB149A9E-99AC-4ED9-9C08-7154292DD3EF}">
      <dgm:prSet/>
      <dgm:spPr/>
      <dgm:t>
        <a:bodyPr/>
        <a:lstStyle/>
        <a:p>
          <a:endParaRPr lang="en-GB"/>
        </a:p>
      </dgm:t>
    </dgm:pt>
    <dgm:pt modelId="{0087CF24-1230-4BCB-81DC-73D9E1039FC7}">
      <dgm:prSet phldrT="[Text]" custT="1"/>
      <dgm:spPr>
        <a:solidFill>
          <a:schemeClr val="tx2"/>
        </a:solidFill>
      </dgm:spPr>
      <dgm:t>
        <a:bodyPr/>
        <a:lstStyle/>
        <a:p>
          <a:r>
            <a:rPr lang="en-GB" sz="1400">
              <a:latin typeface="Times New Roman" panose="02020603050405020304" pitchFamily="18" charset="0"/>
              <a:cs typeface="Times New Roman" panose="02020603050405020304" pitchFamily="18" charset="0"/>
            </a:rPr>
            <a:t>Eastern Green Link 2 green-lit by Ofgem, BAM positioned to deliver both converter stations and positioned for repeat business in the Great Grid Upgrade</a:t>
          </a:r>
        </a:p>
      </dgm:t>
    </dgm:pt>
    <dgm:pt modelId="{0BE8F778-6A44-4F86-8B67-6744661BEF4A}" type="parTrans" cxnId="{FCEA8555-3F15-4017-B5F0-4A031C292DE9}">
      <dgm:prSet/>
      <dgm:spPr/>
      <dgm:t>
        <a:bodyPr/>
        <a:lstStyle/>
        <a:p>
          <a:endParaRPr lang="en-GB"/>
        </a:p>
      </dgm:t>
    </dgm:pt>
    <dgm:pt modelId="{CE3B0443-E483-439D-B19E-037AD4209644}" type="sibTrans" cxnId="{FCEA8555-3F15-4017-B5F0-4A031C292DE9}">
      <dgm:prSet/>
      <dgm:spPr/>
      <dgm:t>
        <a:bodyPr/>
        <a:lstStyle/>
        <a:p>
          <a:endParaRPr lang="en-GB"/>
        </a:p>
      </dgm:t>
    </dgm:pt>
    <dgm:pt modelId="{A4995A9B-1868-457C-9A56-16F6B600A7E5}">
      <dgm:prSet phldrT="[Text]" custT="1"/>
      <dgm:spPr>
        <a:solidFill>
          <a:schemeClr val="tx2"/>
        </a:solidFill>
      </dgm:spPr>
      <dgm:t>
        <a:bodyPr/>
        <a:lstStyle/>
        <a:p>
          <a:r>
            <a:rPr lang="en-GB" sz="1400">
              <a:latin typeface="Times New Roman" panose="02020603050405020304" pitchFamily="18" charset="0"/>
              <a:cs typeface="Times New Roman" panose="02020603050405020304" pitchFamily="18" charset="0"/>
            </a:rPr>
            <a:t>BAM re-appointed in EA’s Collaborative Delivery Framework, ramping toward £5bn of capital</a:t>
          </a:r>
        </a:p>
      </dgm:t>
    </dgm:pt>
    <dgm:pt modelId="{90F99F07-9686-4C5E-B34D-BA0401D1FD0A}" type="parTrans" cxnId="{77A82260-FD91-4851-AFFD-E4859D6DC326}">
      <dgm:prSet/>
      <dgm:spPr/>
      <dgm:t>
        <a:bodyPr/>
        <a:lstStyle/>
        <a:p>
          <a:endParaRPr lang="en-GB"/>
        </a:p>
      </dgm:t>
    </dgm:pt>
    <dgm:pt modelId="{B7BAC6E0-7160-4007-BA48-505357AD99E6}" type="sibTrans" cxnId="{77A82260-FD91-4851-AFFD-E4859D6DC326}">
      <dgm:prSet/>
      <dgm:spPr/>
      <dgm:t>
        <a:bodyPr/>
        <a:lstStyle/>
        <a:p>
          <a:endParaRPr lang="en-GB"/>
        </a:p>
      </dgm:t>
    </dgm:pt>
    <dgm:pt modelId="{A07994E6-11E4-48E4-A730-EB80FBC6A1BC}">
      <dgm:prSet phldrT="[Text]" custT="1"/>
      <dgm:spPr>
        <a:solidFill>
          <a:schemeClr val="tx2"/>
        </a:solidFill>
      </dgm:spPr>
      <dgm:t>
        <a:bodyPr/>
        <a:lstStyle/>
        <a:p>
          <a:endParaRPr lang="en-GB" sz="1200"/>
        </a:p>
      </dgm:t>
    </dgm:pt>
    <dgm:pt modelId="{CA54F81A-2ED8-4FCB-8F99-E4493BD04257}" type="parTrans" cxnId="{19BAAF52-5948-45A5-8557-54F8341EB9AB}">
      <dgm:prSet/>
      <dgm:spPr/>
      <dgm:t>
        <a:bodyPr/>
        <a:lstStyle/>
        <a:p>
          <a:endParaRPr lang="en-GB"/>
        </a:p>
      </dgm:t>
    </dgm:pt>
    <dgm:pt modelId="{38271C18-62DC-463E-973E-1DDAC323CF3C}" type="sibTrans" cxnId="{19BAAF52-5948-45A5-8557-54F8341EB9AB}">
      <dgm:prSet/>
      <dgm:spPr/>
      <dgm:t>
        <a:bodyPr/>
        <a:lstStyle/>
        <a:p>
          <a:endParaRPr lang="en-GB"/>
        </a:p>
      </dgm:t>
    </dgm:pt>
    <dgm:pt modelId="{95798E9C-090F-436E-9F7C-867C9825B613}">
      <dgm:prSet phldrT="[Text]" custT="1"/>
      <dgm:spPr>
        <a:solidFill>
          <a:schemeClr val="tx2"/>
        </a:solidFill>
      </dgm:spPr>
      <dgm:t>
        <a:bodyPr/>
        <a:lstStyle/>
        <a:p>
          <a:r>
            <a:rPr lang="en-GB" sz="1400">
              <a:latin typeface="Times New Roman" panose="02020603050405020304" pitchFamily="18" charset="0"/>
              <a:cs typeface="Times New Roman" panose="02020603050405020304" pitchFamily="18" charset="0"/>
            </a:rPr>
            <a:t>Afsluitdijk – a giant sea well protecting Netherlands from flooding, BAM selected to build and now maintain for next 25 years</a:t>
          </a:r>
        </a:p>
      </dgm:t>
    </dgm:pt>
    <dgm:pt modelId="{25BEC79A-6A7F-4225-B244-6018992C4CDA}" type="parTrans" cxnId="{0D5E1A7F-CAB2-40E9-9AAD-0131285D4E47}">
      <dgm:prSet/>
      <dgm:spPr/>
      <dgm:t>
        <a:bodyPr/>
        <a:lstStyle/>
        <a:p>
          <a:endParaRPr lang="en-GB"/>
        </a:p>
      </dgm:t>
    </dgm:pt>
    <dgm:pt modelId="{73AA8767-C2F8-4976-A19E-41AE4CA6D4A6}" type="sibTrans" cxnId="{0D5E1A7F-CAB2-40E9-9AAD-0131285D4E47}">
      <dgm:prSet/>
      <dgm:spPr/>
      <dgm:t>
        <a:bodyPr/>
        <a:lstStyle/>
        <a:p>
          <a:endParaRPr lang="en-GB"/>
        </a:p>
      </dgm:t>
    </dgm:pt>
    <dgm:pt modelId="{26023F9D-B2C0-4234-8CEC-D24BCF519A90}">
      <dgm:prSet phldrT="[Text]" custT="1"/>
      <dgm:spPr>
        <a:solidFill>
          <a:schemeClr val="tx2"/>
        </a:solidFill>
      </dgm:spPr>
      <dgm:t>
        <a:bodyPr/>
        <a:lstStyle/>
        <a:p>
          <a:r>
            <a:rPr lang="en-GB" sz="1400">
              <a:latin typeface="Times New Roman" panose="02020603050405020304" pitchFamily="18" charset="0"/>
              <a:cs typeface="Times New Roman" panose="02020603050405020304" pitchFamily="18" charset="0"/>
            </a:rPr>
            <a:t>TenneT plans around £200bn of investments until 2034 across energy grid infrastructure</a:t>
          </a:r>
        </a:p>
      </dgm:t>
    </dgm:pt>
    <dgm:pt modelId="{4E1BE1B3-8733-4263-8A68-9721A7482F33}" type="parTrans" cxnId="{7B6972E4-624B-4B02-ADEB-3D2573551547}">
      <dgm:prSet/>
      <dgm:spPr/>
      <dgm:t>
        <a:bodyPr/>
        <a:lstStyle/>
        <a:p>
          <a:endParaRPr lang="en-GB"/>
        </a:p>
      </dgm:t>
    </dgm:pt>
    <dgm:pt modelId="{D0484F9F-EB19-4D31-B62E-1644E24A136A}" type="sibTrans" cxnId="{7B6972E4-624B-4B02-ADEB-3D2573551547}">
      <dgm:prSet/>
      <dgm:spPr/>
      <dgm:t>
        <a:bodyPr/>
        <a:lstStyle/>
        <a:p>
          <a:endParaRPr lang="en-GB"/>
        </a:p>
      </dgm:t>
    </dgm:pt>
    <dgm:pt modelId="{6664CEC1-62C5-470D-A1AC-7BD4BC2624CB}">
      <dgm:prSet phldrT="[Text]" custT="1"/>
      <dgm:spPr>
        <a:solidFill>
          <a:schemeClr val="tx2"/>
        </a:solidFill>
      </dgm:spPr>
      <dgm:t>
        <a:bodyPr/>
        <a:lstStyle/>
        <a:p>
          <a:r>
            <a:rPr lang="en-GB">
              <a:noFill/>
            </a:rPr>
            <a:t> </a:t>
          </a:r>
        </a:p>
      </dgm:t>
    </dgm:pt>
    <dgm:pt modelId="{7A283218-9267-48DF-AF26-CF29487C0784}" type="parTrans" cxnId="{50539FC8-F24E-4270-940B-950A66BBDD89}">
      <dgm:prSet/>
      <dgm:spPr/>
      <dgm:t>
        <a:bodyPr/>
        <a:lstStyle/>
        <a:p>
          <a:endParaRPr lang="en-GB"/>
        </a:p>
      </dgm:t>
    </dgm:pt>
    <dgm:pt modelId="{6FB81B02-DE1F-4D02-95D1-02659B91B3CB}" type="sibTrans" cxnId="{50539FC8-F24E-4270-940B-950A66BBDD89}">
      <dgm:prSet/>
      <dgm:spPr/>
      <dgm:t>
        <a:bodyPr/>
        <a:lstStyle/>
        <a:p>
          <a:endParaRPr lang="en-GB"/>
        </a:p>
      </dgm:t>
    </dgm:pt>
    <dgm:pt modelId="{4002F694-4A2B-4690-B897-3D870FEF25B7}">
      <dgm:prSet phldrT="[Text]" custT="1"/>
      <dgm:spPr>
        <a:solidFill>
          <a:schemeClr val="tx2"/>
        </a:solidFill>
      </dgm:spPr>
      <dgm:t>
        <a:bodyPr/>
        <a:lstStyle/>
        <a:p>
          <a:r>
            <a:rPr lang="en-GB">
              <a:noFill/>
            </a:rPr>
            <a:t> </a:t>
          </a:r>
        </a:p>
      </dgm:t>
    </dgm:pt>
    <dgm:pt modelId="{00A92F1F-0F9A-45B1-8E4B-ECC9633310DD}" type="parTrans" cxnId="{73428D92-A510-4421-8687-90C5BC661567}">
      <dgm:prSet/>
      <dgm:spPr/>
      <dgm:t>
        <a:bodyPr/>
        <a:lstStyle/>
        <a:p>
          <a:endParaRPr lang="en-GB"/>
        </a:p>
      </dgm:t>
    </dgm:pt>
    <dgm:pt modelId="{B4A1F68E-2EC1-4264-A329-E038B11B13A1}" type="sibTrans" cxnId="{73428D92-A510-4421-8687-90C5BC661567}">
      <dgm:prSet/>
      <dgm:spPr/>
      <dgm:t>
        <a:bodyPr/>
        <a:lstStyle/>
        <a:p>
          <a:endParaRPr lang="en-GB"/>
        </a:p>
      </dgm:t>
    </dgm:pt>
    <dgm:pt modelId="{B68D998B-296D-4EE7-8BF8-3BAF6037AA2B}" type="pres">
      <dgm:prSet presAssocID="{E5A8BD98-C588-4B4D-BEE8-6E4CED87AA49}" presName="linearFlow" presStyleCnt="0">
        <dgm:presLayoutVars>
          <dgm:dir/>
          <dgm:animLvl val="lvl"/>
          <dgm:resizeHandles/>
        </dgm:presLayoutVars>
      </dgm:prSet>
      <dgm:spPr/>
    </dgm:pt>
    <dgm:pt modelId="{6B81D97C-69D0-4DCC-A37D-A3E066BD5CFB}" type="pres">
      <dgm:prSet presAssocID="{8931E14E-88E5-45B2-832C-E34A9516EDF5}" presName="compositeNode" presStyleCnt="0">
        <dgm:presLayoutVars>
          <dgm:bulletEnabled val="1"/>
        </dgm:presLayoutVars>
      </dgm:prSet>
      <dgm:spPr/>
    </dgm:pt>
    <dgm:pt modelId="{3F25EA00-EB7F-4A57-88E9-B0F708E367FC}" type="pres">
      <dgm:prSet presAssocID="{8931E14E-88E5-45B2-832C-E34A9516EDF5}" presName="image" presStyleLbl="fgImgPlace1" presStyleIdx="0" presStyleCnt="3" custAng="0" custLinFactNeighborX="319" custLinFactNeighborY="-1818"/>
      <dgm:spPr>
        <a:blipFill>
          <a:blip xmlns:r="http://schemas.openxmlformats.org/officeDocument/2006/relationships" r:embed="rId2"/>
          <a:srcRect/>
          <a:stretch>
            <a:fillRect l="-16000" r="-16000"/>
          </a:stretch>
        </a:blipFill>
      </dgm:spPr>
    </dgm:pt>
    <dgm:pt modelId="{7210D373-0F57-43C0-AFF4-1536EA0FC370}" type="pres">
      <dgm:prSet presAssocID="{8931E14E-88E5-45B2-832C-E34A9516EDF5}" presName="childNode" presStyleLbl="node1" presStyleIdx="0" presStyleCnt="3" custScaleY="89309" custLinFactNeighborX="-159" custLinFactNeighborY="-5327">
        <dgm:presLayoutVars>
          <dgm:bulletEnabled val="1"/>
        </dgm:presLayoutVars>
      </dgm:prSet>
      <dgm:spPr/>
    </dgm:pt>
    <dgm:pt modelId="{9DE145E1-2B28-45AD-8962-7A40A7AEB20D}" type="pres">
      <dgm:prSet presAssocID="{8931E14E-88E5-45B2-832C-E34A9516EDF5}" presName="parentNode" presStyleLbl="revTx" presStyleIdx="0" presStyleCnt="3">
        <dgm:presLayoutVars>
          <dgm:chMax val="0"/>
          <dgm:bulletEnabled val="1"/>
        </dgm:presLayoutVars>
      </dgm:prSet>
      <dgm:spPr/>
    </dgm:pt>
    <dgm:pt modelId="{A89FF685-E7F2-416E-AF8B-D143B12F11B4}" type="pres">
      <dgm:prSet presAssocID="{AC668A05-14C3-4EC2-B92D-94435376EC28}" presName="sibTrans" presStyleCnt="0"/>
      <dgm:spPr/>
    </dgm:pt>
    <dgm:pt modelId="{E4840DF5-8177-48BB-9AC4-495FCF13E3B9}" type="pres">
      <dgm:prSet presAssocID="{F9F02DBD-3283-4283-B29B-7B1396D280C3}" presName="compositeNode" presStyleCnt="0">
        <dgm:presLayoutVars>
          <dgm:bulletEnabled val="1"/>
        </dgm:presLayoutVars>
      </dgm:prSet>
      <dgm:spPr/>
    </dgm:pt>
    <dgm:pt modelId="{76E4971B-BCD5-4071-A1FD-D69A9521D77B}" type="pres">
      <dgm:prSet presAssocID="{F9F02DBD-3283-4283-B29B-7B1396D280C3}" presName="image" presStyleLbl="fgImgPlace1" presStyleIdx="1" presStyleCnt="3"/>
      <dgm:spPr>
        <a:blipFill>
          <a:blip xmlns:r="http://schemas.openxmlformats.org/officeDocument/2006/relationships" r:embed="rId3"/>
          <a:srcRect/>
          <a:stretch>
            <a:fillRect/>
          </a:stretch>
        </a:blipFill>
      </dgm:spPr>
    </dgm:pt>
    <dgm:pt modelId="{35128DED-17E6-48A8-9018-181BFCB088F7}" type="pres">
      <dgm:prSet presAssocID="{F9F02DBD-3283-4283-B29B-7B1396D280C3}" presName="childNode" presStyleLbl="node1" presStyleIdx="1" presStyleCnt="3" custScaleY="81475" custLinFactNeighborX="-1107" custLinFactNeighborY="-9370">
        <dgm:presLayoutVars>
          <dgm:bulletEnabled val="1"/>
        </dgm:presLayoutVars>
      </dgm:prSet>
      <dgm:spPr/>
    </dgm:pt>
    <dgm:pt modelId="{3C7C5795-8B85-420F-BA5A-9433529A240F}" type="pres">
      <dgm:prSet presAssocID="{F9F02DBD-3283-4283-B29B-7B1396D280C3}" presName="parentNode" presStyleLbl="revTx" presStyleIdx="1" presStyleCnt="3">
        <dgm:presLayoutVars>
          <dgm:chMax val="0"/>
          <dgm:bulletEnabled val="1"/>
        </dgm:presLayoutVars>
      </dgm:prSet>
      <dgm:spPr/>
    </dgm:pt>
    <dgm:pt modelId="{85CD59E7-A6F0-4DAF-8156-5450C428A89C}" type="pres">
      <dgm:prSet presAssocID="{FDC39312-9864-4959-8975-0FD235DE3F31}" presName="sibTrans" presStyleCnt="0"/>
      <dgm:spPr/>
    </dgm:pt>
    <dgm:pt modelId="{39EC38C6-C1B3-4B59-AF7A-C422BCCF37D6}" type="pres">
      <dgm:prSet presAssocID="{A1159068-0FE6-4503-9700-3E2DB33FC9B4}" presName="compositeNode" presStyleCnt="0">
        <dgm:presLayoutVars>
          <dgm:bulletEnabled val="1"/>
        </dgm:presLayoutVars>
      </dgm:prSet>
      <dgm:spPr/>
    </dgm:pt>
    <dgm:pt modelId="{BDA45926-D13B-41A5-89BD-8309C7CE89CE}" type="pres">
      <dgm:prSet presAssocID="{A1159068-0FE6-4503-9700-3E2DB33FC9B4}" presName="image" presStyleLbl="fgImgPlace1" presStyleIdx="2" presStyleCnt="3"/>
      <dgm:spPr>
        <a:blipFill>
          <a:blip xmlns:r="http://schemas.openxmlformats.org/officeDocument/2006/relationships" r:embed="rId4"/>
          <a:srcRect/>
          <a:stretch>
            <a:fillRect l="-25000" r="-25000"/>
          </a:stretch>
        </a:blipFill>
      </dgm:spPr>
    </dgm:pt>
    <dgm:pt modelId="{41D2AAD7-097E-451E-A7FC-5CC4127E766D}" type="pres">
      <dgm:prSet presAssocID="{A1159068-0FE6-4503-9700-3E2DB33FC9B4}" presName="childNode" presStyleLbl="node1" presStyleIdx="2" presStyleCnt="3">
        <dgm:presLayoutVars>
          <dgm:bulletEnabled val="1"/>
        </dgm:presLayoutVars>
      </dgm:prSet>
      <dgm:spPr/>
    </dgm:pt>
    <dgm:pt modelId="{C9C1636F-DD18-4C4B-B3B0-0F254EDFEAB7}" type="pres">
      <dgm:prSet presAssocID="{A1159068-0FE6-4503-9700-3E2DB33FC9B4}" presName="parentNode" presStyleLbl="revTx" presStyleIdx="2" presStyleCnt="3">
        <dgm:presLayoutVars>
          <dgm:chMax val="0"/>
          <dgm:bulletEnabled val="1"/>
        </dgm:presLayoutVars>
      </dgm:prSet>
      <dgm:spPr/>
    </dgm:pt>
  </dgm:ptLst>
  <dgm:cxnLst>
    <dgm:cxn modelId="{81CB7103-1C9A-4894-A71B-CA0812573397}" type="presOf" srcId="{A4995A9B-1868-457C-9A56-16F6B600A7E5}" destId="{7210D373-0F57-43C0-AFF4-1536EA0FC370}" srcOrd="0" destOrd="2" presId="urn:microsoft.com/office/officeart/2005/8/layout/hList2"/>
    <dgm:cxn modelId="{964BED04-7846-4713-B326-9FF7465AD09C}" srcId="{E5A8BD98-C588-4B4D-BEE8-6E4CED87AA49}" destId="{A1159068-0FE6-4503-9700-3E2DB33FC9B4}" srcOrd="2" destOrd="0" parTransId="{1D30405A-337D-4577-A679-9B412DE4D258}" sibTransId="{6A10580A-AF1C-47D1-9E6F-37620A6E2DB9}"/>
    <dgm:cxn modelId="{0DED7205-2489-4124-9A9C-ABA6EDB7E202}" type="presOf" srcId="{A1159068-0FE6-4503-9700-3E2DB33FC9B4}" destId="{C9C1636F-DD18-4C4B-B3B0-0F254EDFEAB7}" srcOrd="0" destOrd="0" presId="urn:microsoft.com/office/officeart/2005/8/layout/hList2"/>
    <dgm:cxn modelId="{C75BEB0B-BB58-4759-8AA3-8C34E8EDD50C}" type="presOf" srcId="{6664CEC1-62C5-470D-A1AC-7BD4BC2624CB}" destId="{35128DED-17E6-48A8-9018-181BFCB088F7}" srcOrd="0" destOrd="1" presId="urn:microsoft.com/office/officeart/2005/8/layout/hList2"/>
    <dgm:cxn modelId="{CA16E522-99FF-4434-8078-A6A0B50F345C}" type="presOf" srcId="{8931E14E-88E5-45B2-832C-E34A9516EDF5}" destId="{9DE145E1-2B28-45AD-8962-7A40A7AEB20D}" srcOrd="0" destOrd="0" presId="urn:microsoft.com/office/officeart/2005/8/layout/hList2"/>
    <dgm:cxn modelId="{9F82355E-B5EB-4A2D-99F7-B23D54EA4A4C}" type="presOf" srcId="{E5A8BD98-C588-4B4D-BEE8-6E4CED87AA49}" destId="{B68D998B-296D-4EE7-8BF8-3BAF6037AA2B}" srcOrd="0" destOrd="0" presId="urn:microsoft.com/office/officeart/2005/8/layout/hList2"/>
    <dgm:cxn modelId="{77A82260-FD91-4851-AFFD-E4859D6DC326}" srcId="{8931E14E-88E5-45B2-832C-E34A9516EDF5}" destId="{A4995A9B-1868-457C-9A56-16F6B600A7E5}" srcOrd="2" destOrd="0" parTransId="{90F99F07-9686-4C5E-B34D-BA0401D1FD0A}" sibTransId="{B7BAC6E0-7160-4007-BA48-505357AD99E6}"/>
    <dgm:cxn modelId="{AB88D742-8BF6-4D73-B451-ABA015CE3DDE}" srcId="{8931E14E-88E5-45B2-832C-E34A9516EDF5}" destId="{A4E986C6-5BCC-4405-AB14-4E3930E202A5}" srcOrd="0" destOrd="0" parTransId="{826561B1-A961-42C6-A6E1-9104EB1E422D}" sibTransId="{4C5D4B69-BC70-4E5A-95CC-E606CD553DD0}"/>
    <dgm:cxn modelId="{56AE904D-F7CE-43A9-83A8-8A09E0BD4F19}" srcId="{F9F02DBD-3283-4283-B29B-7B1396D280C3}" destId="{6840967C-9B8C-4ECD-8F6C-4231B2E83D4E}" srcOrd="0" destOrd="0" parTransId="{238E78E0-DEF4-48EB-9BFF-43268E7F3B11}" sibTransId="{F0FD4E76-34E8-47B8-8C1C-B115AA286AED}"/>
    <dgm:cxn modelId="{19BAAF52-5948-45A5-8557-54F8341EB9AB}" srcId="{8931E14E-88E5-45B2-832C-E34A9516EDF5}" destId="{A07994E6-11E4-48E4-A730-EB80FBC6A1BC}" srcOrd="3" destOrd="0" parTransId="{CA54F81A-2ED8-4FCB-8F99-E4493BD04257}" sibTransId="{38271C18-62DC-463E-973E-1DDAC323CF3C}"/>
    <dgm:cxn modelId="{612FB954-8689-4ED6-A2C7-8BE523D1CCCC}" type="presOf" srcId="{A4E986C6-5BCC-4405-AB14-4E3930E202A5}" destId="{7210D373-0F57-43C0-AFF4-1536EA0FC370}" srcOrd="0" destOrd="0" presId="urn:microsoft.com/office/officeart/2005/8/layout/hList2"/>
    <dgm:cxn modelId="{FCEA8555-3F15-4017-B5F0-4A031C292DE9}" srcId="{8931E14E-88E5-45B2-832C-E34A9516EDF5}" destId="{0087CF24-1230-4BCB-81DC-73D9E1039FC7}" srcOrd="1" destOrd="0" parTransId="{0BE8F778-6A44-4F86-8B67-6744661BEF4A}" sibTransId="{CE3B0443-E483-439D-B19E-037AD4209644}"/>
    <dgm:cxn modelId="{E6C79477-E113-4AA8-AC5C-10CD6ABB9DAB}" type="presOf" srcId="{26023F9D-B2C0-4234-8CEC-D24BCF519A90}" destId="{41D2AAD7-097E-451E-A7FC-5CC4127E766D}" srcOrd="0" destOrd="2" presId="urn:microsoft.com/office/officeart/2005/8/layout/hList2"/>
    <dgm:cxn modelId="{0D5E1A7F-CAB2-40E9-9AAD-0131285D4E47}" srcId="{A1159068-0FE6-4503-9700-3E2DB33FC9B4}" destId="{95798E9C-090F-436E-9F7C-867C9825B613}" srcOrd="1" destOrd="0" parTransId="{25BEC79A-6A7F-4225-B244-6018992C4CDA}" sibTransId="{73AA8767-C2F8-4976-A19E-41AE4CA6D4A6}"/>
    <dgm:cxn modelId="{18153E7F-A758-4B44-9FE7-BAA73CCC170D}" srcId="{E5A8BD98-C588-4B4D-BEE8-6E4CED87AA49}" destId="{8931E14E-88E5-45B2-832C-E34A9516EDF5}" srcOrd="0" destOrd="0" parTransId="{34089966-1C49-4AD5-ABAC-4CB5C95EDD3C}" sibTransId="{AC668A05-14C3-4EC2-B92D-94435376EC28}"/>
    <dgm:cxn modelId="{73428D92-A510-4421-8687-90C5BC661567}" srcId="{F9F02DBD-3283-4283-B29B-7B1396D280C3}" destId="{4002F694-4A2B-4690-B897-3D870FEF25B7}" srcOrd="2" destOrd="0" parTransId="{00A92F1F-0F9A-45B1-8E4B-ECC9633310DD}" sibTransId="{B4A1F68E-2EC1-4264-A329-E038B11B13A1}"/>
    <dgm:cxn modelId="{79DFCC96-7D38-46E8-A84D-5C52CF205CF6}" type="presOf" srcId="{C32E36B3-06B9-4F6A-B97F-1CF0ABEB6642}" destId="{41D2AAD7-097E-451E-A7FC-5CC4127E766D}" srcOrd="0" destOrd="0" presId="urn:microsoft.com/office/officeart/2005/8/layout/hList2"/>
    <dgm:cxn modelId="{0C33859C-B9D7-400C-811F-723B61ABD9DB}" srcId="{E5A8BD98-C588-4B4D-BEE8-6E4CED87AA49}" destId="{F9F02DBD-3283-4283-B29B-7B1396D280C3}" srcOrd="1" destOrd="0" parTransId="{8DAE545F-D076-4E16-B06C-29F474EEAB3E}" sibTransId="{FDC39312-9864-4959-8975-0FD235DE3F31}"/>
    <dgm:cxn modelId="{CB149A9E-99AC-4ED9-9C08-7154292DD3EF}" srcId="{A1159068-0FE6-4503-9700-3E2DB33FC9B4}" destId="{C32E36B3-06B9-4F6A-B97F-1CF0ABEB6642}" srcOrd="0" destOrd="0" parTransId="{96461937-4062-4652-9F80-9F240240382A}" sibTransId="{8A762F4D-839B-4CFE-9716-48214E705E29}"/>
    <dgm:cxn modelId="{E1EE3DC1-36A1-43CE-A47E-D16D5334B013}" type="presOf" srcId="{0087CF24-1230-4BCB-81DC-73D9E1039FC7}" destId="{7210D373-0F57-43C0-AFF4-1536EA0FC370}" srcOrd="0" destOrd="1" presId="urn:microsoft.com/office/officeart/2005/8/layout/hList2"/>
    <dgm:cxn modelId="{50539FC8-F24E-4270-940B-950A66BBDD89}" srcId="{F9F02DBD-3283-4283-B29B-7B1396D280C3}" destId="{6664CEC1-62C5-470D-A1AC-7BD4BC2624CB}" srcOrd="1" destOrd="0" parTransId="{7A283218-9267-48DF-AF26-CF29487C0784}" sibTransId="{6FB81B02-DE1F-4D02-95D1-02659B91B3CB}"/>
    <dgm:cxn modelId="{678D6ED2-558C-4AEE-B84F-570A9D7B110C}" type="presOf" srcId="{4002F694-4A2B-4690-B897-3D870FEF25B7}" destId="{35128DED-17E6-48A8-9018-181BFCB088F7}" srcOrd="0" destOrd="2" presId="urn:microsoft.com/office/officeart/2005/8/layout/hList2"/>
    <dgm:cxn modelId="{FF3976DB-6DE1-4473-A474-B4C2C595F893}" type="presOf" srcId="{F9F02DBD-3283-4283-B29B-7B1396D280C3}" destId="{3C7C5795-8B85-420F-BA5A-9433529A240F}" srcOrd="0" destOrd="0" presId="urn:microsoft.com/office/officeart/2005/8/layout/hList2"/>
    <dgm:cxn modelId="{7F384FDE-72C7-4DCD-AF8C-2AF6442DAE95}" type="presOf" srcId="{A07994E6-11E4-48E4-A730-EB80FBC6A1BC}" destId="{7210D373-0F57-43C0-AFF4-1536EA0FC370}" srcOrd="0" destOrd="3" presId="urn:microsoft.com/office/officeart/2005/8/layout/hList2"/>
    <dgm:cxn modelId="{43E2EBE2-C56E-4D3B-B682-03C3E7AEFD36}" type="presOf" srcId="{95798E9C-090F-436E-9F7C-867C9825B613}" destId="{41D2AAD7-097E-451E-A7FC-5CC4127E766D}" srcOrd="0" destOrd="1" presId="urn:microsoft.com/office/officeart/2005/8/layout/hList2"/>
    <dgm:cxn modelId="{7B6972E4-624B-4B02-ADEB-3D2573551547}" srcId="{A1159068-0FE6-4503-9700-3E2DB33FC9B4}" destId="{26023F9D-B2C0-4234-8CEC-D24BCF519A90}" srcOrd="2" destOrd="0" parTransId="{4E1BE1B3-8733-4263-8A68-9721A7482F33}" sibTransId="{D0484F9F-EB19-4D31-B62E-1644E24A136A}"/>
    <dgm:cxn modelId="{4C036FF1-3812-497D-A32F-94E79E997E80}" type="presOf" srcId="{6840967C-9B8C-4ECD-8F6C-4231B2E83D4E}" destId="{35128DED-17E6-48A8-9018-181BFCB088F7}" srcOrd="0" destOrd="0" presId="urn:microsoft.com/office/officeart/2005/8/layout/hList2"/>
    <dgm:cxn modelId="{E2681C15-18A0-4416-8553-EE99B32816F7}" type="presParOf" srcId="{B68D998B-296D-4EE7-8BF8-3BAF6037AA2B}" destId="{6B81D97C-69D0-4DCC-A37D-A3E066BD5CFB}" srcOrd="0" destOrd="0" presId="urn:microsoft.com/office/officeart/2005/8/layout/hList2"/>
    <dgm:cxn modelId="{592B5EF0-BB03-4F25-9B92-E9C035C2E02C}" type="presParOf" srcId="{6B81D97C-69D0-4DCC-A37D-A3E066BD5CFB}" destId="{3F25EA00-EB7F-4A57-88E9-B0F708E367FC}" srcOrd="0" destOrd="0" presId="urn:microsoft.com/office/officeart/2005/8/layout/hList2"/>
    <dgm:cxn modelId="{DAA24972-CF2A-4F1D-92E6-06B6ECBA15A3}" type="presParOf" srcId="{6B81D97C-69D0-4DCC-A37D-A3E066BD5CFB}" destId="{7210D373-0F57-43C0-AFF4-1536EA0FC370}" srcOrd="1" destOrd="0" presId="urn:microsoft.com/office/officeart/2005/8/layout/hList2"/>
    <dgm:cxn modelId="{34FA2FD7-5535-4393-9199-030E12270240}" type="presParOf" srcId="{6B81D97C-69D0-4DCC-A37D-A3E066BD5CFB}" destId="{9DE145E1-2B28-45AD-8962-7A40A7AEB20D}" srcOrd="2" destOrd="0" presId="urn:microsoft.com/office/officeart/2005/8/layout/hList2"/>
    <dgm:cxn modelId="{08CE057F-E33F-48D9-A8A9-22E879B1680E}" type="presParOf" srcId="{B68D998B-296D-4EE7-8BF8-3BAF6037AA2B}" destId="{A89FF685-E7F2-416E-AF8B-D143B12F11B4}" srcOrd="1" destOrd="0" presId="urn:microsoft.com/office/officeart/2005/8/layout/hList2"/>
    <dgm:cxn modelId="{EE7E2040-63EA-4D79-88D3-34B1CEA56D87}" type="presParOf" srcId="{B68D998B-296D-4EE7-8BF8-3BAF6037AA2B}" destId="{E4840DF5-8177-48BB-9AC4-495FCF13E3B9}" srcOrd="2" destOrd="0" presId="urn:microsoft.com/office/officeart/2005/8/layout/hList2"/>
    <dgm:cxn modelId="{E24291C8-8C70-40F2-B174-A1ED632ABFE9}" type="presParOf" srcId="{E4840DF5-8177-48BB-9AC4-495FCF13E3B9}" destId="{76E4971B-BCD5-4071-A1FD-D69A9521D77B}" srcOrd="0" destOrd="0" presId="urn:microsoft.com/office/officeart/2005/8/layout/hList2"/>
    <dgm:cxn modelId="{54380B43-8373-4387-9A05-F3502970DDF9}" type="presParOf" srcId="{E4840DF5-8177-48BB-9AC4-495FCF13E3B9}" destId="{35128DED-17E6-48A8-9018-181BFCB088F7}" srcOrd="1" destOrd="0" presId="urn:microsoft.com/office/officeart/2005/8/layout/hList2"/>
    <dgm:cxn modelId="{36E15F18-2579-4719-A309-152EE97207B5}" type="presParOf" srcId="{E4840DF5-8177-48BB-9AC4-495FCF13E3B9}" destId="{3C7C5795-8B85-420F-BA5A-9433529A240F}" srcOrd="2" destOrd="0" presId="urn:microsoft.com/office/officeart/2005/8/layout/hList2"/>
    <dgm:cxn modelId="{252C38DB-949F-4601-AFD0-75AAE7A3ADE4}" type="presParOf" srcId="{B68D998B-296D-4EE7-8BF8-3BAF6037AA2B}" destId="{85CD59E7-A6F0-4DAF-8156-5450C428A89C}" srcOrd="3" destOrd="0" presId="urn:microsoft.com/office/officeart/2005/8/layout/hList2"/>
    <dgm:cxn modelId="{ECFFD75E-615B-4EF8-816F-AE379601334D}" type="presParOf" srcId="{B68D998B-296D-4EE7-8BF8-3BAF6037AA2B}" destId="{39EC38C6-C1B3-4B59-AF7A-C422BCCF37D6}" srcOrd="4" destOrd="0" presId="urn:microsoft.com/office/officeart/2005/8/layout/hList2"/>
    <dgm:cxn modelId="{E12ED5E1-E600-41C2-88FF-4F65457E4794}" type="presParOf" srcId="{39EC38C6-C1B3-4B59-AF7A-C422BCCF37D6}" destId="{BDA45926-D13B-41A5-89BD-8309C7CE89CE}" srcOrd="0" destOrd="0" presId="urn:microsoft.com/office/officeart/2005/8/layout/hList2"/>
    <dgm:cxn modelId="{5E6FE361-61FB-41E9-BC76-06170E2BDAA9}" type="presParOf" srcId="{39EC38C6-C1B3-4B59-AF7A-C422BCCF37D6}" destId="{41D2AAD7-097E-451E-A7FC-5CC4127E766D}" srcOrd="1" destOrd="0" presId="urn:microsoft.com/office/officeart/2005/8/layout/hList2"/>
    <dgm:cxn modelId="{3B851F81-3856-418A-A223-7E20DF4ACDB9}" type="presParOf" srcId="{39EC38C6-C1B3-4B59-AF7A-C422BCCF37D6}" destId="{C9C1636F-DD18-4C4B-B3B0-0F254EDFEAB7}" srcOrd="2" destOrd="0" presId="urn:microsoft.com/office/officeart/2005/8/layout/hList2"/>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00447FAE-6D98-4D70-B4F7-9E6D5F8E24C1}" type="doc">
      <dgm:prSet loTypeId="urn:microsoft.com/office/officeart/2005/8/layout/chevronAccent+Icon" loCatId="process" qsTypeId="urn:microsoft.com/office/officeart/2005/8/quickstyle/simple1" qsCatId="simple" csTypeId="urn:microsoft.com/office/officeart/2005/8/colors/accent1_2" csCatId="accent1" phldr="1"/>
      <dgm:spPr/>
    </dgm:pt>
    <dgm:pt modelId="{798286A5-5146-49A9-A4A1-E87D7717792A}">
      <dgm:prSet phldrT="[Text]" custT="1"/>
      <dgm:spPr/>
      <dgm:t>
        <a:bodyPr/>
        <a:lstStyle/>
        <a:p>
          <a:r>
            <a:rPr lang="en-US" sz="1400" dirty="0">
              <a:solidFill>
                <a:schemeClr val="tx1"/>
              </a:solidFill>
              <a:latin typeface="Times New Roman" panose="02020603050405020304" pitchFamily="18" charset="0"/>
              <a:ea typeface="Montserrat"/>
              <a:cs typeface="Times New Roman" panose="02020603050405020304" pitchFamily="18" charset="0"/>
              <a:sym typeface="Montserrat"/>
            </a:rPr>
            <a:t>Oddo BHF (equity research), recently cut its expectation of BAM to Underperform, from a previous stance of neutral, arguing the stock was pricing in too much margin optimism. </a:t>
          </a:r>
          <a:endParaRPr lang="en-GB" sz="1400" dirty="0">
            <a:solidFill>
              <a:schemeClr val="tx1"/>
            </a:solidFill>
            <a:latin typeface="Times New Roman" panose="02020603050405020304" pitchFamily="18" charset="0"/>
            <a:cs typeface="Times New Roman" panose="02020603050405020304" pitchFamily="18" charset="0"/>
          </a:endParaRPr>
        </a:p>
      </dgm:t>
    </dgm:pt>
    <dgm:pt modelId="{EB497E1F-6D8A-4587-A639-DC1DD7A956FB}" type="parTrans" cxnId="{8F6A7E8A-4801-495D-839A-025AB02A3743}">
      <dgm:prSet/>
      <dgm:spPr/>
      <dgm:t>
        <a:bodyPr/>
        <a:lstStyle/>
        <a:p>
          <a:endParaRPr lang="en-GB" sz="2000">
            <a:latin typeface="Times New Roman" panose="02020603050405020304" pitchFamily="18" charset="0"/>
            <a:cs typeface="Times New Roman" panose="02020603050405020304" pitchFamily="18" charset="0"/>
          </a:endParaRPr>
        </a:p>
      </dgm:t>
    </dgm:pt>
    <dgm:pt modelId="{D6837755-D2AC-4C0A-91EA-37E177185122}" type="sibTrans" cxnId="{8F6A7E8A-4801-495D-839A-025AB02A3743}">
      <dgm:prSet/>
      <dgm:spPr/>
      <dgm:t>
        <a:bodyPr/>
        <a:lstStyle/>
        <a:p>
          <a:endParaRPr lang="en-GB" sz="2000">
            <a:latin typeface="Times New Roman" panose="02020603050405020304" pitchFamily="18" charset="0"/>
            <a:cs typeface="Times New Roman" panose="02020603050405020304" pitchFamily="18" charset="0"/>
          </a:endParaRPr>
        </a:p>
      </dgm:t>
    </dgm:pt>
    <dgm:pt modelId="{6C580ED9-469C-4306-930F-524240A4B784}">
      <dgm:prSet phldrT="[Text]" custT="1"/>
      <dgm:spPr/>
      <dgm:t>
        <a:bodyPr/>
        <a:lstStyle/>
        <a:p>
          <a:r>
            <a:rPr lang="en-GB" sz="1400" dirty="0">
              <a:solidFill>
                <a:schemeClr val="tx1"/>
              </a:solidFill>
              <a:latin typeface="Times New Roman" panose="02020603050405020304" pitchFamily="18" charset="0"/>
              <a:cs typeface="Times New Roman" panose="02020603050405020304" pitchFamily="18" charset="0"/>
            </a:rPr>
            <a:t>BAM has already proven it can operate consistently at the 5% margin. Order book steady at €13bn with visible public pipelines.</a:t>
          </a:r>
        </a:p>
      </dgm:t>
    </dgm:pt>
    <dgm:pt modelId="{52FBD83B-0478-44EC-B300-B0652E4792C0}" type="parTrans" cxnId="{28D11069-4343-47E0-882D-5ED2BEA4653A}">
      <dgm:prSet/>
      <dgm:spPr/>
      <dgm:t>
        <a:bodyPr/>
        <a:lstStyle/>
        <a:p>
          <a:endParaRPr lang="en-GB" sz="2000">
            <a:latin typeface="Times New Roman" panose="02020603050405020304" pitchFamily="18" charset="0"/>
            <a:cs typeface="Times New Roman" panose="02020603050405020304" pitchFamily="18" charset="0"/>
          </a:endParaRPr>
        </a:p>
      </dgm:t>
    </dgm:pt>
    <dgm:pt modelId="{436F7B75-6214-4CEB-B003-44BB531890E7}" type="sibTrans" cxnId="{28D11069-4343-47E0-882D-5ED2BEA4653A}">
      <dgm:prSet/>
      <dgm:spPr/>
      <dgm:t>
        <a:bodyPr/>
        <a:lstStyle/>
        <a:p>
          <a:endParaRPr lang="en-GB" sz="2000">
            <a:latin typeface="Times New Roman" panose="02020603050405020304" pitchFamily="18" charset="0"/>
            <a:cs typeface="Times New Roman" panose="02020603050405020304" pitchFamily="18" charset="0"/>
          </a:endParaRPr>
        </a:p>
      </dgm:t>
    </dgm:pt>
    <dgm:pt modelId="{CE2E37A2-BD1A-43EF-A6F1-2703DE709C78}">
      <dgm:prSet phldrT="[Text]" custT="1"/>
      <dgm:spPr/>
      <dgm:t>
        <a:bodyPr/>
        <a:lstStyle/>
        <a:p>
          <a:r>
            <a:rPr lang="en-GB" sz="1400" dirty="0">
              <a:solidFill>
                <a:schemeClr val="tx1"/>
              </a:solidFill>
              <a:latin typeface="Times New Roman" panose="02020603050405020304" pitchFamily="18" charset="0"/>
              <a:cs typeface="Times New Roman" panose="02020603050405020304" pitchFamily="18" charset="0"/>
            </a:rPr>
            <a:t>We believe that BAM’s 5% margin is sustainable and not cyclical. The recent derating overstates legacy risk, and ongoing returns should unlock a rerate</a:t>
          </a:r>
        </a:p>
      </dgm:t>
    </dgm:pt>
    <dgm:pt modelId="{BF22DE57-A16F-4FCE-9DC8-961409E627BA}" type="parTrans" cxnId="{092ED1FD-BB93-4104-9F4D-D2341B3C7F18}">
      <dgm:prSet/>
      <dgm:spPr/>
      <dgm:t>
        <a:bodyPr/>
        <a:lstStyle/>
        <a:p>
          <a:endParaRPr lang="en-GB" sz="2000">
            <a:latin typeface="Times New Roman" panose="02020603050405020304" pitchFamily="18" charset="0"/>
            <a:cs typeface="Times New Roman" panose="02020603050405020304" pitchFamily="18" charset="0"/>
          </a:endParaRPr>
        </a:p>
      </dgm:t>
    </dgm:pt>
    <dgm:pt modelId="{C3E655B7-10FD-4ED7-978C-886FEAF73FB2}" type="sibTrans" cxnId="{092ED1FD-BB93-4104-9F4D-D2341B3C7F18}">
      <dgm:prSet/>
      <dgm:spPr/>
      <dgm:t>
        <a:bodyPr/>
        <a:lstStyle/>
        <a:p>
          <a:endParaRPr lang="en-GB" sz="2000">
            <a:latin typeface="Times New Roman" panose="02020603050405020304" pitchFamily="18" charset="0"/>
            <a:cs typeface="Times New Roman" panose="02020603050405020304" pitchFamily="18" charset="0"/>
          </a:endParaRPr>
        </a:p>
      </dgm:t>
    </dgm:pt>
    <dgm:pt modelId="{A1B929B2-91EE-4310-BB99-CB1A7ED787C4}" type="pres">
      <dgm:prSet presAssocID="{00447FAE-6D98-4D70-B4F7-9E6D5F8E24C1}" presName="Name0" presStyleCnt="0">
        <dgm:presLayoutVars>
          <dgm:dir/>
          <dgm:resizeHandles val="exact"/>
        </dgm:presLayoutVars>
      </dgm:prSet>
      <dgm:spPr/>
    </dgm:pt>
    <dgm:pt modelId="{3B0AEFBB-5AF2-408E-9DA2-81FE4F9E8539}" type="pres">
      <dgm:prSet presAssocID="{798286A5-5146-49A9-A4A1-E87D7717792A}" presName="composite" presStyleCnt="0"/>
      <dgm:spPr/>
    </dgm:pt>
    <dgm:pt modelId="{98EF51FA-DBD6-492C-9341-C594ACE93700}" type="pres">
      <dgm:prSet presAssocID="{798286A5-5146-49A9-A4A1-E87D7717792A}" presName="bgChev" presStyleLbl="node1" presStyleIdx="0" presStyleCnt="3"/>
      <dgm:spPr>
        <a:solidFill>
          <a:schemeClr val="tx2"/>
        </a:solidFill>
      </dgm:spPr>
    </dgm:pt>
    <dgm:pt modelId="{F7BB4BA7-89A8-40CE-9BCC-29130118B5F2}" type="pres">
      <dgm:prSet presAssocID="{798286A5-5146-49A9-A4A1-E87D7717792A}" presName="txNode" presStyleLbl="fgAcc1" presStyleIdx="0" presStyleCnt="3" custScaleY="133293">
        <dgm:presLayoutVars>
          <dgm:bulletEnabled val="1"/>
        </dgm:presLayoutVars>
      </dgm:prSet>
      <dgm:spPr/>
    </dgm:pt>
    <dgm:pt modelId="{0B426B5B-C426-4DD1-80F0-2BB2309DF57E}" type="pres">
      <dgm:prSet presAssocID="{D6837755-D2AC-4C0A-91EA-37E177185122}" presName="compositeSpace" presStyleCnt="0"/>
      <dgm:spPr/>
    </dgm:pt>
    <dgm:pt modelId="{58DCE2BA-2CB5-4A7F-A886-54C1A26E5020}" type="pres">
      <dgm:prSet presAssocID="{6C580ED9-469C-4306-930F-524240A4B784}" presName="composite" presStyleCnt="0"/>
      <dgm:spPr/>
    </dgm:pt>
    <dgm:pt modelId="{0F821638-0FE4-4C86-9199-F0ADDF90A245}" type="pres">
      <dgm:prSet presAssocID="{6C580ED9-469C-4306-930F-524240A4B784}" presName="bgChev" presStyleLbl="node1" presStyleIdx="1" presStyleCnt="3"/>
      <dgm:spPr>
        <a:solidFill>
          <a:schemeClr val="tx2"/>
        </a:solidFill>
      </dgm:spPr>
    </dgm:pt>
    <dgm:pt modelId="{3AB9F9CB-47D7-4B06-87E5-3301518D69C5}" type="pres">
      <dgm:prSet presAssocID="{6C580ED9-469C-4306-930F-524240A4B784}" presName="txNode" presStyleLbl="fgAcc1" presStyleIdx="1" presStyleCnt="3" custScaleY="138231">
        <dgm:presLayoutVars>
          <dgm:bulletEnabled val="1"/>
        </dgm:presLayoutVars>
      </dgm:prSet>
      <dgm:spPr/>
    </dgm:pt>
    <dgm:pt modelId="{7306051C-2F0F-4AE5-B1A9-5A50234ACB6B}" type="pres">
      <dgm:prSet presAssocID="{436F7B75-6214-4CEB-B003-44BB531890E7}" presName="compositeSpace" presStyleCnt="0"/>
      <dgm:spPr/>
    </dgm:pt>
    <dgm:pt modelId="{FCAF7BCD-1928-4AD6-B3ED-59E3CB95A718}" type="pres">
      <dgm:prSet presAssocID="{CE2E37A2-BD1A-43EF-A6F1-2703DE709C78}" presName="composite" presStyleCnt="0"/>
      <dgm:spPr/>
    </dgm:pt>
    <dgm:pt modelId="{C3578E21-E0B0-4233-A359-8CAFEC52D42E}" type="pres">
      <dgm:prSet presAssocID="{CE2E37A2-BD1A-43EF-A6F1-2703DE709C78}" presName="bgChev" presStyleLbl="node1" presStyleIdx="2" presStyleCnt="3"/>
      <dgm:spPr>
        <a:prstGeom prst="flowChartProcess">
          <a:avLst/>
        </a:prstGeom>
        <a:solidFill>
          <a:schemeClr val="tx2"/>
        </a:solidFill>
      </dgm:spPr>
    </dgm:pt>
    <dgm:pt modelId="{94650D09-9E62-4632-8A76-462BEDD1DF89}" type="pres">
      <dgm:prSet presAssocID="{CE2E37A2-BD1A-43EF-A6F1-2703DE709C78}" presName="txNode" presStyleLbl="fgAcc1" presStyleIdx="2" presStyleCnt="3" custScaleY="133293">
        <dgm:presLayoutVars>
          <dgm:bulletEnabled val="1"/>
        </dgm:presLayoutVars>
      </dgm:prSet>
      <dgm:spPr/>
    </dgm:pt>
  </dgm:ptLst>
  <dgm:cxnLst>
    <dgm:cxn modelId="{21A7D55A-7866-4F76-9D14-B1E8EEEB6A42}" type="presOf" srcId="{CE2E37A2-BD1A-43EF-A6F1-2703DE709C78}" destId="{94650D09-9E62-4632-8A76-462BEDD1DF89}" srcOrd="0" destOrd="0" presId="urn:microsoft.com/office/officeart/2005/8/layout/chevronAccent+Icon"/>
    <dgm:cxn modelId="{28D11069-4343-47E0-882D-5ED2BEA4653A}" srcId="{00447FAE-6D98-4D70-B4F7-9E6D5F8E24C1}" destId="{6C580ED9-469C-4306-930F-524240A4B784}" srcOrd="1" destOrd="0" parTransId="{52FBD83B-0478-44EC-B300-B0652E4792C0}" sibTransId="{436F7B75-6214-4CEB-B003-44BB531890E7}"/>
    <dgm:cxn modelId="{8F6A7E8A-4801-495D-839A-025AB02A3743}" srcId="{00447FAE-6D98-4D70-B4F7-9E6D5F8E24C1}" destId="{798286A5-5146-49A9-A4A1-E87D7717792A}" srcOrd="0" destOrd="0" parTransId="{EB497E1F-6D8A-4587-A639-DC1DD7A956FB}" sibTransId="{D6837755-D2AC-4C0A-91EA-37E177185122}"/>
    <dgm:cxn modelId="{4A5C8491-89EC-4AFA-8475-0F741CB931D6}" type="presOf" srcId="{798286A5-5146-49A9-A4A1-E87D7717792A}" destId="{F7BB4BA7-89A8-40CE-9BCC-29130118B5F2}" srcOrd="0" destOrd="0" presId="urn:microsoft.com/office/officeart/2005/8/layout/chevronAccent+Icon"/>
    <dgm:cxn modelId="{4A15BE9C-B6F6-4739-BDAD-E509E70D4348}" type="presOf" srcId="{00447FAE-6D98-4D70-B4F7-9E6D5F8E24C1}" destId="{A1B929B2-91EE-4310-BB99-CB1A7ED787C4}" srcOrd="0" destOrd="0" presId="urn:microsoft.com/office/officeart/2005/8/layout/chevronAccent+Icon"/>
    <dgm:cxn modelId="{0992C6C3-BC86-4BB2-B9D1-90343FF080A7}" type="presOf" srcId="{6C580ED9-469C-4306-930F-524240A4B784}" destId="{3AB9F9CB-47D7-4B06-87E5-3301518D69C5}" srcOrd="0" destOrd="0" presId="urn:microsoft.com/office/officeart/2005/8/layout/chevronAccent+Icon"/>
    <dgm:cxn modelId="{092ED1FD-BB93-4104-9F4D-D2341B3C7F18}" srcId="{00447FAE-6D98-4D70-B4F7-9E6D5F8E24C1}" destId="{CE2E37A2-BD1A-43EF-A6F1-2703DE709C78}" srcOrd="2" destOrd="0" parTransId="{BF22DE57-A16F-4FCE-9DC8-961409E627BA}" sibTransId="{C3E655B7-10FD-4ED7-978C-886FEAF73FB2}"/>
    <dgm:cxn modelId="{01252EB1-A11E-403D-A019-3FDD7F4F1DBA}" type="presParOf" srcId="{A1B929B2-91EE-4310-BB99-CB1A7ED787C4}" destId="{3B0AEFBB-5AF2-408E-9DA2-81FE4F9E8539}" srcOrd="0" destOrd="0" presId="urn:microsoft.com/office/officeart/2005/8/layout/chevronAccent+Icon"/>
    <dgm:cxn modelId="{65BC3C60-F99E-4C49-99D1-15C5C363AD10}" type="presParOf" srcId="{3B0AEFBB-5AF2-408E-9DA2-81FE4F9E8539}" destId="{98EF51FA-DBD6-492C-9341-C594ACE93700}" srcOrd="0" destOrd="0" presId="urn:microsoft.com/office/officeart/2005/8/layout/chevronAccent+Icon"/>
    <dgm:cxn modelId="{A7A2AB4D-E82F-41B7-95E2-F2F693014B6D}" type="presParOf" srcId="{3B0AEFBB-5AF2-408E-9DA2-81FE4F9E8539}" destId="{F7BB4BA7-89A8-40CE-9BCC-29130118B5F2}" srcOrd="1" destOrd="0" presId="urn:microsoft.com/office/officeart/2005/8/layout/chevronAccent+Icon"/>
    <dgm:cxn modelId="{ABED5F6B-598D-45EE-88FE-C891EBA5A22B}" type="presParOf" srcId="{A1B929B2-91EE-4310-BB99-CB1A7ED787C4}" destId="{0B426B5B-C426-4DD1-80F0-2BB2309DF57E}" srcOrd="1" destOrd="0" presId="urn:microsoft.com/office/officeart/2005/8/layout/chevronAccent+Icon"/>
    <dgm:cxn modelId="{88F72F3C-9FF8-4003-8E36-2955455C23B7}" type="presParOf" srcId="{A1B929B2-91EE-4310-BB99-CB1A7ED787C4}" destId="{58DCE2BA-2CB5-4A7F-A886-54C1A26E5020}" srcOrd="2" destOrd="0" presId="urn:microsoft.com/office/officeart/2005/8/layout/chevronAccent+Icon"/>
    <dgm:cxn modelId="{72DBD789-2E5A-413A-B119-346A846B852C}" type="presParOf" srcId="{58DCE2BA-2CB5-4A7F-A886-54C1A26E5020}" destId="{0F821638-0FE4-4C86-9199-F0ADDF90A245}" srcOrd="0" destOrd="0" presId="urn:microsoft.com/office/officeart/2005/8/layout/chevronAccent+Icon"/>
    <dgm:cxn modelId="{B30A72EE-3DB8-4070-8663-3429373F86F6}" type="presParOf" srcId="{58DCE2BA-2CB5-4A7F-A886-54C1A26E5020}" destId="{3AB9F9CB-47D7-4B06-87E5-3301518D69C5}" srcOrd="1" destOrd="0" presId="urn:microsoft.com/office/officeart/2005/8/layout/chevronAccent+Icon"/>
    <dgm:cxn modelId="{8B3E8E1F-2621-494D-9342-68E20224F1B2}" type="presParOf" srcId="{A1B929B2-91EE-4310-BB99-CB1A7ED787C4}" destId="{7306051C-2F0F-4AE5-B1A9-5A50234ACB6B}" srcOrd="3" destOrd="0" presId="urn:microsoft.com/office/officeart/2005/8/layout/chevronAccent+Icon"/>
    <dgm:cxn modelId="{4E0C7801-046D-4A4B-8940-9C1EAF91B458}" type="presParOf" srcId="{A1B929B2-91EE-4310-BB99-CB1A7ED787C4}" destId="{FCAF7BCD-1928-4AD6-B3ED-59E3CB95A718}" srcOrd="4" destOrd="0" presId="urn:microsoft.com/office/officeart/2005/8/layout/chevronAccent+Icon"/>
    <dgm:cxn modelId="{525DC4CB-AB7B-4B50-B2E1-DB1DB5B27334}" type="presParOf" srcId="{FCAF7BCD-1928-4AD6-B3ED-59E3CB95A718}" destId="{C3578E21-E0B0-4233-A359-8CAFEC52D42E}" srcOrd="0" destOrd="0" presId="urn:microsoft.com/office/officeart/2005/8/layout/chevronAccent+Icon"/>
    <dgm:cxn modelId="{B1850A46-B0BA-40B5-AE58-573D6C4FE0FC}" type="presParOf" srcId="{FCAF7BCD-1928-4AD6-B3ED-59E3CB95A718}" destId="{94650D09-9E62-4632-8A76-462BEDD1DF89}" srcOrd="1" destOrd="0" presId="urn:microsoft.com/office/officeart/2005/8/layout/chevronAccent+Icon"/>
  </dgm:cxnLst>
  <dgm:bg>
    <a:noFill/>
  </dgm:bg>
  <dgm:whole/>
  <dgm:extLst>
    <a:ext uri="http://schemas.microsoft.com/office/drawing/2008/diagram">
      <dsp:dataModelExt xmlns:dsp="http://schemas.microsoft.com/office/drawing/2008/diagram" relId="rId19"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7CCC50A1-0B68-4A25-BA1F-B668CE56F59C}" type="doc">
      <dgm:prSet loTypeId="urn:microsoft.com/office/officeart/2005/8/layout/vList4" loCatId="list" qsTypeId="urn:microsoft.com/office/officeart/2005/8/quickstyle/simple1" qsCatId="simple" csTypeId="urn:microsoft.com/office/officeart/2005/8/colors/accent0_3" csCatId="mainScheme" phldr="1"/>
      <dgm:spPr/>
      <dgm:t>
        <a:bodyPr/>
        <a:lstStyle/>
        <a:p>
          <a:endParaRPr lang="en-GB"/>
        </a:p>
      </dgm:t>
    </dgm:pt>
    <dgm:pt modelId="{3F65B753-3C3A-4828-91B9-2F1F1CE0B037}">
      <dgm:prSet phldrT="[Text]"/>
      <dgm:spPr/>
      <dgm:t>
        <a:bodyPr/>
        <a:lstStyle/>
        <a:p>
          <a:r>
            <a:rPr lang="en-GB" sz="1600" b="1">
              <a:latin typeface="Times New Roman" panose="02020603050405020304" pitchFamily="18" charset="0"/>
              <a:cs typeface="Times New Roman" panose="02020603050405020304" pitchFamily="18" charset="0"/>
            </a:rPr>
            <a:t>Bull Case – </a:t>
          </a:r>
          <a:r>
            <a:rPr lang="en-GB" sz="1600" b="1" i="1">
              <a:latin typeface="Times New Roman" panose="02020603050405020304" pitchFamily="18" charset="0"/>
              <a:cs typeface="Times New Roman" panose="02020603050405020304" pitchFamily="18" charset="0"/>
            </a:rPr>
            <a:t>Upside from Execution</a:t>
          </a:r>
        </a:p>
      </dgm:t>
    </dgm:pt>
    <dgm:pt modelId="{6078AEFF-1525-4E34-A85B-BDFB0F555E8D}" type="parTrans" cxnId="{A5B3BBE7-0EE1-49C5-A8F1-D83B58732BED}">
      <dgm:prSet/>
      <dgm:spPr/>
      <dgm:t>
        <a:bodyPr/>
        <a:lstStyle/>
        <a:p>
          <a:endParaRPr lang="en-GB">
            <a:latin typeface="Times New Roman" panose="02020603050405020304" pitchFamily="18" charset="0"/>
            <a:cs typeface="Times New Roman" panose="02020603050405020304" pitchFamily="18" charset="0"/>
          </a:endParaRPr>
        </a:p>
      </dgm:t>
    </dgm:pt>
    <dgm:pt modelId="{073FD045-7139-4FFA-BFC3-CF795E7E59B4}" type="sibTrans" cxnId="{A5B3BBE7-0EE1-49C5-A8F1-D83B58732BED}">
      <dgm:prSet/>
      <dgm:spPr/>
      <dgm:t>
        <a:bodyPr/>
        <a:lstStyle/>
        <a:p>
          <a:endParaRPr lang="en-GB">
            <a:latin typeface="Times New Roman" panose="02020603050405020304" pitchFamily="18" charset="0"/>
            <a:cs typeface="Times New Roman" panose="02020603050405020304" pitchFamily="18" charset="0"/>
          </a:endParaRPr>
        </a:p>
      </dgm:t>
    </dgm:pt>
    <dgm:pt modelId="{A1553DF8-1CBB-46B0-9810-403A0AAA22FA}">
      <dgm:prSet phldrT="[Text]" custT="1"/>
      <dgm:spPr/>
      <dgm:t>
        <a:bodyPr/>
        <a:lstStyle/>
        <a:p>
          <a:r>
            <a:rPr lang="en-GB" sz="1250">
              <a:latin typeface="Times New Roman" panose="02020603050405020304" pitchFamily="18" charset="0"/>
              <a:cs typeface="Times New Roman" panose="02020603050405020304" pitchFamily="18" charset="0"/>
            </a:rPr>
            <a:t>EBIT margin +50bps from selective tendering</a:t>
          </a:r>
        </a:p>
      </dgm:t>
    </dgm:pt>
    <dgm:pt modelId="{04C52170-0471-4F37-9FB2-D68CBF957538}" type="parTrans" cxnId="{D2BD1F39-7973-4E0E-A375-AAC1ABA3F5FA}">
      <dgm:prSet/>
      <dgm:spPr/>
      <dgm:t>
        <a:bodyPr/>
        <a:lstStyle/>
        <a:p>
          <a:endParaRPr lang="en-GB">
            <a:latin typeface="Times New Roman" panose="02020603050405020304" pitchFamily="18" charset="0"/>
            <a:cs typeface="Times New Roman" panose="02020603050405020304" pitchFamily="18" charset="0"/>
          </a:endParaRPr>
        </a:p>
      </dgm:t>
    </dgm:pt>
    <dgm:pt modelId="{24BE2458-CBA1-461B-AA3D-D66D457C1EA9}" type="sibTrans" cxnId="{D2BD1F39-7973-4E0E-A375-AAC1ABA3F5FA}">
      <dgm:prSet/>
      <dgm:spPr/>
      <dgm:t>
        <a:bodyPr/>
        <a:lstStyle/>
        <a:p>
          <a:endParaRPr lang="en-GB">
            <a:latin typeface="Times New Roman" panose="02020603050405020304" pitchFamily="18" charset="0"/>
            <a:cs typeface="Times New Roman" panose="02020603050405020304" pitchFamily="18" charset="0"/>
          </a:endParaRPr>
        </a:p>
      </dgm:t>
    </dgm:pt>
    <dgm:pt modelId="{ED49DF1B-03BB-4FCA-A99E-DDC3A725F178}">
      <dgm:prSet phldrT="[Text]" custT="1"/>
      <dgm:spPr/>
      <dgm:t>
        <a:bodyPr/>
        <a:lstStyle/>
        <a:p>
          <a:r>
            <a:rPr lang="en-GB" sz="1250" err="1">
              <a:latin typeface="Times New Roman" panose="02020603050405020304" pitchFamily="18" charset="0"/>
              <a:cs typeface="Times New Roman" panose="02020603050405020304" pitchFamily="18" charset="0"/>
            </a:rPr>
            <a:t>CapEx</a:t>
          </a:r>
          <a:r>
            <a:rPr lang="en-GB" sz="1250">
              <a:latin typeface="Times New Roman" panose="02020603050405020304" pitchFamily="18" charset="0"/>
              <a:cs typeface="Times New Roman" panose="02020603050405020304" pitchFamily="18" charset="0"/>
            </a:rPr>
            <a:t> stable at 2.0% of revenue, FCF yield &gt; 10%</a:t>
          </a:r>
        </a:p>
      </dgm:t>
    </dgm:pt>
    <dgm:pt modelId="{2DECD9CF-83D6-4525-B2DA-7678D475099F}" type="parTrans" cxnId="{956D7DD4-E1EF-4CDC-8661-6FDF00B5F127}">
      <dgm:prSet/>
      <dgm:spPr/>
      <dgm:t>
        <a:bodyPr/>
        <a:lstStyle/>
        <a:p>
          <a:endParaRPr lang="en-GB">
            <a:latin typeface="Times New Roman" panose="02020603050405020304" pitchFamily="18" charset="0"/>
            <a:cs typeface="Times New Roman" panose="02020603050405020304" pitchFamily="18" charset="0"/>
          </a:endParaRPr>
        </a:p>
      </dgm:t>
    </dgm:pt>
    <dgm:pt modelId="{6BA04A2C-5CCD-454D-9D1D-3A84B77F20D6}" type="sibTrans" cxnId="{956D7DD4-E1EF-4CDC-8661-6FDF00B5F127}">
      <dgm:prSet/>
      <dgm:spPr/>
      <dgm:t>
        <a:bodyPr/>
        <a:lstStyle/>
        <a:p>
          <a:endParaRPr lang="en-GB">
            <a:latin typeface="Times New Roman" panose="02020603050405020304" pitchFamily="18" charset="0"/>
            <a:cs typeface="Times New Roman" panose="02020603050405020304" pitchFamily="18" charset="0"/>
          </a:endParaRPr>
        </a:p>
      </dgm:t>
    </dgm:pt>
    <dgm:pt modelId="{996C7EA0-205C-429B-9BBB-36FD69CD5AFC}">
      <dgm:prSet phldrT="[Text]"/>
      <dgm:spPr/>
      <dgm:t>
        <a:bodyPr/>
        <a:lstStyle/>
        <a:p>
          <a:r>
            <a:rPr lang="en-GB" sz="1600" b="1">
              <a:latin typeface="Times New Roman" panose="02020603050405020304" pitchFamily="18" charset="0"/>
              <a:cs typeface="Times New Roman" panose="02020603050405020304" pitchFamily="18" charset="0"/>
            </a:rPr>
            <a:t>Base Case – </a:t>
          </a:r>
          <a:r>
            <a:rPr lang="en-GB" sz="1600" b="1" i="1">
              <a:latin typeface="Times New Roman" panose="02020603050405020304" pitchFamily="18" charset="0"/>
              <a:cs typeface="Times New Roman" panose="02020603050405020304" pitchFamily="18" charset="0"/>
            </a:rPr>
            <a:t>Normalised operations</a:t>
          </a:r>
        </a:p>
      </dgm:t>
    </dgm:pt>
    <dgm:pt modelId="{E7CC8B0A-8471-4FA7-880F-6B0C26B92B80}" type="parTrans" cxnId="{CB132263-43E8-4C16-98AD-F48EF49427B6}">
      <dgm:prSet/>
      <dgm:spPr/>
      <dgm:t>
        <a:bodyPr/>
        <a:lstStyle/>
        <a:p>
          <a:endParaRPr lang="en-GB">
            <a:latin typeface="Times New Roman" panose="02020603050405020304" pitchFamily="18" charset="0"/>
            <a:cs typeface="Times New Roman" panose="02020603050405020304" pitchFamily="18" charset="0"/>
          </a:endParaRPr>
        </a:p>
      </dgm:t>
    </dgm:pt>
    <dgm:pt modelId="{250732FF-42B9-4CFE-9C5F-C45B3A8BF9BA}" type="sibTrans" cxnId="{CB132263-43E8-4C16-98AD-F48EF49427B6}">
      <dgm:prSet/>
      <dgm:spPr/>
      <dgm:t>
        <a:bodyPr/>
        <a:lstStyle/>
        <a:p>
          <a:endParaRPr lang="en-GB">
            <a:latin typeface="Times New Roman" panose="02020603050405020304" pitchFamily="18" charset="0"/>
            <a:cs typeface="Times New Roman" panose="02020603050405020304" pitchFamily="18" charset="0"/>
          </a:endParaRPr>
        </a:p>
      </dgm:t>
    </dgm:pt>
    <dgm:pt modelId="{735A3CFE-D6B0-401E-AB67-5CEEAC13D5F2}">
      <dgm:prSet phldrT="[Text]" custT="1"/>
      <dgm:spPr/>
      <dgm:t>
        <a:bodyPr/>
        <a:lstStyle/>
        <a:p>
          <a:r>
            <a:rPr lang="en-GB" sz="1250" dirty="0">
              <a:latin typeface="Times New Roman" panose="02020603050405020304" pitchFamily="18" charset="0"/>
              <a:cs typeface="Times New Roman" panose="02020603050405020304" pitchFamily="18" charset="0"/>
            </a:rPr>
            <a:t>EBIT margin ~3%, D&amp;A ratio ~0.9x, </a:t>
          </a:r>
          <a:r>
            <a:rPr lang="en-GB" sz="1250" dirty="0" err="1">
              <a:latin typeface="Times New Roman" panose="02020603050405020304" pitchFamily="18" charset="0"/>
              <a:cs typeface="Times New Roman" panose="02020603050405020304" pitchFamily="18" charset="0"/>
            </a:rPr>
            <a:t>CapEx</a:t>
          </a:r>
          <a:r>
            <a:rPr lang="en-GB" sz="1250" dirty="0">
              <a:latin typeface="Times New Roman" panose="02020603050405020304" pitchFamily="18" charset="0"/>
              <a:cs typeface="Times New Roman" panose="02020603050405020304" pitchFamily="18" charset="0"/>
            </a:rPr>
            <a:t> Reinvestment 0.8-0.9x D&amp;A</a:t>
          </a:r>
        </a:p>
      </dgm:t>
    </dgm:pt>
    <dgm:pt modelId="{AD318CBE-9DCB-442B-8B0C-28FE982FE8B1}" type="parTrans" cxnId="{F3029992-2A9A-469E-842E-65FF9F4393E2}">
      <dgm:prSet/>
      <dgm:spPr/>
      <dgm:t>
        <a:bodyPr/>
        <a:lstStyle/>
        <a:p>
          <a:endParaRPr lang="en-GB">
            <a:latin typeface="Times New Roman" panose="02020603050405020304" pitchFamily="18" charset="0"/>
            <a:cs typeface="Times New Roman" panose="02020603050405020304" pitchFamily="18" charset="0"/>
          </a:endParaRPr>
        </a:p>
      </dgm:t>
    </dgm:pt>
    <dgm:pt modelId="{D69B8DA2-B126-4331-A45A-DEED940D0BC3}" type="sibTrans" cxnId="{F3029992-2A9A-469E-842E-65FF9F4393E2}">
      <dgm:prSet/>
      <dgm:spPr/>
      <dgm:t>
        <a:bodyPr/>
        <a:lstStyle/>
        <a:p>
          <a:endParaRPr lang="en-GB">
            <a:latin typeface="Times New Roman" panose="02020603050405020304" pitchFamily="18" charset="0"/>
            <a:cs typeface="Times New Roman" panose="02020603050405020304" pitchFamily="18" charset="0"/>
          </a:endParaRPr>
        </a:p>
      </dgm:t>
    </dgm:pt>
    <dgm:pt modelId="{13E0780D-5BA7-44B5-AFB9-D5076484DB48}">
      <dgm:prSet phldrT="[Text]" custT="1"/>
      <dgm:spPr/>
      <dgm:t>
        <a:bodyPr/>
        <a:lstStyle/>
        <a:p>
          <a:r>
            <a:rPr lang="en-GB" sz="1250" dirty="0">
              <a:latin typeface="Times New Roman" panose="02020603050405020304" pitchFamily="18" charset="0"/>
              <a:cs typeface="Times New Roman" panose="02020603050405020304" pitchFamily="18" charset="0"/>
            </a:rPr>
            <a:t>Revenue CAGR ~4.2%, stable working capital</a:t>
          </a:r>
        </a:p>
      </dgm:t>
    </dgm:pt>
    <dgm:pt modelId="{DFB71147-FE4E-47B5-B8CD-64E1F6CCDFFB}" type="parTrans" cxnId="{DC8AF3C5-C7C0-4F76-9F21-A47FE518CD6E}">
      <dgm:prSet/>
      <dgm:spPr/>
      <dgm:t>
        <a:bodyPr/>
        <a:lstStyle/>
        <a:p>
          <a:endParaRPr lang="en-GB">
            <a:latin typeface="Times New Roman" panose="02020603050405020304" pitchFamily="18" charset="0"/>
            <a:cs typeface="Times New Roman" panose="02020603050405020304" pitchFamily="18" charset="0"/>
          </a:endParaRPr>
        </a:p>
      </dgm:t>
    </dgm:pt>
    <dgm:pt modelId="{AB0D8100-6CD4-4AB6-A0C8-897BAEBC5D8B}" type="sibTrans" cxnId="{DC8AF3C5-C7C0-4F76-9F21-A47FE518CD6E}">
      <dgm:prSet/>
      <dgm:spPr/>
      <dgm:t>
        <a:bodyPr/>
        <a:lstStyle/>
        <a:p>
          <a:endParaRPr lang="en-GB">
            <a:latin typeface="Times New Roman" panose="02020603050405020304" pitchFamily="18" charset="0"/>
            <a:cs typeface="Times New Roman" panose="02020603050405020304" pitchFamily="18" charset="0"/>
          </a:endParaRPr>
        </a:p>
      </dgm:t>
    </dgm:pt>
    <dgm:pt modelId="{D78734CC-7DE8-4B20-AD20-CC76E771E6E6}">
      <dgm:prSet phldrT="[Text]" custT="1"/>
      <dgm:spPr/>
      <dgm:t>
        <a:bodyPr/>
        <a:lstStyle/>
        <a:p>
          <a:r>
            <a:rPr lang="en-GB" sz="1600" b="1" dirty="0">
              <a:latin typeface="Times New Roman" panose="02020603050405020304" pitchFamily="18" charset="0"/>
              <a:cs typeface="Times New Roman" panose="02020603050405020304" pitchFamily="18" charset="0"/>
            </a:rPr>
            <a:t>Bear case – </a:t>
          </a:r>
          <a:r>
            <a:rPr lang="en-GB" sz="1600" b="1" i="1" dirty="0">
              <a:latin typeface="Times New Roman" panose="02020603050405020304" pitchFamily="18" charset="0"/>
              <a:cs typeface="Times New Roman" panose="02020603050405020304" pitchFamily="18" charset="0"/>
            </a:rPr>
            <a:t>Cost pressure risk</a:t>
          </a:r>
        </a:p>
      </dgm:t>
    </dgm:pt>
    <dgm:pt modelId="{69063104-AC32-4B24-9C74-5CCF785771E6}" type="parTrans" cxnId="{7DC7711D-5CEE-4256-AA95-07D0B615D939}">
      <dgm:prSet/>
      <dgm:spPr/>
      <dgm:t>
        <a:bodyPr/>
        <a:lstStyle/>
        <a:p>
          <a:endParaRPr lang="en-GB">
            <a:latin typeface="Times New Roman" panose="02020603050405020304" pitchFamily="18" charset="0"/>
            <a:cs typeface="Times New Roman" panose="02020603050405020304" pitchFamily="18" charset="0"/>
          </a:endParaRPr>
        </a:p>
      </dgm:t>
    </dgm:pt>
    <dgm:pt modelId="{F949FC86-4FF6-42CC-B506-34E700A3B88B}" type="sibTrans" cxnId="{7DC7711D-5CEE-4256-AA95-07D0B615D939}">
      <dgm:prSet/>
      <dgm:spPr/>
      <dgm:t>
        <a:bodyPr/>
        <a:lstStyle/>
        <a:p>
          <a:endParaRPr lang="en-GB">
            <a:latin typeface="Times New Roman" panose="02020603050405020304" pitchFamily="18" charset="0"/>
            <a:cs typeface="Times New Roman" panose="02020603050405020304" pitchFamily="18" charset="0"/>
          </a:endParaRPr>
        </a:p>
      </dgm:t>
    </dgm:pt>
    <dgm:pt modelId="{50CF638C-99ED-49D4-BDB4-BBCE2C5E90B7}">
      <dgm:prSet phldrT="[Text]" custT="1"/>
      <dgm:spPr/>
      <dgm:t>
        <a:bodyPr/>
        <a:lstStyle/>
        <a:p>
          <a:r>
            <a:rPr lang="en-GB" sz="1250" dirty="0">
              <a:latin typeface="Times New Roman" panose="02020603050405020304" pitchFamily="18" charset="0"/>
              <a:cs typeface="Times New Roman" panose="02020603050405020304" pitchFamily="18" charset="0"/>
            </a:rPr>
            <a:t>Margin erosion to 2% from cost inflation</a:t>
          </a:r>
        </a:p>
      </dgm:t>
    </dgm:pt>
    <dgm:pt modelId="{BA2F2CC5-AE58-4B19-8B0C-433FB44F6D9B}" type="parTrans" cxnId="{C3028A0F-BF3F-408C-9410-88826CA6F1B4}">
      <dgm:prSet/>
      <dgm:spPr/>
      <dgm:t>
        <a:bodyPr/>
        <a:lstStyle/>
        <a:p>
          <a:endParaRPr lang="en-GB">
            <a:latin typeface="Times New Roman" panose="02020603050405020304" pitchFamily="18" charset="0"/>
            <a:cs typeface="Times New Roman" panose="02020603050405020304" pitchFamily="18" charset="0"/>
          </a:endParaRPr>
        </a:p>
      </dgm:t>
    </dgm:pt>
    <dgm:pt modelId="{35BABE89-20F9-485F-A5E0-D5F694EBBC0B}" type="sibTrans" cxnId="{C3028A0F-BF3F-408C-9410-88826CA6F1B4}">
      <dgm:prSet/>
      <dgm:spPr/>
      <dgm:t>
        <a:bodyPr/>
        <a:lstStyle/>
        <a:p>
          <a:endParaRPr lang="en-GB">
            <a:latin typeface="Times New Roman" panose="02020603050405020304" pitchFamily="18" charset="0"/>
            <a:cs typeface="Times New Roman" panose="02020603050405020304" pitchFamily="18" charset="0"/>
          </a:endParaRPr>
        </a:p>
      </dgm:t>
    </dgm:pt>
    <dgm:pt modelId="{0754B064-C2F0-495F-B38E-4F97F8CF6A79}">
      <dgm:prSet phldrT="[Text]" custT="1"/>
      <dgm:spPr/>
      <dgm:t>
        <a:bodyPr/>
        <a:lstStyle/>
        <a:p>
          <a:r>
            <a:rPr lang="en-GB" sz="1250" dirty="0" err="1">
              <a:latin typeface="Times New Roman" panose="02020603050405020304" pitchFamily="18" charset="0"/>
              <a:cs typeface="Times New Roman" panose="02020603050405020304" pitchFamily="18" charset="0"/>
            </a:rPr>
            <a:t>CapEx</a:t>
          </a:r>
          <a:r>
            <a:rPr lang="en-GB" sz="1250" dirty="0">
              <a:latin typeface="Times New Roman" panose="02020603050405020304" pitchFamily="18" charset="0"/>
              <a:cs typeface="Times New Roman" panose="02020603050405020304" pitchFamily="18" charset="0"/>
            </a:rPr>
            <a:t> rising to 2.5% of revenue</a:t>
          </a:r>
        </a:p>
      </dgm:t>
    </dgm:pt>
    <dgm:pt modelId="{33E787E4-289F-431F-8446-301E29AA1EC7}" type="parTrans" cxnId="{C9F1E9A7-5F41-46ED-B479-A1F82D90BABD}">
      <dgm:prSet/>
      <dgm:spPr/>
      <dgm:t>
        <a:bodyPr/>
        <a:lstStyle/>
        <a:p>
          <a:endParaRPr lang="en-GB">
            <a:latin typeface="Times New Roman" panose="02020603050405020304" pitchFamily="18" charset="0"/>
            <a:cs typeface="Times New Roman" panose="02020603050405020304" pitchFamily="18" charset="0"/>
          </a:endParaRPr>
        </a:p>
      </dgm:t>
    </dgm:pt>
    <dgm:pt modelId="{D0CBDF76-183B-45C7-9022-2A6AB514AE75}" type="sibTrans" cxnId="{C9F1E9A7-5F41-46ED-B479-A1F82D90BABD}">
      <dgm:prSet/>
      <dgm:spPr/>
      <dgm:t>
        <a:bodyPr/>
        <a:lstStyle/>
        <a:p>
          <a:endParaRPr lang="en-GB">
            <a:latin typeface="Times New Roman" panose="02020603050405020304" pitchFamily="18" charset="0"/>
            <a:cs typeface="Times New Roman" panose="02020603050405020304" pitchFamily="18" charset="0"/>
          </a:endParaRPr>
        </a:p>
      </dgm:t>
    </dgm:pt>
    <dgm:pt modelId="{C743971F-0655-4461-A736-557D4D25FB2C}">
      <dgm:prSet phldrT="[Text]" custT="1"/>
      <dgm:spPr/>
      <dgm:t>
        <a:bodyPr/>
        <a:lstStyle/>
        <a:p>
          <a:r>
            <a:rPr lang="en-GB" sz="1250" dirty="0">
              <a:latin typeface="Times New Roman" panose="02020603050405020304" pitchFamily="18" charset="0"/>
              <a:cs typeface="Times New Roman" panose="02020603050405020304" pitchFamily="18" charset="0"/>
            </a:rPr>
            <a:t>WACC –60bps with improved market perception</a:t>
          </a:r>
        </a:p>
      </dgm:t>
    </dgm:pt>
    <dgm:pt modelId="{79945B60-9560-4074-93BA-645DF335D817}" type="parTrans" cxnId="{346FBDA2-41E9-4AC9-B1C3-78102D525D8E}">
      <dgm:prSet/>
      <dgm:spPr/>
      <dgm:t>
        <a:bodyPr/>
        <a:lstStyle/>
        <a:p>
          <a:endParaRPr lang="en-GB">
            <a:latin typeface="Times New Roman" panose="02020603050405020304" pitchFamily="18" charset="0"/>
            <a:cs typeface="Times New Roman" panose="02020603050405020304" pitchFamily="18" charset="0"/>
          </a:endParaRPr>
        </a:p>
      </dgm:t>
    </dgm:pt>
    <dgm:pt modelId="{5D685005-D133-46C9-B4A7-D69B2C12DFF5}" type="sibTrans" cxnId="{346FBDA2-41E9-4AC9-B1C3-78102D525D8E}">
      <dgm:prSet/>
      <dgm:spPr/>
      <dgm:t>
        <a:bodyPr/>
        <a:lstStyle/>
        <a:p>
          <a:endParaRPr lang="en-GB">
            <a:latin typeface="Times New Roman" panose="02020603050405020304" pitchFamily="18" charset="0"/>
            <a:cs typeface="Times New Roman" panose="02020603050405020304" pitchFamily="18" charset="0"/>
          </a:endParaRPr>
        </a:p>
      </dgm:t>
    </dgm:pt>
    <dgm:pt modelId="{6F8E50C3-6A8A-4088-B9DE-0AE2EECF3E71}">
      <dgm:prSet phldrT="[Text]" custT="1"/>
      <dgm:spPr/>
      <dgm:t>
        <a:bodyPr/>
        <a:lstStyle/>
        <a:p>
          <a:r>
            <a:rPr lang="en-GB" sz="1250">
              <a:latin typeface="Times New Roman" panose="02020603050405020304" pitchFamily="18" charset="0"/>
              <a:cs typeface="Times New Roman" panose="02020603050405020304" pitchFamily="18" charset="0"/>
            </a:rPr>
            <a:t>WACC 10.5%, g = 2.0%</a:t>
          </a:r>
        </a:p>
      </dgm:t>
    </dgm:pt>
    <dgm:pt modelId="{FD7E0BB3-3EDF-42AD-A80C-3DF348389F00}" type="parTrans" cxnId="{5244405B-300B-4E04-A5F6-3EADD5ED6574}">
      <dgm:prSet/>
      <dgm:spPr/>
      <dgm:t>
        <a:bodyPr/>
        <a:lstStyle/>
        <a:p>
          <a:endParaRPr lang="en-GB">
            <a:latin typeface="Times New Roman" panose="02020603050405020304" pitchFamily="18" charset="0"/>
            <a:cs typeface="Times New Roman" panose="02020603050405020304" pitchFamily="18" charset="0"/>
          </a:endParaRPr>
        </a:p>
      </dgm:t>
    </dgm:pt>
    <dgm:pt modelId="{0669BE3E-1C15-4B87-BAC1-D050850A105E}" type="sibTrans" cxnId="{5244405B-300B-4E04-A5F6-3EADD5ED6574}">
      <dgm:prSet/>
      <dgm:spPr/>
      <dgm:t>
        <a:bodyPr/>
        <a:lstStyle/>
        <a:p>
          <a:endParaRPr lang="en-GB">
            <a:latin typeface="Times New Roman" panose="02020603050405020304" pitchFamily="18" charset="0"/>
            <a:cs typeface="Times New Roman" panose="02020603050405020304" pitchFamily="18" charset="0"/>
          </a:endParaRPr>
        </a:p>
      </dgm:t>
    </dgm:pt>
    <dgm:pt modelId="{D6DECF21-68F2-4556-955C-7A99AD9CC71E}">
      <dgm:prSet phldrT="[Text]" custT="1"/>
      <dgm:spPr/>
      <dgm:t>
        <a:bodyPr/>
        <a:lstStyle/>
        <a:p>
          <a:r>
            <a:rPr lang="en-GB" sz="1250" dirty="0">
              <a:latin typeface="Times New Roman" panose="02020603050405020304" pitchFamily="18" charset="0"/>
              <a:cs typeface="Times New Roman" panose="02020603050405020304" pitchFamily="18" charset="0"/>
            </a:rPr>
            <a:t>WACC +60bps on market risk premium </a:t>
          </a:r>
        </a:p>
      </dgm:t>
    </dgm:pt>
    <dgm:pt modelId="{B35307C4-919A-482F-B79C-08E66A0EF633}" type="parTrans" cxnId="{62E0B938-08B7-48A4-A8AF-1076BC5B8D5E}">
      <dgm:prSet/>
      <dgm:spPr/>
      <dgm:t>
        <a:bodyPr/>
        <a:lstStyle/>
        <a:p>
          <a:endParaRPr lang="en-GB">
            <a:latin typeface="Times New Roman" panose="02020603050405020304" pitchFamily="18" charset="0"/>
            <a:cs typeface="Times New Roman" panose="02020603050405020304" pitchFamily="18" charset="0"/>
          </a:endParaRPr>
        </a:p>
      </dgm:t>
    </dgm:pt>
    <dgm:pt modelId="{A2D28F58-2D4D-4EDB-B436-6ECB84B511F2}" type="sibTrans" cxnId="{62E0B938-08B7-48A4-A8AF-1076BC5B8D5E}">
      <dgm:prSet/>
      <dgm:spPr/>
      <dgm:t>
        <a:bodyPr/>
        <a:lstStyle/>
        <a:p>
          <a:endParaRPr lang="en-GB">
            <a:latin typeface="Times New Roman" panose="02020603050405020304" pitchFamily="18" charset="0"/>
            <a:cs typeface="Times New Roman" panose="02020603050405020304" pitchFamily="18" charset="0"/>
          </a:endParaRPr>
        </a:p>
      </dgm:t>
    </dgm:pt>
    <dgm:pt modelId="{FCEBE2F3-C8D2-4AAE-9B21-050ECBF71705}" type="pres">
      <dgm:prSet presAssocID="{7CCC50A1-0B68-4A25-BA1F-B668CE56F59C}" presName="linear" presStyleCnt="0">
        <dgm:presLayoutVars>
          <dgm:dir/>
          <dgm:resizeHandles val="exact"/>
        </dgm:presLayoutVars>
      </dgm:prSet>
      <dgm:spPr/>
    </dgm:pt>
    <dgm:pt modelId="{D95A9BC4-1F5E-43CA-821B-DEBD817643A6}" type="pres">
      <dgm:prSet presAssocID="{3F65B753-3C3A-4828-91B9-2F1F1CE0B037}" presName="comp" presStyleCnt="0"/>
      <dgm:spPr/>
    </dgm:pt>
    <dgm:pt modelId="{8E6787AE-0595-4872-B297-B71BCECCE97B}" type="pres">
      <dgm:prSet presAssocID="{3F65B753-3C3A-4828-91B9-2F1F1CE0B037}" presName="box" presStyleLbl="node1" presStyleIdx="0" presStyleCnt="3"/>
      <dgm:spPr/>
    </dgm:pt>
    <dgm:pt modelId="{D3A54809-1816-43EF-A2F3-3A7B4C21C140}" type="pres">
      <dgm:prSet presAssocID="{3F65B753-3C3A-4828-91B9-2F1F1CE0B037}" presName="img" presStyleLbl="fgImgPlace1" presStyleIdx="0" presStyleCnt="3" custLinFactNeighborX="251" custLinFactNeighborY="-2403"/>
      <dgm:spPr>
        <a:blipFill>
          <a:blip xmlns:r="http://schemas.openxmlformats.org/officeDocument/2006/relationships" r:embed="rId1"/>
          <a:srcRect/>
          <a:stretch>
            <a:fillRect t="-15000" b="-15000"/>
          </a:stretch>
        </a:blipFill>
      </dgm:spPr>
    </dgm:pt>
    <dgm:pt modelId="{D9E6280C-5250-4F40-ACDB-E703C7CD4BC6}" type="pres">
      <dgm:prSet presAssocID="{3F65B753-3C3A-4828-91B9-2F1F1CE0B037}" presName="text" presStyleLbl="node1" presStyleIdx="0" presStyleCnt="3">
        <dgm:presLayoutVars>
          <dgm:bulletEnabled val="1"/>
        </dgm:presLayoutVars>
      </dgm:prSet>
      <dgm:spPr/>
    </dgm:pt>
    <dgm:pt modelId="{CFA5C0F2-0172-4977-981B-79D3F4EB0BDE}" type="pres">
      <dgm:prSet presAssocID="{073FD045-7139-4FFA-BFC3-CF795E7E59B4}" presName="spacer" presStyleCnt="0"/>
      <dgm:spPr/>
    </dgm:pt>
    <dgm:pt modelId="{DB7ADAC8-07BA-4CEF-8223-3ABC64A68760}" type="pres">
      <dgm:prSet presAssocID="{996C7EA0-205C-429B-9BBB-36FD69CD5AFC}" presName="comp" presStyleCnt="0"/>
      <dgm:spPr/>
    </dgm:pt>
    <dgm:pt modelId="{F2847EE4-3F15-42C4-B956-8BA7EED38F1F}" type="pres">
      <dgm:prSet presAssocID="{996C7EA0-205C-429B-9BBB-36FD69CD5AFC}" presName="box" presStyleLbl="node1" presStyleIdx="1" presStyleCnt="3"/>
      <dgm:spPr/>
    </dgm:pt>
    <dgm:pt modelId="{CB535C25-C531-4452-B9A2-CD903C067237}" type="pres">
      <dgm:prSet presAssocID="{996C7EA0-205C-429B-9BBB-36FD69CD5AFC}" presName="img" presStyleLbl="fgImgPlace1" presStyleIdx="1" presStyleCnt="3"/>
      <dgm:spPr>
        <a:blipFill>
          <a:blip xmlns:r="http://schemas.openxmlformats.org/officeDocument/2006/relationships" r:embed="rId2"/>
          <a:srcRect/>
          <a:stretch>
            <a:fillRect t="-3000" b="-3000"/>
          </a:stretch>
        </a:blipFill>
      </dgm:spPr>
    </dgm:pt>
    <dgm:pt modelId="{C5DFA46E-1498-4F1A-A24F-DEA42C1E58C1}" type="pres">
      <dgm:prSet presAssocID="{996C7EA0-205C-429B-9BBB-36FD69CD5AFC}" presName="text" presStyleLbl="node1" presStyleIdx="1" presStyleCnt="3">
        <dgm:presLayoutVars>
          <dgm:bulletEnabled val="1"/>
        </dgm:presLayoutVars>
      </dgm:prSet>
      <dgm:spPr/>
    </dgm:pt>
    <dgm:pt modelId="{D7DE5D23-EBE2-4EB8-9D66-E1611B3FD91F}" type="pres">
      <dgm:prSet presAssocID="{250732FF-42B9-4CFE-9C5F-C45B3A8BF9BA}" presName="spacer" presStyleCnt="0"/>
      <dgm:spPr/>
    </dgm:pt>
    <dgm:pt modelId="{0071E816-CC1E-4F36-BEE4-E27B5BEB5CE8}" type="pres">
      <dgm:prSet presAssocID="{D78734CC-7DE8-4B20-AD20-CC76E771E6E6}" presName="comp" presStyleCnt="0"/>
      <dgm:spPr/>
    </dgm:pt>
    <dgm:pt modelId="{EABDAFD3-043A-49D4-B85C-3B76EDFD492D}" type="pres">
      <dgm:prSet presAssocID="{D78734CC-7DE8-4B20-AD20-CC76E771E6E6}" presName="box" presStyleLbl="node1" presStyleIdx="2" presStyleCnt="3"/>
      <dgm:spPr/>
    </dgm:pt>
    <dgm:pt modelId="{2634A61B-D631-4170-AE4B-BBB822D65D01}" type="pres">
      <dgm:prSet presAssocID="{D78734CC-7DE8-4B20-AD20-CC76E771E6E6}" presName="img" presStyleLbl="fgImgPlace1" presStyleIdx="2" presStyleCnt="3"/>
      <dgm:spPr>
        <a:blipFill>
          <a:blip xmlns:r="http://schemas.openxmlformats.org/officeDocument/2006/relationships" r:embed="rId3"/>
          <a:srcRect/>
          <a:stretch>
            <a:fillRect l="-3000" r="-3000"/>
          </a:stretch>
        </a:blipFill>
      </dgm:spPr>
    </dgm:pt>
    <dgm:pt modelId="{3C2410C7-5524-4015-AAD4-834B120761D6}" type="pres">
      <dgm:prSet presAssocID="{D78734CC-7DE8-4B20-AD20-CC76E771E6E6}" presName="text" presStyleLbl="node1" presStyleIdx="2" presStyleCnt="3">
        <dgm:presLayoutVars>
          <dgm:bulletEnabled val="1"/>
        </dgm:presLayoutVars>
      </dgm:prSet>
      <dgm:spPr/>
    </dgm:pt>
  </dgm:ptLst>
  <dgm:cxnLst>
    <dgm:cxn modelId="{6EEBEB0B-BCEE-4386-B9E7-506B320338C1}" type="presOf" srcId="{ED49DF1B-03BB-4FCA-A99E-DDC3A725F178}" destId="{D9E6280C-5250-4F40-ACDB-E703C7CD4BC6}" srcOrd="1" destOrd="2" presId="urn:microsoft.com/office/officeart/2005/8/layout/vList4"/>
    <dgm:cxn modelId="{C3028A0F-BF3F-408C-9410-88826CA6F1B4}" srcId="{D78734CC-7DE8-4B20-AD20-CC76E771E6E6}" destId="{50CF638C-99ED-49D4-BDB4-BBCE2C5E90B7}" srcOrd="0" destOrd="0" parTransId="{BA2F2CC5-AE58-4B19-8B0C-433FB44F6D9B}" sibTransId="{35BABE89-20F9-485F-A5E0-D5F694EBBC0B}"/>
    <dgm:cxn modelId="{109F4F13-5788-4E4F-8220-3BCACA77A138}" type="presOf" srcId="{6F8E50C3-6A8A-4088-B9DE-0AE2EECF3E71}" destId="{C5DFA46E-1498-4F1A-A24F-DEA42C1E58C1}" srcOrd="1" destOrd="3" presId="urn:microsoft.com/office/officeart/2005/8/layout/vList4"/>
    <dgm:cxn modelId="{7DC7711D-5CEE-4256-AA95-07D0B615D939}" srcId="{7CCC50A1-0B68-4A25-BA1F-B668CE56F59C}" destId="{D78734CC-7DE8-4B20-AD20-CC76E771E6E6}" srcOrd="2" destOrd="0" parTransId="{69063104-AC32-4B24-9C74-5CCF785771E6}" sibTransId="{F949FC86-4FF6-42CC-B506-34E700A3B88B}"/>
    <dgm:cxn modelId="{8A90571F-8078-426E-BBC1-85E7FC536A9E}" type="presOf" srcId="{3F65B753-3C3A-4828-91B9-2F1F1CE0B037}" destId="{D9E6280C-5250-4F40-ACDB-E703C7CD4BC6}" srcOrd="1" destOrd="0" presId="urn:microsoft.com/office/officeart/2005/8/layout/vList4"/>
    <dgm:cxn modelId="{4199D332-5EBE-48C1-BB38-557A478870D7}" type="presOf" srcId="{996C7EA0-205C-429B-9BBB-36FD69CD5AFC}" destId="{C5DFA46E-1498-4F1A-A24F-DEA42C1E58C1}" srcOrd="1" destOrd="0" presId="urn:microsoft.com/office/officeart/2005/8/layout/vList4"/>
    <dgm:cxn modelId="{8829E335-5B1D-4891-A733-2A316D036598}" type="presOf" srcId="{0754B064-C2F0-495F-B38E-4F97F8CF6A79}" destId="{3C2410C7-5524-4015-AAD4-834B120761D6}" srcOrd="1" destOrd="2" presId="urn:microsoft.com/office/officeart/2005/8/layout/vList4"/>
    <dgm:cxn modelId="{62E0B938-08B7-48A4-A8AF-1076BC5B8D5E}" srcId="{D78734CC-7DE8-4B20-AD20-CC76E771E6E6}" destId="{D6DECF21-68F2-4556-955C-7A99AD9CC71E}" srcOrd="2" destOrd="0" parTransId="{B35307C4-919A-482F-B79C-08E66A0EF633}" sibTransId="{A2D28F58-2D4D-4EDB-B436-6ECB84B511F2}"/>
    <dgm:cxn modelId="{D2BD1F39-7973-4E0E-A375-AAC1ABA3F5FA}" srcId="{3F65B753-3C3A-4828-91B9-2F1F1CE0B037}" destId="{A1553DF8-1CBB-46B0-9810-403A0AAA22FA}" srcOrd="0" destOrd="0" parTransId="{04C52170-0471-4F37-9FB2-D68CBF957538}" sibTransId="{24BE2458-CBA1-461B-AA3D-D66D457C1EA9}"/>
    <dgm:cxn modelId="{109AFD3D-3959-4EB4-BDDA-EEE9FBACA98D}" type="presOf" srcId="{735A3CFE-D6B0-401E-AB67-5CEEAC13D5F2}" destId="{C5DFA46E-1498-4F1A-A24F-DEA42C1E58C1}" srcOrd="1" destOrd="1" presId="urn:microsoft.com/office/officeart/2005/8/layout/vList4"/>
    <dgm:cxn modelId="{48F8D54E-5F98-48B7-9B3C-8E07284FAFB3}" type="presOf" srcId="{D6DECF21-68F2-4556-955C-7A99AD9CC71E}" destId="{EABDAFD3-043A-49D4-B85C-3B76EDFD492D}" srcOrd="0" destOrd="3" presId="urn:microsoft.com/office/officeart/2005/8/layout/vList4"/>
    <dgm:cxn modelId="{E4529A50-05B4-44F3-A1B9-E8984C4A0EC9}" type="presOf" srcId="{A1553DF8-1CBB-46B0-9810-403A0AAA22FA}" destId="{8E6787AE-0595-4872-B297-B71BCECCE97B}" srcOrd="0" destOrd="1" presId="urn:microsoft.com/office/officeart/2005/8/layout/vList4"/>
    <dgm:cxn modelId="{33BEAF52-6124-4DD5-A767-B6845DEDBB38}" type="presOf" srcId="{A1553DF8-1CBB-46B0-9810-403A0AAA22FA}" destId="{D9E6280C-5250-4F40-ACDB-E703C7CD4BC6}" srcOrd="1" destOrd="1" presId="urn:microsoft.com/office/officeart/2005/8/layout/vList4"/>
    <dgm:cxn modelId="{516BD659-5879-415C-9FB7-7F07613E5A62}" type="presOf" srcId="{D78734CC-7DE8-4B20-AD20-CC76E771E6E6}" destId="{EABDAFD3-043A-49D4-B85C-3B76EDFD492D}" srcOrd="0" destOrd="0" presId="urn:microsoft.com/office/officeart/2005/8/layout/vList4"/>
    <dgm:cxn modelId="{5244405B-300B-4E04-A5F6-3EADD5ED6574}" srcId="{996C7EA0-205C-429B-9BBB-36FD69CD5AFC}" destId="{6F8E50C3-6A8A-4088-B9DE-0AE2EECF3E71}" srcOrd="2" destOrd="0" parTransId="{FD7E0BB3-3EDF-42AD-A80C-3DF348389F00}" sibTransId="{0669BE3E-1C15-4B87-BAC1-D050850A105E}"/>
    <dgm:cxn modelId="{120DFA5E-6598-4A8A-AE78-588E25E96DF1}" type="presOf" srcId="{735A3CFE-D6B0-401E-AB67-5CEEAC13D5F2}" destId="{F2847EE4-3F15-42C4-B956-8BA7EED38F1F}" srcOrd="0" destOrd="1" presId="urn:microsoft.com/office/officeart/2005/8/layout/vList4"/>
    <dgm:cxn modelId="{CB132263-43E8-4C16-98AD-F48EF49427B6}" srcId="{7CCC50A1-0B68-4A25-BA1F-B668CE56F59C}" destId="{996C7EA0-205C-429B-9BBB-36FD69CD5AFC}" srcOrd="1" destOrd="0" parTransId="{E7CC8B0A-8471-4FA7-880F-6B0C26B92B80}" sibTransId="{250732FF-42B9-4CFE-9C5F-C45B3A8BF9BA}"/>
    <dgm:cxn modelId="{95D3FE65-006F-4730-AD3A-F4E84AB254F8}" type="presOf" srcId="{6F8E50C3-6A8A-4088-B9DE-0AE2EECF3E71}" destId="{F2847EE4-3F15-42C4-B956-8BA7EED38F1F}" srcOrd="0" destOrd="3" presId="urn:microsoft.com/office/officeart/2005/8/layout/vList4"/>
    <dgm:cxn modelId="{758D0471-8B26-4F14-ADE0-14FD38EA6E39}" type="presOf" srcId="{D6DECF21-68F2-4556-955C-7A99AD9CC71E}" destId="{3C2410C7-5524-4015-AAD4-834B120761D6}" srcOrd="1" destOrd="3" presId="urn:microsoft.com/office/officeart/2005/8/layout/vList4"/>
    <dgm:cxn modelId="{32AFA97D-1C79-4385-BED5-B82F622E6406}" type="presOf" srcId="{0754B064-C2F0-495F-B38E-4F97F8CF6A79}" destId="{EABDAFD3-043A-49D4-B85C-3B76EDFD492D}" srcOrd="0" destOrd="2" presId="urn:microsoft.com/office/officeart/2005/8/layout/vList4"/>
    <dgm:cxn modelId="{E0225D82-6C32-47AA-80F3-87127FCC8ACD}" type="presOf" srcId="{7CCC50A1-0B68-4A25-BA1F-B668CE56F59C}" destId="{FCEBE2F3-C8D2-4AAE-9B21-050ECBF71705}" srcOrd="0" destOrd="0" presId="urn:microsoft.com/office/officeart/2005/8/layout/vList4"/>
    <dgm:cxn modelId="{132FD786-6FDF-4808-BCF6-9975D29FD9F6}" type="presOf" srcId="{ED49DF1B-03BB-4FCA-A99E-DDC3A725F178}" destId="{8E6787AE-0595-4872-B297-B71BCECCE97B}" srcOrd="0" destOrd="2" presId="urn:microsoft.com/office/officeart/2005/8/layout/vList4"/>
    <dgm:cxn modelId="{CD71CE88-60BB-4683-8187-FF2062F4C53F}" type="presOf" srcId="{C743971F-0655-4461-A736-557D4D25FB2C}" destId="{D9E6280C-5250-4F40-ACDB-E703C7CD4BC6}" srcOrd="1" destOrd="3" presId="urn:microsoft.com/office/officeart/2005/8/layout/vList4"/>
    <dgm:cxn modelId="{3C11FD8F-1494-412F-BA6E-7A4F8BE3B030}" type="presOf" srcId="{996C7EA0-205C-429B-9BBB-36FD69CD5AFC}" destId="{F2847EE4-3F15-42C4-B956-8BA7EED38F1F}" srcOrd="0" destOrd="0" presId="urn:microsoft.com/office/officeart/2005/8/layout/vList4"/>
    <dgm:cxn modelId="{F3029992-2A9A-469E-842E-65FF9F4393E2}" srcId="{996C7EA0-205C-429B-9BBB-36FD69CD5AFC}" destId="{735A3CFE-D6B0-401E-AB67-5CEEAC13D5F2}" srcOrd="0" destOrd="0" parTransId="{AD318CBE-9DCB-442B-8B0C-28FE982FE8B1}" sibTransId="{D69B8DA2-B126-4331-A45A-DEED940D0BC3}"/>
    <dgm:cxn modelId="{32EA489A-2E92-47E3-8E33-5BE1B61AABF1}" type="presOf" srcId="{50CF638C-99ED-49D4-BDB4-BBCE2C5E90B7}" destId="{3C2410C7-5524-4015-AAD4-834B120761D6}" srcOrd="1" destOrd="1" presId="urn:microsoft.com/office/officeart/2005/8/layout/vList4"/>
    <dgm:cxn modelId="{346FBDA2-41E9-4AC9-B1C3-78102D525D8E}" srcId="{3F65B753-3C3A-4828-91B9-2F1F1CE0B037}" destId="{C743971F-0655-4461-A736-557D4D25FB2C}" srcOrd="2" destOrd="0" parTransId="{79945B60-9560-4074-93BA-645DF335D817}" sibTransId="{5D685005-D133-46C9-B4A7-D69B2C12DFF5}"/>
    <dgm:cxn modelId="{C9F1E9A7-5F41-46ED-B479-A1F82D90BABD}" srcId="{D78734CC-7DE8-4B20-AD20-CC76E771E6E6}" destId="{0754B064-C2F0-495F-B38E-4F97F8CF6A79}" srcOrd="1" destOrd="0" parTransId="{33E787E4-289F-431F-8446-301E29AA1EC7}" sibTransId="{D0CBDF76-183B-45C7-9022-2A6AB514AE75}"/>
    <dgm:cxn modelId="{821847C4-BEF4-4511-90E1-B050C9B4FC11}" type="presOf" srcId="{50CF638C-99ED-49D4-BDB4-BBCE2C5E90B7}" destId="{EABDAFD3-043A-49D4-B85C-3B76EDFD492D}" srcOrd="0" destOrd="1" presId="urn:microsoft.com/office/officeart/2005/8/layout/vList4"/>
    <dgm:cxn modelId="{DC8AF3C5-C7C0-4F76-9F21-A47FE518CD6E}" srcId="{996C7EA0-205C-429B-9BBB-36FD69CD5AFC}" destId="{13E0780D-5BA7-44B5-AFB9-D5076484DB48}" srcOrd="1" destOrd="0" parTransId="{DFB71147-FE4E-47B5-B8CD-64E1F6CCDFFB}" sibTransId="{AB0D8100-6CD4-4AB6-A0C8-897BAEBC5D8B}"/>
    <dgm:cxn modelId="{C3A660C9-F8D6-475A-B801-668D49BFD1A7}" type="presOf" srcId="{C743971F-0655-4461-A736-557D4D25FB2C}" destId="{8E6787AE-0595-4872-B297-B71BCECCE97B}" srcOrd="0" destOrd="3" presId="urn:microsoft.com/office/officeart/2005/8/layout/vList4"/>
    <dgm:cxn modelId="{956D7DD4-E1EF-4CDC-8661-6FDF00B5F127}" srcId="{3F65B753-3C3A-4828-91B9-2F1F1CE0B037}" destId="{ED49DF1B-03BB-4FCA-A99E-DDC3A725F178}" srcOrd="1" destOrd="0" parTransId="{2DECD9CF-83D6-4525-B2DA-7678D475099F}" sibTransId="{6BA04A2C-5CCD-454D-9D1D-3A84B77F20D6}"/>
    <dgm:cxn modelId="{344233D5-902E-4CC8-AC74-CD8C3F67B428}" type="presOf" srcId="{13E0780D-5BA7-44B5-AFB9-D5076484DB48}" destId="{C5DFA46E-1498-4F1A-A24F-DEA42C1E58C1}" srcOrd="1" destOrd="2" presId="urn:microsoft.com/office/officeart/2005/8/layout/vList4"/>
    <dgm:cxn modelId="{05050CD9-4E6A-4166-8EA4-9CE0A5BFF790}" type="presOf" srcId="{13E0780D-5BA7-44B5-AFB9-D5076484DB48}" destId="{F2847EE4-3F15-42C4-B956-8BA7EED38F1F}" srcOrd="0" destOrd="2" presId="urn:microsoft.com/office/officeart/2005/8/layout/vList4"/>
    <dgm:cxn modelId="{BDCC03E5-472B-4663-B6A9-E5AFFD5D4A1A}" type="presOf" srcId="{D78734CC-7DE8-4B20-AD20-CC76E771E6E6}" destId="{3C2410C7-5524-4015-AAD4-834B120761D6}" srcOrd="1" destOrd="0" presId="urn:microsoft.com/office/officeart/2005/8/layout/vList4"/>
    <dgm:cxn modelId="{A5B3BBE7-0EE1-49C5-A8F1-D83B58732BED}" srcId="{7CCC50A1-0B68-4A25-BA1F-B668CE56F59C}" destId="{3F65B753-3C3A-4828-91B9-2F1F1CE0B037}" srcOrd="0" destOrd="0" parTransId="{6078AEFF-1525-4E34-A85B-BDFB0F555E8D}" sibTransId="{073FD045-7139-4FFA-BFC3-CF795E7E59B4}"/>
    <dgm:cxn modelId="{DA70A5F1-2E96-492D-8791-C87D72A55419}" type="presOf" srcId="{3F65B753-3C3A-4828-91B9-2F1F1CE0B037}" destId="{8E6787AE-0595-4872-B297-B71BCECCE97B}" srcOrd="0" destOrd="0" presId="urn:microsoft.com/office/officeart/2005/8/layout/vList4"/>
    <dgm:cxn modelId="{845482F9-2CC6-4BF1-A6C9-1328D9BB7840}" type="presParOf" srcId="{FCEBE2F3-C8D2-4AAE-9B21-050ECBF71705}" destId="{D95A9BC4-1F5E-43CA-821B-DEBD817643A6}" srcOrd="0" destOrd="0" presId="urn:microsoft.com/office/officeart/2005/8/layout/vList4"/>
    <dgm:cxn modelId="{D25847F4-E175-4117-BEB4-772C5284D5C9}" type="presParOf" srcId="{D95A9BC4-1F5E-43CA-821B-DEBD817643A6}" destId="{8E6787AE-0595-4872-B297-B71BCECCE97B}" srcOrd="0" destOrd="0" presId="urn:microsoft.com/office/officeart/2005/8/layout/vList4"/>
    <dgm:cxn modelId="{40E24795-3538-4C54-ABAF-41199476F43F}" type="presParOf" srcId="{D95A9BC4-1F5E-43CA-821B-DEBD817643A6}" destId="{D3A54809-1816-43EF-A2F3-3A7B4C21C140}" srcOrd="1" destOrd="0" presId="urn:microsoft.com/office/officeart/2005/8/layout/vList4"/>
    <dgm:cxn modelId="{936222EB-5AB7-4DE6-A9E3-E14AC1AE4522}" type="presParOf" srcId="{D95A9BC4-1F5E-43CA-821B-DEBD817643A6}" destId="{D9E6280C-5250-4F40-ACDB-E703C7CD4BC6}" srcOrd="2" destOrd="0" presId="urn:microsoft.com/office/officeart/2005/8/layout/vList4"/>
    <dgm:cxn modelId="{1D5B3ED8-D608-4183-B853-B5C188E4B46F}" type="presParOf" srcId="{FCEBE2F3-C8D2-4AAE-9B21-050ECBF71705}" destId="{CFA5C0F2-0172-4977-981B-79D3F4EB0BDE}" srcOrd="1" destOrd="0" presId="urn:microsoft.com/office/officeart/2005/8/layout/vList4"/>
    <dgm:cxn modelId="{3CC7EE21-60E7-4D56-9E38-D4FC82437343}" type="presParOf" srcId="{FCEBE2F3-C8D2-4AAE-9B21-050ECBF71705}" destId="{DB7ADAC8-07BA-4CEF-8223-3ABC64A68760}" srcOrd="2" destOrd="0" presId="urn:microsoft.com/office/officeart/2005/8/layout/vList4"/>
    <dgm:cxn modelId="{8E5738B5-652C-4230-BB02-5BAB84242A8F}" type="presParOf" srcId="{DB7ADAC8-07BA-4CEF-8223-3ABC64A68760}" destId="{F2847EE4-3F15-42C4-B956-8BA7EED38F1F}" srcOrd="0" destOrd="0" presId="urn:microsoft.com/office/officeart/2005/8/layout/vList4"/>
    <dgm:cxn modelId="{E119A68F-F59E-447F-870C-85187BAC75D1}" type="presParOf" srcId="{DB7ADAC8-07BA-4CEF-8223-3ABC64A68760}" destId="{CB535C25-C531-4452-B9A2-CD903C067237}" srcOrd="1" destOrd="0" presId="urn:microsoft.com/office/officeart/2005/8/layout/vList4"/>
    <dgm:cxn modelId="{302D5E37-D4B3-4927-B4BF-9CE60CB27E87}" type="presParOf" srcId="{DB7ADAC8-07BA-4CEF-8223-3ABC64A68760}" destId="{C5DFA46E-1498-4F1A-A24F-DEA42C1E58C1}" srcOrd="2" destOrd="0" presId="urn:microsoft.com/office/officeart/2005/8/layout/vList4"/>
    <dgm:cxn modelId="{2586E841-C7BD-4532-8A97-E2E755F4D53D}" type="presParOf" srcId="{FCEBE2F3-C8D2-4AAE-9B21-050ECBF71705}" destId="{D7DE5D23-EBE2-4EB8-9D66-E1611B3FD91F}" srcOrd="3" destOrd="0" presId="urn:microsoft.com/office/officeart/2005/8/layout/vList4"/>
    <dgm:cxn modelId="{B5A695D7-3E3F-4423-8850-18CFF764C3B1}" type="presParOf" srcId="{FCEBE2F3-C8D2-4AAE-9B21-050ECBF71705}" destId="{0071E816-CC1E-4F36-BEE4-E27B5BEB5CE8}" srcOrd="4" destOrd="0" presId="urn:microsoft.com/office/officeart/2005/8/layout/vList4"/>
    <dgm:cxn modelId="{2AE78EDE-96A5-424F-B4C8-FB9E13B2BD2B}" type="presParOf" srcId="{0071E816-CC1E-4F36-BEE4-E27B5BEB5CE8}" destId="{EABDAFD3-043A-49D4-B85C-3B76EDFD492D}" srcOrd="0" destOrd="0" presId="urn:microsoft.com/office/officeart/2005/8/layout/vList4"/>
    <dgm:cxn modelId="{AA2F8E20-212B-4B30-BE54-8D44139E89B6}" type="presParOf" srcId="{0071E816-CC1E-4F36-BEE4-E27B5BEB5CE8}" destId="{2634A61B-D631-4170-AE4B-BBB822D65D01}" srcOrd="1" destOrd="0" presId="urn:microsoft.com/office/officeart/2005/8/layout/vList4"/>
    <dgm:cxn modelId="{DE0CFCB3-AC35-464C-B5A8-7572AE1E6D6B}" type="presParOf" srcId="{0071E816-CC1E-4F36-BEE4-E27B5BEB5CE8}" destId="{3C2410C7-5524-4015-AAD4-834B120761D6}" srcOrd="2" destOrd="0" presId="urn:microsoft.com/office/officeart/2005/8/layout/vList4"/>
  </dgm:cxnLst>
  <dgm:bg/>
  <dgm:whole/>
  <dgm:extLst>
    <a:ext uri="http://schemas.microsoft.com/office/drawing/2008/diagram">
      <dsp:dataModelExt xmlns:dsp="http://schemas.microsoft.com/office/drawing/2008/diagram" relId="rId1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3D5B2F-2E37-4566-BB02-BC69170D97E7}">
      <dsp:nvSpPr>
        <dsp:cNvPr id="0" name=""/>
        <dsp:cNvSpPr/>
      </dsp:nvSpPr>
      <dsp:spPr>
        <a:xfrm>
          <a:off x="0" y="0"/>
          <a:ext cx="6776101" cy="861120"/>
        </a:xfrm>
        <a:prstGeom prst="roundRect">
          <a:avLst/>
        </a:prstGeom>
        <a:solidFill>
          <a:schemeClr val="tx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GB" sz="1600" kern="1200" dirty="0">
              <a:solidFill>
                <a:srgbClr val="F2F2F2"/>
              </a:solidFill>
              <a:latin typeface="Times New Roman" panose="02020603050405020304" pitchFamily="18" charset="0"/>
              <a:ea typeface="+mn-lt"/>
              <a:cs typeface="Times New Roman" panose="02020603050405020304" pitchFamily="18" charset="0"/>
            </a:rPr>
            <a:t>Leading European construction and civil engineering company headquartered in the Netherlands, operating across the Netherlands, UK, Ireland, Belgium, and Germany</a:t>
          </a:r>
          <a:r>
            <a:rPr lang="en-GB" sz="1600" kern="1200" dirty="0">
              <a:solidFill>
                <a:schemeClr val="tx2">
                  <a:lumMod val="76000"/>
                </a:schemeClr>
              </a:solidFill>
              <a:latin typeface="Times New Roman" panose="02020603050405020304" pitchFamily="18" charset="0"/>
              <a:ea typeface="+mn-lt"/>
              <a:cs typeface="Times New Roman" panose="02020603050405020304" pitchFamily="18" charset="0"/>
            </a:rPr>
            <a:t>.</a:t>
          </a:r>
          <a:endParaRPr lang="en-GB" sz="1600" kern="1200" dirty="0">
            <a:latin typeface="Times New Roman" panose="02020603050405020304" pitchFamily="18" charset="0"/>
            <a:cs typeface="Times New Roman" panose="02020603050405020304" pitchFamily="18" charset="0"/>
          </a:endParaRPr>
        </a:p>
      </dsp:txBody>
      <dsp:txXfrm>
        <a:off x="42036" y="42036"/>
        <a:ext cx="6692029" cy="777048"/>
      </dsp:txXfrm>
    </dsp:sp>
    <dsp:sp modelId="{694903F0-AD8D-4005-B2CD-B6498816AF2D}">
      <dsp:nvSpPr>
        <dsp:cNvPr id="0" name=""/>
        <dsp:cNvSpPr/>
      </dsp:nvSpPr>
      <dsp:spPr>
        <a:xfrm>
          <a:off x="0" y="1024618"/>
          <a:ext cx="6776101" cy="861120"/>
        </a:xfrm>
        <a:prstGeom prst="roundRect">
          <a:avLst/>
        </a:prstGeom>
        <a:solidFill>
          <a:schemeClr val="tx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GB" sz="1600" kern="1200">
              <a:solidFill>
                <a:srgbClr val="F2F2F2"/>
              </a:solidFill>
              <a:latin typeface="Times New Roman" panose="02020603050405020304" pitchFamily="18" charset="0"/>
              <a:ea typeface="+mn-lt"/>
              <a:cs typeface="Times New Roman" panose="02020603050405020304" pitchFamily="18" charset="0"/>
            </a:rPr>
            <a:t>Provides integrated solutions in building, infrastructure, and public-private partnerships, with a strategic focus on </a:t>
          </a:r>
          <a:r>
            <a:rPr lang="en-GB" sz="1600" b="1" kern="1200">
              <a:solidFill>
                <a:srgbClr val="F2F2F2"/>
              </a:solidFill>
              <a:latin typeface="Times New Roman" panose="02020603050405020304" pitchFamily="18" charset="0"/>
              <a:ea typeface="+mn-lt"/>
              <a:cs typeface="Times New Roman" panose="02020603050405020304" pitchFamily="18" charset="0"/>
            </a:rPr>
            <a:t>sustainable</a:t>
          </a:r>
          <a:r>
            <a:rPr lang="en-GB" sz="1600" kern="1200">
              <a:solidFill>
                <a:srgbClr val="F2F2F2"/>
              </a:solidFill>
              <a:latin typeface="Times New Roman" panose="02020603050405020304" pitchFamily="18" charset="0"/>
              <a:ea typeface="+mn-lt"/>
              <a:cs typeface="Times New Roman" panose="02020603050405020304" pitchFamily="18" charset="0"/>
            </a:rPr>
            <a:t> and </a:t>
          </a:r>
          <a:r>
            <a:rPr lang="en-GB" sz="1600" b="1" kern="1200">
              <a:solidFill>
                <a:srgbClr val="F2F2F2"/>
              </a:solidFill>
              <a:latin typeface="Times New Roman" panose="02020603050405020304" pitchFamily="18" charset="0"/>
              <a:ea typeface="+mn-lt"/>
              <a:cs typeface="Times New Roman" panose="02020603050405020304" pitchFamily="18" charset="0"/>
            </a:rPr>
            <a:t>digital</a:t>
          </a:r>
          <a:r>
            <a:rPr lang="en-GB" sz="1600" kern="1200">
              <a:solidFill>
                <a:srgbClr val="F2F2F2"/>
              </a:solidFill>
              <a:latin typeface="Times New Roman" panose="02020603050405020304" pitchFamily="18" charset="0"/>
              <a:ea typeface="+mn-lt"/>
              <a:cs typeface="Times New Roman" panose="02020603050405020304" pitchFamily="18" charset="0"/>
            </a:rPr>
            <a:t> </a:t>
          </a:r>
          <a:r>
            <a:rPr lang="en-GB" sz="1600" b="1" kern="1200">
              <a:solidFill>
                <a:srgbClr val="F2F2F2"/>
              </a:solidFill>
              <a:latin typeface="Times New Roman" panose="02020603050405020304" pitchFamily="18" charset="0"/>
              <a:ea typeface="+mn-lt"/>
              <a:cs typeface="Times New Roman" panose="02020603050405020304" pitchFamily="18" charset="0"/>
            </a:rPr>
            <a:t>construction</a:t>
          </a:r>
          <a:r>
            <a:rPr lang="en-GB" sz="1600" kern="1200">
              <a:solidFill>
                <a:srgbClr val="F2F2F2"/>
              </a:solidFill>
              <a:latin typeface="Times New Roman" panose="02020603050405020304" pitchFamily="18" charset="0"/>
              <a:ea typeface="+mn-lt"/>
              <a:cs typeface="Times New Roman" panose="02020603050405020304" pitchFamily="18" charset="0"/>
            </a:rPr>
            <a:t>.</a:t>
          </a:r>
          <a:endParaRPr lang="en-GB" sz="1600" kern="1200">
            <a:solidFill>
              <a:srgbClr val="F2F2F2"/>
            </a:solidFill>
            <a:latin typeface="Times New Roman" panose="02020603050405020304" pitchFamily="18" charset="0"/>
            <a:ea typeface="Calibri"/>
            <a:cs typeface="Times New Roman" panose="02020603050405020304" pitchFamily="18" charset="0"/>
          </a:endParaRPr>
        </a:p>
      </dsp:txBody>
      <dsp:txXfrm>
        <a:off x="42036" y="1066654"/>
        <a:ext cx="6692029" cy="777048"/>
      </dsp:txXfrm>
    </dsp:sp>
    <dsp:sp modelId="{9092A7EC-895C-4EE0-8212-7BF7FF9DAD12}">
      <dsp:nvSpPr>
        <dsp:cNvPr id="0" name=""/>
        <dsp:cNvSpPr/>
      </dsp:nvSpPr>
      <dsp:spPr>
        <a:xfrm>
          <a:off x="0" y="1985662"/>
          <a:ext cx="6776101" cy="861120"/>
        </a:xfrm>
        <a:prstGeom prst="roundRect">
          <a:avLst/>
        </a:prstGeom>
        <a:solidFill>
          <a:schemeClr val="tx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Font typeface="Arial"/>
            <a:buNone/>
          </a:pPr>
          <a:r>
            <a:rPr lang="en-GB" sz="1600" kern="1200" dirty="0">
              <a:solidFill>
                <a:srgbClr val="F2F2F2"/>
              </a:solidFill>
              <a:latin typeface="Times New Roman" panose="02020603050405020304" pitchFamily="18" charset="0"/>
              <a:ea typeface="Calibri"/>
              <a:cs typeface="Times New Roman" panose="02020603050405020304" pitchFamily="18" charset="0"/>
            </a:rPr>
            <a:t>BAM’s 2021-2026 strategy emphasises </a:t>
          </a:r>
          <a:r>
            <a:rPr lang="en-GB" sz="1600" b="1" i="1" kern="1200" dirty="0">
              <a:solidFill>
                <a:srgbClr val="F2F2F2"/>
              </a:solidFill>
              <a:latin typeface="Times New Roman" panose="02020603050405020304" pitchFamily="18" charset="0"/>
              <a:ea typeface="Calibri"/>
              <a:cs typeface="Times New Roman" panose="02020603050405020304" pitchFamily="18" charset="0"/>
            </a:rPr>
            <a:t>Focus</a:t>
          </a:r>
          <a:r>
            <a:rPr lang="en-GB" sz="1600" i="1" kern="1200" dirty="0">
              <a:solidFill>
                <a:srgbClr val="F2F2F2"/>
              </a:solidFill>
              <a:latin typeface="Times New Roman" panose="02020603050405020304" pitchFamily="18" charset="0"/>
              <a:ea typeface="Calibri"/>
              <a:cs typeface="Times New Roman" panose="02020603050405020304" pitchFamily="18" charset="0"/>
            </a:rPr>
            <a:t>, </a:t>
          </a:r>
          <a:r>
            <a:rPr lang="en-GB" sz="1600" b="1" i="1" kern="1200" dirty="0">
              <a:solidFill>
                <a:srgbClr val="F2F2F2"/>
              </a:solidFill>
              <a:latin typeface="Times New Roman" panose="02020603050405020304" pitchFamily="18" charset="0"/>
              <a:ea typeface="Calibri"/>
              <a:cs typeface="Times New Roman" panose="02020603050405020304" pitchFamily="18" charset="0"/>
            </a:rPr>
            <a:t>Transform</a:t>
          </a:r>
          <a:r>
            <a:rPr lang="en-GB" sz="1600" i="1" kern="1200" dirty="0">
              <a:solidFill>
                <a:srgbClr val="F2F2F2"/>
              </a:solidFill>
              <a:latin typeface="Times New Roman" panose="02020603050405020304" pitchFamily="18" charset="0"/>
              <a:ea typeface="Calibri"/>
              <a:cs typeface="Times New Roman" panose="02020603050405020304" pitchFamily="18" charset="0"/>
            </a:rPr>
            <a:t>, </a:t>
          </a:r>
          <a:r>
            <a:rPr lang="en-GB" sz="1600" b="1" i="1" kern="1200" dirty="0">
              <a:solidFill>
                <a:srgbClr val="F2F2F2"/>
              </a:solidFill>
              <a:latin typeface="Times New Roman" panose="02020603050405020304" pitchFamily="18" charset="0"/>
              <a:ea typeface="Calibri"/>
              <a:cs typeface="Times New Roman" panose="02020603050405020304" pitchFamily="18" charset="0"/>
            </a:rPr>
            <a:t>Expand</a:t>
          </a:r>
          <a:r>
            <a:rPr lang="en-GB" sz="1600" kern="1200" dirty="0">
              <a:solidFill>
                <a:srgbClr val="F2F2F2"/>
              </a:solidFill>
              <a:latin typeface="Times New Roman" panose="02020603050405020304" pitchFamily="18" charset="0"/>
              <a:ea typeface="Calibri"/>
              <a:cs typeface="Times New Roman" panose="02020603050405020304" pitchFamily="18" charset="0"/>
            </a:rPr>
            <a:t>, aligned with sustainability, digitalisation and predictable profitability</a:t>
          </a:r>
          <a:endParaRPr lang="en-GB" sz="1600" kern="1200" dirty="0">
            <a:solidFill>
              <a:srgbClr val="F2F2F2"/>
            </a:solidFill>
            <a:latin typeface="Times New Roman" panose="02020603050405020304" pitchFamily="18" charset="0"/>
            <a:cs typeface="Times New Roman" panose="02020603050405020304" pitchFamily="18" charset="0"/>
          </a:endParaRPr>
        </a:p>
      </dsp:txBody>
      <dsp:txXfrm>
        <a:off x="42036" y="2027698"/>
        <a:ext cx="6692029" cy="77704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77FB4A-BEE5-4126-803A-202D266D5427}">
      <dsp:nvSpPr>
        <dsp:cNvPr id="0" name=""/>
        <dsp:cNvSpPr/>
      </dsp:nvSpPr>
      <dsp:spPr>
        <a:xfrm>
          <a:off x="0" y="1843268"/>
          <a:ext cx="9086126" cy="0"/>
        </a:xfrm>
        <a:prstGeom prst="line">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tailEnd type="triangle" w="lg" len="lg"/>
        </a:ln>
        <a:effectLst/>
      </dsp:spPr>
      <dsp:style>
        <a:lnRef idx="2">
          <a:scrgbClr r="0" g="0" b="0"/>
        </a:lnRef>
        <a:fillRef idx="1">
          <a:scrgbClr r="0" g="0" b="0"/>
        </a:fillRef>
        <a:effectRef idx="0">
          <a:scrgbClr r="0" g="0" b="0"/>
        </a:effectRef>
        <a:fontRef idx="minor"/>
      </dsp:style>
    </dsp:sp>
    <dsp:sp modelId="{5327CF96-183F-488E-9567-69975D69C14F}">
      <dsp:nvSpPr>
        <dsp:cNvPr id="0" name=""/>
        <dsp:cNvSpPr/>
      </dsp:nvSpPr>
      <dsp:spPr>
        <a:xfrm>
          <a:off x="201554" y="1979669"/>
          <a:ext cx="2916433" cy="4165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00100">
            <a:lnSpc>
              <a:spcPct val="90000"/>
            </a:lnSpc>
            <a:spcBef>
              <a:spcPct val="0"/>
            </a:spcBef>
            <a:spcAft>
              <a:spcPct val="35000"/>
            </a:spcAft>
            <a:buNone/>
            <a:defRPr b="1"/>
          </a:pPr>
          <a:r>
            <a:rPr lang="en-GB" sz="1800" kern="1200">
              <a:latin typeface="Times New Roman" panose="02020603050405020304" pitchFamily="18" charset="0"/>
              <a:cs typeface="Times New Roman" panose="02020603050405020304" pitchFamily="18" charset="0"/>
            </a:rPr>
            <a:t>09/01</a:t>
          </a:r>
        </a:p>
      </dsp:txBody>
      <dsp:txXfrm>
        <a:off x="201554" y="1979669"/>
        <a:ext cx="2916433" cy="416578"/>
      </dsp:txXfrm>
    </dsp:sp>
    <dsp:sp modelId="{BFAAEA10-7AD6-4513-9CE3-9AA6F714594E}">
      <dsp:nvSpPr>
        <dsp:cNvPr id="0" name=""/>
        <dsp:cNvSpPr/>
      </dsp:nvSpPr>
      <dsp:spPr>
        <a:xfrm>
          <a:off x="0" y="0"/>
          <a:ext cx="3314128" cy="1080327"/>
        </a:xfrm>
        <a:prstGeom prst="round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4460" tIns="124460" rIns="124460" bIns="124460" numCol="1" spcCol="1270" anchor="ctr" anchorCtr="0">
          <a:noAutofit/>
        </a:bodyPr>
        <a:lstStyle/>
        <a:p>
          <a:pPr marL="0" lvl="0" indent="0" algn="l" defTabSz="622300">
            <a:lnSpc>
              <a:spcPct val="90000"/>
            </a:lnSpc>
            <a:spcBef>
              <a:spcPct val="0"/>
            </a:spcBef>
            <a:spcAft>
              <a:spcPct val="35000"/>
            </a:spcAft>
            <a:buNone/>
          </a:pPr>
          <a:r>
            <a:rPr lang="en-GB" sz="1400" b="0" kern="1200" dirty="0">
              <a:solidFill>
                <a:schemeClr val="tx1"/>
              </a:solidFill>
              <a:latin typeface="Times New Roman" panose="02020603050405020304" pitchFamily="18" charset="0"/>
              <a:cs typeface="Times New Roman" panose="02020603050405020304" pitchFamily="18" charset="0"/>
            </a:rPr>
            <a:t>Boost to transport-infrastructure and energy-transition sub-sectors, favourable for BAM given its infrastructure capabilities.</a:t>
          </a:r>
          <a:endParaRPr lang="en-GB" sz="1400" b="1" kern="1200" dirty="0">
            <a:solidFill>
              <a:schemeClr val="tx1"/>
            </a:solidFill>
            <a:latin typeface="Times New Roman" panose="02020603050405020304" pitchFamily="18" charset="0"/>
            <a:ea typeface="Calibri"/>
            <a:cs typeface="Times New Roman" panose="02020603050405020304" pitchFamily="18" charset="0"/>
          </a:endParaRPr>
        </a:p>
      </dsp:txBody>
      <dsp:txXfrm>
        <a:off x="52737" y="52737"/>
        <a:ext cx="3208654" cy="974853"/>
      </dsp:txXfrm>
    </dsp:sp>
    <dsp:sp modelId="{5F2BB2D8-96DE-44D7-B709-AC9E2772976A}">
      <dsp:nvSpPr>
        <dsp:cNvPr id="0" name=""/>
        <dsp:cNvSpPr/>
      </dsp:nvSpPr>
      <dsp:spPr>
        <a:xfrm>
          <a:off x="1659770" y="1142826"/>
          <a:ext cx="0" cy="700441"/>
        </a:xfrm>
        <a:prstGeom prst="line">
          <a:avLst/>
        </a:prstGeom>
        <a:noFill/>
        <a:ln w="9525" cap="flat" cmpd="sng" algn="ctr">
          <a:solidFill>
            <a:schemeClr val="accent1">
              <a:hueOff val="0"/>
              <a:satOff val="0"/>
              <a:lumOff val="0"/>
              <a:alphaOff val="0"/>
            </a:schemeClr>
          </a:solidFill>
          <a:prstDash val="dash"/>
        </a:ln>
        <a:effectLst/>
      </dsp:spPr>
      <dsp:style>
        <a:lnRef idx="1">
          <a:scrgbClr r="0" g="0" b="0"/>
        </a:lnRef>
        <a:fillRef idx="0">
          <a:scrgbClr r="0" g="0" b="0"/>
        </a:fillRef>
        <a:effectRef idx="0">
          <a:scrgbClr r="0" g="0" b="0"/>
        </a:effectRef>
        <a:fontRef idx="minor"/>
      </dsp:style>
    </dsp:sp>
    <dsp:sp modelId="{E39643B6-3660-45D8-895B-32E64F63CCAD}">
      <dsp:nvSpPr>
        <dsp:cNvPr id="0" name=""/>
        <dsp:cNvSpPr/>
      </dsp:nvSpPr>
      <dsp:spPr>
        <a:xfrm>
          <a:off x="2123748" y="1290287"/>
          <a:ext cx="2916433" cy="4165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800100">
            <a:lnSpc>
              <a:spcPct val="90000"/>
            </a:lnSpc>
            <a:spcBef>
              <a:spcPct val="0"/>
            </a:spcBef>
            <a:spcAft>
              <a:spcPct val="35000"/>
            </a:spcAft>
            <a:buNone/>
            <a:defRPr b="1"/>
          </a:pPr>
          <a:r>
            <a:rPr lang="en-GB" sz="1800" b="1" kern="1200">
              <a:solidFill>
                <a:srgbClr val="000000"/>
              </a:solidFill>
              <a:latin typeface="Times New Roman" panose="02020603050405020304" pitchFamily="18" charset="0"/>
              <a:ea typeface="Calibri"/>
              <a:cs typeface="Times New Roman" panose="02020603050405020304" pitchFamily="18" charset="0"/>
            </a:rPr>
            <a:t>06/02</a:t>
          </a:r>
        </a:p>
      </dsp:txBody>
      <dsp:txXfrm>
        <a:off x="2123748" y="1290287"/>
        <a:ext cx="2916433" cy="416578"/>
      </dsp:txXfrm>
    </dsp:sp>
    <dsp:sp modelId="{88A8BCD1-F88F-4725-B750-B9CDB46D9AD0}">
      <dsp:nvSpPr>
        <dsp:cNvPr id="0" name=""/>
        <dsp:cNvSpPr/>
      </dsp:nvSpPr>
      <dsp:spPr>
        <a:xfrm>
          <a:off x="1632121" y="1815618"/>
          <a:ext cx="55298" cy="55298"/>
        </a:xfrm>
        <a:prstGeom prst="ellips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7880A02-088D-4A48-964D-5A8BC5BA5E2B}">
      <dsp:nvSpPr>
        <dsp:cNvPr id="0" name=""/>
        <dsp:cNvSpPr/>
      </dsp:nvSpPr>
      <dsp:spPr>
        <a:xfrm>
          <a:off x="1924901" y="2543709"/>
          <a:ext cx="3314128" cy="1142826"/>
        </a:xfrm>
        <a:prstGeom prst="round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4460" tIns="124460" rIns="124460" bIns="124460" numCol="1" spcCol="1270" anchor="ctr" anchorCtr="0">
          <a:noAutofit/>
        </a:bodyPr>
        <a:lstStyle/>
        <a:p>
          <a:pPr marL="0" lvl="0" indent="0" algn="l" defTabSz="622300">
            <a:lnSpc>
              <a:spcPct val="90000"/>
            </a:lnSpc>
            <a:spcBef>
              <a:spcPct val="0"/>
            </a:spcBef>
            <a:spcAft>
              <a:spcPct val="35000"/>
            </a:spcAft>
            <a:buNone/>
          </a:pPr>
          <a:r>
            <a:rPr lang="en-GB" sz="1400" kern="1200" dirty="0">
              <a:solidFill>
                <a:schemeClr val="tx1"/>
              </a:solidFill>
              <a:latin typeface="Times New Roman" panose="02020603050405020304" pitchFamily="18" charset="0"/>
              <a:cs typeface="Times New Roman" panose="02020603050405020304" pitchFamily="18" charset="0"/>
            </a:rPr>
            <a:t>CINEA announced </a:t>
          </a:r>
          <a:r>
            <a:rPr lang="en-GB" sz="1400" b="1" kern="1200" dirty="0">
              <a:solidFill>
                <a:schemeClr val="tx1"/>
              </a:solidFill>
              <a:latin typeface="Times New Roman" panose="02020603050405020304" pitchFamily="18" charset="0"/>
              <a:cs typeface="Times New Roman" panose="02020603050405020304" pitchFamily="18" charset="0"/>
            </a:rPr>
            <a:t>€422 million</a:t>
          </a:r>
          <a:r>
            <a:rPr lang="en-GB" sz="1400" kern="1200" dirty="0">
              <a:solidFill>
                <a:schemeClr val="tx1"/>
              </a:solidFill>
              <a:latin typeface="Times New Roman" panose="02020603050405020304" pitchFamily="18" charset="0"/>
              <a:cs typeface="Times New Roman" panose="02020603050405020304" pitchFamily="18" charset="0"/>
            </a:rPr>
            <a:t> in EU funding for alternative fuels infrastructure, boost to transport-infrastructure, and energy transition sub-sectors</a:t>
          </a:r>
        </a:p>
      </dsp:txBody>
      <dsp:txXfrm>
        <a:off x="1980689" y="2599497"/>
        <a:ext cx="3202552" cy="1031250"/>
      </dsp:txXfrm>
    </dsp:sp>
    <dsp:sp modelId="{017625AF-4F32-40F1-B2BA-1D4BA64CDFF0}">
      <dsp:nvSpPr>
        <dsp:cNvPr id="0" name=""/>
        <dsp:cNvSpPr/>
      </dsp:nvSpPr>
      <dsp:spPr>
        <a:xfrm>
          <a:off x="3581965" y="1843268"/>
          <a:ext cx="0" cy="700441"/>
        </a:xfrm>
        <a:prstGeom prst="line">
          <a:avLst/>
        </a:prstGeom>
        <a:noFill/>
        <a:ln w="9525" cap="flat" cmpd="sng" algn="ctr">
          <a:solidFill>
            <a:schemeClr val="accent1">
              <a:hueOff val="0"/>
              <a:satOff val="0"/>
              <a:lumOff val="0"/>
              <a:alphaOff val="0"/>
            </a:schemeClr>
          </a:solidFill>
          <a:prstDash val="dash"/>
        </a:ln>
        <a:effectLst/>
      </dsp:spPr>
      <dsp:style>
        <a:lnRef idx="1">
          <a:scrgbClr r="0" g="0" b="0"/>
        </a:lnRef>
        <a:fillRef idx="0">
          <a:scrgbClr r="0" g="0" b="0"/>
        </a:fillRef>
        <a:effectRef idx="0">
          <a:scrgbClr r="0" g="0" b="0"/>
        </a:effectRef>
        <a:fontRef idx="minor"/>
      </dsp:style>
    </dsp:sp>
    <dsp:sp modelId="{54B0BD7D-20EF-4419-8EA4-5C205165C399}">
      <dsp:nvSpPr>
        <dsp:cNvPr id="0" name=""/>
        <dsp:cNvSpPr/>
      </dsp:nvSpPr>
      <dsp:spPr>
        <a:xfrm>
          <a:off x="4045943" y="1979669"/>
          <a:ext cx="2916433" cy="4165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00100">
            <a:lnSpc>
              <a:spcPct val="90000"/>
            </a:lnSpc>
            <a:spcBef>
              <a:spcPct val="0"/>
            </a:spcBef>
            <a:spcAft>
              <a:spcPct val="35000"/>
            </a:spcAft>
            <a:buNone/>
            <a:defRPr b="1"/>
          </a:pPr>
          <a:r>
            <a:rPr lang="en-GB" sz="1800" b="1" kern="1200">
              <a:latin typeface="Times New Roman" panose="02020603050405020304" pitchFamily="18" charset="0"/>
              <a:cs typeface="Times New Roman" panose="02020603050405020304" pitchFamily="18" charset="0"/>
            </a:rPr>
            <a:t>03/05</a:t>
          </a:r>
        </a:p>
      </dsp:txBody>
      <dsp:txXfrm>
        <a:off x="4045943" y="1979669"/>
        <a:ext cx="2916433" cy="416578"/>
      </dsp:txXfrm>
    </dsp:sp>
    <dsp:sp modelId="{473E76BE-A991-4397-9900-769A1B3054F6}">
      <dsp:nvSpPr>
        <dsp:cNvPr id="0" name=""/>
        <dsp:cNvSpPr/>
      </dsp:nvSpPr>
      <dsp:spPr>
        <a:xfrm>
          <a:off x="3554316" y="1815618"/>
          <a:ext cx="55298" cy="55298"/>
        </a:xfrm>
        <a:prstGeom prst="ellips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4B025FF-F15D-4F63-BFB1-B04F18174C21}">
      <dsp:nvSpPr>
        <dsp:cNvPr id="0" name=""/>
        <dsp:cNvSpPr/>
      </dsp:nvSpPr>
      <dsp:spPr>
        <a:xfrm>
          <a:off x="3847095" y="0"/>
          <a:ext cx="3314128" cy="1142826"/>
        </a:xfrm>
        <a:prstGeom prst="round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4460" tIns="124460" rIns="124460" bIns="124460" numCol="1" spcCol="1270" anchor="ctr" anchorCtr="0">
          <a:noAutofit/>
        </a:bodyPr>
        <a:lstStyle/>
        <a:p>
          <a:pPr marL="0" lvl="0" indent="0" algn="l" defTabSz="622300">
            <a:lnSpc>
              <a:spcPct val="90000"/>
            </a:lnSpc>
            <a:spcBef>
              <a:spcPct val="0"/>
            </a:spcBef>
            <a:spcAft>
              <a:spcPct val="35000"/>
            </a:spcAft>
            <a:buNone/>
          </a:pPr>
          <a:r>
            <a:rPr lang="en-GB" sz="1400" b="0" kern="1200" dirty="0">
              <a:solidFill>
                <a:schemeClr val="tx1"/>
              </a:solidFill>
              <a:latin typeface="Times New Roman" panose="02020603050405020304" pitchFamily="18" charset="0"/>
              <a:cs typeface="Times New Roman" panose="02020603050405020304" pitchFamily="18" charset="0"/>
            </a:rPr>
            <a:t>Europe’s construction outlook from Fitch Solutions indicated moderate growth, emphasises the importance of scale, efficiency, and picking the right segments which BAM is doing </a:t>
          </a:r>
        </a:p>
      </dsp:txBody>
      <dsp:txXfrm>
        <a:off x="3902883" y="55788"/>
        <a:ext cx="3202552" cy="1031250"/>
      </dsp:txXfrm>
    </dsp:sp>
    <dsp:sp modelId="{986631C0-AA86-4B58-A077-E21DF3B19E92}">
      <dsp:nvSpPr>
        <dsp:cNvPr id="0" name=""/>
        <dsp:cNvSpPr/>
      </dsp:nvSpPr>
      <dsp:spPr>
        <a:xfrm>
          <a:off x="5504160" y="1142826"/>
          <a:ext cx="0" cy="700441"/>
        </a:xfrm>
        <a:prstGeom prst="line">
          <a:avLst/>
        </a:prstGeom>
        <a:noFill/>
        <a:ln w="9525" cap="flat" cmpd="sng" algn="ctr">
          <a:solidFill>
            <a:schemeClr val="accent1">
              <a:hueOff val="0"/>
              <a:satOff val="0"/>
              <a:lumOff val="0"/>
              <a:alphaOff val="0"/>
            </a:schemeClr>
          </a:solidFill>
          <a:prstDash val="dash"/>
        </a:ln>
        <a:effectLst/>
      </dsp:spPr>
      <dsp:style>
        <a:lnRef idx="1">
          <a:scrgbClr r="0" g="0" b="0"/>
        </a:lnRef>
        <a:fillRef idx="0">
          <a:scrgbClr r="0" g="0" b="0"/>
        </a:fillRef>
        <a:effectRef idx="0">
          <a:scrgbClr r="0" g="0" b="0"/>
        </a:effectRef>
        <a:fontRef idx="minor"/>
      </dsp:style>
    </dsp:sp>
    <dsp:sp modelId="{6BE37A20-226E-4DA1-AC99-38AA8DB376DD}">
      <dsp:nvSpPr>
        <dsp:cNvPr id="0" name=""/>
        <dsp:cNvSpPr/>
      </dsp:nvSpPr>
      <dsp:spPr>
        <a:xfrm>
          <a:off x="5968138" y="1290287"/>
          <a:ext cx="2916433" cy="4165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800100">
            <a:lnSpc>
              <a:spcPct val="90000"/>
            </a:lnSpc>
            <a:spcBef>
              <a:spcPct val="0"/>
            </a:spcBef>
            <a:spcAft>
              <a:spcPct val="35000"/>
            </a:spcAft>
            <a:buNone/>
            <a:defRPr b="1"/>
          </a:pPr>
          <a:r>
            <a:rPr lang="en-GB" sz="1800" b="1" kern="1200">
              <a:solidFill>
                <a:srgbClr val="000000"/>
              </a:solidFill>
              <a:latin typeface="Times New Roman" panose="02020603050405020304" pitchFamily="18" charset="0"/>
              <a:ea typeface="Calibri"/>
              <a:cs typeface="Times New Roman" panose="02020603050405020304" pitchFamily="18" charset="0"/>
            </a:rPr>
            <a:t>24/07</a:t>
          </a:r>
          <a:endParaRPr lang="en-GB" sz="2000" b="1" kern="1200">
            <a:solidFill>
              <a:srgbClr val="000000"/>
            </a:solidFill>
            <a:latin typeface="Times New Roman" panose="02020603050405020304" pitchFamily="18" charset="0"/>
            <a:ea typeface="Calibri"/>
            <a:cs typeface="Times New Roman" panose="02020603050405020304" pitchFamily="18" charset="0"/>
          </a:endParaRPr>
        </a:p>
      </dsp:txBody>
      <dsp:txXfrm>
        <a:off x="5968138" y="1290287"/>
        <a:ext cx="2916433" cy="416578"/>
      </dsp:txXfrm>
    </dsp:sp>
    <dsp:sp modelId="{63287593-68F1-4077-A067-1E2004F65DF3}">
      <dsp:nvSpPr>
        <dsp:cNvPr id="0" name=""/>
        <dsp:cNvSpPr/>
      </dsp:nvSpPr>
      <dsp:spPr>
        <a:xfrm>
          <a:off x="5476511" y="1815618"/>
          <a:ext cx="55298" cy="55298"/>
        </a:xfrm>
        <a:prstGeom prst="ellips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7F8220B-F2B7-4AEB-95D7-1FECC2DC0DDC}">
      <dsp:nvSpPr>
        <dsp:cNvPr id="0" name=""/>
        <dsp:cNvSpPr/>
      </dsp:nvSpPr>
      <dsp:spPr>
        <a:xfrm>
          <a:off x="5769290" y="2543709"/>
          <a:ext cx="3314128" cy="1142826"/>
        </a:xfrm>
        <a:prstGeom prst="round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4460" tIns="124460" rIns="124460" bIns="124460" numCol="1" spcCol="1270" anchor="ctr" anchorCtr="0">
          <a:noAutofit/>
        </a:bodyPr>
        <a:lstStyle/>
        <a:p>
          <a:pPr marL="0" lvl="0" indent="0" algn="l" defTabSz="622300">
            <a:lnSpc>
              <a:spcPct val="90000"/>
            </a:lnSpc>
            <a:spcBef>
              <a:spcPct val="0"/>
            </a:spcBef>
            <a:spcAft>
              <a:spcPct val="35000"/>
            </a:spcAft>
            <a:buNone/>
          </a:pPr>
          <a:r>
            <a:rPr lang="en-GB" sz="1400" b="0" kern="1200" dirty="0">
              <a:solidFill>
                <a:schemeClr val="tx1"/>
              </a:solidFill>
              <a:latin typeface="Times New Roman" panose="02020603050405020304" pitchFamily="18" charset="0"/>
              <a:cs typeface="Times New Roman" panose="02020603050405020304" pitchFamily="18" charset="0"/>
            </a:rPr>
            <a:t>BAM’s H1 2025 results showed revenue up 7%, adjusted EBITDA up ~40% with margin ~5.2%. The company pointed to robust demand for energy transition, infrastructure and affordable housing. </a:t>
          </a:r>
        </a:p>
      </dsp:txBody>
      <dsp:txXfrm>
        <a:off x="5825078" y="2599497"/>
        <a:ext cx="3202552" cy="1031250"/>
      </dsp:txXfrm>
    </dsp:sp>
    <dsp:sp modelId="{6403DCB8-D23D-4086-92CD-1EFBF3D16F02}">
      <dsp:nvSpPr>
        <dsp:cNvPr id="0" name=""/>
        <dsp:cNvSpPr/>
      </dsp:nvSpPr>
      <dsp:spPr>
        <a:xfrm>
          <a:off x="7426355" y="1843268"/>
          <a:ext cx="0" cy="700441"/>
        </a:xfrm>
        <a:prstGeom prst="line">
          <a:avLst/>
        </a:prstGeom>
        <a:noFill/>
        <a:ln w="9525" cap="flat" cmpd="sng" algn="ctr">
          <a:solidFill>
            <a:schemeClr val="accent1">
              <a:hueOff val="0"/>
              <a:satOff val="0"/>
              <a:lumOff val="0"/>
              <a:alphaOff val="0"/>
            </a:schemeClr>
          </a:solidFill>
          <a:prstDash val="dash"/>
        </a:ln>
        <a:effectLst/>
      </dsp:spPr>
      <dsp:style>
        <a:lnRef idx="1">
          <a:scrgbClr r="0" g="0" b="0"/>
        </a:lnRef>
        <a:fillRef idx="0">
          <a:scrgbClr r="0" g="0" b="0"/>
        </a:fillRef>
        <a:effectRef idx="0">
          <a:scrgbClr r="0" g="0" b="0"/>
        </a:effectRef>
        <a:fontRef idx="minor"/>
      </dsp:style>
    </dsp:sp>
    <dsp:sp modelId="{DD5A4152-5771-4E62-8A61-D084EE10A59B}">
      <dsp:nvSpPr>
        <dsp:cNvPr id="0" name=""/>
        <dsp:cNvSpPr/>
      </dsp:nvSpPr>
      <dsp:spPr>
        <a:xfrm>
          <a:off x="7398706" y="1815618"/>
          <a:ext cx="55298" cy="55298"/>
        </a:xfrm>
        <a:prstGeom prst="ellips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E145E1-2B28-45AD-8962-7A40A7AEB20D}">
      <dsp:nvSpPr>
        <dsp:cNvPr id="0" name=""/>
        <dsp:cNvSpPr/>
      </dsp:nvSpPr>
      <dsp:spPr>
        <a:xfrm rot="16200000">
          <a:off x="-2465042" y="3541621"/>
          <a:ext cx="5425309" cy="3991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351998" bIns="0" numCol="1" spcCol="1270" anchor="t" anchorCtr="0">
          <a:noAutofit/>
        </a:bodyPr>
        <a:lstStyle/>
        <a:p>
          <a:pPr marL="0" lvl="0" indent="0" algn="r" defTabSz="1377950">
            <a:lnSpc>
              <a:spcPct val="90000"/>
            </a:lnSpc>
            <a:spcBef>
              <a:spcPct val="0"/>
            </a:spcBef>
            <a:spcAft>
              <a:spcPct val="35000"/>
            </a:spcAft>
            <a:buNone/>
          </a:pPr>
          <a:r>
            <a:rPr lang="en-GB" sz="3100" kern="1200">
              <a:latin typeface="Times New Roman" panose="02020603050405020304" pitchFamily="18" charset="0"/>
              <a:cs typeface="Times New Roman" panose="02020603050405020304" pitchFamily="18" charset="0"/>
            </a:rPr>
            <a:t>United Kingdom</a:t>
          </a:r>
        </a:p>
      </dsp:txBody>
      <dsp:txXfrm>
        <a:off x="-2465042" y="3541621"/>
        <a:ext cx="5425309" cy="399115"/>
      </dsp:txXfrm>
    </dsp:sp>
    <dsp:sp modelId="{7210D373-0F57-43C0-AFF4-1536EA0FC370}">
      <dsp:nvSpPr>
        <dsp:cNvPr id="0" name=""/>
        <dsp:cNvSpPr/>
      </dsp:nvSpPr>
      <dsp:spPr>
        <a:xfrm>
          <a:off x="444008" y="1029527"/>
          <a:ext cx="1988019" cy="4845289"/>
        </a:xfrm>
        <a:prstGeom prst="rect">
          <a:avLst/>
        </a:prstGeom>
        <a:solidFill>
          <a:schemeClr val="tx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351998" rIns="99568" bIns="99568" numCol="1" spcCol="1270" anchor="t" anchorCtr="0">
          <a:noAutofit/>
        </a:bodyPr>
        <a:lstStyle/>
        <a:p>
          <a:pPr marL="114300" lvl="1" indent="-114300" algn="l" defTabSz="622300">
            <a:lnSpc>
              <a:spcPct val="90000"/>
            </a:lnSpc>
            <a:spcBef>
              <a:spcPct val="0"/>
            </a:spcBef>
            <a:spcAft>
              <a:spcPct val="15000"/>
            </a:spcAft>
            <a:buChar char="•"/>
          </a:pPr>
          <a:r>
            <a:rPr lang="en-GB" sz="1400" kern="1200">
              <a:latin typeface="Times New Roman" panose="02020603050405020304" pitchFamily="18" charset="0"/>
              <a:cs typeface="Times New Roman" panose="02020603050405020304" pitchFamily="18" charset="0"/>
            </a:rPr>
            <a:t>UK 10 Year Infrastructure Project provides a strong macroeconomic tailwind, promising over £725bn in public infrastructure over the next decade</a:t>
          </a:r>
        </a:p>
        <a:p>
          <a:pPr marL="114300" lvl="1" indent="-114300" algn="l" defTabSz="622300">
            <a:lnSpc>
              <a:spcPct val="90000"/>
            </a:lnSpc>
            <a:spcBef>
              <a:spcPct val="0"/>
            </a:spcBef>
            <a:spcAft>
              <a:spcPct val="15000"/>
            </a:spcAft>
            <a:buChar char="•"/>
          </a:pPr>
          <a:r>
            <a:rPr lang="en-GB" sz="1400" kern="1200">
              <a:latin typeface="Times New Roman" panose="02020603050405020304" pitchFamily="18" charset="0"/>
              <a:cs typeface="Times New Roman" panose="02020603050405020304" pitchFamily="18" charset="0"/>
            </a:rPr>
            <a:t>Eastern Green Link 2 green-lit by Ofgem, BAM positioned to deliver both converter stations and positioned for repeat business in the Great Grid Upgrade</a:t>
          </a:r>
        </a:p>
        <a:p>
          <a:pPr marL="114300" lvl="1" indent="-114300" algn="l" defTabSz="622300">
            <a:lnSpc>
              <a:spcPct val="90000"/>
            </a:lnSpc>
            <a:spcBef>
              <a:spcPct val="0"/>
            </a:spcBef>
            <a:spcAft>
              <a:spcPct val="15000"/>
            </a:spcAft>
            <a:buChar char="•"/>
          </a:pPr>
          <a:r>
            <a:rPr lang="en-GB" sz="1400" kern="1200">
              <a:latin typeface="Times New Roman" panose="02020603050405020304" pitchFamily="18" charset="0"/>
              <a:cs typeface="Times New Roman" panose="02020603050405020304" pitchFamily="18" charset="0"/>
            </a:rPr>
            <a:t>BAM re-appointed in EA’s Collaborative Delivery Framework, ramping toward £5bn of capital</a:t>
          </a:r>
        </a:p>
        <a:p>
          <a:pPr marL="114300" lvl="1" indent="-114300" algn="l" defTabSz="533400">
            <a:lnSpc>
              <a:spcPct val="90000"/>
            </a:lnSpc>
            <a:spcBef>
              <a:spcPct val="0"/>
            </a:spcBef>
            <a:spcAft>
              <a:spcPct val="15000"/>
            </a:spcAft>
            <a:buChar char="•"/>
          </a:pPr>
          <a:endParaRPr lang="en-GB" sz="1200" kern="1200"/>
        </a:p>
      </dsp:txBody>
      <dsp:txXfrm>
        <a:off x="444008" y="1029527"/>
        <a:ext cx="1988019" cy="4845289"/>
      </dsp:txXfrm>
    </dsp:sp>
    <dsp:sp modelId="{3F25EA00-EB7F-4A57-88E9-B0F708E367FC}">
      <dsp:nvSpPr>
        <dsp:cNvPr id="0" name=""/>
        <dsp:cNvSpPr/>
      </dsp:nvSpPr>
      <dsp:spPr>
        <a:xfrm>
          <a:off x="50600" y="487179"/>
          <a:ext cx="798231" cy="798231"/>
        </a:xfrm>
        <a:prstGeom prst="rect">
          <a:avLst/>
        </a:prstGeom>
        <a:blipFill>
          <a:blip xmlns:r="http://schemas.openxmlformats.org/officeDocument/2006/relationships" r:embed="rId1"/>
          <a:srcRect/>
          <a:stretch>
            <a:fillRect l="-16000" r="-16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C7C5795-8B85-420F-BA5A-9433529A240F}">
      <dsp:nvSpPr>
        <dsp:cNvPr id="0" name=""/>
        <dsp:cNvSpPr/>
      </dsp:nvSpPr>
      <dsp:spPr>
        <a:xfrm rot="16200000">
          <a:off x="411073" y="3541621"/>
          <a:ext cx="5425309" cy="3991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351998" bIns="0" numCol="1" spcCol="1270" anchor="t" anchorCtr="0">
          <a:noAutofit/>
        </a:bodyPr>
        <a:lstStyle/>
        <a:p>
          <a:pPr marL="0" lvl="0" indent="0" algn="r" defTabSz="1244600">
            <a:lnSpc>
              <a:spcPct val="90000"/>
            </a:lnSpc>
            <a:spcBef>
              <a:spcPct val="0"/>
            </a:spcBef>
            <a:spcAft>
              <a:spcPct val="35000"/>
            </a:spcAft>
            <a:buNone/>
          </a:pPr>
          <a:r>
            <a:rPr lang="en-GB" sz="2800" kern="1200">
              <a:latin typeface="Times New Roman" panose="02020603050405020304" pitchFamily="18" charset="0"/>
              <a:cs typeface="Times New Roman" panose="02020603050405020304" pitchFamily="18" charset="0"/>
            </a:rPr>
            <a:t>Ireland</a:t>
          </a:r>
        </a:p>
      </dsp:txBody>
      <dsp:txXfrm>
        <a:off x="411073" y="3541621"/>
        <a:ext cx="5425309" cy="399115"/>
      </dsp:txXfrm>
    </dsp:sp>
    <dsp:sp modelId="{35128DED-17E6-48A8-9018-181BFCB088F7}">
      <dsp:nvSpPr>
        <dsp:cNvPr id="0" name=""/>
        <dsp:cNvSpPr/>
      </dsp:nvSpPr>
      <dsp:spPr>
        <a:xfrm>
          <a:off x="3301279" y="1022691"/>
          <a:ext cx="1988019" cy="4420270"/>
        </a:xfrm>
        <a:prstGeom prst="rect">
          <a:avLst/>
        </a:prstGeom>
        <a:solidFill>
          <a:schemeClr val="tx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351998" rIns="99568" bIns="99568" numCol="1" spcCol="1270" anchor="t" anchorCtr="0">
          <a:noAutofit/>
        </a:bodyPr>
        <a:lstStyle/>
        <a:p>
          <a:pPr marL="114300" lvl="1" indent="-114300" algn="l" defTabSz="622300">
            <a:lnSpc>
              <a:spcPct val="90000"/>
            </a:lnSpc>
            <a:spcBef>
              <a:spcPct val="0"/>
            </a:spcBef>
            <a:spcAft>
              <a:spcPct val="15000"/>
            </a:spcAft>
            <a:buChar char="•"/>
          </a:pPr>
          <a:r>
            <a:rPr lang="en-GB" sz="1400" kern="1200">
              <a:latin typeface="Times New Roman" panose="02020603050405020304" pitchFamily="18" charset="0"/>
              <a:cs typeface="Times New Roman" panose="02020603050405020304" pitchFamily="18" charset="0"/>
            </a:rPr>
            <a:t>National Development Plan refresh confirms a record </a:t>
          </a:r>
          <a14:m xmlns:a14="http://schemas.microsoft.com/office/drawing/2010/main">
            <m:oMath xmlns:m="http://schemas.openxmlformats.org/officeDocument/2006/math">
              <m:r>
                <a:rPr lang="en-GB" sz="1400" i="1" kern="1200" smtClean="0">
                  <a:latin typeface="Cambria Math" panose="02040503050406030204" pitchFamily="18" charset="0"/>
                </a:rPr>
                <m:t>€</m:t>
              </m:r>
            </m:oMath>
          </a14:m>
          <a:r>
            <a:rPr lang="en-GB" sz="1400" kern="1200">
              <a:latin typeface="Times New Roman" panose="02020603050405020304" pitchFamily="18" charset="0"/>
              <a:cs typeface="Times New Roman" panose="02020603050405020304" pitchFamily="18" charset="0"/>
            </a:rPr>
            <a:t>275bn capital envelope to 2035 across transport, health, education, water and energy</a:t>
          </a:r>
        </a:p>
        <a:p>
          <a:pPr marL="114300" lvl="1" indent="-114300" algn="l" defTabSz="622300">
            <a:lnSpc>
              <a:spcPct val="90000"/>
            </a:lnSpc>
            <a:spcBef>
              <a:spcPct val="0"/>
            </a:spcBef>
            <a:spcAft>
              <a:spcPct val="15000"/>
            </a:spcAft>
            <a:buChar char="•"/>
          </a:pPr>
          <a:r>
            <a:rPr lang="en-GB" sz="1400" kern="1200">
              <a:latin typeface="Times New Roman" panose="02020603050405020304" pitchFamily="18" charset="0"/>
              <a:cs typeface="Times New Roman" panose="02020603050405020304" pitchFamily="18" charset="0"/>
            </a:rPr>
            <a:t>EirGrid – a 2030 roadmap to ~80% renewables target, delivered via Grid Implementation plan 2023-2028, including hundreds of grid projects</a:t>
          </a:r>
        </a:p>
        <a:p>
          <a:pPr marL="114300" lvl="1" indent="-114300" algn="l" defTabSz="622300">
            <a:lnSpc>
              <a:spcPct val="90000"/>
            </a:lnSpc>
            <a:spcBef>
              <a:spcPct val="0"/>
            </a:spcBef>
            <a:spcAft>
              <a:spcPct val="15000"/>
            </a:spcAft>
            <a:buChar char="•"/>
          </a:pPr>
          <a:r>
            <a:rPr lang="en-GB" sz="1400" kern="1200">
              <a:latin typeface="Times New Roman" panose="02020603050405020304" pitchFamily="18" charset="0"/>
              <a:cs typeface="Times New Roman" panose="02020603050405020304" pitchFamily="18" charset="0"/>
            </a:rPr>
            <a:t>OPW Flood Relief Programme – state committed €1.3bn for flood schemes until 2030</a:t>
          </a:r>
        </a:p>
      </dsp:txBody>
      <dsp:txXfrm>
        <a:off x="3301279" y="1022691"/>
        <a:ext cx="1988019" cy="4420270"/>
      </dsp:txXfrm>
    </dsp:sp>
    <dsp:sp modelId="{76E4971B-BCD5-4071-A1FD-D69A9521D77B}">
      <dsp:nvSpPr>
        <dsp:cNvPr id="0" name=""/>
        <dsp:cNvSpPr/>
      </dsp:nvSpPr>
      <dsp:spPr>
        <a:xfrm>
          <a:off x="2924170" y="501691"/>
          <a:ext cx="798231" cy="798231"/>
        </a:xfrm>
        <a:prstGeom prst="rect">
          <a:avLst/>
        </a:prstGeom>
        <a:blipFill>
          <a:blip xmlns:r="http://schemas.openxmlformats.org/officeDocument/2006/relationships" r:embed="rId2"/>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9C1636F-DD18-4C4B-B3B0-0F254EDFEAB7}">
      <dsp:nvSpPr>
        <dsp:cNvPr id="0" name=""/>
        <dsp:cNvSpPr/>
      </dsp:nvSpPr>
      <dsp:spPr>
        <a:xfrm rot="16200000">
          <a:off x="3287190" y="3541621"/>
          <a:ext cx="5425309" cy="3991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351998" bIns="0" numCol="1" spcCol="1270" anchor="t" anchorCtr="0">
          <a:noAutofit/>
        </a:bodyPr>
        <a:lstStyle/>
        <a:p>
          <a:pPr marL="0" lvl="0" indent="0" algn="r" defTabSz="1377950">
            <a:lnSpc>
              <a:spcPct val="90000"/>
            </a:lnSpc>
            <a:spcBef>
              <a:spcPct val="0"/>
            </a:spcBef>
            <a:spcAft>
              <a:spcPct val="35000"/>
            </a:spcAft>
            <a:buNone/>
          </a:pPr>
          <a:r>
            <a:rPr lang="en-GB" sz="3100" kern="1200">
              <a:latin typeface="Times New Roman" panose="02020603050405020304" pitchFamily="18" charset="0"/>
              <a:cs typeface="Times New Roman" panose="02020603050405020304" pitchFamily="18" charset="0"/>
            </a:rPr>
            <a:t>Netherlands</a:t>
          </a:r>
        </a:p>
      </dsp:txBody>
      <dsp:txXfrm>
        <a:off x="3287190" y="3541621"/>
        <a:ext cx="5425309" cy="399115"/>
      </dsp:txXfrm>
    </dsp:sp>
    <dsp:sp modelId="{41D2AAD7-097E-451E-A7FC-5CC4127E766D}">
      <dsp:nvSpPr>
        <dsp:cNvPr id="0" name=""/>
        <dsp:cNvSpPr/>
      </dsp:nvSpPr>
      <dsp:spPr>
        <a:xfrm>
          <a:off x="6199403" y="1028524"/>
          <a:ext cx="1988019" cy="5425309"/>
        </a:xfrm>
        <a:prstGeom prst="rect">
          <a:avLst/>
        </a:prstGeom>
        <a:solidFill>
          <a:schemeClr val="tx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351998" rIns="99568" bIns="99568" numCol="1" spcCol="1270" anchor="t" anchorCtr="0">
          <a:noAutofit/>
        </a:bodyPr>
        <a:lstStyle/>
        <a:p>
          <a:pPr marL="114300" lvl="1" indent="-114300" algn="l" defTabSz="622300">
            <a:lnSpc>
              <a:spcPct val="90000"/>
            </a:lnSpc>
            <a:spcBef>
              <a:spcPct val="0"/>
            </a:spcBef>
            <a:spcAft>
              <a:spcPct val="15000"/>
            </a:spcAft>
            <a:buChar char="•"/>
          </a:pPr>
          <a:r>
            <a:rPr lang="en-GB" sz="1400" kern="1200">
              <a:latin typeface="Times New Roman" panose="02020603050405020304" pitchFamily="18" charset="0"/>
              <a:cs typeface="Times New Roman" panose="02020603050405020304" pitchFamily="18" charset="0"/>
            </a:rPr>
            <a:t>Delta Programme 2025 is the national plan across flood risk management, freshwater, and climate-resilient spatial planning. Plans across the coming years involve upgrades in which BAM has already been selected for (e.g. Meuse dyke strengthening)</a:t>
          </a:r>
        </a:p>
        <a:p>
          <a:pPr marL="114300" lvl="1" indent="-114300" algn="l" defTabSz="622300">
            <a:lnSpc>
              <a:spcPct val="90000"/>
            </a:lnSpc>
            <a:spcBef>
              <a:spcPct val="0"/>
            </a:spcBef>
            <a:spcAft>
              <a:spcPct val="15000"/>
            </a:spcAft>
            <a:buChar char="•"/>
          </a:pPr>
          <a:r>
            <a:rPr lang="en-GB" sz="1400" kern="1200">
              <a:latin typeface="Times New Roman" panose="02020603050405020304" pitchFamily="18" charset="0"/>
              <a:cs typeface="Times New Roman" panose="02020603050405020304" pitchFamily="18" charset="0"/>
            </a:rPr>
            <a:t>Afsluitdijk – a giant sea well protecting Netherlands from flooding, BAM selected to build and now maintain for next 25 years</a:t>
          </a:r>
        </a:p>
        <a:p>
          <a:pPr marL="114300" lvl="1" indent="-114300" algn="l" defTabSz="622300">
            <a:lnSpc>
              <a:spcPct val="90000"/>
            </a:lnSpc>
            <a:spcBef>
              <a:spcPct val="0"/>
            </a:spcBef>
            <a:spcAft>
              <a:spcPct val="15000"/>
            </a:spcAft>
            <a:buChar char="•"/>
          </a:pPr>
          <a:r>
            <a:rPr lang="en-GB" sz="1400" kern="1200">
              <a:latin typeface="Times New Roman" panose="02020603050405020304" pitchFamily="18" charset="0"/>
              <a:cs typeface="Times New Roman" panose="02020603050405020304" pitchFamily="18" charset="0"/>
            </a:rPr>
            <a:t>TenneT plans around £200bn of investments until 2034 across energy grid infrastructure</a:t>
          </a:r>
        </a:p>
      </dsp:txBody>
      <dsp:txXfrm>
        <a:off x="6199403" y="1028524"/>
        <a:ext cx="1988019" cy="5425309"/>
      </dsp:txXfrm>
    </dsp:sp>
    <dsp:sp modelId="{BDA45926-D13B-41A5-89BD-8309C7CE89CE}">
      <dsp:nvSpPr>
        <dsp:cNvPr id="0" name=""/>
        <dsp:cNvSpPr/>
      </dsp:nvSpPr>
      <dsp:spPr>
        <a:xfrm>
          <a:off x="5800287" y="501691"/>
          <a:ext cx="798231" cy="798231"/>
        </a:xfrm>
        <a:prstGeom prst="rect">
          <a:avLst/>
        </a:prstGeom>
        <a:blipFill>
          <a:blip xmlns:r="http://schemas.openxmlformats.org/officeDocument/2006/relationships" r:embed="rId3"/>
          <a:srcRect/>
          <a:stretch>
            <a:fillRect l="-25000" r="-25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8EF51FA-DBD6-492C-9341-C594ACE93700}">
      <dsp:nvSpPr>
        <dsp:cNvPr id="0" name=""/>
        <dsp:cNvSpPr/>
      </dsp:nvSpPr>
      <dsp:spPr>
        <a:xfrm>
          <a:off x="1211" y="2809539"/>
          <a:ext cx="3044325" cy="1175109"/>
        </a:xfrm>
        <a:prstGeom prst="chevron">
          <a:avLst>
            <a:gd name="adj" fmla="val 40000"/>
          </a:avLst>
        </a:prstGeom>
        <a:solidFill>
          <a:schemeClr val="tx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7BB4BA7-89A8-40CE-9BCC-29130118B5F2}">
      <dsp:nvSpPr>
        <dsp:cNvPr id="0" name=""/>
        <dsp:cNvSpPr/>
      </dsp:nvSpPr>
      <dsp:spPr>
        <a:xfrm>
          <a:off x="813031" y="2907701"/>
          <a:ext cx="2570763" cy="1566338"/>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en-US" sz="1400" kern="1200" dirty="0">
              <a:solidFill>
                <a:schemeClr val="tx1"/>
              </a:solidFill>
              <a:latin typeface="Times New Roman" panose="02020603050405020304" pitchFamily="18" charset="0"/>
              <a:ea typeface="Montserrat"/>
              <a:cs typeface="Times New Roman" panose="02020603050405020304" pitchFamily="18" charset="0"/>
              <a:sym typeface="Montserrat"/>
            </a:rPr>
            <a:t>Oddo BHF (equity research), recently cut its expectation of BAM to Underperform, from a previous stance of neutral, arguing the stock was pricing in too much margin optimism. </a:t>
          </a:r>
          <a:endParaRPr lang="en-GB" sz="1400" kern="1200" dirty="0">
            <a:solidFill>
              <a:schemeClr val="tx1"/>
            </a:solidFill>
            <a:latin typeface="Times New Roman" panose="02020603050405020304" pitchFamily="18" charset="0"/>
            <a:cs typeface="Times New Roman" panose="02020603050405020304" pitchFamily="18" charset="0"/>
          </a:endParaRPr>
        </a:p>
      </dsp:txBody>
      <dsp:txXfrm>
        <a:off x="858907" y="2953577"/>
        <a:ext cx="2479011" cy="1474586"/>
      </dsp:txXfrm>
    </dsp:sp>
    <dsp:sp modelId="{0F821638-0FE4-4C86-9199-F0ADDF90A245}">
      <dsp:nvSpPr>
        <dsp:cNvPr id="0" name=""/>
        <dsp:cNvSpPr/>
      </dsp:nvSpPr>
      <dsp:spPr>
        <a:xfrm>
          <a:off x="3478508" y="2795032"/>
          <a:ext cx="3044325" cy="1175109"/>
        </a:xfrm>
        <a:prstGeom prst="chevron">
          <a:avLst>
            <a:gd name="adj" fmla="val 40000"/>
          </a:avLst>
        </a:prstGeom>
        <a:solidFill>
          <a:schemeClr val="tx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AB9F9CB-47D7-4B06-87E5-3301518D69C5}">
      <dsp:nvSpPr>
        <dsp:cNvPr id="0" name=""/>
        <dsp:cNvSpPr/>
      </dsp:nvSpPr>
      <dsp:spPr>
        <a:xfrm>
          <a:off x="4290328" y="2864181"/>
          <a:ext cx="2570763" cy="1624365"/>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en-GB" sz="1400" kern="1200" dirty="0">
              <a:solidFill>
                <a:schemeClr val="tx1"/>
              </a:solidFill>
              <a:latin typeface="Times New Roman" panose="02020603050405020304" pitchFamily="18" charset="0"/>
              <a:cs typeface="Times New Roman" panose="02020603050405020304" pitchFamily="18" charset="0"/>
            </a:rPr>
            <a:t>BAM has already proven it can operate consistently at the 5% margin. Order book steady at €13bn with visible public pipelines.</a:t>
          </a:r>
        </a:p>
      </dsp:txBody>
      <dsp:txXfrm>
        <a:off x="4337904" y="2911757"/>
        <a:ext cx="2475611" cy="1529213"/>
      </dsp:txXfrm>
    </dsp:sp>
    <dsp:sp modelId="{C3578E21-E0B0-4233-A359-8CAFEC52D42E}">
      <dsp:nvSpPr>
        <dsp:cNvPr id="0" name=""/>
        <dsp:cNvSpPr/>
      </dsp:nvSpPr>
      <dsp:spPr>
        <a:xfrm>
          <a:off x="6955804" y="2809539"/>
          <a:ext cx="3044325" cy="1175109"/>
        </a:xfrm>
        <a:prstGeom prst="flowChartProcess">
          <a:avLst/>
        </a:prstGeom>
        <a:solidFill>
          <a:schemeClr val="tx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4650D09-9E62-4632-8A76-462BEDD1DF89}">
      <dsp:nvSpPr>
        <dsp:cNvPr id="0" name=""/>
        <dsp:cNvSpPr/>
      </dsp:nvSpPr>
      <dsp:spPr>
        <a:xfrm>
          <a:off x="7767624" y="2907701"/>
          <a:ext cx="2570763" cy="1566338"/>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en-GB" sz="1400" kern="1200" dirty="0">
              <a:solidFill>
                <a:schemeClr val="tx1"/>
              </a:solidFill>
              <a:latin typeface="Times New Roman" panose="02020603050405020304" pitchFamily="18" charset="0"/>
              <a:cs typeface="Times New Roman" panose="02020603050405020304" pitchFamily="18" charset="0"/>
            </a:rPr>
            <a:t>We believe that BAM’s 5% margin is sustainable and not cyclical. The recent derating overstates legacy risk, and ongoing returns should unlock a rerate</a:t>
          </a:r>
        </a:p>
      </dsp:txBody>
      <dsp:txXfrm>
        <a:off x="7813500" y="2953577"/>
        <a:ext cx="2479011" cy="147458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E6787AE-0595-4872-B297-B71BCECCE97B}">
      <dsp:nvSpPr>
        <dsp:cNvPr id="0" name=""/>
        <dsp:cNvSpPr/>
      </dsp:nvSpPr>
      <dsp:spPr>
        <a:xfrm>
          <a:off x="0" y="0"/>
          <a:ext cx="6311789" cy="1082026"/>
        </a:xfrm>
        <a:prstGeom prst="roundRect">
          <a:avLst>
            <a:gd name="adj" fmla="val 10000"/>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t" anchorCtr="0">
          <a:noAutofit/>
        </a:bodyPr>
        <a:lstStyle/>
        <a:p>
          <a:pPr marL="0" lvl="0" indent="0" algn="l" defTabSz="711200">
            <a:lnSpc>
              <a:spcPct val="90000"/>
            </a:lnSpc>
            <a:spcBef>
              <a:spcPct val="0"/>
            </a:spcBef>
            <a:spcAft>
              <a:spcPct val="35000"/>
            </a:spcAft>
            <a:buNone/>
          </a:pPr>
          <a:r>
            <a:rPr lang="en-GB" sz="1600" b="1" kern="1200">
              <a:latin typeface="Times New Roman" panose="02020603050405020304" pitchFamily="18" charset="0"/>
              <a:cs typeface="Times New Roman" panose="02020603050405020304" pitchFamily="18" charset="0"/>
            </a:rPr>
            <a:t>Bull Case – </a:t>
          </a:r>
          <a:r>
            <a:rPr lang="en-GB" sz="1600" b="1" i="1" kern="1200">
              <a:latin typeface="Times New Roman" panose="02020603050405020304" pitchFamily="18" charset="0"/>
              <a:cs typeface="Times New Roman" panose="02020603050405020304" pitchFamily="18" charset="0"/>
            </a:rPr>
            <a:t>Upside from Execution</a:t>
          </a:r>
        </a:p>
        <a:p>
          <a:pPr marL="114300" lvl="1" indent="-114300" algn="l" defTabSz="555625">
            <a:lnSpc>
              <a:spcPct val="90000"/>
            </a:lnSpc>
            <a:spcBef>
              <a:spcPct val="0"/>
            </a:spcBef>
            <a:spcAft>
              <a:spcPct val="15000"/>
            </a:spcAft>
            <a:buChar char="•"/>
          </a:pPr>
          <a:r>
            <a:rPr lang="en-GB" sz="1250" kern="1200">
              <a:latin typeface="Times New Roman" panose="02020603050405020304" pitchFamily="18" charset="0"/>
              <a:cs typeface="Times New Roman" panose="02020603050405020304" pitchFamily="18" charset="0"/>
            </a:rPr>
            <a:t>EBIT margin +50bps from selective tendering</a:t>
          </a:r>
        </a:p>
        <a:p>
          <a:pPr marL="114300" lvl="1" indent="-114300" algn="l" defTabSz="555625">
            <a:lnSpc>
              <a:spcPct val="90000"/>
            </a:lnSpc>
            <a:spcBef>
              <a:spcPct val="0"/>
            </a:spcBef>
            <a:spcAft>
              <a:spcPct val="15000"/>
            </a:spcAft>
            <a:buChar char="•"/>
          </a:pPr>
          <a:r>
            <a:rPr lang="en-GB" sz="1250" kern="1200" err="1">
              <a:latin typeface="Times New Roman" panose="02020603050405020304" pitchFamily="18" charset="0"/>
              <a:cs typeface="Times New Roman" panose="02020603050405020304" pitchFamily="18" charset="0"/>
            </a:rPr>
            <a:t>CapEx</a:t>
          </a:r>
          <a:r>
            <a:rPr lang="en-GB" sz="1250" kern="1200">
              <a:latin typeface="Times New Roman" panose="02020603050405020304" pitchFamily="18" charset="0"/>
              <a:cs typeface="Times New Roman" panose="02020603050405020304" pitchFamily="18" charset="0"/>
            </a:rPr>
            <a:t> stable at 2.0% of revenue, FCF yield &gt; 10%</a:t>
          </a:r>
        </a:p>
        <a:p>
          <a:pPr marL="114300" lvl="1" indent="-114300" algn="l" defTabSz="555625">
            <a:lnSpc>
              <a:spcPct val="90000"/>
            </a:lnSpc>
            <a:spcBef>
              <a:spcPct val="0"/>
            </a:spcBef>
            <a:spcAft>
              <a:spcPct val="15000"/>
            </a:spcAft>
            <a:buChar char="•"/>
          </a:pPr>
          <a:r>
            <a:rPr lang="en-GB" sz="1250" kern="1200" dirty="0">
              <a:latin typeface="Times New Roman" panose="02020603050405020304" pitchFamily="18" charset="0"/>
              <a:cs typeface="Times New Roman" panose="02020603050405020304" pitchFamily="18" charset="0"/>
            </a:rPr>
            <a:t>WACC –60bps with improved market perception</a:t>
          </a:r>
        </a:p>
      </dsp:txBody>
      <dsp:txXfrm>
        <a:off x="1370560" y="0"/>
        <a:ext cx="4941228" cy="1082026"/>
      </dsp:txXfrm>
    </dsp:sp>
    <dsp:sp modelId="{D3A54809-1816-43EF-A2F3-3A7B4C21C140}">
      <dsp:nvSpPr>
        <dsp:cNvPr id="0" name=""/>
        <dsp:cNvSpPr/>
      </dsp:nvSpPr>
      <dsp:spPr>
        <a:xfrm>
          <a:off x="111371" y="87401"/>
          <a:ext cx="1262357" cy="865621"/>
        </a:xfrm>
        <a:prstGeom prst="roundRect">
          <a:avLst>
            <a:gd name="adj" fmla="val 10000"/>
          </a:avLst>
        </a:prstGeom>
        <a:blipFill>
          <a:blip xmlns:r="http://schemas.openxmlformats.org/officeDocument/2006/relationships" r:embed="rId1"/>
          <a:srcRect/>
          <a:stretch>
            <a:fillRect t="-15000" b="-15000"/>
          </a:stretch>
        </a:blip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2847EE4-3F15-42C4-B956-8BA7EED38F1F}">
      <dsp:nvSpPr>
        <dsp:cNvPr id="0" name=""/>
        <dsp:cNvSpPr/>
      </dsp:nvSpPr>
      <dsp:spPr>
        <a:xfrm>
          <a:off x="0" y="1190229"/>
          <a:ext cx="6311789" cy="1082026"/>
        </a:xfrm>
        <a:prstGeom prst="roundRect">
          <a:avLst>
            <a:gd name="adj" fmla="val 10000"/>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t" anchorCtr="0">
          <a:noAutofit/>
        </a:bodyPr>
        <a:lstStyle/>
        <a:p>
          <a:pPr marL="0" lvl="0" indent="0" algn="l" defTabSz="711200">
            <a:lnSpc>
              <a:spcPct val="90000"/>
            </a:lnSpc>
            <a:spcBef>
              <a:spcPct val="0"/>
            </a:spcBef>
            <a:spcAft>
              <a:spcPct val="35000"/>
            </a:spcAft>
            <a:buNone/>
          </a:pPr>
          <a:r>
            <a:rPr lang="en-GB" sz="1600" b="1" kern="1200">
              <a:latin typeface="Times New Roman" panose="02020603050405020304" pitchFamily="18" charset="0"/>
              <a:cs typeface="Times New Roman" panose="02020603050405020304" pitchFamily="18" charset="0"/>
            </a:rPr>
            <a:t>Base Case – </a:t>
          </a:r>
          <a:r>
            <a:rPr lang="en-GB" sz="1600" b="1" i="1" kern="1200">
              <a:latin typeface="Times New Roman" panose="02020603050405020304" pitchFamily="18" charset="0"/>
              <a:cs typeface="Times New Roman" panose="02020603050405020304" pitchFamily="18" charset="0"/>
            </a:rPr>
            <a:t>Normalised operations</a:t>
          </a:r>
        </a:p>
        <a:p>
          <a:pPr marL="114300" lvl="1" indent="-114300" algn="l" defTabSz="555625">
            <a:lnSpc>
              <a:spcPct val="90000"/>
            </a:lnSpc>
            <a:spcBef>
              <a:spcPct val="0"/>
            </a:spcBef>
            <a:spcAft>
              <a:spcPct val="15000"/>
            </a:spcAft>
            <a:buChar char="•"/>
          </a:pPr>
          <a:r>
            <a:rPr lang="en-GB" sz="1250" kern="1200" dirty="0">
              <a:latin typeface="Times New Roman" panose="02020603050405020304" pitchFamily="18" charset="0"/>
              <a:cs typeface="Times New Roman" panose="02020603050405020304" pitchFamily="18" charset="0"/>
            </a:rPr>
            <a:t>EBIT margin ~3%, D&amp;A ratio ~0.9x, </a:t>
          </a:r>
          <a:r>
            <a:rPr lang="en-GB" sz="1250" kern="1200" dirty="0" err="1">
              <a:latin typeface="Times New Roman" panose="02020603050405020304" pitchFamily="18" charset="0"/>
              <a:cs typeface="Times New Roman" panose="02020603050405020304" pitchFamily="18" charset="0"/>
            </a:rPr>
            <a:t>CapEx</a:t>
          </a:r>
          <a:r>
            <a:rPr lang="en-GB" sz="1250" kern="1200" dirty="0">
              <a:latin typeface="Times New Roman" panose="02020603050405020304" pitchFamily="18" charset="0"/>
              <a:cs typeface="Times New Roman" panose="02020603050405020304" pitchFamily="18" charset="0"/>
            </a:rPr>
            <a:t> Reinvestment 0.8-0.9x D&amp;A</a:t>
          </a:r>
        </a:p>
        <a:p>
          <a:pPr marL="114300" lvl="1" indent="-114300" algn="l" defTabSz="555625">
            <a:lnSpc>
              <a:spcPct val="90000"/>
            </a:lnSpc>
            <a:spcBef>
              <a:spcPct val="0"/>
            </a:spcBef>
            <a:spcAft>
              <a:spcPct val="15000"/>
            </a:spcAft>
            <a:buChar char="•"/>
          </a:pPr>
          <a:r>
            <a:rPr lang="en-GB" sz="1250" kern="1200" dirty="0">
              <a:latin typeface="Times New Roman" panose="02020603050405020304" pitchFamily="18" charset="0"/>
              <a:cs typeface="Times New Roman" panose="02020603050405020304" pitchFamily="18" charset="0"/>
            </a:rPr>
            <a:t>Revenue CAGR ~4.2%, stable working capital</a:t>
          </a:r>
        </a:p>
        <a:p>
          <a:pPr marL="114300" lvl="1" indent="-114300" algn="l" defTabSz="555625">
            <a:lnSpc>
              <a:spcPct val="90000"/>
            </a:lnSpc>
            <a:spcBef>
              <a:spcPct val="0"/>
            </a:spcBef>
            <a:spcAft>
              <a:spcPct val="15000"/>
            </a:spcAft>
            <a:buChar char="•"/>
          </a:pPr>
          <a:r>
            <a:rPr lang="en-GB" sz="1250" kern="1200">
              <a:latin typeface="Times New Roman" panose="02020603050405020304" pitchFamily="18" charset="0"/>
              <a:cs typeface="Times New Roman" panose="02020603050405020304" pitchFamily="18" charset="0"/>
            </a:rPr>
            <a:t>WACC 10.5%, g = 2.0%</a:t>
          </a:r>
        </a:p>
      </dsp:txBody>
      <dsp:txXfrm>
        <a:off x="1370560" y="1190229"/>
        <a:ext cx="4941228" cy="1082026"/>
      </dsp:txXfrm>
    </dsp:sp>
    <dsp:sp modelId="{CB535C25-C531-4452-B9A2-CD903C067237}">
      <dsp:nvSpPr>
        <dsp:cNvPr id="0" name=""/>
        <dsp:cNvSpPr/>
      </dsp:nvSpPr>
      <dsp:spPr>
        <a:xfrm>
          <a:off x="108202" y="1298432"/>
          <a:ext cx="1262357" cy="865621"/>
        </a:xfrm>
        <a:prstGeom prst="roundRect">
          <a:avLst>
            <a:gd name="adj" fmla="val 10000"/>
          </a:avLst>
        </a:prstGeom>
        <a:blipFill>
          <a:blip xmlns:r="http://schemas.openxmlformats.org/officeDocument/2006/relationships" r:embed="rId2"/>
          <a:srcRect/>
          <a:stretch>
            <a:fillRect t="-3000" b="-3000"/>
          </a:stretch>
        </a:blip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ABDAFD3-043A-49D4-B85C-3B76EDFD492D}">
      <dsp:nvSpPr>
        <dsp:cNvPr id="0" name=""/>
        <dsp:cNvSpPr/>
      </dsp:nvSpPr>
      <dsp:spPr>
        <a:xfrm>
          <a:off x="0" y="2380459"/>
          <a:ext cx="6311789" cy="1082026"/>
        </a:xfrm>
        <a:prstGeom prst="roundRect">
          <a:avLst>
            <a:gd name="adj" fmla="val 10000"/>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GB" sz="1600" b="1" kern="1200" dirty="0">
              <a:latin typeface="Times New Roman" panose="02020603050405020304" pitchFamily="18" charset="0"/>
              <a:cs typeface="Times New Roman" panose="02020603050405020304" pitchFamily="18" charset="0"/>
            </a:rPr>
            <a:t>Bear case – </a:t>
          </a:r>
          <a:r>
            <a:rPr lang="en-GB" sz="1600" b="1" i="1" kern="1200" dirty="0">
              <a:latin typeface="Times New Roman" panose="02020603050405020304" pitchFamily="18" charset="0"/>
              <a:cs typeface="Times New Roman" panose="02020603050405020304" pitchFamily="18" charset="0"/>
            </a:rPr>
            <a:t>Cost pressure risk</a:t>
          </a:r>
        </a:p>
        <a:p>
          <a:pPr marL="114300" lvl="1" indent="-114300" algn="l" defTabSz="555625">
            <a:lnSpc>
              <a:spcPct val="90000"/>
            </a:lnSpc>
            <a:spcBef>
              <a:spcPct val="0"/>
            </a:spcBef>
            <a:spcAft>
              <a:spcPct val="15000"/>
            </a:spcAft>
            <a:buChar char="•"/>
          </a:pPr>
          <a:r>
            <a:rPr lang="en-GB" sz="1250" kern="1200" dirty="0">
              <a:latin typeface="Times New Roman" panose="02020603050405020304" pitchFamily="18" charset="0"/>
              <a:cs typeface="Times New Roman" panose="02020603050405020304" pitchFamily="18" charset="0"/>
            </a:rPr>
            <a:t>Margin erosion to 2% from cost inflation</a:t>
          </a:r>
        </a:p>
        <a:p>
          <a:pPr marL="114300" lvl="1" indent="-114300" algn="l" defTabSz="555625">
            <a:lnSpc>
              <a:spcPct val="90000"/>
            </a:lnSpc>
            <a:spcBef>
              <a:spcPct val="0"/>
            </a:spcBef>
            <a:spcAft>
              <a:spcPct val="15000"/>
            </a:spcAft>
            <a:buChar char="•"/>
          </a:pPr>
          <a:r>
            <a:rPr lang="en-GB" sz="1250" kern="1200" dirty="0" err="1">
              <a:latin typeface="Times New Roman" panose="02020603050405020304" pitchFamily="18" charset="0"/>
              <a:cs typeface="Times New Roman" panose="02020603050405020304" pitchFamily="18" charset="0"/>
            </a:rPr>
            <a:t>CapEx</a:t>
          </a:r>
          <a:r>
            <a:rPr lang="en-GB" sz="1250" kern="1200" dirty="0">
              <a:latin typeface="Times New Roman" panose="02020603050405020304" pitchFamily="18" charset="0"/>
              <a:cs typeface="Times New Roman" panose="02020603050405020304" pitchFamily="18" charset="0"/>
            </a:rPr>
            <a:t> rising to 2.5% of revenue</a:t>
          </a:r>
        </a:p>
        <a:p>
          <a:pPr marL="114300" lvl="1" indent="-114300" algn="l" defTabSz="555625">
            <a:lnSpc>
              <a:spcPct val="90000"/>
            </a:lnSpc>
            <a:spcBef>
              <a:spcPct val="0"/>
            </a:spcBef>
            <a:spcAft>
              <a:spcPct val="15000"/>
            </a:spcAft>
            <a:buChar char="•"/>
          </a:pPr>
          <a:r>
            <a:rPr lang="en-GB" sz="1250" kern="1200" dirty="0">
              <a:latin typeface="Times New Roman" panose="02020603050405020304" pitchFamily="18" charset="0"/>
              <a:cs typeface="Times New Roman" panose="02020603050405020304" pitchFamily="18" charset="0"/>
            </a:rPr>
            <a:t>WACC +60bps on market risk premium </a:t>
          </a:r>
        </a:p>
      </dsp:txBody>
      <dsp:txXfrm>
        <a:off x="1370560" y="2380459"/>
        <a:ext cx="4941228" cy="1082026"/>
      </dsp:txXfrm>
    </dsp:sp>
    <dsp:sp modelId="{2634A61B-D631-4170-AE4B-BBB822D65D01}">
      <dsp:nvSpPr>
        <dsp:cNvPr id="0" name=""/>
        <dsp:cNvSpPr/>
      </dsp:nvSpPr>
      <dsp:spPr>
        <a:xfrm>
          <a:off x="108202" y="2488661"/>
          <a:ext cx="1262357" cy="865621"/>
        </a:xfrm>
        <a:prstGeom prst="roundRect">
          <a:avLst>
            <a:gd name="adj" fmla="val 10000"/>
          </a:avLst>
        </a:prstGeom>
        <a:blipFill>
          <a:blip xmlns:r="http://schemas.openxmlformats.org/officeDocument/2006/relationships" r:embed="rId3"/>
          <a:srcRect/>
          <a:stretch>
            <a:fillRect l="-3000" r="-3000"/>
          </a:stretch>
        </a:blip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16/7/layout/BasicTimeline">
  <dgm:title val="Basic Timeline"/>
  <dgm:desc val="Use to show a list of events in chronological order. The rounded rectangular shape contains the description while the date is shown below on the time line. It's the perfect SmartArt for displaying large amount of text with a medium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dgm:constrLst>
    <dgm:layoutNode name="divider" styleLbl="fgAccFollowNode1">
      <dgm:alg type="sp"/>
      <dgm:choose name="ArrowShape">
        <dgm:if name="ArrowShapeLTR" func="var" arg="dir" op="equ" val="norm">
          <dgm:shape xmlns:r="http://schemas.openxmlformats.org/officeDocument/2006/relationships" type="line" r:blip="" zOrderOff="-1">
            <dgm:adjLst/>
            <dgm:extLst>
              <a:ext uri="{B698B0E9-8C71-41B9-8309-B3DCBF30829C}">
                <dgm1612:spPr xmlns:dgm1612="http://schemas.microsoft.com/office/drawing/2016/12/diagram">
                  <a:ln>
                    <a:tailEnd type="triangle" w="lg" len="lg"/>
                  </a:ln>
                </dgm1612:spPr>
              </a:ext>
            </dgm:extLst>
          </dgm:shape>
        </dgm:if>
        <dgm:else name="ArrowShapeRTL">
          <dgm:shape xmlns:r="http://schemas.openxmlformats.org/officeDocument/2006/relationships" type="line" r:blip="" zOrderOff="-1">
            <dgm:adjLst/>
            <dgm:extLst>
              <a:ext uri="{B698B0E9-8C71-41B9-8309-B3DCBF30829C}">
                <dgm1612:spPr xmlns:dgm1612="http://schemas.microsoft.com/office/drawing/2016/12/diagram">
                  <a:ln>
                    <a:headEnd type="triangle" w="lg" len="lg"/>
                  </a:ln>
                </dgm1612:spPr>
              </a:ext>
            </dgm:extLst>
          </dgm:shape>
        </dgm:else>
      </dgm:choos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presOf/>
      <dgm:shape xmlns:r="http://schemas.openxmlformats.org/officeDocument/2006/relationships" r:blip="">
        <dgm:adjLst/>
      </dgm:shape>
      <dgm:choose name="constrBasedOnChildrenCount">
        <dgm:if name="constrForTwoChildren" axis="ch" ptType="node" func="cnt" op="lte" val="2">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16"/>
            <dgm:constr type="w" for="ch" ptType="sibTrans" op="equ"/>
            <dgm:constr type="primFontSz" for="des" forName="L1TextContainer" op="equ"/>
            <dgm:constr type="primFontSz" for="des" forName="L2TextContainer" op="equ"/>
          </dgm:constrLst>
        </dgm:if>
        <dgm:else name="constrForRest">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42"/>
            <dgm:constr type="w" for="ch" ptType="sibTrans" op="equ"/>
            <dgm:constr type="primFontSz" for="des" forName="L1TextContainer" op="equ"/>
            <dgm:constr type="primFontSz" for="des" forName="L2TextContainer" op="equ"/>
          </dgm:constrLst>
        </dgm:else>
      </dgm:choose>
      <dgm:forEach name="nodesForEach" axis="ch" ptType="node">
        <dgm:layoutNode name="composite">
          <dgm:alg type="composite"/>
          <dgm:shape xmlns:r="http://schemas.openxmlformats.org/officeDocument/2006/relationships" r:blip="">
            <dgm:adjLst/>
          </dgm:shape>
          <dgm:choose name="CaseForPlacingNodesAboveAndBelowDivider">
            <dgm:if name="CaseForPlacingNodeAboveDivider" axis="self" ptType="node" func="posOdd" op="equ" val="1">
              <dgm:constrLst>
                <dgm:constr type="w" for="ch" forName="L1TextContainer" refType="w" fact="0.88"/>
                <dgm:constr type="l" for="ch" forName="L1TextContainer" refType="w" fact="0.06"/>
                <dgm:constr type="t" for="ch" forName="L1TextContainer" refType="h" fact="0.537"/>
                <dgm:constr type="h" for="ch" forName="L1TextContainer" refType="h" fact="0.113"/>
                <dgm:constr type="w" for="ch" forName="L2TextContainerWrapper" refType="w"/>
                <dgm:constr type="h" for="ch" forName="L2TextContainerWrapper" refType="h" fact="0.31"/>
                <dgm:constr type="b" for="ch" forName="L2TextContainerWrapper" refType="h" fact="0.31"/>
                <dgm:constr type="w" for="ch" forName="ConnectLine"/>
                <dgm:constr type="l" for="ch" forName="ConnectLine" refType="w" fact="0.5"/>
                <dgm:constr type="h" for="ch" forName="ConnectLine" refType="h" fact="0.19"/>
                <dgm:constr type="t" for="ch" forName="ConnectLine" refType="h" fact="0.31"/>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t" for="ch" forName="EmptyPlaceHolder" refType="h" fact="0.65"/>
                <dgm:constr type="h" for="ch" forName="EmptyPlaceHolder" refType="h" fact="0.35"/>
              </dgm:constrLst>
            </dgm:if>
            <dgm:else name="CaseForPlacingNodeBelowDivider">
              <dgm:constrLst>
                <dgm:constr type="w" for="ch" forName="L1TextContainer" refType="w" fact="0.88"/>
                <dgm:constr type="l" for="ch" forName="L1TextContainer" refType="w" fact="0.06"/>
                <dgm:constr type="t" for="ch" forName="L1TextContainer" refType="h" fact="0.35"/>
                <dgm:constr type="h" for="ch" forName="L1TextContainer" refType="h" fact="0.113"/>
                <dgm:constr type="w" for="ch" forName="L2TextContainerWrapper" refType="w"/>
                <dgm:constr type="h" for="ch" forName="L2TextContainerWrapper" refType="h" fact="0.31"/>
                <dgm:constr type="t" for="ch" forName="L2TextContainerWrapper" refType="h" fact="0.69"/>
                <dgm:constr type="w" for="ch" forName="ConnectLine"/>
                <dgm:constr type="l" for="ch" forName="ConnectLine" refType="w" fact="0.5"/>
                <dgm:constr type="h" for="ch" forName="ConnectLine" refType="h" fact="0.19"/>
                <dgm:constr type="t" for="ch" forName="ConnectLine" refType="h" fact="0.5"/>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h" for="ch" forName="EmptyPlaceHolder" refType="h" fact="0.35"/>
                <dgm:constr type="t" for="ch" forName="EmptyPlaceHolder" refType="h" fact="0"/>
              </dgm:constrLst>
            </dgm:else>
          </dgm:choose>
          <dgm:layoutNode name="L1TextContainer" styleLbl="revTx">
            <dgm:varLst>
              <dgm:chMax val="1"/>
              <dgm:chPref val="1"/>
              <dgm:bulletEnabled val="1"/>
            </dgm:varLst>
            <dgm:choose name="casesForTxtDirLogic">
              <dgm:if name="Name78" axis="self" ptType="node" func="posOdd" op="equ" val="1">
                <dgm:alg type="tx">
                  <dgm:param type="txAnchorHorz" val="ctr"/>
                  <dgm:param type="txAnchorVert" val="t"/>
                  <dgm:param type="parTxLTRAlign" val="ctr"/>
                  <dgm:param type="parTxRTLAlign" val="ctr"/>
                </dgm:alg>
              </dgm:if>
              <dgm:else name="Name89">
                <dgm:alg type="tx">
                  <dgm:param type="txAnchorHorz" val="ctr"/>
                  <dgm:param type="txAnchorVert" val="b"/>
                  <dgm:param type="parTxLTRAlign" val="ctr"/>
                  <dgm:param type="parTxRTLAlign" val="ctr"/>
                </dgm:alg>
              </dgm:else>
            </dgm:choose>
            <dgm:shape xmlns:r="http://schemas.openxmlformats.org/officeDocument/2006/relationships" type="rect" r:blip="">
              <dgm:adjLst/>
            </dgm:shape>
            <dgm:presOf axis="self"/>
            <dgm:constrLst>
              <dgm:constr type="lMarg"/>
              <dgm:constr type="rMarg"/>
              <dgm:constr type="tMarg"/>
              <dgm:constr type="bMarg"/>
            </dgm:constrLst>
            <dgm:ruleLst>
              <dgm:rule type="primFontSz" val="14" fact="NaN" max="NaN"/>
            </dgm:ruleLst>
          </dgm:layoutNode>
          <dgm:layoutNode name="L2TextContainerWrapper">
            <dgm:varLst>
              <dgm:chMax val="0"/>
              <dgm:chPref val="0"/>
              <dgm:bulletEnabled val="1"/>
            </dgm:varLst>
            <dgm:alg type="composite"/>
            <dgm:choose name="L2TextContainerConstr">
              <dgm:if name="CaseForPlacingL2TextContaineAboveDivider" axis="self" ptType="node" func="posOdd" op="equ" val="1">
                <dgm:constrLst>
                  <dgm:constr type="h" for="ch" forName="L2TextContainer" refType="h" fact="0.55"/>
                  <dgm:constr type="b" for="ch" forName="L2TextContainer" refType="h"/>
                  <dgm:constr type="h" for="ch" forName="FlexibleEmptyPlaceHolder" refType="h" fact="0.45"/>
                </dgm:constrLst>
              </dgm:if>
              <dgm:else name="CaseForPlacingL2TextContaineBelowDivider">
                <dgm:constrLst>
                  <dgm:constr type="h" for="ch" forName="L2TextContainer" refType="h" fact="0.55"/>
                  <dgm:constr type="h" for="ch" forName="FlexibleEmptyPlaceHolder" refType="h" fact="0.45"/>
                  <dgm:constr type="b" for="ch" forName="FlexibleEmptyPlaceHolder" refType="h"/>
                </dgm:constrLst>
              </dgm:else>
            </dgm:choose>
            <dgm:layoutNode name="L2TextContainer" styleLbl="bgAcc1">
              <dgm:choose name="L2TextContainerAlgo">
                <dgm:if name="L2TextContainerAlgoLTR" func="var" arg="dir" op="equ" val="norm">
                  <dgm:alg type="tx">
                    <dgm:param type="txAnchorVert" val="mid"/>
                    <dgm:param type="parTxRTLAlign" val="l"/>
                    <dgm:param type="parTxLTRAlign" val="l"/>
                    <dgm:param type="txAnchorVertCh" val="mid"/>
                    <dgm:param type="shpTxRTLAlignCh" val="l"/>
                    <dgm:param type="shpTxLTRAlignCh" val="l"/>
                  </dgm:alg>
                </dgm:if>
                <dgm:else name="L2TextContainerAlgoRTL">
                  <dgm:alg type="tx">
                    <dgm:param type="txAnchorVert" val="mid"/>
                    <dgm:param type="parTxRTLAlign" val="r"/>
                    <dgm:param type="parTxLTRAlign" val="r"/>
                    <dgm:param type="txAnchorVertCh" val="mid"/>
                    <dgm:param type="shpTxRTLAlignCh" val="r"/>
                    <dgm:param type="shpTxLTRAlignCh" val="r"/>
                  </dgm:alg>
                </dgm:else>
              </dgm:choose>
              <dgm:shape xmlns:r="http://schemas.openxmlformats.org/officeDocument/2006/relationships" type="roundRect" r:blip="">
                <dgm:adjLst/>
              </dgm:shape>
              <dgm:presOf axis="des" ptType="node"/>
              <dgm:constrLst>
                <dgm:constr type="primFontSz" val="17"/>
                <dgm:constr type="lMarg" refType="primFontSz" fact="0.7"/>
                <dgm:constr type="rMarg" refType="primFontSz" fact="0.7"/>
                <dgm:constr type="tMarg" refType="primFontSz" fact="0.7"/>
                <dgm:constr type="bMarg" refType="primFontSz" fact="0.7"/>
              </dgm:constrLst>
              <dgm:ruleLst>
                <dgm:rule type="primFontSz" val="12" fact="NaN" max="NaN"/>
                <dgm:rule type="secFontSz" val="10" fact="NaN" max="NaN"/>
                <dgm:rule type="h" val="INF" fact="NaN" max="NaN"/>
              </dgm:ruleLst>
            </dgm:layoutNode>
            <dgm:layoutNode name="FlexibleEmptyPlaceHolder">
              <dgm:alg type="sp"/>
              <dgm:shape xmlns:r="http://schemas.openxmlformats.org/officeDocument/2006/relationships" r:blip="">
                <dgm:adjLst/>
              </dgm:shape>
              <dgm:presOf/>
              <dgm:constrLst/>
            </dgm:layoutNode>
          </dgm:layoutNode>
          <dgm:layoutNode name="ConnectLine" styleLbl="sibTrans1D1" moveWith="L2TextContainer">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orPoint" styleLbl="alignNode1" moveWith="L2TextContainer">
            <dgm:alg type="sp"/>
            <dgm:shape xmlns:r="http://schemas.openxmlformats.org/officeDocument/2006/relationships" type="ellipse" r:blip="" zOrderOff="1">
              <dgm:adj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Node>
  <dgm:extLst>
    <a:ext uri="{68A01E43-0DF5-4B5B-8FA6-DAF915123BFB}">
      <dgm1612:lstStyle xmlns:dgm1612="http://schemas.microsoft.com/office/drawing/2016/12/diagram">
        <a:lvl1pPr>
          <a:defRPr b="1"/>
        </a:lvl1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hList2">
  <dgm:title val=""/>
  <dgm:desc val=""/>
  <dgm:catLst>
    <dgm:cat type="list" pri="6000"/>
    <dgm:cat type="relationship" pri="16000"/>
    <dgm:cat type="picture" pri="29000"/>
    <dgm:cat type="pictureconvert" pri="29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dgm:varLst>
    <dgm:choose name="Name0">
      <dgm:if name="Name1" func="var" arg="dir" op="equ" val="norm">
        <dgm:alg type="lin">
          <dgm:param type="linDir" val="fromL"/>
          <dgm:param type="nodeVertAlign" val="t"/>
        </dgm:alg>
      </dgm:if>
      <dgm:else name="Name2">
        <dgm:alg type="lin">
          <dgm:param type="linDir" val="fromR"/>
          <dgm:param type="nodeVertAlign" val="t"/>
        </dgm:alg>
      </dgm:else>
    </dgm:choose>
    <dgm:shape xmlns:r="http://schemas.openxmlformats.org/officeDocument/2006/relationships" r:blip="">
      <dgm:adjLst/>
    </dgm:shape>
    <dgm:presOf/>
    <dgm:constrLst>
      <dgm:constr type="w" for="ch" forName="compositeNode" refType="w"/>
      <dgm:constr type="h" for="ch" forName="compositeNode" refType="h"/>
      <dgm:constr type="w" for="ch" forName="sibTrans" refType="w" refFor="ch" refForName="compositeNode" op="equ" fact="0.2"/>
      <dgm:constr type="h" for="des" forName="childNode" op="equ"/>
      <dgm:constr type="w" for="des" forName="childNode" op="equ"/>
      <dgm:constr type="w" for="des" forName="parentNode" op="equ"/>
      <dgm:constr type="h" for="des" forName="image" op="equ"/>
      <dgm:constr type="w" for="des" forName="image" op="equ"/>
      <dgm:constr type="primFontSz" for="des" forName="parentNode" op="equ" val="65"/>
      <dgm:constr type="primFontSz" for="des" forName="childNode" op="equ" val="65"/>
    </dgm:constrLst>
    <dgm:ruleLst/>
    <dgm:forEach name="Name3" axis="ch" ptType="node">
      <dgm:layoutNode name="compositeNode">
        <dgm:varLst>
          <dgm:bulletEnabled val="1"/>
        </dgm:varLst>
        <dgm:alg type="composite"/>
        <dgm:presOf/>
        <dgm:choose name="Name4">
          <dgm:if name="Name5" func="var" arg="dir" op="equ" val="norm">
            <dgm:constrLst>
              <dgm:constr type="w" for="ch" forName="image" refType="w"/>
              <dgm:constr type="h" for="ch" forName="image" refType="h"/>
              <dgm:constr type="h" for="ch" forName="image" refType="w" refFor="ch" refForName="image" op="lte"/>
              <dgm:constr type="w" for="ch" forName="image" refType="h" refFor="ch" refForName="image" op="lte"/>
              <dgm:constr type="w" for="ch" forName="image" refType="w" op="lte" fact="0.33"/>
              <dgm:constr type="h" for="ch" forName="image" refType="h" op="lte" fact="0.33"/>
              <dgm:constr type="t" for="ch" forName="image"/>
              <dgm:constr type="l" for="ch" forName="image"/>
              <dgm:constr type="w" for="ch" forName="childNode" refType="w" fact="0.85"/>
              <dgm:constr type="h" for="ch" forName="childNode" refType="h" fact="0.78"/>
              <dgm:constr type="t" for="ch" forName="childNode" refType="h" refFor="ch" refForName="image" fact="0.66"/>
              <dgm:constr type="l" for="ch" forName="childNode" refType="w" refFor="ch" refForName="image" fact="0.5"/>
              <dgm:constr type="tMarg" for="ch" forName="childNode" refType="w" refFor="ch" refForName="image" fact="1.25"/>
              <dgm:constr type="t" for="ch" forName="parentNode" refType="h" refFor="ch" refForName="image" fact="0.66"/>
              <dgm:constr type="b" for="ch" forName="parentNode" refType="b" refFor="ch" refForName="childNode"/>
              <dgm:constr type="l" for="ch" forName="parentNode"/>
              <dgm:constr type="r" for="ch" forName="parentNode" refType="l" refFor="ch" refForName="childNode"/>
              <dgm:constr type="rMarg" for="ch" forName="parentNode" refType="w" refFor="ch" refForName="image" fact="1.25"/>
            </dgm:constrLst>
          </dgm:if>
          <dgm:else name="Name6">
            <dgm:constrLst>
              <dgm:constr type="w" for="ch" forName="image" refType="w"/>
              <dgm:constr type="h" for="ch" forName="image" refType="h"/>
              <dgm:constr type="h" for="ch" forName="image" refType="w" refFor="ch" refForName="image" op="lte"/>
              <dgm:constr type="w" for="ch" forName="image" refType="h" refFor="ch" refForName="image" op="lte"/>
              <dgm:constr type="w" for="ch" forName="image" refType="w" op="lte" fact="0.33"/>
              <dgm:constr type="h" for="ch" forName="image" refType="h" op="lte" fact="0.33"/>
              <dgm:constr type="t" for="ch" forName="image"/>
              <dgm:constr type="r" for="ch" forName="image" refType="w"/>
              <dgm:constr type="w" for="ch" forName="childNode" refType="w" fact="0.85"/>
              <dgm:constr type="h" for="ch" forName="childNode" refType="h" fact="0.78"/>
              <dgm:constr type="t" for="ch" forName="childNode" refType="h" refFor="ch" refForName="image" fact="0.66"/>
              <dgm:constr type="r" for="ch" forName="childNode" refType="w"/>
              <dgm:constr type="rOff" for="ch" forName="childNode" refType="w" refFor="ch" refForName="image" fact="-0.5"/>
              <dgm:constr type="tMarg" for="ch" forName="childNode" refType="w" refFor="ch" refForName="image" fact="1.25"/>
              <dgm:constr type="t" for="ch" forName="parentNode" refType="h" refFor="ch" refForName="image" fact="0.66"/>
              <dgm:constr type="b" for="ch" forName="parentNode" refType="b" refFor="ch" refForName="childNode"/>
              <dgm:constr type="r" for="ch" forName="parentNode" refType="w"/>
              <dgm:constr type="l" for="ch" forName="parentNode" refType="r" refFor="ch" refForName="childNode"/>
              <dgm:constr type="lOff" for="ch" forName="parentNode" refType="rOff" refFor="ch" refForName="childNode"/>
              <dgm:constr type="lMarg" for="ch" forName="parentNode" refType="w" refFor="ch" refForName="image" fact="1.25"/>
            </dgm:constrLst>
          </dgm:else>
        </dgm:choose>
        <dgm:ruleLst>
          <dgm:rule type="w" for="ch" forName="childNode" val="NaN" fact="0.4" max="NaN"/>
          <dgm:rule type="h" for="ch" forName="childNode" val="NaN" fact="0.5" max="NaN"/>
        </dgm:ruleLst>
        <dgm:layoutNode name="image" styleLbl="fgImgPlace1">
          <dgm:alg type="sp"/>
          <dgm:shape xmlns:r="http://schemas.openxmlformats.org/officeDocument/2006/relationships" type="rect" r:blip="" zOrderOff="4" blipPhldr="1">
            <dgm:adjLst/>
          </dgm:shape>
          <dgm:presOf/>
          <dgm:constrLst/>
          <dgm:ruleLst/>
        </dgm:layoutNode>
        <dgm:layoutNode name="childNode" styleLbl="node1">
          <dgm:varLst>
            <dgm:bulletEnabled val="1"/>
          </dgm:varLst>
          <dgm:alg type="tx">
            <dgm:param type="stBulletLvl" val="1"/>
          </dgm:alg>
          <dgm:shape xmlns:r="http://schemas.openxmlformats.org/officeDocument/2006/relationships" type="rect" r:blip="" zOrderOff="2">
            <dgm:adjLst/>
          </dgm:shape>
          <dgm:presOf axis="des" ptType="node"/>
          <dgm:constrLst/>
          <dgm:ruleLst>
            <dgm:rule type="primFontSz" val="5" fact="NaN" max="NaN"/>
          </dgm:ruleLst>
        </dgm:layoutNode>
        <dgm:layoutNode name="parentNode" styleLbl="revTx">
          <dgm:varLst>
            <dgm:chMax val="0"/>
            <dgm:bulletEnabled val="1"/>
          </dgm:varLst>
          <dgm:choose name="Name7">
            <dgm:if name="Name8" func="var" arg="dir" op="equ" val="norm">
              <dgm:alg type="tx">
                <dgm:param type="autoTxRot" val="grav"/>
                <dgm:param type="txAnchorVert" val="t"/>
                <dgm:param type="parTxLTRAlign" val="r"/>
                <dgm:param type="parTxRTLAlign" val="r"/>
              </dgm:alg>
              <dgm:shape xmlns:r="http://schemas.openxmlformats.org/officeDocument/2006/relationships" rot="270" type="rect" r:blip="">
                <dgm:adjLst/>
              </dgm:shape>
              <dgm:presOf axis="self"/>
              <dgm:constrLst>
                <dgm:constr type="lMarg"/>
                <dgm:constr type="bMarg"/>
                <dgm:constr type="tMarg"/>
              </dgm:constrLst>
            </dgm:if>
            <dgm:else name="Name9">
              <dgm:alg type="tx">
                <dgm:param type="autoTxRot" val="grav"/>
                <dgm:param type="parTxLTRAlign" val="l"/>
                <dgm:param type="parTxRTLAlign" val="l"/>
              </dgm:alg>
              <dgm:shape xmlns:r="http://schemas.openxmlformats.org/officeDocument/2006/relationships" rot="90" type="rect" r:blip="">
                <dgm:adjLst/>
              </dgm:shape>
              <dgm:presOf axis="self"/>
              <dgm:constrLst>
                <dgm:constr type="rMarg"/>
                <dgm:constr type="bMarg"/>
                <dgm:constr type="tMarg"/>
              </dgm:constrLst>
            </dgm:else>
          </dgm:choose>
          <dgm:ruleLst>
            <dgm:rule type="primFontSz" val="5" fact="NaN" max="NaN"/>
          </dgm:ruleLst>
        </dgm:layoutNode>
      </dgm:layoutNode>
      <dgm:forEach name="Name10" axis="followSib" ptType="sibTrans" cnt="1">
        <dgm:layoutNode name="sibTrans">
          <dgm:alg type="sp"/>
          <dgm:shape xmlns:r="http://schemas.openxmlformats.org/officeDocument/2006/relationships" r:blip="">
            <dgm:adjLst/>
          </dgm:shape>
          <dgm:presOf axis="sel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chevronAccent+Icon">
  <dgm:title val="Chevron Accent Process"/>
  <dgm:desc val="Use to show sequential steps in a task, process, or workflow, or to emphasize movement or direction. Works best with minimal Level 1 and Level 2 text."/>
  <dgm:catLst>
    <dgm:cat type="process" pri="9500"/>
    <dgm:cat type="officeonline" pri="2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osite" refType="w"/>
      <dgm:constr type="primFontSz" for="des" forName="txNode" op="equ" val="65"/>
      <dgm:constr type="w" for="ch" forName="compositeSpace" refType="w" refFor="ch" refForName="composite" fact="0.028"/>
    </dgm:constrLst>
    <dgm:ruleLst/>
    <dgm:forEach name="Name4" axis="ch" ptType="node">
      <dgm:layoutNode name="composite">
        <dgm:alg type="composite"/>
        <dgm:shape xmlns:r="http://schemas.openxmlformats.org/officeDocument/2006/relationships" r:blip="">
          <dgm:adjLst/>
        </dgm:shape>
        <dgm:presOf/>
        <dgm:choose name="Name5">
          <dgm:if name="Name6" func="var" arg="dir" op="equ" val="norm">
            <dgm:constrLst>
              <dgm:constr type="l" for="ch" forName="bgChev"/>
              <dgm:constr type="w" for="ch" forName="bgChev" refType="w" fact="0.9"/>
              <dgm:constr type="t" for="ch" forName="bgChev"/>
              <dgm:constr type="h" for="ch" forName="bgChev" refType="w" refFor="ch" refForName="bgChev" fact="0.386"/>
              <dgm:constr type="l" for="ch" forName="txNode" refType="w" fact="0.24"/>
              <dgm:constr type="w" for="ch" forName="txNode" refType="w" fact="0.76"/>
              <dgm:constr type="t" for="ch" forName="txNode" refType="h" refFor="ch" refForName="bgChev" fact="0.25"/>
              <dgm:constr type="h" for="ch" forName="txNode" refType="h" refFor="ch" refForName="bgChev"/>
            </dgm:constrLst>
          </dgm:if>
          <dgm:else name="Name7">
            <dgm:constrLst>
              <dgm:constr type="l" for="ch" forName="bgChev" refType="w" fact="0.1"/>
              <dgm:constr type="w" for="ch" forName="bgChev" refType="w" fact="0.9"/>
              <dgm:constr type="t" for="ch" forName="bgChev"/>
              <dgm:constr type="h" for="ch" forName="bgChev" refType="w" refFor="ch" refForName="bgChev" fact="0.386"/>
              <dgm:constr type="l" for="ch" forName="txNode"/>
              <dgm:constr type="w" for="ch" forName="txNode" refType="w" fact="0.76"/>
              <dgm:constr type="t" for="ch" forName="txNode" refType="h" refFor="ch" refForName="bgChev" fact="0.25"/>
              <dgm:constr type="h" for="ch" forName="txNode" refType="h" refFor="ch" refForName="bgChev"/>
            </dgm:constrLst>
          </dgm:else>
        </dgm:choose>
        <dgm:ruleLst/>
        <dgm:layoutNode name="bgChev" styleLbl="node1">
          <dgm:alg type="sp"/>
          <dgm:choose name="Name8">
            <dgm:if name="Name9" func="var" arg="dir" op="equ" val="norm">
              <dgm:shape xmlns:r="http://schemas.openxmlformats.org/officeDocument/2006/relationships" type="chevron" r:blip="">
                <dgm:adjLst>
                  <dgm:adj idx="1" val="0.4"/>
                </dgm:adjLst>
              </dgm:shape>
            </dgm:if>
            <dgm:else name="Name10">
              <dgm:shape xmlns:r="http://schemas.openxmlformats.org/officeDocument/2006/relationships" rot="180" type="chevron" r:blip="">
                <dgm:adjLst>
                  <dgm:adj idx="1" val="0.4"/>
                </dgm:adjLst>
              </dgm:shape>
            </dgm:else>
          </dgm:choose>
          <dgm:presOf/>
          <dgm:constrLst/>
        </dgm:layoutNode>
        <dgm:layoutNode name="txNode" styleLbl="fgAcc1">
          <dgm:varLst>
            <dgm:bulletEnabled val="1"/>
          </dgm:varLst>
          <dgm:alg type="tx"/>
          <dgm:shape xmlns:r="http://schemas.openxmlformats.org/officeDocument/2006/relationships" type="roundRect" r:blip="">
            <dgm:adjLst>
              <dgm:adj idx="1" val="0.1"/>
            </dgm:adjLst>
          </dgm:shape>
          <dgm:presOf axis="desOrSelf" ptType="node"/>
          <dgm:ruleLst>
            <dgm:rule type="primFontSz" val="5" fact="NaN" max="NaN"/>
          </dgm:ruleLst>
        </dgm:layoutNode>
      </dgm:layoutNode>
      <dgm:forEach name="Name11" axis="followSib" ptType="sibTrans" cnt="1">
        <dgm:layoutNode name="compositeSpace">
          <dgm:alg type="sp"/>
          <dgm:shape xmlns:r="http://schemas.openxmlformats.org/officeDocument/2006/relationships" r:blip="">
            <dgm:adjLst/>
          </dgm:shape>
          <dgm:presOf axis="sel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30.xml><?xml version="1.0" encoding="utf-8"?>
<dgm:layoutDef xmlns:dgm="http://schemas.openxmlformats.org/drawingml/2006/diagram" xmlns:a="http://schemas.openxmlformats.org/drawingml/2006/main" uniqueId="urn:microsoft.com/office/officeart/2005/8/layout/hList2">
  <dgm:title val=""/>
  <dgm:desc val=""/>
  <dgm:catLst>
    <dgm:cat type="list" pri="6000"/>
    <dgm:cat type="relationship" pri="16000"/>
    <dgm:cat type="picture" pri="29000"/>
    <dgm:cat type="pictureconvert" pri="29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dgm:varLst>
    <dgm:choose name="Name0">
      <dgm:if name="Name1" func="var" arg="dir" op="equ" val="norm">
        <dgm:alg type="lin">
          <dgm:param type="linDir" val="fromL"/>
          <dgm:param type="nodeVertAlign" val="t"/>
        </dgm:alg>
      </dgm:if>
      <dgm:else name="Name2">
        <dgm:alg type="lin">
          <dgm:param type="linDir" val="fromR"/>
          <dgm:param type="nodeVertAlign" val="t"/>
        </dgm:alg>
      </dgm:else>
    </dgm:choose>
    <dgm:shape xmlns:r="http://schemas.openxmlformats.org/officeDocument/2006/relationships" r:blip="">
      <dgm:adjLst/>
    </dgm:shape>
    <dgm:presOf/>
    <dgm:constrLst>
      <dgm:constr type="w" for="ch" forName="compositeNode" refType="w"/>
      <dgm:constr type="h" for="ch" forName="compositeNode" refType="h"/>
      <dgm:constr type="w" for="ch" forName="sibTrans" refType="w" refFor="ch" refForName="compositeNode" op="equ" fact="0.2"/>
      <dgm:constr type="h" for="des" forName="childNode" op="equ"/>
      <dgm:constr type="w" for="des" forName="childNode" op="equ"/>
      <dgm:constr type="w" for="des" forName="parentNode" op="equ"/>
      <dgm:constr type="h" for="des" forName="image" op="equ"/>
      <dgm:constr type="w" for="des" forName="image" op="equ"/>
      <dgm:constr type="primFontSz" for="des" forName="parentNode" op="equ" val="65"/>
      <dgm:constr type="primFontSz" for="des" forName="childNode" op="equ" val="65"/>
    </dgm:constrLst>
    <dgm:ruleLst/>
    <dgm:forEach name="Name3" axis="ch" ptType="node">
      <dgm:layoutNode name="compositeNode">
        <dgm:varLst>
          <dgm:bulletEnabled val="1"/>
        </dgm:varLst>
        <dgm:alg type="composite"/>
        <dgm:presOf/>
        <dgm:choose name="Name4">
          <dgm:if name="Name5" func="var" arg="dir" op="equ" val="norm">
            <dgm:constrLst>
              <dgm:constr type="w" for="ch" forName="image" refType="w"/>
              <dgm:constr type="h" for="ch" forName="image" refType="h"/>
              <dgm:constr type="h" for="ch" forName="image" refType="w" refFor="ch" refForName="image" op="lte"/>
              <dgm:constr type="w" for="ch" forName="image" refType="h" refFor="ch" refForName="image" op="lte"/>
              <dgm:constr type="w" for="ch" forName="image" refType="w" op="lte" fact="0.33"/>
              <dgm:constr type="h" for="ch" forName="image" refType="h" op="lte" fact="0.33"/>
              <dgm:constr type="t" for="ch" forName="image"/>
              <dgm:constr type="l" for="ch" forName="image"/>
              <dgm:constr type="w" for="ch" forName="childNode" refType="w" fact="0.85"/>
              <dgm:constr type="h" for="ch" forName="childNode" refType="h" fact="0.78"/>
              <dgm:constr type="t" for="ch" forName="childNode" refType="h" refFor="ch" refForName="image" fact="0.66"/>
              <dgm:constr type="l" for="ch" forName="childNode" refType="w" refFor="ch" refForName="image" fact="0.5"/>
              <dgm:constr type="tMarg" for="ch" forName="childNode" refType="w" refFor="ch" refForName="image" fact="1.25"/>
              <dgm:constr type="t" for="ch" forName="parentNode" refType="h" refFor="ch" refForName="image" fact="0.66"/>
              <dgm:constr type="b" for="ch" forName="parentNode" refType="b" refFor="ch" refForName="childNode"/>
              <dgm:constr type="l" for="ch" forName="parentNode"/>
              <dgm:constr type="r" for="ch" forName="parentNode" refType="l" refFor="ch" refForName="childNode"/>
              <dgm:constr type="rMarg" for="ch" forName="parentNode" refType="w" refFor="ch" refForName="image" fact="1.25"/>
            </dgm:constrLst>
          </dgm:if>
          <dgm:else name="Name6">
            <dgm:constrLst>
              <dgm:constr type="w" for="ch" forName="image" refType="w"/>
              <dgm:constr type="h" for="ch" forName="image" refType="h"/>
              <dgm:constr type="h" for="ch" forName="image" refType="w" refFor="ch" refForName="image" op="lte"/>
              <dgm:constr type="w" for="ch" forName="image" refType="h" refFor="ch" refForName="image" op="lte"/>
              <dgm:constr type="w" for="ch" forName="image" refType="w" op="lte" fact="0.33"/>
              <dgm:constr type="h" for="ch" forName="image" refType="h" op="lte" fact="0.33"/>
              <dgm:constr type="t" for="ch" forName="image"/>
              <dgm:constr type="r" for="ch" forName="image" refType="w"/>
              <dgm:constr type="w" for="ch" forName="childNode" refType="w" fact="0.85"/>
              <dgm:constr type="h" for="ch" forName="childNode" refType="h" fact="0.78"/>
              <dgm:constr type="t" for="ch" forName="childNode" refType="h" refFor="ch" refForName="image" fact="0.66"/>
              <dgm:constr type="r" for="ch" forName="childNode" refType="w"/>
              <dgm:constr type="rOff" for="ch" forName="childNode" refType="w" refFor="ch" refForName="image" fact="-0.5"/>
              <dgm:constr type="tMarg" for="ch" forName="childNode" refType="w" refFor="ch" refForName="image" fact="1.25"/>
              <dgm:constr type="t" for="ch" forName="parentNode" refType="h" refFor="ch" refForName="image" fact="0.66"/>
              <dgm:constr type="b" for="ch" forName="parentNode" refType="b" refFor="ch" refForName="childNode"/>
              <dgm:constr type="r" for="ch" forName="parentNode" refType="w"/>
              <dgm:constr type="l" for="ch" forName="parentNode" refType="r" refFor="ch" refForName="childNode"/>
              <dgm:constr type="lOff" for="ch" forName="parentNode" refType="rOff" refFor="ch" refForName="childNode"/>
              <dgm:constr type="lMarg" for="ch" forName="parentNode" refType="w" refFor="ch" refForName="image" fact="1.25"/>
            </dgm:constrLst>
          </dgm:else>
        </dgm:choose>
        <dgm:ruleLst>
          <dgm:rule type="w" for="ch" forName="childNode" val="NaN" fact="0.4" max="NaN"/>
          <dgm:rule type="h" for="ch" forName="childNode" val="NaN" fact="0.5" max="NaN"/>
        </dgm:ruleLst>
        <dgm:layoutNode name="image" styleLbl="fgImgPlace1">
          <dgm:alg type="sp"/>
          <dgm:shape xmlns:r="http://schemas.openxmlformats.org/officeDocument/2006/relationships" type="rect" r:blip="" zOrderOff="4" blipPhldr="1">
            <dgm:adjLst/>
          </dgm:shape>
          <dgm:presOf/>
          <dgm:constrLst/>
          <dgm:ruleLst/>
        </dgm:layoutNode>
        <dgm:layoutNode name="childNode" styleLbl="node1">
          <dgm:varLst>
            <dgm:bulletEnabled val="1"/>
          </dgm:varLst>
          <dgm:alg type="tx">
            <dgm:param type="stBulletLvl" val="1"/>
          </dgm:alg>
          <dgm:shape xmlns:r="http://schemas.openxmlformats.org/officeDocument/2006/relationships" type="rect" r:blip="" zOrderOff="2">
            <dgm:adjLst/>
          </dgm:shape>
          <dgm:presOf axis="des" ptType="node"/>
          <dgm:constrLst/>
          <dgm:ruleLst>
            <dgm:rule type="primFontSz" val="5" fact="NaN" max="NaN"/>
          </dgm:ruleLst>
        </dgm:layoutNode>
        <dgm:layoutNode name="parentNode" styleLbl="revTx">
          <dgm:varLst>
            <dgm:chMax val="0"/>
            <dgm:bulletEnabled val="1"/>
          </dgm:varLst>
          <dgm:choose name="Name7">
            <dgm:if name="Name8" func="var" arg="dir" op="equ" val="norm">
              <dgm:alg type="tx">
                <dgm:param type="autoTxRot" val="grav"/>
                <dgm:param type="txAnchorVert" val="t"/>
                <dgm:param type="parTxLTRAlign" val="r"/>
                <dgm:param type="parTxRTLAlign" val="r"/>
              </dgm:alg>
              <dgm:shape xmlns:r="http://schemas.openxmlformats.org/officeDocument/2006/relationships" rot="270" type="rect" r:blip="">
                <dgm:adjLst/>
              </dgm:shape>
              <dgm:presOf axis="self"/>
              <dgm:constrLst>
                <dgm:constr type="lMarg"/>
                <dgm:constr type="bMarg"/>
                <dgm:constr type="tMarg"/>
              </dgm:constrLst>
            </dgm:if>
            <dgm:else name="Name9">
              <dgm:alg type="tx">
                <dgm:param type="autoTxRot" val="grav"/>
                <dgm:param type="parTxLTRAlign" val="l"/>
                <dgm:param type="parTxRTLAlign" val="l"/>
              </dgm:alg>
              <dgm:shape xmlns:r="http://schemas.openxmlformats.org/officeDocument/2006/relationships" rot="90" type="rect" r:blip="">
                <dgm:adjLst/>
              </dgm:shape>
              <dgm:presOf axis="self"/>
              <dgm:constrLst>
                <dgm:constr type="rMarg"/>
                <dgm:constr type="bMarg"/>
                <dgm:constr type="tMarg"/>
              </dgm:constrLst>
            </dgm:else>
          </dgm:choose>
          <dgm:ruleLst>
            <dgm:rule type="primFontSz" val="5" fact="NaN" max="NaN"/>
          </dgm:ruleLst>
        </dgm:layoutNode>
      </dgm:layoutNode>
      <dgm:forEach name="Name10" axis="followSib" ptType="sibTrans" cnt="1">
        <dgm:layoutNode name="sibTrans">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drawing1.xml><?xml version="1.0" encoding="utf-8"?>
<c:userShapes xmlns:c="http://schemas.openxmlformats.org/drawingml/2006/chart">
  <cdr:relSizeAnchor xmlns:cdr="http://schemas.openxmlformats.org/drawingml/2006/chartDrawing">
    <cdr:from>
      <cdr:x>0.07426</cdr:x>
      <cdr:y>0.45034</cdr:y>
    </cdr:from>
    <cdr:to>
      <cdr:x>0.9767</cdr:x>
      <cdr:y>0.45034</cdr:y>
    </cdr:to>
    <cdr:cxnSp macro="">
      <cdr:nvCxnSpPr>
        <cdr:cNvPr id="3" name="Straight Connector 2">
          <a:extLst xmlns:a="http://schemas.openxmlformats.org/drawingml/2006/main">
            <a:ext uri="{FF2B5EF4-FFF2-40B4-BE49-F238E27FC236}">
              <a16:creationId xmlns:a16="http://schemas.microsoft.com/office/drawing/2014/main" id="{EE7C5B7B-AFE0-888E-C051-9E9292DAFB04}"/>
            </a:ext>
          </a:extLst>
        </cdr:cNvPr>
        <cdr:cNvCxnSpPr/>
      </cdr:nvCxnSpPr>
      <cdr:spPr>
        <a:xfrm xmlns:a="http://schemas.openxmlformats.org/drawingml/2006/main">
          <a:off x="411410" y="1480629"/>
          <a:ext cx="4999701" cy="0"/>
        </a:xfrm>
        <a:prstGeom xmlns:a="http://schemas.openxmlformats.org/drawingml/2006/main" prst="line">
          <a:avLst/>
        </a:prstGeom>
        <a:ln xmlns:a="http://schemas.openxmlformats.org/drawingml/2006/main">
          <a:prstDash val="dash"/>
        </a:ln>
      </cdr:spPr>
      <cdr:style>
        <a:lnRef xmlns:a="http://schemas.openxmlformats.org/drawingml/2006/main" idx="1">
          <a:schemeClr val="accent6"/>
        </a:lnRef>
        <a:fillRef xmlns:a="http://schemas.openxmlformats.org/drawingml/2006/main" idx="0">
          <a:schemeClr val="accent6"/>
        </a:fillRef>
        <a:effectRef xmlns:a="http://schemas.openxmlformats.org/drawingml/2006/main" idx="0">
          <a:schemeClr val="accent6"/>
        </a:effectRef>
        <a:fontRef xmlns:a="http://schemas.openxmlformats.org/drawingml/2006/main" idx="minor">
          <a:schemeClr val="tx1"/>
        </a:fontRef>
      </cdr:style>
    </cdr:cxnSp>
  </cdr:relSizeAnchor>
  <cdr:relSizeAnchor xmlns:cdr="http://schemas.openxmlformats.org/drawingml/2006/chartDrawing">
    <cdr:from>
      <cdr:x>0</cdr:x>
      <cdr:y>0.45317</cdr:y>
    </cdr:from>
    <cdr:to>
      <cdr:x>0.30339</cdr:x>
      <cdr:y>0.54216</cdr:y>
    </cdr:to>
    <cdr:sp macro="" textlink="">
      <cdr:nvSpPr>
        <cdr:cNvPr id="4" name="TextBox 3">
          <a:extLst xmlns:a="http://schemas.openxmlformats.org/drawingml/2006/main">
            <a:ext uri="{FF2B5EF4-FFF2-40B4-BE49-F238E27FC236}">
              <a16:creationId xmlns:a16="http://schemas.microsoft.com/office/drawing/2014/main" id="{F8A17B62-44F0-9922-1AE3-EEFB86DADEB3}"/>
            </a:ext>
          </a:extLst>
        </cdr:cNvPr>
        <cdr:cNvSpPr txBox="1"/>
      </cdr:nvSpPr>
      <cdr:spPr>
        <a:xfrm xmlns:a="http://schemas.openxmlformats.org/drawingml/2006/main">
          <a:off x="-11958405" y="1489945"/>
          <a:ext cx="1680837" cy="292582"/>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GB" sz="1000" kern="1200" dirty="0">
            <a:solidFill>
              <a:srgbClr val="23487B"/>
            </a:solidFill>
            <a:latin typeface="Montserrat" panose="00000500000000000000" pitchFamily="2" charset="0"/>
          </a:endParaRP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25.11.2025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Good morning. Last week, we defined the argument—our 'Big Idea'. Today, we gather the evidence."</a:t>
            </a:r>
          </a:p>
          <a:p>
            <a:endParaRPr lang="en-US"/>
          </a:p>
          <a:p>
            <a:r>
              <a:rPr lang="en-US"/>
              <a:t>"Session 4 is about comparative analysis, or 'Comps'. This is how we move from a qualitative hypothesis to a quantitative, data-driven assessment by answering a simple question: Is this company better or worse than its peers?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Good morning. Last week, we defined the argument—our 'Big Idea'. Today, we gather the evidence."</a:t>
            </a:r>
          </a:p>
          <a:p>
            <a:endParaRPr lang="en-US"/>
          </a:p>
          <a:p>
            <a:r>
              <a:rPr lang="en-US"/>
              <a:t>"Session 4 is about comparative analysis, or 'Comps'. This is how we move from a qualitative hypothesis to a quantitative, data-driven assessment by answering a simple question: Is this company better or worse than its peers?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Good morning. Last week, we defined the argument—our 'Big Idea'. Today, we gather the evidence."</a:t>
            </a:r>
          </a:p>
          <a:p>
            <a:endParaRPr lang="en-US"/>
          </a:p>
          <a:p>
            <a:r>
              <a:rPr lang="en-US"/>
              <a:t>"Session 4 is about comparative analysis, or 'Comps'. This is how we move from a qualitative hypothesis to a quantitative, data-driven assessment by answering a simple question: Is this company better or worse than its peers?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Good morning. Last week, we defined the argument—our 'Big Idea'. Today, we gather the evidence."</a:t>
            </a:r>
          </a:p>
          <a:p>
            <a:endParaRPr lang="en-US"/>
          </a:p>
          <a:p>
            <a:r>
              <a:rPr lang="en-US"/>
              <a:t>"Session 4 is about comparative analysis, or 'Comps'. This is how we move from a qualitative hypothesis to a quantitative, data-driven assessment by answering a simple question: Is this company better or worse than its peers?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Good morning. Last week, we defined the argument—our 'Big Idea'. Today, we gather the evidence."</a:t>
            </a:r>
          </a:p>
          <a:p>
            <a:endParaRPr lang="en-US"/>
          </a:p>
          <a:p>
            <a:r>
              <a:rPr lang="en-US"/>
              <a:t>"Session 4 is about comparative analysis, or 'Comps'. This is how we move from a qualitative hypothesis to a quantitative, data-driven assessment by answering a simple question: Is this company better or worse than its peers?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Good morning. Last week, we defined the argument—our 'Big Idea'. Today, we gather the evidence."</a:t>
            </a:r>
          </a:p>
          <a:p>
            <a:endParaRPr lang="en-US"/>
          </a:p>
          <a:p>
            <a:r>
              <a:rPr lang="en-US"/>
              <a:t>"Session 4 is about comparative analysis, or 'Comps'. This is how we move from a qualitative hypothesis to a quantitative, data-driven assessment by answering a simple question: Is this company better or worse than its peers?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Good morning. Last week, we defined the argument—our 'Big Idea'. Today, we gather the evidence."</a:t>
            </a:r>
          </a:p>
          <a:p>
            <a:endParaRPr lang="en-US"/>
          </a:p>
          <a:p>
            <a:r>
              <a:rPr lang="en-US"/>
              <a:t>"Session 4 is about comparative analysis, or 'Comps'. This is how we move from a qualitative hypothesis to a quantitative, data-driven assessment by answering a simple question: Is this company better or worse than its peers?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Good morning. Last week, we defined the argument—our 'Big Idea'. Today, we gather the evidence."</a:t>
            </a:r>
          </a:p>
          <a:p>
            <a:endParaRPr lang="en-US" dirty="0"/>
          </a:p>
          <a:p>
            <a:r>
              <a:rPr lang="en-US" dirty="0"/>
              <a:t>"Session 4 is about comparative analysis, or 'Comps'. This is how we move from a qualitative hypothesis to a quantitative, data-driven assessment by answering a simple question: Is this company better or worse than its peers?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Good morning. Last week, we defined the argument—our 'Big Idea'. Today, we gather the evidence."</a:t>
            </a:r>
          </a:p>
          <a:p>
            <a:endParaRPr lang="en-US" dirty="0"/>
          </a:p>
          <a:p>
            <a:r>
              <a:rPr lang="en-US" dirty="0"/>
              <a:t>"Session 4 is about comparative analysis, or 'Comps'. This is how we move from a qualitative hypothesis to a quantitative, data-driven assessment by answering a simple question: Is this company better or worse than its peers?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6E1447-DEF7-9F04-84B3-8EA192B97793}"/>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CDB78B4A-05B5-3A51-C80E-6A3B4B209FD8}"/>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EE20EB9E-A855-2250-9C39-5D83CD55D976}"/>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273CCB1E-310B-A217-ABAB-BAF3AA3324BA}"/>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CFB202D4-A184-5E7A-ADA0-6E8F230C0E56}"/>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Good morning. Last week, we defined the argument—our 'Big Idea'. Today, we gather the evidence."</a:t>
            </a:r>
          </a:p>
          <a:p>
            <a:endParaRPr lang="en-US" dirty="0"/>
          </a:p>
          <a:p>
            <a:r>
              <a:rPr lang="en-US" dirty="0"/>
              <a:t>"Session 4 is about comparative analysis, or 'Comps'. This is how we move from a qualitative hypothesis to a quantitative, data-driven assessment by answering a simple question: Is this company better or worse than its peers?</a:t>
            </a:r>
          </a:p>
        </p:txBody>
      </p:sp>
      <p:sp>
        <p:nvSpPr>
          <p:cNvPr id="6" name="Footer Placeholder 5">
            <a:extLst>
              <a:ext uri="{FF2B5EF4-FFF2-40B4-BE49-F238E27FC236}">
                <a16:creationId xmlns:a16="http://schemas.microsoft.com/office/drawing/2014/main" id="{7722A9E2-2F25-43B6-C151-2E4595002B5C}"/>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10A6231B-DC39-A0BA-60A7-EDC0BF18E350}"/>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40782122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0C00D-FD4C-7687-7BB9-1D2500F02AC6}"/>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FF6517C1-72FF-E43F-001A-FCE0BBEA08F8}"/>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A069887F-6018-03C4-C108-85CF4CD5ACAA}"/>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E4A2A843-1714-7856-34DF-0A42C0075765}"/>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5AFC776C-28DE-8540-EF50-873E5DA1E452}"/>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Good morning. Last week, we defined the argument—our 'Big Idea'. Today, we gather the evidence."</a:t>
            </a:r>
          </a:p>
          <a:p>
            <a:endParaRPr lang="en-US"/>
          </a:p>
          <a:p>
            <a:r>
              <a:rPr lang="en-US"/>
              <a:t>"Session 4 is about comparative analysis, or 'Comps'. This is how we move from a qualitative hypothesis to a quantitative, data-driven assessment by answering a simple question: Is this company better or worse than its peers?</a:t>
            </a:r>
          </a:p>
        </p:txBody>
      </p:sp>
      <p:sp>
        <p:nvSpPr>
          <p:cNvPr id="6" name="Footer Placeholder 5">
            <a:extLst>
              <a:ext uri="{FF2B5EF4-FFF2-40B4-BE49-F238E27FC236}">
                <a16:creationId xmlns:a16="http://schemas.microsoft.com/office/drawing/2014/main" id="{6607E476-5238-98D3-C827-08E569BB006D}"/>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9D8CA95D-ACE8-9895-9FEC-6DDA28F2FA51}"/>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8009439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11/25/25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11/25/25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11/25/25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11/25/25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11/25/25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11/25/25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11/25/25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image" Target="../media/image8.jpeg"/><Relationship Id="rId13" Type="http://schemas.openxmlformats.org/officeDocument/2006/relationships/diagramColors" Target="../diagrams/colors1.xml"/><Relationship Id="rId18" Type="http://schemas.openxmlformats.org/officeDocument/2006/relationships/image" Target="../media/image11.jpeg"/><Relationship Id="rId3" Type="http://schemas.openxmlformats.org/officeDocument/2006/relationships/image" Target="../media/image1.png"/><Relationship Id="rId7" Type="http://schemas.openxmlformats.org/officeDocument/2006/relationships/image" Target="../media/image7.jpeg"/><Relationship Id="rId12" Type="http://schemas.openxmlformats.org/officeDocument/2006/relationships/diagramQuickStyle" Target="../diagrams/quickStyle1.xml"/><Relationship Id="rId17" Type="http://schemas.openxmlformats.org/officeDocument/2006/relationships/image" Target="../media/image10.jpeg"/><Relationship Id="rId2" Type="http://schemas.openxmlformats.org/officeDocument/2006/relationships/notesSlide" Target="../notesSlides/notesSlide4.xml"/><Relationship Id="rId16" Type="http://schemas.openxmlformats.org/officeDocument/2006/relationships/chart" Target="../charts/chart2.xml"/><Relationship Id="rId1" Type="http://schemas.openxmlformats.org/officeDocument/2006/relationships/slideLayout" Target="../slideLayouts/slideLayout7.xml"/><Relationship Id="rId6" Type="http://schemas.openxmlformats.org/officeDocument/2006/relationships/image" Target="../media/image6.jpeg"/><Relationship Id="rId11" Type="http://schemas.openxmlformats.org/officeDocument/2006/relationships/diagramLayout" Target="../diagrams/layout1.xml"/><Relationship Id="rId5" Type="http://schemas.openxmlformats.org/officeDocument/2006/relationships/image" Target="../media/image5.jpeg"/><Relationship Id="rId15" Type="http://schemas.openxmlformats.org/officeDocument/2006/relationships/chart" Target="../charts/chart1.xml"/><Relationship Id="rId10" Type="http://schemas.openxmlformats.org/officeDocument/2006/relationships/diagramData" Target="../diagrams/data1.xml"/><Relationship Id="rId19" Type="http://schemas.openxmlformats.org/officeDocument/2006/relationships/image" Target="../media/image12.png"/><Relationship Id="rId4" Type="http://schemas.openxmlformats.org/officeDocument/2006/relationships/image" Target="../media/image4.png"/><Relationship Id="rId9" Type="http://schemas.openxmlformats.org/officeDocument/2006/relationships/image" Target="../media/image9.jpeg"/><Relationship Id="rId14" Type="http://schemas.microsoft.com/office/2007/relationships/diagramDrawing" Target="../diagrams/drawing1.xml"/></Relationships>
</file>

<file path=ppt/slides/_rels/slide5.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1.png"/><Relationship Id="rId7" Type="http://schemas.openxmlformats.org/officeDocument/2006/relationships/diagramColors" Target="../diagrams/colors2.xml"/><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diagramQuickStyle" Target="../diagrams/quickStyle2.xml"/><Relationship Id="rId5" Type="http://schemas.openxmlformats.org/officeDocument/2006/relationships/diagramLayout" Target="../diagrams/layout2.xml"/><Relationship Id="rId10" Type="http://schemas.openxmlformats.org/officeDocument/2006/relationships/image" Target="../media/image14.png"/><Relationship Id="rId4" Type="http://schemas.openxmlformats.org/officeDocument/2006/relationships/diagramData" Target="../diagrams/data2.xml"/><Relationship Id="rId9" Type="http://schemas.openxmlformats.org/officeDocument/2006/relationships/image" Target="../media/image13.jpe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8" Type="http://schemas.openxmlformats.org/officeDocument/2006/relationships/diagramQuickStyle" Target="../diagrams/quickStyle3.xml"/><Relationship Id="rId13" Type="http://schemas.openxmlformats.org/officeDocument/2006/relationships/diagramQuickStyle" Target="../diagrams/quickStyle30.xml"/><Relationship Id="rId18" Type="http://schemas.openxmlformats.org/officeDocument/2006/relationships/diagramColors" Target="../diagrams/colors4.xml"/><Relationship Id="rId3" Type="http://schemas.openxmlformats.org/officeDocument/2006/relationships/image" Target="../media/image1.png"/><Relationship Id="rId7" Type="http://schemas.openxmlformats.org/officeDocument/2006/relationships/diagramLayout" Target="../diagrams/layout3.xml"/><Relationship Id="rId12" Type="http://schemas.openxmlformats.org/officeDocument/2006/relationships/diagramLayout" Target="../diagrams/layout30.xml"/><Relationship Id="rId17" Type="http://schemas.openxmlformats.org/officeDocument/2006/relationships/diagramQuickStyle" Target="../diagrams/quickStyle4.xml"/><Relationship Id="rId2" Type="http://schemas.openxmlformats.org/officeDocument/2006/relationships/notesSlide" Target="../notesSlides/notesSlide7.xml"/><Relationship Id="rId16" Type="http://schemas.openxmlformats.org/officeDocument/2006/relationships/diagramLayout" Target="../diagrams/layout4.xml"/><Relationship Id="rId1" Type="http://schemas.openxmlformats.org/officeDocument/2006/relationships/slideLayout" Target="../slideLayouts/slideLayout7.xml"/><Relationship Id="rId6" Type="http://schemas.openxmlformats.org/officeDocument/2006/relationships/diagramData" Target="../diagrams/data3.xml"/><Relationship Id="rId11" Type="http://schemas.openxmlformats.org/officeDocument/2006/relationships/diagramData" Target="../diagrams/data4.xml"/><Relationship Id="rId5" Type="http://schemas.openxmlformats.org/officeDocument/2006/relationships/chart" Target="../charts/chart4.xml"/><Relationship Id="rId15" Type="http://schemas.openxmlformats.org/officeDocument/2006/relationships/diagramData" Target="../diagrams/data5.xml"/><Relationship Id="rId10" Type="http://schemas.microsoft.com/office/2007/relationships/diagramDrawing" Target="../diagrams/drawing3.xml"/><Relationship Id="rId19" Type="http://schemas.microsoft.com/office/2007/relationships/diagramDrawing" Target="../diagrams/drawing4.xml"/><Relationship Id="rId4" Type="http://schemas.openxmlformats.org/officeDocument/2006/relationships/chart" Target="../charts/chart3.xml"/><Relationship Id="rId9" Type="http://schemas.openxmlformats.org/officeDocument/2006/relationships/diagramColors" Target="../diagrams/colors3.xml"/><Relationship Id="rId14" Type="http://schemas.openxmlformats.org/officeDocument/2006/relationships/diagramColors" Target="../diagrams/colors30.xml"/></Relationships>
</file>

<file path=ppt/slides/_rels/slide8.xml.rels><?xml version="1.0" encoding="UTF-8" standalone="yes"?>
<Relationships xmlns="http://schemas.openxmlformats.org/package/2006/relationships"><Relationship Id="rId8" Type="http://schemas.openxmlformats.org/officeDocument/2006/relationships/image" Target="../media/image21.jpeg"/><Relationship Id="rId13" Type="http://schemas.openxmlformats.org/officeDocument/2006/relationships/diagramQuickStyle" Target="../diagrams/quickStyle5.xml"/><Relationship Id="rId3" Type="http://schemas.openxmlformats.org/officeDocument/2006/relationships/image" Target="../media/image1.png"/><Relationship Id="rId7" Type="http://schemas.openxmlformats.org/officeDocument/2006/relationships/image" Target="../media/image20.jpeg"/><Relationship Id="rId12" Type="http://schemas.openxmlformats.org/officeDocument/2006/relationships/diagramLayout" Target="../diagrams/layout5.xml"/><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9.jpeg"/><Relationship Id="rId11" Type="http://schemas.openxmlformats.org/officeDocument/2006/relationships/diagramData" Target="../diagrams/data6.xml"/><Relationship Id="rId5" Type="http://schemas.openxmlformats.org/officeDocument/2006/relationships/chart" Target="../charts/chart6.xml"/><Relationship Id="rId15" Type="http://schemas.microsoft.com/office/2007/relationships/diagramDrawing" Target="../diagrams/drawing5.xml"/><Relationship Id="rId10" Type="http://schemas.openxmlformats.org/officeDocument/2006/relationships/image" Target="../media/image23.png"/><Relationship Id="rId4" Type="http://schemas.openxmlformats.org/officeDocument/2006/relationships/chart" Target="../charts/chart5.xml"/><Relationship Id="rId9" Type="http://schemas.openxmlformats.org/officeDocument/2006/relationships/image" Target="../media/image22.jpeg"/><Relationship Id="rId14" Type="http://schemas.openxmlformats.org/officeDocument/2006/relationships/diagramColors" Target="../diagrams/colors5.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3487A"/>
        </a:solidFill>
        <a:effectLst/>
      </p:bgPr>
    </p:bg>
    <p:spTree>
      <p:nvGrpSpPr>
        <p:cNvPr id="1" name=""/>
        <p:cNvGrpSpPr/>
        <p:nvPr/>
      </p:nvGrpSpPr>
      <p:grpSpPr>
        <a:xfrm>
          <a:off x="0" y="0"/>
          <a:ext cx="0" cy="0"/>
          <a:chOff x="0" y="0"/>
          <a:chExt cx="0" cy="0"/>
        </a:xfrm>
      </p:grpSpPr>
      <p:sp>
        <p:nvSpPr>
          <p:cNvPr id="2" name="Freeform 2"/>
          <p:cNvSpPr/>
          <p:nvPr/>
        </p:nvSpPr>
        <p:spPr>
          <a:xfrm>
            <a:off x="7846503" y="6394025"/>
            <a:ext cx="2594994" cy="2153293"/>
          </a:xfrm>
          <a:custGeom>
            <a:avLst/>
            <a:gdLst/>
            <a:ahLst/>
            <a:cxnLst/>
            <a:rect l="l" t="t" r="r" b="b"/>
            <a:pathLst>
              <a:path w="2594994" h="2153293">
                <a:moveTo>
                  <a:pt x="0" y="0"/>
                </a:moveTo>
                <a:lnTo>
                  <a:pt x="2594994" y="0"/>
                </a:lnTo>
                <a:lnTo>
                  <a:pt x="2594994" y="2153293"/>
                </a:lnTo>
                <a:lnTo>
                  <a:pt x="0" y="2153293"/>
                </a:lnTo>
                <a:lnTo>
                  <a:pt x="0" y="0"/>
                </a:lnTo>
                <a:close/>
              </a:path>
            </a:pathLst>
          </a:custGeom>
          <a:blipFill>
            <a:blip r:embed="rId3"/>
            <a:stretch>
              <a:fillRect l="-83932" t="-92948" r="-86060" b="-132427"/>
            </a:stretch>
          </a:blipFill>
        </p:spPr>
        <p:txBody>
          <a:bodyPr/>
          <a:lstStyle/>
          <a:p>
            <a:endParaRPr lang="en-GB"/>
          </a:p>
        </p:txBody>
      </p:sp>
      <p:sp>
        <p:nvSpPr>
          <p:cNvPr id="3" name="TextBox 3"/>
          <p:cNvSpPr txBox="1"/>
          <p:nvPr/>
        </p:nvSpPr>
        <p:spPr>
          <a:xfrm>
            <a:off x="2663160" y="3407764"/>
            <a:ext cx="12988454" cy="580390"/>
          </a:xfrm>
          <a:prstGeom prst="rect">
            <a:avLst/>
          </a:prstGeom>
        </p:spPr>
        <p:txBody>
          <a:bodyPr lIns="0" tIns="0" rIns="0" bIns="0" rtlCol="0" anchor="t">
            <a:spAutoFit/>
          </a:bodyPr>
          <a:lstStyle/>
          <a:p>
            <a:pPr algn="ctr">
              <a:lnSpc>
                <a:spcPts val="4759"/>
              </a:lnSpc>
              <a:spcBef>
                <a:spcPct val="0"/>
              </a:spcBef>
            </a:pPr>
            <a:r>
              <a:rPr lang="en-US" sz="3399">
                <a:solidFill>
                  <a:srgbClr val="23487A"/>
                </a:solidFill>
                <a:latin typeface="Montserrat"/>
                <a:ea typeface="Montserrat"/>
                <a:cs typeface="Montserrat"/>
                <a:sym typeface="Montserrat"/>
              </a:rPr>
              <a:t>Newcastle University Investment Fund Training Programme</a:t>
            </a:r>
          </a:p>
        </p:txBody>
      </p:sp>
      <p:sp>
        <p:nvSpPr>
          <p:cNvPr id="4" name="TextBox 4"/>
          <p:cNvSpPr txBox="1"/>
          <p:nvPr/>
        </p:nvSpPr>
        <p:spPr>
          <a:xfrm>
            <a:off x="5750455" y="3623488"/>
            <a:ext cx="6879803" cy="580390"/>
          </a:xfrm>
          <a:prstGeom prst="rect">
            <a:avLst/>
          </a:prstGeom>
        </p:spPr>
        <p:txBody>
          <a:bodyPr lIns="0" tIns="0" rIns="0" bIns="0" rtlCol="0" anchor="t">
            <a:spAutoFit/>
          </a:bodyPr>
          <a:lstStyle/>
          <a:p>
            <a:pPr algn="ctr">
              <a:lnSpc>
                <a:spcPts val="4759"/>
              </a:lnSpc>
              <a:spcBef>
                <a:spcPct val="0"/>
              </a:spcBef>
            </a:pPr>
            <a:r>
              <a:rPr lang="en-US" sz="3399">
                <a:solidFill>
                  <a:srgbClr val="23487A"/>
                </a:solidFill>
                <a:latin typeface="Montserrat"/>
                <a:ea typeface="Montserrat"/>
                <a:cs typeface="Montserrat"/>
                <a:sym typeface="Montserrat"/>
              </a:rPr>
              <a:t>Session 1: What is a Stock Pitch?</a:t>
            </a:r>
          </a:p>
        </p:txBody>
      </p:sp>
      <p:sp>
        <p:nvSpPr>
          <p:cNvPr id="5" name="TextBox 5"/>
          <p:cNvSpPr txBox="1"/>
          <p:nvPr/>
        </p:nvSpPr>
        <p:spPr>
          <a:xfrm>
            <a:off x="2616726" y="5213560"/>
            <a:ext cx="13081322" cy="1180465"/>
          </a:xfrm>
          <a:prstGeom prst="rect">
            <a:avLst/>
          </a:prstGeom>
        </p:spPr>
        <p:txBody>
          <a:bodyPr lIns="0" tIns="0" rIns="0" bIns="0" rtlCol="0" anchor="t">
            <a:spAutoFit/>
          </a:bodyPr>
          <a:lstStyle/>
          <a:p>
            <a:pPr algn="ctr">
              <a:lnSpc>
                <a:spcPts val="4759"/>
              </a:lnSpc>
              <a:spcBef>
                <a:spcPct val="0"/>
              </a:spcBef>
            </a:pPr>
            <a:r>
              <a:rPr lang="en-US" sz="3399">
                <a:solidFill>
                  <a:srgbClr val="23487A"/>
                </a:solidFill>
                <a:latin typeface="Montserrat"/>
                <a:ea typeface="Montserrat"/>
                <a:cs typeface="Montserrat"/>
                <a:sym typeface="Montserrat"/>
              </a:rPr>
              <a:t>Going from "It's a good company" to "It's a good investment"</a:t>
            </a:r>
          </a:p>
          <a:p>
            <a:pPr algn="ctr">
              <a:lnSpc>
                <a:spcPts val="4759"/>
              </a:lnSpc>
              <a:spcBef>
                <a:spcPct val="0"/>
              </a:spcBef>
            </a:pPr>
            <a:endParaRPr lang="en-US" sz="3399">
              <a:solidFill>
                <a:srgbClr val="23487A"/>
              </a:solidFill>
              <a:latin typeface="Montserrat"/>
              <a:ea typeface="Montserrat"/>
              <a:cs typeface="Montserrat"/>
              <a:sym typeface="Montserrat"/>
            </a:endParaRPr>
          </a:p>
        </p:txBody>
      </p:sp>
      <p:grpSp>
        <p:nvGrpSpPr>
          <p:cNvPr id="6" name="Group 6"/>
          <p:cNvGrpSpPr/>
          <p:nvPr/>
        </p:nvGrpSpPr>
        <p:grpSpPr>
          <a:xfrm>
            <a:off x="469446" y="352830"/>
            <a:ext cx="17349108" cy="9581340"/>
            <a:chOff x="0" y="-28575"/>
            <a:chExt cx="5293499" cy="2923425"/>
          </a:xfrm>
        </p:grpSpPr>
        <p:sp>
          <p:nvSpPr>
            <p:cNvPr id="7" name="Freeform 7"/>
            <p:cNvSpPr/>
            <p:nvPr/>
          </p:nvSpPr>
          <p:spPr>
            <a:xfrm>
              <a:off x="0" y="0"/>
              <a:ext cx="5293499" cy="2894850"/>
            </a:xfrm>
            <a:custGeom>
              <a:avLst/>
              <a:gdLst/>
              <a:ahLst/>
              <a:cxnLst/>
              <a:rect l="l" t="t" r="r" b="b"/>
              <a:pathLst>
                <a:path w="5293499" h="2894850">
                  <a:moveTo>
                    <a:pt x="0" y="0"/>
                  </a:moveTo>
                  <a:lnTo>
                    <a:pt x="5293499" y="0"/>
                  </a:lnTo>
                  <a:lnTo>
                    <a:pt x="5293499" y="2894850"/>
                  </a:lnTo>
                  <a:lnTo>
                    <a:pt x="0" y="2894850"/>
                  </a:lnTo>
                  <a:close/>
                </a:path>
              </a:pathLst>
            </a:custGeom>
            <a:solidFill>
              <a:srgbClr val="FFFFFF"/>
            </a:solidFill>
          </p:spPr>
          <p:txBody>
            <a:bodyPr/>
            <a:lstStyle/>
            <a:p>
              <a:endParaRPr lang="en-GB"/>
            </a:p>
          </p:txBody>
        </p:sp>
        <p:sp>
          <p:nvSpPr>
            <p:cNvPr id="8" name="TextBox 8"/>
            <p:cNvSpPr txBox="1"/>
            <p:nvPr/>
          </p:nvSpPr>
          <p:spPr>
            <a:xfrm>
              <a:off x="0" y="-28575"/>
              <a:ext cx="5293499" cy="2923425"/>
            </a:xfrm>
            <a:prstGeom prst="rect">
              <a:avLst/>
            </a:prstGeom>
          </p:spPr>
          <p:txBody>
            <a:bodyPr lIns="43850" tIns="43850" rIns="43850" bIns="43850" rtlCol="0" anchor="ctr"/>
            <a:lstStyle/>
            <a:p>
              <a:pPr algn="ctr">
                <a:lnSpc>
                  <a:spcPts val="2296"/>
                </a:lnSpc>
                <a:spcBef>
                  <a:spcPct val="0"/>
                </a:spcBef>
              </a:pPr>
              <a:endParaRPr/>
            </a:p>
          </p:txBody>
        </p:sp>
      </p:grpSp>
      <p:sp>
        <p:nvSpPr>
          <p:cNvPr id="23" name="TextBox 23"/>
          <p:cNvSpPr txBox="1"/>
          <p:nvPr/>
        </p:nvSpPr>
        <p:spPr>
          <a:xfrm>
            <a:off x="1868226" y="5213560"/>
            <a:ext cx="4914850" cy="3602990"/>
          </a:xfrm>
          <a:prstGeom prst="rect">
            <a:avLst/>
          </a:prstGeom>
        </p:spPr>
        <p:txBody>
          <a:bodyPr lIns="0" tIns="0" rIns="0" bIns="0" rtlCol="0" anchor="t">
            <a:spAutoFit/>
          </a:bodyPr>
          <a:lstStyle/>
          <a:p>
            <a:pPr algn="l">
              <a:lnSpc>
                <a:spcPts val="4060"/>
              </a:lnSpc>
              <a:spcBef>
                <a:spcPct val="0"/>
              </a:spcBef>
            </a:pPr>
            <a:r>
              <a:rPr lang="en-US" sz="2900" dirty="0">
                <a:latin typeface="Times New Roman"/>
                <a:ea typeface="Times New Roman"/>
                <a:cs typeface="Times New Roman"/>
                <a:sym typeface="Times New Roman"/>
              </a:rPr>
              <a:t>Head Analyst: </a:t>
            </a:r>
          </a:p>
          <a:p>
            <a:pPr algn="l">
              <a:lnSpc>
                <a:spcPts val="4060"/>
              </a:lnSpc>
              <a:spcBef>
                <a:spcPct val="0"/>
              </a:spcBef>
            </a:pPr>
            <a:r>
              <a:rPr lang="en-US" sz="2900" i="1" dirty="0">
                <a:latin typeface="Times New Roman"/>
                <a:ea typeface="Times New Roman"/>
                <a:cs typeface="Times New Roman"/>
                <a:sym typeface="Times New Roman"/>
              </a:rPr>
              <a:t>Samuel, Bundy</a:t>
            </a:r>
          </a:p>
          <a:p>
            <a:pPr algn="l">
              <a:lnSpc>
                <a:spcPts val="4060"/>
              </a:lnSpc>
              <a:spcBef>
                <a:spcPct val="0"/>
              </a:spcBef>
            </a:pPr>
            <a:r>
              <a:rPr lang="en-US" sz="2900" dirty="0">
                <a:latin typeface="Times New Roman"/>
                <a:ea typeface="Times New Roman"/>
                <a:cs typeface="Times New Roman"/>
                <a:sym typeface="Times New Roman"/>
              </a:rPr>
              <a:t> </a:t>
            </a:r>
          </a:p>
          <a:p>
            <a:pPr algn="l">
              <a:lnSpc>
                <a:spcPts val="4060"/>
              </a:lnSpc>
              <a:spcBef>
                <a:spcPct val="0"/>
              </a:spcBef>
            </a:pPr>
            <a:r>
              <a:rPr lang="en-US" sz="2900" dirty="0">
                <a:latin typeface="Times New Roman"/>
                <a:ea typeface="Times New Roman"/>
                <a:cs typeface="Times New Roman"/>
                <a:sym typeface="Times New Roman"/>
              </a:rPr>
              <a:t>Analysts:</a:t>
            </a:r>
          </a:p>
          <a:p>
            <a:pPr algn="l">
              <a:lnSpc>
                <a:spcPts val="4060"/>
              </a:lnSpc>
              <a:spcBef>
                <a:spcPct val="0"/>
              </a:spcBef>
            </a:pPr>
            <a:r>
              <a:rPr lang="en-US" sz="2900" i="1" dirty="0">
                <a:latin typeface="Times New Roman"/>
                <a:ea typeface="Times New Roman"/>
                <a:cs typeface="Times New Roman"/>
                <a:sym typeface="Times New Roman"/>
              </a:rPr>
              <a:t>Jack, Stevens</a:t>
            </a:r>
          </a:p>
          <a:p>
            <a:pPr algn="l">
              <a:lnSpc>
                <a:spcPts val="4060"/>
              </a:lnSpc>
              <a:spcBef>
                <a:spcPct val="0"/>
              </a:spcBef>
            </a:pPr>
            <a:r>
              <a:rPr lang="en-US" sz="2900" i="1" dirty="0">
                <a:latin typeface="Times New Roman"/>
                <a:ea typeface="Times New Roman"/>
                <a:cs typeface="Times New Roman"/>
                <a:sym typeface="Times New Roman"/>
              </a:rPr>
              <a:t>Euan, Burn</a:t>
            </a:r>
          </a:p>
          <a:p>
            <a:pPr algn="l">
              <a:lnSpc>
                <a:spcPts val="4060"/>
              </a:lnSpc>
              <a:spcBef>
                <a:spcPct val="0"/>
              </a:spcBef>
            </a:pPr>
            <a:r>
              <a:rPr lang="en-US" sz="2900" i="1" dirty="0">
                <a:latin typeface="Times New Roman"/>
                <a:ea typeface="Times New Roman"/>
                <a:cs typeface="Times New Roman"/>
                <a:sym typeface="Times New Roman"/>
              </a:rPr>
              <a:t>Henri, Allen</a:t>
            </a:r>
          </a:p>
        </p:txBody>
      </p:sp>
      <p:sp>
        <p:nvSpPr>
          <p:cNvPr id="25" name="TextBox 25"/>
          <p:cNvSpPr txBox="1"/>
          <p:nvPr/>
        </p:nvSpPr>
        <p:spPr>
          <a:xfrm>
            <a:off x="1868226" y="3693103"/>
            <a:ext cx="11142224" cy="1007263"/>
          </a:xfrm>
          <a:prstGeom prst="rect">
            <a:avLst/>
          </a:prstGeom>
        </p:spPr>
        <p:txBody>
          <a:bodyPr lIns="0" tIns="0" rIns="0" bIns="0" rtlCol="0" anchor="t">
            <a:spAutoFit/>
          </a:bodyPr>
          <a:lstStyle/>
          <a:p>
            <a:pPr>
              <a:lnSpc>
                <a:spcPts val="4060"/>
              </a:lnSpc>
              <a:spcBef>
                <a:spcPct val="0"/>
              </a:spcBef>
            </a:pPr>
            <a:r>
              <a:rPr lang="en-US" sz="2900" b="1" dirty="0">
                <a:latin typeface="Times New Roman"/>
                <a:ea typeface="Times New Roman"/>
                <a:cs typeface="Times New Roman"/>
                <a:sym typeface="Times New Roman"/>
              </a:rPr>
              <a:t>Royal BAM Group – (XAMS: BAMNB) </a:t>
            </a:r>
            <a:r>
              <a:rPr lang="en-US" sz="2900" dirty="0">
                <a:latin typeface="Times New Roman"/>
                <a:ea typeface="Times New Roman"/>
                <a:cs typeface="Times New Roman"/>
                <a:sym typeface="Times New Roman"/>
              </a:rPr>
              <a:t>– </a:t>
            </a:r>
            <a:r>
              <a:rPr lang="en-GB" sz="2900" dirty="0">
                <a:latin typeface="Times New Roman" panose="02020603050405020304" pitchFamily="18" charset="0"/>
                <a:cs typeface="Times New Roman" panose="02020603050405020304" pitchFamily="18" charset="0"/>
              </a:rPr>
              <a:t>(EUR/USD is </a:t>
            </a:r>
            <a:r>
              <a:rPr lang="en-GB" sz="2900" b="1" dirty="0">
                <a:latin typeface="Times New Roman" panose="02020603050405020304" pitchFamily="18" charset="0"/>
                <a:cs typeface="Times New Roman" panose="02020603050405020304" pitchFamily="18" charset="0"/>
              </a:rPr>
              <a:t>1.1512 USD)</a:t>
            </a:r>
            <a:endParaRPr lang="en-US" sz="2900" dirty="0">
              <a:latin typeface="Times New Roman" panose="02020603050405020304" pitchFamily="18" charset="0"/>
              <a:cs typeface="Times New Roman" panose="02020603050405020304" pitchFamily="18" charset="0"/>
            </a:endParaRPr>
          </a:p>
          <a:p>
            <a:pPr algn="l">
              <a:lnSpc>
                <a:spcPts val="4060"/>
              </a:lnSpc>
              <a:spcBef>
                <a:spcPct val="0"/>
              </a:spcBef>
            </a:pPr>
            <a:r>
              <a:rPr lang="en-US" sz="2900" dirty="0">
                <a:latin typeface="Times New Roman"/>
                <a:ea typeface="Times New Roman"/>
                <a:cs typeface="Times New Roman"/>
                <a:sym typeface="Times New Roman"/>
              </a:rPr>
              <a:t>  </a:t>
            </a:r>
          </a:p>
        </p:txBody>
      </p:sp>
      <p:sp>
        <p:nvSpPr>
          <p:cNvPr id="26" name="AutoShape 26"/>
          <p:cNvSpPr/>
          <p:nvPr/>
        </p:nvSpPr>
        <p:spPr>
          <a:xfrm>
            <a:off x="1868260" y="3671113"/>
            <a:ext cx="10729029" cy="19050"/>
          </a:xfrm>
          <a:prstGeom prst="line">
            <a:avLst/>
          </a:prstGeom>
          <a:ln w="38100" cap="flat">
            <a:solidFill>
              <a:srgbClr val="214779"/>
            </a:solidFill>
            <a:prstDash val="solid"/>
            <a:headEnd type="none" w="sm" len="sm"/>
            <a:tailEnd type="none" w="sm" len="sm"/>
          </a:ln>
        </p:spPr>
        <p:txBody>
          <a:bodyPr/>
          <a:lstStyle/>
          <a:p>
            <a:endParaRPr lang="en-GB"/>
          </a:p>
        </p:txBody>
      </p:sp>
      <p:sp>
        <p:nvSpPr>
          <p:cNvPr id="27" name="TextBox 27"/>
          <p:cNvSpPr txBox="1"/>
          <p:nvPr/>
        </p:nvSpPr>
        <p:spPr>
          <a:xfrm>
            <a:off x="1868225" y="3007599"/>
            <a:ext cx="8108531" cy="481542"/>
          </a:xfrm>
          <a:prstGeom prst="rect">
            <a:avLst/>
          </a:prstGeom>
        </p:spPr>
        <p:txBody>
          <a:bodyPr wrap="square" lIns="0" tIns="0" rIns="0" bIns="0" rtlCol="0" anchor="t">
            <a:spAutoFit/>
          </a:bodyPr>
          <a:lstStyle/>
          <a:p>
            <a:pPr algn="l">
              <a:lnSpc>
                <a:spcPts val="4060"/>
              </a:lnSpc>
              <a:spcBef>
                <a:spcPct val="0"/>
              </a:spcBef>
            </a:pPr>
            <a:r>
              <a:rPr lang="en-US" sz="2900" dirty="0">
                <a:latin typeface="Times New Roman"/>
                <a:ea typeface="Times New Roman"/>
                <a:cs typeface="Times New Roman"/>
                <a:sym typeface="Times New Roman"/>
              </a:rPr>
              <a:t>Newcastle University Investment Fund</a:t>
            </a:r>
          </a:p>
        </p:txBody>
      </p:sp>
      <p:sp>
        <p:nvSpPr>
          <p:cNvPr id="28" name="TextBox 28"/>
          <p:cNvSpPr txBox="1"/>
          <p:nvPr/>
        </p:nvSpPr>
        <p:spPr>
          <a:xfrm>
            <a:off x="1868260" y="4173696"/>
            <a:ext cx="9402068" cy="481542"/>
          </a:xfrm>
          <a:prstGeom prst="rect">
            <a:avLst/>
          </a:prstGeom>
        </p:spPr>
        <p:txBody>
          <a:bodyPr lIns="0" tIns="0" rIns="0" bIns="0" rtlCol="0" anchor="t">
            <a:spAutoFit/>
          </a:bodyPr>
          <a:lstStyle/>
          <a:p>
            <a:pPr>
              <a:lnSpc>
                <a:spcPts val="4060"/>
              </a:lnSpc>
              <a:spcBef>
                <a:spcPct val="0"/>
              </a:spcBef>
            </a:pPr>
            <a:r>
              <a:rPr lang="en-US" sz="2900" dirty="0">
                <a:latin typeface="Times New Roman"/>
                <a:ea typeface="Times New Roman"/>
                <a:cs typeface="Times New Roman"/>
                <a:sym typeface="Times New Roman"/>
              </a:rPr>
              <a:t>Long: Target Price </a:t>
            </a:r>
            <a:r>
              <a:rPr lang="en-GB" sz="2900" dirty="0">
                <a:latin typeface="Times New Roman" panose="02020603050405020304" pitchFamily="18" charset="0"/>
                <a:cs typeface="Times New Roman" panose="02020603050405020304" pitchFamily="18" charset="0"/>
              </a:rPr>
              <a:t>€</a:t>
            </a:r>
            <a:r>
              <a:rPr lang="en-US" sz="2900" dirty="0">
                <a:latin typeface="Times New Roman"/>
                <a:ea typeface="Times New Roman"/>
                <a:cs typeface="Times New Roman"/>
                <a:sym typeface="Times New Roman"/>
              </a:rPr>
              <a:t>9.77 - </a:t>
            </a:r>
            <a:r>
              <a:rPr lang="en-US" sz="2900" dirty="0">
                <a:solidFill>
                  <a:srgbClr val="00B050"/>
                </a:solidFill>
                <a:latin typeface="Times New Roman"/>
                <a:ea typeface="Times New Roman"/>
                <a:cs typeface="Times New Roman"/>
                <a:sym typeface="Times New Roman"/>
              </a:rPr>
              <a:t>(17.9% Upside) </a:t>
            </a:r>
          </a:p>
        </p:txBody>
      </p:sp>
      <p:pic>
        <p:nvPicPr>
          <p:cNvPr id="30" name="Picture 29" descr="Royal BAM Group | Bunnik">
            <a:extLst>
              <a:ext uri="{FF2B5EF4-FFF2-40B4-BE49-F238E27FC236}">
                <a16:creationId xmlns:a16="http://schemas.microsoft.com/office/drawing/2014/main" id="{E51FBC1B-1D39-A83E-2D5F-A406C1CF1370}"/>
              </a:ext>
            </a:extLst>
          </p:cNvPr>
          <p:cNvPicPr>
            <a:picLocks noChangeAspect="1"/>
          </p:cNvPicPr>
          <p:nvPr/>
        </p:nvPicPr>
        <p:blipFill>
          <a:blip r:embed="rId4"/>
          <a:srcRect l="5354" r="5352"/>
          <a:stretch>
            <a:fillRect/>
          </a:stretch>
        </p:blipFill>
        <p:spPr>
          <a:xfrm>
            <a:off x="14018375" y="6284406"/>
            <a:ext cx="2844458" cy="2841645"/>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pic>
        <p:nvPicPr>
          <p:cNvPr id="22" name="Picture 21" descr="A blue and white logo&#10;&#10;Description automatically generated">
            <a:extLst>
              <a:ext uri="{FF2B5EF4-FFF2-40B4-BE49-F238E27FC236}">
                <a16:creationId xmlns:a16="http://schemas.microsoft.com/office/drawing/2014/main" id="{BF691AED-4C77-12FE-1654-D65C2A2603C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3529053" y="978966"/>
            <a:ext cx="3630272" cy="407414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23487A"/>
        </a:solidFill>
        <a:effectLst/>
      </p:bgPr>
    </p:bg>
    <p:spTree>
      <p:nvGrpSpPr>
        <p:cNvPr id="1" name=""/>
        <p:cNvGrpSpPr/>
        <p:nvPr/>
      </p:nvGrpSpPr>
      <p:grpSpPr>
        <a:xfrm>
          <a:off x="0" y="0"/>
          <a:ext cx="0" cy="0"/>
          <a:chOff x="0" y="0"/>
          <a:chExt cx="0" cy="0"/>
        </a:xfrm>
      </p:grpSpPr>
      <p:sp>
        <p:nvSpPr>
          <p:cNvPr id="2" name="Freeform 2"/>
          <p:cNvSpPr/>
          <p:nvPr/>
        </p:nvSpPr>
        <p:spPr>
          <a:xfrm>
            <a:off x="7846503" y="6394025"/>
            <a:ext cx="2594994" cy="2153293"/>
          </a:xfrm>
          <a:custGeom>
            <a:avLst/>
            <a:gdLst/>
            <a:ahLst/>
            <a:cxnLst/>
            <a:rect l="l" t="t" r="r" b="b"/>
            <a:pathLst>
              <a:path w="2594994" h="2153293">
                <a:moveTo>
                  <a:pt x="0" y="0"/>
                </a:moveTo>
                <a:lnTo>
                  <a:pt x="2594994" y="0"/>
                </a:lnTo>
                <a:lnTo>
                  <a:pt x="2594994" y="2153293"/>
                </a:lnTo>
                <a:lnTo>
                  <a:pt x="0" y="2153293"/>
                </a:lnTo>
                <a:lnTo>
                  <a:pt x="0" y="0"/>
                </a:lnTo>
                <a:close/>
              </a:path>
            </a:pathLst>
          </a:custGeom>
          <a:blipFill>
            <a:blip r:embed="rId3"/>
            <a:stretch>
              <a:fillRect l="-83932" t="-92948" r="-86060" b="-132427"/>
            </a:stretch>
          </a:blipFill>
        </p:spPr>
        <p:txBody>
          <a:bodyPr/>
          <a:lstStyle/>
          <a:p>
            <a:endParaRPr lang="en-GB"/>
          </a:p>
        </p:txBody>
      </p:sp>
      <p:sp>
        <p:nvSpPr>
          <p:cNvPr id="3" name="TextBox 3"/>
          <p:cNvSpPr txBox="1"/>
          <p:nvPr/>
        </p:nvSpPr>
        <p:spPr>
          <a:xfrm>
            <a:off x="2663160" y="3407764"/>
            <a:ext cx="12988454" cy="580390"/>
          </a:xfrm>
          <a:prstGeom prst="rect">
            <a:avLst/>
          </a:prstGeom>
        </p:spPr>
        <p:txBody>
          <a:bodyPr lIns="0" tIns="0" rIns="0" bIns="0" rtlCol="0" anchor="t">
            <a:spAutoFit/>
          </a:bodyPr>
          <a:lstStyle/>
          <a:p>
            <a:pPr algn="ctr">
              <a:lnSpc>
                <a:spcPts val="4759"/>
              </a:lnSpc>
              <a:spcBef>
                <a:spcPct val="0"/>
              </a:spcBef>
            </a:pPr>
            <a:r>
              <a:rPr lang="en-US" sz="3399">
                <a:solidFill>
                  <a:srgbClr val="23487A"/>
                </a:solidFill>
                <a:latin typeface="Montserrat"/>
                <a:ea typeface="Montserrat"/>
                <a:cs typeface="Montserrat"/>
                <a:sym typeface="Montserrat"/>
              </a:rPr>
              <a:t>Newcastle University Investment Fund Training Programme</a:t>
            </a:r>
          </a:p>
        </p:txBody>
      </p:sp>
      <p:sp>
        <p:nvSpPr>
          <p:cNvPr id="4" name="TextBox 4"/>
          <p:cNvSpPr txBox="1"/>
          <p:nvPr/>
        </p:nvSpPr>
        <p:spPr>
          <a:xfrm>
            <a:off x="5717486" y="4246908"/>
            <a:ext cx="6879803" cy="580390"/>
          </a:xfrm>
          <a:prstGeom prst="rect">
            <a:avLst/>
          </a:prstGeom>
        </p:spPr>
        <p:txBody>
          <a:bodyPr lIns="0" tIns="0" rIns="0" bIns="0" rtlCol="0" anchor="t">
            <a:spAutoFit/>
          </a:bodyPr>
          <a:lstStyle/>
          <a:p>
            <a:pPr algn="ctr">
              <a:lnSpc>
                <a:spcPts val="4759"/>
              </a:lnSpc>
              <a:spcBef>
                <a:spcPct val="0"/>
              </a:spcBef>
            </a:pPr>
            <a:r>
              <a:rPr lang="en-US" sz="3399">
                <a:solidFill>
                  <a:srgbClr val="23487A"/>
                </a:solidFill>
                <a:latin typeface="Montserrat"/>
                <a:ea typeface="Montserrat"/>
                <a:cs typeface="Montserrat"/>
                <a:sym typeface="Montserrat"/>
              </a:rPr>
              <a:t>Session 1: What is a Stock Pitch?</a:t>
            </a:r>
          </a:p>
        </p:txBody>
      </p:sp>
      <p:sp>
        <p:nvSpPr>
          <p:cNvPr id="5" name="TextBox 5"/>
          <p:cNvSpPr txBox="1"/>
          <p:nvPr/>
        </p:nvSpPr>
        <p:spPr>
          <a:xfrm>
            <a:off x="2616726" y="5213560"/>
            <a:ext cx="13081322" cy="1180465"/>
          </a:xfrm>
          <a:prstGeom prst="rect">
            <a:avLst/>
          </a:prstGeom>
        </p:spPr>
        <p:txBody>
          <a:bodyPr lIns="0" tIns="0" rIns="0" bIns="0" rtlCol="0" anchor="t">
            <a:spAutoFit/>
          </a:bodyPr>
          <a:lstStyle/>
          <a:p>
            <a:pPr algn="ctr">
              <a:lnSpc>
                <a:spcPts val="4759"/>
              </a:lnSpc>
              <a:spcBef>
                <a:spcPct val="0"/>
              </a:spcBef>
            </a:pPr>
            <a:r>
              <a:rPr lang="en-US" sz="3399">
                <a:solidFill>
                  <a:srgbClr val="23487A"/>
                </a:solidFill>
                <a:latin typeface="Montserrat"/>
                <a:ea typeface="Montserrat"/>
                <a:cs typeface="Montserrat"/>
                <a:sym typeface="Montserrat"/>
              </a:rPr>
              <a:t>Going from "It's a good company" to "It's a good investment"</a:t>
            </a:r>
          </a:p>
          <a:p>
            <a:pPr algn="ctr">
              <a:lnSpc>
                <a:spcPts val="4759"/>
              </a:lnSpc>
              <a:spcBef>
                <a:spcPct val="0"/>
              </a:spcBef>
            </a:pPr>
            <a:endParaRPr lang="en-US" sz="3399">
              <a:solidFill>
                <a:srgbClr val="23487A"/>
              </a:solidFill>
              <a:latin typeface="Montserrat"/>
              <a:ea typeface="Montserrat"/>
              <a:cs typeface="Montserrat"/>
              <a:sym typeface="Montserrat"/>
            </a:endParaRPr>
          </a:p>
        </p:txBody>
      </p:sp>
      <p:grpSp>
        <p:nvGrpSpPr>
          <p:cNvPr id="6" name="Group 6"/>
          <p:cNvGrpSpPr/>
          <p:nvPr/>
        </p:nvGrpSpPr>
        <p:grpSpPr>
          <a:xfrm>
            <a:off x="482833" y="399657"/>
            <a:ext cx="17349108" cy="9487687"/>
            <a:chOff x="0" y="0"/>
            <a:chExt cx="5293499" cy="2894850"/>
          </a:xfrm>
        </p:grpSpPr>
        <p:sp>
          <p:nvSpPr>
            <p:cNvPr id="7" name="Freeform 7"/>
            <p:cNvSpPr/>
            <p:nvPr/>
          </p:nvSpPr>
          <p:spPr>
            <a:xfrm>
              <a:off x="0" y="0"/>
              <a:ext cx="5293499" cy="2894850"/>
            </a:xfrm>
            <a:custGeom>
              <a:avLst/>
              <a:gdLst/>
              <a:ahLst/>
              <a:cxnLst/>
              <a:rect l="l" t="t" r="r" b="b"/>
              <a:pathLst>
                <a:path w="5293499" h="2894850">
                  <a:moveTo>
                    <a:pt x="0" y="0"/>
                  </a:moveTo>
                  <a:lnTo>
                    <a:pt x="5293499" y="0"/>
                  </a:lnTo>
                  <a:lnTo>
                    <a:pt x="5293499" y="2894850"/>
                  </a:lnTo>
                  <a:lnTo>
                    <a:pt x="0" y="2894850"/>
                  </a:lnTo>
                  <a:close/>
                </a:path>
              </a:pathLst>
            </a:custGeom>
            <a:solidFill>
              <a:srgbClr val="FFFFFF"/>
            </a:solidFill>
          </p:spPr>
          <p:txBody>
            <a:bodyPr/>
            <a:lstStyle/>
            <a:p>
              <a:endParaRPr lang="en-GB"/>
            </a:p>
          </p:txBody>
        </p:sp>
        <p:sp>
          <p:nvSpPr>
            <p:cNvPr id="8" name="TextBox 8"/>
            <p:cNvSpPr txBox="1"/>
            <p:nvPr/>
          </p:nvSpPr>
          <p:spPr>
            <a:xfrm>
              <a:off x="0" y="-28575"/>
              <a:ext cx="5293499" cy="2923425"/>
            </a:xfrm>
            <a:prstGeom prst="rect">
              <a:avLst/>
            </a:prstGeom>
          </p:spPr>
          <p:txBody>
            <a:bodyPr lIns="43850" tIns="43850" rIns="43850" bIns="43850" rtlCol="0" anchor="ctr"/>
            <a:lstStyle/>
            <a:p>
              <a:pPr algn="ctr">
                <a:lnSpc>
                  <a:spcPts val="2296"/>
                </a:lnSpc>
                <a:spcBef>
                  <a:spcPct val="0"/>
                </a:spcBef>
              </a:pPr>
              <a:endParaRPr/>
            </a:p>
          </p:txBody>
        </p:sp>
      </p:grpSp>
      <p:sp>
        <p:nvSpPr>
          <p:cNvPr id="9" name="Freeform 9"/>
          <p:cNvSpPr/>
          <p:nvPr/>
        </p:nvSpPr>
        <p:spPr>
          <a:xfrm>
            <a:off x="16305847" y="8621010"/>
            <a:ext cx="1526094" cy="1266333"/>
          </a:xfrm>
          <a:custGeom>
            <a:avLst/>
            <a:gdLst/>
            <a:ahLst/>
            <a:cxnLst/>
            <a:rect l="l" t="t" r="r" b="b"/>
            <a:pathLst>
              <a:path w="1526094" h="1266333">
                <a:moveTo>
                  <a:pt x="0" y="0"/>
                </a:moveTo>
                <a:lnTo>
                  <a:pt x="1526094" y="0"/>
                </a:lnTo>
                <a:lnTo>
                  <a:pt x="1526094" y="1266333"/>
                </a:lnTo>
                <a:lnTo>
                  <a:pt x="0" y="1266333"/>
                </a:lnTo>
                <a:lnTo>
                  <a:pt x="0" y="0"/>
                </a:lnTo>
                <a:close/>
              </a:path>
            </a:pathLst>
          </a:custGeom>
          <a:blipFill>
            <a:blip r:embed="rId3"/>
            <a:stretch>
              <a:fillRect l="-83932" t="-92948" r="-86060" b="-132427"/>
            </a:stretch>
          </a:blipFill>
        </p:spPr>
        <p:txBody>
          <a:bodyPr/>
          <a:lstStyle/>
          <a:p>
            <a:endParaRPr lang="en-GB"/>
          </a:p>
        </p:txBody>
      </p:sp>
      <p:sp>
        <p:nvSpPr>
          <p:cNvPr id="10" name="TextBox 10"/>
          <p:cNvSpPr txBox="1"/>
          <p:nvPr/>
        </p:nvSpPr>
        <p:spPr>
          <a:xfrm>
            <a:off x="1868226" y="1215052"/>
            <a:ext cx="2613124" cy="481542"/>
          </a:xfrm>
          <a:prstGeom prst="rect">
            <a:avLst/>
          </a:prstGeom>
        </p:spPr>
        <p:txBody>
          <a:bodyPr lIns="0" tIns="0" rIns="0" bIns="0" rtlCol="0" anchor="t">
            <a:spAutoFit/>
          </a:bodyPr>
          <a:lstStyle/>
          <a:p>
            <a:pPr algn="l">
              <a:lnSpc>
                <a:spcPts val="4060"/>
              </a:lnSpc>
              <a:spcBef>
                <a:spcPct val="0"/>
              </a:spcBef>
            </a:pPr>
            <a:r>
              <a:rPr lang="en-US" sz="2900" dirty="0">
                <a:latin typeface="Times New Roman"/>
                <a:ea typeface="Times New Roman"/>
                <a:cs typeface="Times New Roman"/>
                <a:sym typeface="Times New Roman"/>
              </a:rPr>
              <a:t>Table of Contents</a:t>
            </a:r>
          </a:p>
        </p:txBody>
      </p:sp>
      <p:sp>
        <p:nvSpPr>
          <p:cNvPr id="11" name="AutoShape 11"/>
          <p:cNvSpPr/>
          <p:nvPr/>
        </p:nvSpPr>
        <p:spPr>
          <a:xfrm>
            <a:off x="1868226" y="1874239"/>
            <a:ext cx="10729029" cy="19050"/>
          </a:xfrm>
          <a:prstGeom prst="line">
            <a:avLst/>
          </a:prstGeom>
          <a:ln w="38100" cap="flat">
            <a:solidFill>
              <a:srgbClr val="214779"/>
            </a:solidFill>
            <a:prstDash val="solid"/>
            <a:headEnd type="none" w="sm" len="sm"/>
            <a:tailEnd type="none" w="sm" len="sm"/>
          </a:ln>
        </p:spPr>
        <p:txBody>
          <a:bodyPr/>
          <a:lstStyle/>
          <a:p>
            <a:endParaRPr lang="en-GB"/>
          </a:p>
        </p:txBody>
      </p:sp>
      <p:sp>
        <p:nvSpPr>
          <p:cNvPr id="12" name="TextBox 12"/>
          <p:cNvSpPr txBox="1"/>
          <p:nvPr/>
        </p:nvSpPr>
        <p:spPr>
          <a:xfrm>
            <a:off x="1868226" y="1959964"/>
            <a:ext cx="6648684" cy="5213607"/>
          </a:xfrm>
          <a:prstGeom prst="rect">
            <a:avLst/>
          </a:prstGeom>
        </p:spPr>
        <p:txBody>
          <a:bodyPr lIns="0" tIns="0" rIns="0" bIns="0" rtlCol="0" anchor="t">
            <a:spAutoFit/>
          </a:bodyPr>
          <a:lstStyle/>
          <a:p>
            <a:pPr marL="626111" lvl="1" indent="-313055" algn="l">
              <a:lnSpc>
                <a:spcPts val="4060"/>
              </a:lnSpc>
              <a:buAutoNum type="arabicPeriod"/>
            </a:pPr>
            <a:r>
              <a:rPr lang="en-US" sz="2900" dirty="0">
                <a:latin typeface="Times New Roman"/>
                <a:ea typeface="Times New Roman"/>
                <a:cs typeface="Times New Roman"/>
                <a:sym typeface="Times New Roman"/>
              </a:rPr>
              <a:t> Executive Summary</a:t>
            </a:r>
          </a:p>
          <a:p>
            <a:pPr marL="626111" lvl="1" indent="-313055" algn="l">
              <a:lnSpc>
                <a:spcPts val="4060"/>
              </a:lnSpc>
              <a:buAutoNum type="arabicPeriod"/>
            </a:pPr>
            <a:r>
              <a:rPr lang="en-US" sz="2900" dirty="0">
                <a:latin typeface="Times New Roman"/>
                <a:ea typeface="Times New Roman"/>
                <a:cs typeface="Times New Roman"/>
                <a:sym typeface="Times New Roman"/>
              </a:rPr>
              <a:t> Company Overview</a:t>
            </a:r>
          </a:p>
          <a:p>
            <a:pPr marL="626111" lvl="1" indent="-313055" algn="l">
              <a:lnSpc>
                <a:spcPts val="4060"/>
              </a:lnSpc>
              <a:buAutoNum type="arabicPeriod"/>
            </a:pPr>
            <a:r>
              <a:rPr lang="en-US" sz="2900" dirty="0">
                <a:latin typeface="Times New Roman"/>
                <a:ea typeface="Times New Roman"/>
                <a:cs typeface="Times New Roman"/>
                <a:sym typeface="Times New Roman"/>
              </a:rPr>
              <a:t> Industry Overview</a:t>
            </a:r>
          </a:p>
          <a:p>
            <a:pPr marL="626111" lvl="1" indent="-313055" algn="l">
              <a:lnSpc>
                <a:spcPts val="4060"/>
              </a:lnSpc>
              <a:buAutoNum type="arabicPeriod"/>
            </a:pPr>
            <a:r>
              <a:rPr lang="en-US" sz="2900" dirty="0">
                <a:latin typeface="Times New Roman"/>
                <a:ea typeface="Times New Roman"/>
                <a:cs typeface="Times New Roman"/>
                <a:sym typeface="Times New Roman"/>
              </a:rPr>
              <a:t> Market Expectations</a:t>
            </a:r>
          </a:p>
          <a:p>
            <a:pPr marL="626111" lvl="1" indent="-313055" algn="l">
              <a:lnSpc>
                <a:spcPts val="4060"/>
              </a:lnSpc>
              <a:buAutoNum type="arabicPeriod"/>
            </a:pPr>
            <a:r>
              <a:rPr lang="en-US" sz="2900" dirty="0">
                <a:latin typeface="Times New Roman"/>
                <a:ea typeface="Times New Roman"/>
                <a:cs typeface="Times New Roman"/>
                <a:sym typeface="Times New Roman"/>
              </a:rPr>
              <a:t> Thesis</a:t>
            </a:r>
          </a:p>
          <a:p>
            <a:pPr marL="626111" lvl="1" indent="-313055" algn="l">
              <a:lnSpc>
                <a:spcPts val="4060"/>
              </a:lnSpc>
              <a:buAutoNum type="arabicPeriod"/>
            </a:pPr>
            <a:r>
              <a:rPr lang="en-US" sz="2900" dirty="0">
                <a:latin typeface="Times New Roman"/>
                <a:ea typeface="Times New Roman"/>
                <a:cs typeface="Times New Roman"/>
                <a:sym typeface="Times New Roman"/>
              </a:rPr>
              <a:t> Valuation</a:t>
            </a:r>
          </a:p>
          <a:p>
            <a:pPr marL="626111" lvl="1" indent="-313055" algn="l">
              <a:lnSpc>
                <a:spcPts val="4060"/>
              </a:lnSpc>
              <a:buAutoNum type="arabicPeriod"/>
            </a:pPr>
            <a:r>
              <a:rPr lang="en-US" sz="2900" dirty="0">
                <a:latin typeface="Times New Roman"/>
                <a:ea typeface="Times New Roman"/>
                <a:cs typeface="Times New Roman"/>
                <a:sym typeface="Times New Roman"/>
              </a:rPr>
              <a:t> Risks and Catalysts</a:t>
            </a:r>
          </a:p>
          <a:p>
            <a:pPr marL="626111" lvl="1" indent="-313055" algn="l">
              <a:lnSpc>
                <a:spcPts val="4060"/>
              </a:lnSpc>
              <a:buAutoNum type="arabicPeriod"/>
            </a:pPr>
            <a:r>
              <a:rPr lang="en-US" sz="2900" dirty="0">
                <a:latin typeface="Times New Roman"/>
                <a:ea typeface="Times New Roman"/>
                <a:cs typeface="Times New Roman"/>
                <a:sym typeface="Times New Roman"/>
              </a:rPr>
              <a:t> Appendix</a:t>
            </a:r>
          </a:p>
          <a:p>
            <a:pPr marL="626111" lvl="1" indent="-313055" algn="l">
              <a:lnSpc>
                <a:spcPts val="4060"/>
              </a:lnSpc>
              <a:buAutoNum type="arabicPeriod"/>
            </a:pPr>
            <a:r>
              <a:rPr lang="en-US" sz="2900" dirty="0">
                <a:latin typeface="Times New Roman"/>
                <a:ea typeface="Times New Roman"/>
                <a:cs typeface="Times New Roman"/>
                <a:sym typeface="Times New Roman"/>
              </a:rPr>
              <a:t> Disclaimer</a:t>
            </a:r>
          </a:p>
          <a:p>
            <a:pPr algn="l">
              <a:lnSpc>
                <a:spcPts val="4060"/>
              </a:lnSpc>
            </a:pPr>
            <a:endParaRPr lang="en-US" sz="2900" dirty="0">
              <a:latin typeface="Times New Roman"/>
              <a:ea typeface="Times New Roman"/>
              <a:cs typeface="Times New Roman"/>
              <a:sym typeface="Times New Roman"/>
            </a:endParaRPr>
          </a:p>
        </p:txBody>
      </p:sp>
      <p:sp>
        <p:nvSpPr>
          <p:cNvPr id="13" name="AutoShape 13"/>
          <p:cNvSpPr/>
          <p:nvPr/>
        </p:nvSpPr>
        <p:spPr>
          <a:xfrm>
            <a:off x="2209802" y="9254177"/>
            <a:ext cx="13744971" cy="0"/>
          </a:xfrm>
          <a:prstGeom prst="line">
            <a:avLst/>
          </a:prstGeom>
          <a:ln w="38100" cap="flat">
            <a:solidFill>
              <a:srgbClr val="214779"/>
            </a:solidFill>
            <a:prstDash val="solid"/>
            <a:headEnd type="none" w="sm" len="sm"/>
            <a:tailEnd type="none" w="sm" len="sm"/>
          </a:ln>
        </p:spPr>
        <p:txBody>
          <a:bodyPr/>
          <a:lstStyle/>
          <a:p>
            <a:endParaRPr lang="en-GB"/>
          </a:p>
        </p:txBody>
      </p:sp>
      <p:sp>
        <p:nvSpPr>
          <p:cNvPr id="16" name="TextBox 49">
            <a:extLst>
              <a:ext uri="{FF2B5EF4-FFF2-40B4-BE49-F238E27FC236}">
                <a16:creationId xmlns:a16="http://schemas.microsoft.com/office/drawing/2014/main" id="{A8E0878D-A6E6-9A87-2785-8D10719B494E}"/>
              </a:ext>
            </a:extLst>
          </p:cNvPr>
          <p:cNvSpPr txBox="1"/>
          <p:nvPr/>
        </p:nvSpPr>
        <p:spPr>
          <a:xfrm>
            <a:off x="3233349" y="9250434"/>
            <a:ext cx="8782188" cy="466474"/>
          </a:xfrm>
          <a:prstGeom prst="rect">
            <a:avLst/>
          </a:prstGeom>
        </p:spPr>
        <p:txBody>
          <a:bodyPr wrap="square" lIns="0" tIns="0" rIns="0" bIns="0" rtlCol="0" anchor="t">
            <a:spAutoFit/>
          </a:bodyPr>
          <a:lstStyle/>
          <a:p>
            <a:pPr algn="ctr">
              <a:lnSpc>
                <a:spcPts val="4060"/>
              </a:lnSpc>
              <a:spcBef>
                <a:spcPct val="0"/>
              </a:spcBef>
            </a:pPr>
            <a:r>
              <a:rPr lang="en-US" sz="2400" dirty="0">
                <a:solidFill>
                  <a:schemeClr val="bg1">
                    <a:lumMod val="50000"/>
                  </a:schemeClr>
                </a:solidFill>
                <a:latin typeface="Times New Roman" panose="02020603050405020304" pitchFamily="18" charset="0"/>
                <a:ea typeface="Times New Roman"/>
                <a:cs typeface="Times New Roman" panose="02020603050405020304" pitchFamily="18" charset="0"/>
                <a:sym typeface="Times New Roman"/>
              </a:rPr>
              <a:t>29/10/25		      Royal Bam Group – (XAMS</a:t>
            </a:r>
            <a:r>
              <a:rPr lang="en-US" sz="2400" dirty="0">
                <a:solidFill>
                  <a:schemeClr val="bg1">
                    <a:lumMod val="50000"/>
                  </a:schemeClr>
                </a:solidFill>
                <a:latin typeface="Times New Roman" panose="02020603050405020304" pitchFamily="18" charset="0"/>
                <a:ea typeface="Times New Roman"/>
                <a:cs typeface="Times New Roman" panose="02020603050405020304" pitchFamily="18" charset="0"/>
                <a:sym typeface="Wingdings" pitchFamily="2" charset="2"/>
              </a:rPr>
              <a:t>:</a:t>
            </a:r>
            <a:r>
              <a:rPr lang="en-US" sz="2400" dirty="0">
                <a:solidFill>
                  <a:schemeClr val="bg1">
                    <a:lumMod val="50000"/>
                  </a:schemeClr>
                </a:solidFill>
                <a:latin typeface="Times New Roman" panose="02020603050405020304" pitchFamily="18" charset="0"/>
                <a:ea typeface="Times New Roman"/>
                <a:cs typeface="Times New Roman" panose="02020603050405020304" pitchFamily="18" charset="0"/>
                <a:sym typeface="Times New Roman"/>
              </a:rPr>
              <a:t> BAMNB)</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23487A"/>
        </a:solidFill>
        <a:effectLst/>
      </p:bgPr>
    </p:bg>
    <p:spTree>
      <p:nvGrpSpPr>
        <p:cNvPr id="1" name=""/>
        <p:cNvGrpSpPr/>
        <p:nvPr/>
      </p:nvGrpSpPr>
      <p:grpSpPr>
        <a:xfrm>
          <a:off x="0" y="0"/>
          <a:ext cx="0" cy="0"/>
          <a:chOff x="0" y="0"/>
          <a:chExt cx="0" cy="0"/>
        </a:xfrm>
      </p:grpSpPr>
      <p:sp>
        <p:nvSpPr>
          <p:cNvPr id="2" name="Freeform 2"/>
          <p:cNvSpPr/>
          <p:nvPr/>
        </p:nvSpPr>
        <p:spPr>
          <a:xfrm>
            <a:off x="7846503" y="6394025"/>
            <a:ext cx="2594994" cy="2153293"/>
          </a:xfrm>
          <a:custGeom>
            <a:avLst/>
            <a:gdLst/>
            <a:ahLst/>
            <a:cxnLst/>
            <a:rect l="l" t="t" r="r" b="b"/>
            <a:pathLst>
              <a:path w="2594994" h="2153293">
                <a:moveTo>
                  <a:pt x="0" y="0"/>
                </a:moveTo>
                <a:lnTo>
                  <a:pt x="2594994" y="0"/>
                </a:lnTo>
                <a:lnTo>
                  <a:pt x="2594994" y="2153293"/>
                </a:lnTo>
                <a:lnTo>
                  <a:pt x="0" y="2153293"/>
                </a:lnTo>
                <a:lnTo>
                  <a:pt x="0" y="0"/>
                </a:lnTo>
                <a:close/>
              </a:path>
            </a:pathLst>
          </a:custGeom>
          <a:blipFill>
            <a:blip r:embed="rId3"/>
            <a:stretch>
              <a:fillRect l="-83932" t="-92948" r="-86060" b="-132427"/>
            </a:stretch>
          </a:blipFill>
        </p:spPr>
        <p:txBody>
          <a:bodyPr/>
          <a:lstStyle/>
          <a:p>
            <a:endParaRPr lang="en-GB">
              <a:latin typeface="Times New Roman" panose="02020603050405020304" pitchFamily="18" charset="0"/>
              <a:cs typeface="Times New Roman" panose="02020603050405020304" pitchFamily="18" charset="0"/>
            </a:endParaRPr>
          </a:p>
        </p:txBody>
      </p:sp>
      <p:sp>
        <p:nvSpPr>
          <p:cNvPr id="3" name="TextBox 3"/>
          <p:cNvSpPr txBox="1"/>
          <p:nvPr/>
        </p:nvSpPr>
        <p:spPr>
          <a:xfrm>
            <a:off x="2663160" y="3407764"/>
            <a:ext cx="12988454" cy="563809"/>
          </a:xfrm>
          <a:prstGeom prst="rect">
            <a:avLst/>
          </a:prstGeom>
        </p:spPr>
        <p:txBody>
          <a:bodyPr lIns="0" tIns="0" rIns="0" bIns="0" rtlCol="0" anchor="t">
            <a:spAutoFit/>
          </a:bodyPr>
          <a:lstStyle/>
          <a:p>
            <a:pPr algn="ctr">
              <a:lnSpc>
                <a:spcPts val="4759"/>
              </a:lnSpc>
              <a:spcBef>
                <a:spcPct val="0"/>
              </a:spcBef>
            </a:pPr>
            <a:r>
              <a:rPr lang="en-US" sz="3399">
                <a:solidFill>
                  <a:srgbClr val="23487A"/>
                </a:solidFill>
                <a:latin typeface="Times New Roman" panose="02020603050405020304" pitchFamily="18" charset="0"/>
                <a:ea typeface="Montserrat"/>
                <a:cs typeface="Times New Roman" panose="02020603050405020304" pitchFamily="18" charset="0"/>
                <a:sym typeface="Montserrat"/>
              </a:rPr>
              <a:t>Newcastle University Investment Fund Training Programme</a:t>
            </a:r>
          </a:p>
        </p:txBody>
      </p:sp>
      <p:sp>
        <p:nvSpPr>
          <p:cNvPr id="4" name="TextBox 4"/>
          <p:cNvSpPr txBox="1"/>
          <p:nvPr/>
        </p:nvSpPr>
        <p:spPr>
          <a:xfrm>
            <a:off x="5717486" y="4246908"/>
            <a:ext cx="6879803" cy="563809"/>
          </a:xfrm>
          <a:prstGeom prst="rect">
            <a:avLst/>
          </a:prstGeom>
        </p:spPr>
        <p:txBody>
          <a:bodyPr lIns="0" tIns="0" rIns="0" bIns="0" rtlCol="0" anchor="t">
            <a:spAutoFit/>
          </a:bodyPr>
          <a:lstStyle/>
          <a:p>
            <a:pPr algn="ctr">
              <a:lnSpc>
                <a:spcPts val="4759"/>
              </a:lnSpc>
              <a:spcBef>
                <a:spcPct val="0"/>
              </a:spcBef>
            </a:pPr>
            <a:r>
              <a:rPr lang="en-US" sz="3399">
                <a:solidFill>
                  <a:srgbClr val="23487A"/>
                </a:solidFill>
                <a:latin typeface="Times New Roman" panose="02020603050405020304" pitchFamily="18" charset="0"/>
                <a:ea typeface="Montserrat"/>
                <a:cs typeface="Times New Roman" panose="02020603050405020304" pitchFamily="18" charset="0"/>
                <a:sym typeface="Montserrat"/>
              </a:rPr>
              <a:t>Session 1: What is a Stock Pitch?</a:t>
            </a:r>
          </a:p>
        </p:txBody>
      </p:sp>
      <p:sp>
        <p:nvSpPr>
          <p:cNvPr id="5" name="TextBox 5"/>
          <p:cNvSpPr txBox="1"/>
          <p:nvPr/>
        </p:nvSpPr>
        <p:spPr>
          <a:xfrm>
            <a:off x="2616726" y="5213560"/>
            <a:ext cx="13081322" cy="1180465"/>
          </a:xfrm>
          <a:prstGeom prst="rect">
            <a:avLst/>
          </a:prstGeom>
        </p:spPr>
        <p:txBody>
          <a:bodyPr lIns="0" tIns="0" rIns="0" bIns="0" rtlCol="0" anchor="t">
            <a:spAutoFit/>
          </a:bodyPr>
          <a:lstStyle/>
          <a:p>
            <a:pPr algn="ctr">
              <a:lnSpc>
                <a:spcPts val="4759"/>
              </a:lnSpc>
              <a:spcBef>
                <a:spcPct val="0"/>
              </a:spcBef>
            </a:pPr>
            <a:r>
              <a:rPr lang="en-US" sz="3399">
                <a:solidFill>
                  <a:srgbClr val="23487A"/>
                </a:solidFill>
                <a:latin typeface="Times New Roman" panose="02020603050405020304" pitchFamily="18" charset="0"/>
                <a:ea typeface="Montserrat"/>
                <a:cs typeface="Times New Roman" panose="02020603050405020304" pitchFamily="18" charset="0"/>
                <a:sym typeface="Montserrat"/>
              </a:rPr>
              <a:t>Going from "It's a good company" to "It's a good investment"</a:t>
            </a:r>
          </a:p>
          <a:p>
            <a:pPr algn="ctr">
              <a:lnSpc>
                <a:spcPts val="4759"/>
              </a:lnSpc>
              <a:spcBef>
                <a:spcPct val="0"/>
              </a:spcBef>
            </a:pPr>
            <a:endParaRPr lang="en-US" sz="3399">
              <a:solidFill>
                <a:srgbClr val="23487A"/>
              </a:solidFill>
              <a:latin typeface="Times New Roman" panose="02020603050405020304" pitchFamily="18" charset="0"/>
              <a:ea typeface="Montserrat"/>
              <a:cs typeface="Times New Roman" panose="02020603050405020304" pitchFamily="18" charset="0"/>
              <a:sym typeface="Montserrat"/>
            </a:endParaRPr>
          </a:p>
        </p:txBody>
      </p:sp>
      <p:grpSp>
        <p:nvGrpSpPr>
          <p:cNvPr id="6" name="Group 6"/>
          <p:cNvGrpSpPr>
            <a:grpSpLocks noGrp="1" noUngrp="1" noRot="1" noMove="1" noResize="1"/>
          </p:cNvGrpSpPr>
          <p:nvPr/>
        </p:nvGrpSpPr>
        <p:grpSpPr>
          <a:xfrm>
            <a:off x="482833" y="306004"/>
            <a:ext cx="17349108" cy="9581340"/>
            <a:chOff x="0" y="-28575"/>
            <a:chExt cx="5293499" cy="2923425"/>
          </a:xfrm>
        </p:grpSpPr>
        <p:sp>
          <p:nvSpPr>
            <p:cNvPr id="7" name="Freeform 7"/>
            <p:cNvSpPr>
              <a:spLocks noGrp="1" noRot="1" noMove="1" noResize="1" noEditPoints="1" noAdjustHandles="1" noChangeArrowheads="1" noChangeShapeType="1"/>
            </p:cNvSpPr>
            <p:nvPr/>
          </p:nvSpPr>
          <p:spPr>
            <a:xfrm>
              <a:off x="0" y="0"/>
              <a:ext cx="5293499" cy="2894850"/>
            </a:xfrm>
            <a:prstGeom prst="rect">
              <a:avLst/>
            </a:prstGeom>
            <a:solidFill>
              <a:srgbClr val="FFFFFF"/>
            </a:solidFill>
            <a:ln>
              <a:noFill/>
            </a:ln>
          </p:spPr>
          <p:txBody>
            <a:bodyPr/>
            <a:lstStyle/>
            <a:p>
              <a:endParaRPr lang="en-GB">
                <a:latin typeface="Times New Roman" panose="02020603050405020304" pitchFamily="18" charset="0"/>
                <a:cs typeface="Times New Roman" panose="02020603050405020304" pitchFamily="18" charset="0"/>
              </a:endParaRPr>
            </a:p>
          </p:txBody>
        </p:sp>
        <p:sp>
          <p:nvSpPr>
            <p:cNvPr id="8" name="TextBox 8"/>
            <p:cNvSpPr txBox="1">
              <a:spLocks noGrp="1" noRot="1" noMove="1" noResize="1" noEditPoints="1" noAdjustHandles="1" noChangeArrowheads="1" noChangeShapeType="1"/>
            </p:cNvSpPr>
            <p:nvPr/>
          </p:nvSpPr>
          <p:spPr>
            <a:xfrm>
              <a:off x="0" y="-28575"/>
              <a:ext cx="5293499" cy="2923425"/>
            </a:xfrm>
            <a:prstGeom prst="rect">
              <a:avLst/>
            </a:prstGeom>
          </p:spPr>
          <p:txBody>
            <a:bodyPr lIns="43850" tIns="43850" rIns="43850" bIns="43850" rtlCol="0" anchor="ctr"/>
            <a:lstStyle/>
            <a:p>
              <a:pPr algn="ctr">
                <a:lnSpc>
                  <a:spcPts val="2296"/>
                </a:lnSpc>
                <a:spcBef>
                  <a:spcPct val="0"/>
                </a:spcBef>
              </a:pPr>
              <a:endParaRPr>
                <a:latin typeface="Times New Roman" panose="02020603050405020304" pitchFamily="18" charset="0"/>
                <a:cs typeface="Times New Roman" panose="02020603050405020304" pitchFamily="18" charset="0"/>
              </a:endParaRPr>
            </a:p>
          </p:txBody>
        </p:sp>
      </p:grpSp>
      <p:sp>
        <p:nvSpPr>
          <p:cNvPr id="9" name="Freeform 9"/>
          <p:cNvSpPr/>
          <p:nvPr/>
        </p:nvSpPr>
        <p:spPr>
          <a:xfrm>
            <a:off x="16305847" y="8621010"/>
            <a:ext cx="1526094" cy="1266333"/>
          </a:xfrm>
          <a:custGeom>
            <a:avLst/>
            <a:gdLst/>
            <a:ahLst/>
            <a:cxnLst/>
            <a:rect l="l" t="t" r="r" b="b"/>
            <a:pathLst>
              <a:path w="1526094" h="1266333">
                <a:moveTo>
                  <a:pt x="0" y="0"/>
                </a:moveTo>
                <a:lnTo>
                  <a:pt x="1526094" y="0"/>
                </a:lnTo>
                <a:lnTo>
                  <a:pt x="1526094" y="1266333"/>
                </a:lnTo>
                <a:lnTo>
                  <a:pt x="0" y="1266333"/>
                </a:lnTo>
                <a:lnTo>
                  <a:pt x="0" y="0"/>
                </a:lnTo>
                <a:close/>
              </a:path>
            </a:pathLst>
          </a:custGeom>
          <a:blipFill>
            <a:blip r:embed="rId3"/>
            <a:stretch>
              <a:fillRect l="-83932" t="-92948" r="-86060" b="-132427"/>
            </a:stretch>
          </a:blipFill>
        </p:spPr>
        <p:txBody>
          <a:bodyPr/>
          <a:lstStyle/>
          <a:p>
            <a:endParaRPr lang="en-GB">
              <a:latin typeface="Times New Roman" panose="02020603050405020304" pitchFamily="18" charset="0"/>
              <a:cs typeface="Times New Roman" panose="02020603050405020304" pitchFamily="18" charset="0"/>
            </a:endParaRPr>
          </a:p>
        </p:txBody>
      </p:sp>
      <p:sp>
        <p:nvSpPr>
          <p:cNvPr id="10" name="AutoShape 10"/>
          <p:cNvSpPr/>
          <p:nvPr/>
        </p:nvSpPr>
        <p:spPr>
          <a:xfrm>
            <a:off x="2209802" y="9254177"/>
            <a:ext cx="13744971" cy="0"/>
          </a:xfrm>
          <a:prstGeom prst="line">
            <a:avLst/>
          </a:prstGeom>
          <a:ln w="38100" cap="flat">
            <a:solidFill>
              <a:srgbClr val="214779"/>
            </a:solidFill>
            <a:prstDash val="solid"/>
            <a:headEnd type="none" w="sm" len="sm"/>
            <a:tailEnd type="none" w="sm" len="sm"/>
          </a:ln>
        </p:spPr>
        <p:txBody>
          <a:bodyPr/>
          <a:lstStyle/>
          <a:p>
            <a:endParaRPr lang="en-GB">
              <a:latin typeface="Times New Roman" panose="02020603050405020304" pitchFamily="18" charset="0"/>
              <a:cs typeface="Times New Roman" panose="02020603050405020304" pitchFamily="18" charset="0"/>
            </a:endParaRPr>
          </a:p>
        </p:txBody>
      </p:sp>
      <p:sp>
        <p:nvSpPr>
          <p:cNvPr id="11" name="TextBox 11"/>
          <p:cNvSpPr txBox="1"/>
          <p:nvPr/>
        </p:nvSpPr>
        <p:spPr>
          <a:xfrm>
            <a:off x="951509" y="735547"/>
            <a:ext cx="6915489" cy="615553"/>
          </a:xfrm>
          <a:prstGeom prst="rect">
            <a:avLst/>
          </a:prstGeom>
        </p:spPr>
        <p:txBody>
          <a:bodyPr wrap="square" lIns="0" tIns="0" rIns="0" bIns="0" rtlCol="0" anchor="t">
            <a:spAutoFit/>
          </a:bodyPr>
          <a:lstStyle/>
          <a:p>
            <a:pPr>
              <a:lnSpc>
                <a:spcPts val="4759"/>
              </a:lnSpc>
              <a:spcBef>
                <a:spcPct val="0"/>
              </a:spcBef>
            </a:pPr>
            <a:r>
              <a:rPr lang="en-US" sz="4400" dirty="0">
                <a:latin typeface="Times New Roman" panose="02020603050405020304" pitchFamily="18" charset="0"/>
                <a:ea typeface="Montserrat"/>
                <a:cs typeface="Times New Roman" panose="02020603050405020304" pitchFamily="18" charset="0"/>
                <a:sym typeface="Montserrat"/>
              </a:rPr>
              <a:t>Executive Summary</a:t>
            </a:r>
            <a:endParaRPr lang="en-US" sz="4400" dirty="0">
              <a:latin typeface="Times New Roman" panose="02020603050405020304" pitchFamily="18" charset="0"/>
              <a:ea typeface="Montserrat"/>
              <a:cs typeface="Times New Roman" panose="02020603050405020304" pitchFamily="18" charset="0"/>
            </a:endParaRPr>
          </a:p>
        </p:txBody>
      </p:sp>
      <p:sp>
        <p:nvSpPr>
          <p:cNvPr id="14" name="Rectangle 13">
            <a:extLst>
              <a:ext uri="{FF2B5EF4-FFF2-40B4-BE49-F238E27FC236}">
                <a16:creationId xmlns:a16="http://schemas.microsoft.com/office/drawing/2014/main" id="{7C5B67AF-E1A5-B071-0E3D-71CABA127199}"/>
              </a:ext>
            </a:extLst>
          </p:cNvPr>
          <p:cNvSpPr/>
          <p:nvPr/>
        </p:nvSpPr>
        <p:spPr>
          <a:xfrm>
            <a:off x="11115959" y="2026753"/>
            <a:ext cx="3103789" cy="3184071"/>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285750" indent="-285750">
              <a:buFont typeface="Arial"/>
              <a:buChar char="•"/>
            </a:pPr>
            <a:endParaRPr lang="en-GB" sz="1400" dirty="0">
              <a:solidFill>
                <a:schemeClr val="tx1"/>
              </a:solidFill>
              <a:latin typeface="Times New Roman" panose="02020603050405020304" pitchFamily="18" charset="0"/>
              <a:ea typeface="+mn-lt"/>
              <a:cs typeface="Times New Roman" panose="02020603050405020304" pitchFamily="18" charset="0"/>
            </a:endParaRPr>
          </a:p>
          <a:p>
            <a:pPr marL="285750" indent="-285750">
              <a:buFont typeface="Arial"/>
              <a:buChar char="•"/>
            </a:pPr>
            <a:endParaRPr lang="en-GB" sz="1400" dirty="0">
              <a:solidFill>
                <a:schemeClr val="tx1"/>
              </a:solidFill>
              <a:latin typeface="Times New Roman" panose="02020603050405020304" pitchFamily="18" charset="0"/>
              <a:ea typeface="+mn-lt"/>
              <a:cs typeface="Times New Roman" panose="02020603050405020304" pitchFamily="18" charset="0"/>
            </a:endParaRPr>
          </a:p>
          <a:p>
            <a:pPr marL="285750" indent="-285750">
              <a:buFont typeface="Arial"/>
              <a:buChar char="•"/>
            </a:pPr>
            <a:r>
              <a:rPr lang="en-GB" sz="1200" dirty="0">
                <a:solidFill>
                  <a:schemeClr val="tx1"/>
                </a:solidFill>
                <a:latin typeface="Times New Roman" panose="02020603050405020304" pitchFamily="18" charset="0"/>
                <a:ea typeface="+mn-lt"/>
                <a:cs typeface="Times New Roman" panose="02020603050405020304" pitchFamily="18" charset="0"/>
              </a:rPr>
              <a:t>UK rail cutbacks shrink the addressable market, Dutch permitting will keep projects stuck, and Ireland’s big plans won’t move fast enough.</a:t>
            </a:r>
          </a:p>
          <a:p>
            <a:pPr marL="285750" indent="-285750">
              <a:buFont typeface="Arial"/>
              <a:buChar char="•"/>
            </a:pPr>
            <a:endParaRPr lang="en-GB" sz="1200" dirty="0">
              <a:solidFill>
                <a:schemeClr val="tx1"/>
              </a:solidFill>
              <a:latin typeface="Times New Roman" panose="02020603050405020304" pitchFamily="18" charset="0"/>
              <a:ea typeface="+mn-lt"/>
              <a:cs typeface="Times New Roman" panose="02020603050405020304" pitchFamily="18" charset="0"/>
            </a:endParaRPr>
          </a:p>
          <a:p>
            <a:pPr marL="285750" indent="-285750">
              <a:buFont typeface="Arial"/>
              <a:buChar char="•"/>
            </a:pPr>
            <a:r>
              <a:rPr lang="en-GB" sz="1200" dirty="0">
                <a:solidFill>
                  <a:schemeClr val="tx1"/>
                </a:solidFill>
                <a:latin typeface="Times New Roman" panose="02020603050405020304" pitchFamily="18" charset="0"/>
                <a:ea typeface="+mn-lt"/>
                <a:cs typeface="Times New Roman" panose="02020603050405020304" pitchFamily="18" charset="0"/>
              </a:rPr>
              <a:t>Given persistent execution challenges, backlog expansion offers limited upside reassurance.</a:t>
            </a:r>
          </a:p>
          <a:p>
            <a:pPr marL="285750" indent="-285750">
              <a:buFont typeface="Arial"/>
              <a:buChar char="•"/>
            </a:pPr>
            <a:endParaRPr lang="en-GB" sz="1400" dirty="0">
              <a:solidFill>
                <a:schemeClr val="tx1"/>
              </a:solidFill>
              <a:latin typeface="Times New Roman" panose="02020603050405020304" pitchFamily="18" charset="0"/>
              <a:ea typeface="Calibri"/>
              <a:cs typeface="Times New Roman" panose="02020603050405020304" pitchFamily="18" charset="0"/>
            </a:endParaRPr>
          </a:p>
        </p:txBody>
      </p:sp>
      <p:sp>
        <p:nvSpPr>
          <p:cNvPr id="17" name="Rectangle 16">
            <a:extLst>
              <a:ext uri="{FF2B5EF4-FFF2-40B4-BE49-F238E27FC236}">
                <a16:creationId xmlns:a16="http://schemas.microsoft.com/office/drawing/2014/main" id="{2F6738B8-E745-BC20-12A9-5B48D2998D4B}"/>
              </a:ext>
            </a:extLst>
          </p:cNvPr>
          <p:cNvSpPr/>
          <p:nvPr/>
        </p:nvSpPr>
        <p:spPr>
          <a:xfrm>
            <a:off x="11115958" y="5375612"/>
            <a:ext cx="3103789" cy="3280833"/>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285750" indent="-285750">
              <a:buFont typeface="Arial"/>
              <a:buChar char="•"/>
            </a:pPr>
            <a:r>
              <a:rPr lang="en-GB" sz="1200">
                <a:solidFill>
                  <a:schemeClr val="tx1"/>
                </a:solidFill>
                <a:latin typeface="Times New Roman" panose="02020603050405020304" pitchFamily="18" charset="0"/>
                <a:ea typeface="+mn-lt"/>
                <a:cs typeface="Times New Roman" panose="02020603050405020304" pitchFamily="18" charset="0"/>
              </a:rPr>
              <a:t>Consensus treats BAM’s UK problems as structural, expecting margins to drift back toward cycle lows and cash generation to fade. </a:t>
            </a:r>
            <a:endParaRPr lang="en-US" sz="1200">
              <a:solidFill>
                <a:schemeClr val="tx1"/>
              </a:solidFill>
              <a:latin typeface="Times New Roman" panose="02020603050405020304" pitchFamily="18" charset="0"/>
              <a:ea typeface="+mn-lt"/>
              <a:cs typeface="Times New Roman" panose="02020603050405020304" pitchFamily="18" charset="0"/>
            </a:endParaRPr>
          </a:p>
          <a:p>
            <a:pPr marL="285750" indent="-285750">
              <a:buFont typeface="Arial"/>
              <a:buChar char="•"/>
            </a:pPr>
            <a:endParaRPr lang="en-GB" sz="1200">
              <a:solidFill>
                <a:schemeClr val="tx1"/>
              </a:solidFill>
              <a:latin typeface="Times New Roman" panose="02020603050405020304" pitchFamily="18" charset="0"/>
              <a:ea typeface="+mn-lt"/>
              <a:cs typeface="Times New Roman" panose="02020603050405020304" pitchFamily="18" charset="0"/>
            </a:endParaRPr>
          </a:p>
          <a:p>
            <a:pPr marL="285750" indent="-285750">
              <a:buFont typeface="Arial"/>
              <a:buChar char="•"/>
            </a:pPr>
            <a:r>
              <a:rPr lang="en-GB" sz="1200">
                <a:solidFill>
                  <a:schemeClr val="tx1"/>
                </a:solidFill>
                <a:latin typeface="Times New Roman" panose="02020603050405020304" pitchFamily="18" charset="0"/>
                <a:ea typeface="+mn-lt"/>
                <a:cs typeface="Times New Roman" panose="02020603050405020304" pitchFamily="18" charset="0"/>
              </a:rPr>
              <a:t>Buybacks and dividends look fragile, so the shares get marked to a plain cyclical multiple rather than a quality premium.</a:t>
            </a:r>
            <a:endParaRPr lang="en-US" sz="1200">
              <a:solidFill>
                <a:schemeClr val="tx1"/>
              </a:solidFill>
              <a:latin typeface="Times New Roman" panose="02020603050405020304" pitchFamily="18" charset="0"/>
              <a:ea typeface="+mn-lt"/>
              <a:cs typeface="Times New Roman" panose="02020603050405020304" pitchFamily="18" charset="0"/>
            </a:endParaRPr>
          </a:p>
          <a:p>
            <a:pPr marL="285750" indent="-285750">
              <a:buFont typeface="Arial"/>
              <a:buChar char="•"/>
            </a:pPr>
            <a:endParaRPr lang="en-GB" sz="1200">
              <a:solidFill>
                <a:schemeClr val="tx1"/>
              </a:solidFill>
              <a:latin typeface="Times New Roman" panose="02020603050405020304" pitchFamily="18" charset="0"/>
              <a:ea typeface="Calibri"/>
              <a:cs typeface="Times New Roman" panose="02020603050405020304" pitchFamily="18" charset="0"/>
            </a:endParaRPr>
          </a:p>
          <a:p>
            <a:pPr marL="285750" indent="-285750">
              <a:buFont typeface="Arial"/>
              <a:buChar char="•"/>
            </a:pPr>
            <a:endParaRPr lang="en-GB" sz="1400">
              <a:solidFill>
                <a:schemeClr val="tx1"/>
              </a:solidFill>
              <a:latin typeface="Times New Roman" panose="02020603050405020304" pitchFamily="18" charset="0"/>
              <a:ea typeface="Calibri"/>
              <a:cs typeface="Times New Roman" panose="02020603050405020304" pitchFamily="18" charset="0"/>
            </a:endParaRPr>
          </a:p>
        </p:txBody>
      </p:sp>
      <p:sp>
        <p:nvSpPr>
          <p:cNvPr id="18" name="Rectangle 17">
            <a:extLst>
              <a:ext uri="{FF2B5EF4-FFF2-40B4-BE49-F238E27FC236}">
                <a16:creationId xmlns:a16="http://schemas.microsoft.com/office/drawing/2014/main" id="{7A9BD5A2-CEDC-2299-2FA3-3838B8BD5C07}"/>
              </a:ext>
            </a:extLst>
          </p:cNvPr>
          <p:cNvSpPr/>
          <p:nvPr/>
        </p:nvSpPr>
        <p:spPr>
          <a:xfrm>
            <a:off x="14354457" y="2026753"/>
            <a:ext cx="3103789" cy="3184071"/>
          </a:xfrm>
          <a:prstGeom prst="rect">
            <a:avLst/>
          </a:prstGeom>
          <a:solidFill>
            <a:schemeClr val="tx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571500" indent="-285750">
              <a:buFont typeface="Arial"/>
              <a:buChar char="•"/>
            </a:pPr>
            <a:endParaRPr lang="en-GB" sz="1400">
              <a:solidFill>
                <a:schemeClr val="tx1"/>
              </a:solidFill>
              <a:latin typeface="Times New Roman" panose="02020603050405020304" pitchFamily="18" charset="0"/>
              <a:ea typeface="+mn-lt"/>
              <a:cs typeface="Times New Roman" panose="02020603050405020304" pitchFamily="18" charset="0"/>
            </a:endParaRPr>
          </a:p>
          <a:p>
            <a:pPr marL="571500" indent="-285750">
              <a:buFont typeface="Arial"/>
              <a:buChar char="•"/>
            </a:pPr>
            <a:endParaRPr lang="en-GB" sz="1200">
              <a:solidFill>
                <a:schemeClr val="tx1"/>
              </a:solidFill>
              <a:latin typeface="Times New Roman" panose="02020603050405020304" pitchFamily="18" charset="0"/>
              <a:ea typeface="+mn-lt"/>
              <a:cs typeface="Times New Roman" panose="02020603050405020304" pitchFamily="18" charset="0"/>
            </a:endParaRPr>
          </a:p>
          <a:p>
            <a:pPr marL="285750"/>
            <a:endParaRPr lang="en-GB" sz="1200">
              <a:solidFill>
                <a:schemeClr val="tx1"/>
              </a:solidFill>
              <a:latin typeface="Times New Roman" panose="02020603050405020304" pitchFamily="18" charset="0"/>
              <a:ea typeface="+mn-lt"/>
              <a:cs typeface="Times New Roman" panose="02020603050405020304" pitchFamily="18" charset="0"/>
            </a:endParaRPr>
          </a:p>
          <a:p>
            <a:pPr marL="285750"/>
            <a:endParaRPr lang="en-GB" sz="1200">
              <a:solidFill>
                <a:schemeClr val="tx1"/>
              </a:solidFill>
              <a:latin typeface="Times New Roman" panose="02020603050405020304" pitchFamily="18" charset="0"/>
              <a:ea typeface="+mn-lt"/>
              <a:cs typeface="Times New Roman" panose="02020603050405020304" pitchFamily="18" charset="0"/>
            </a:endParaRPr>
          </a:p>
          <a:p>
            <a:pPr marL="571500" indent="-285750">
              <a:buFont typeface="Arial"/>
              <a:buChar char="•"/>
            </a:pPr>
            <a:r>
              <a:rPr lang="en-GB" sz="1200">
                <a:solidFill>
                  <a:schemeClr val="tx1"/>
                </a:solidFill>
                <a:latin typeface="Times New Roman" panose="02020603050405020304" pitchFamily="18" charset="0"/>
                <a:ea typeface="+mn-lt"/>
                <a:cs typeface="Times New Roman" panose="02020603050405020304" pitchFamily="18" charset="0"/>
              </a:rPr>
              <a:t>Spending is being reallocated with UK CP7 renewals and city-region transport create many mid-sized packages well suited to BAM. </a:t>
            </a:r>
            <a:endParaRPr lang="en-US" sz="1200">
              <a:solidFill>
                <a:schemeClr val="tx1"/>
              </a:solidFill>
              <a:latin typeface="Times New Roman" panose="02020603050405020304" pitchFamily="18" charset="0"/>
              <a:ea typeface="+mn-lt"/>
              <a:cs typeface="Times New Roman" panose="02020603050405020304" pitchFamily="18" charset="0"/>
            </a:endParaRPr>
          </a:p>
          <a:p>
            <a:pPr marL="571500" indent="-285750">
              <a:buFont typeface="Arial"/>
              <a:buChar char="•"/>
            </a:pPr>
            <a:r>
              <a:rPr lang="en-GB" sz="1200">
                <a:solidFill>
                  <a:schemeClr val="tx1"/>
                </a:solidFill>
                <a:latin typeface="Times New Roman" panose="02020603050405020304" pitchFamily="18" charset="0"/>
                <a:ea typeface="+mn-lt"/>
                <a:cs typeface="Times New Roman" panose="02020603050405020304" pitchFamily="18" charset="0"/>
              </a:rPr>
              <a:t>The Netherlands operates with multi-year, pre-budgeted programs (MIRT/Mobility Fund), so projects are reprofiled rather than cancelled. </a:t>
            </a:r>
            <a:endParaRPr lang="en-US" sz="1200">
              <a:solidFill>
                <a:schemeClr val="tx1"/>
              </a:solidFill>
              <a:latin typeface="Times New Roman" panose="02020603050405020304" pitchFamily="18" charset="0"/>
              <a:ea typeface="+mn-lt"/>
              <a:cs typeface="Times New Roman" panose="02020603050405020304" pitchFamily="18" charset="0"/>
            </a:endParaRPr>
          </a:p>
          <a:p>
            <a:pPr marL="571500" indent="-285750">
              <a:buFont typeface="Arial"/>
              <a:buChar char="•"/>
            </a:pPr>
            <a:r>
              <a:rPr lang="en-GB" sz="1200">
                <a:solidFill>
                  <a:schemeClr val="tx1"/>
                </a:solidFill>
                <a:latin typeface="Times New Roman" panose="02020603050405020304" pitchFamily="18" charset="0"/>
                <a:ea typeface="+mn-lt"/>
                <a:cs typeface="Times New Roman" panose="02020603050405020304" pitchFamily="18" charset="0"/>
              </a:rPr>
              <a:t>Ireland is ramping exchequer-funded transport—Metrolink/DART—building a multi-year tender flow that improves visibility and reduces single-project risk.</a:t>
            </a:r>
            <a:endParaRPr lang="en-US" sz="1200">
              <a:solidFill>
                <a:schemeClr val="tx1"/>
              </a:solidFill>
              <a:latin typeface="Times New Roman" panose="02020603050405020304" pitchFamily="18" charset="0"/>
              <a:ea typeface="+mn-lt"/>
              <a:cs typeface="Times New Roman" panose="02020603050405020304" pitchFamily="18" charset="0"/>
            </a:endParaRPr>
          </a:p>
          <a:p>
            <a:pPr marL="571500" indent="-285750">
              <a:buFont typeface="Arial"/>
              <a:buChar char="•"/>
            </a:pPr>
            <a:endParaRPr lang="en-GB" sz="1400">
              <a:solidFill>
                <a:schemeClr val="tx1"/>
              </a:solidFill>
              <a:latin typeface="Times New Roman" panose="02020603050405020304" pitchFamily="18" charset="0"/>
              <a:ea typeface="Calibri"/>
              <a:cs typeface="Times New Roman" panose="02020603050405020304" pitchFamily="18" charset="0"/>
            </a:endParaRPr>
          </a:p>
        </p:txBody>
      </p:sp>
      <p:sp>
        <p:nvSpPr>
          <p:cNvPr id="19" name="Rectangle 18">
            <a:extLst>
              <a:ext uri="{FF2B5EF4-FFF2-40B4-BE49-F238E27FC236}">
                <a16:creationId xmlns:a16="http://schemas.microsoft.com/office/drawing/2014/main" id="{088F5BF8-8270-C6B3-D1FC-7BB9ACE73FF3}"/>
              </a:ext>
            </a:extLst>
          </p:cNvPr>
          <p:cNvSpPr/>
          <p:nvPr/>
        </p:nvSpPr>
        <p:spPr>
          <a:xfrm>
            <a:off x="14354458" y="5375612"/>
            <a:ext cx="3103789" cy="3280833"/>
          </a:xfrm>
          <a:prstGeom prst="rect">
            <a:avLst/>
          </a:prstGeom>
          <a:solidFill>
            <a:schemeClr val="tx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285750" indent="-285750">
              <a:buFont typeface="Arial"/>
              <a:buChar char="•"/>
            </a:pPr>
            <a:r>
              <a:rPr lang="en-GB" sz="1200">
                <a:solidFill>
                  <a:schemeClr val="tx1"/>
                </a:solidFill>
                <a:latin typeface="Times New Roman" panose="02020603050405020304" pitchFamily="18" charset="0"/>
                <a:ea typeface="+mn-lt"/>
                <a:cs typeface="Times New Roman" panose="02020603050405020304" pitchFamily="18" charset="0"/>
              </a:rPr>
              <a:t>Mix has shifted toward regulated civil frameworks (rail renewals, strategic roads, flood/energy civils) with tighter risk sharing, which supports durable margins and steadier cash. </a:t>
            </a:r>
            <a:endParaRPr lang="en-US" sz="1200">
              <a:solidFill>
                <a:schemeClr val="tx1"/>
              </a:solidFill>
              <a:latin typeface="Times New Roman" panose="02020603050405020304" pitchFamily="18" charset="0"/>
              <a:ea typeface="+mn-lt"/>
              <a:cs typeface="Times New Roman" panose="02020603050405020304" pitchFamily="18" charset="0"/>
            </a:endParaRPr>
          </a:p>
          <a:p>
            <a:pPr marL="285750" indent="-285750">
              <a:buFont typeface="Arial"/>
              <a:buChar char="•"/>
            </a:pPr>
            <a:endParaRPr lang="en-GB" sz="1200">
              <a:solidFill>
                <a:schemeClr val="tx1"/>
              </a:solidFill>
              <a:latin typeface="Times New Roman" panose="02020603050405020304" pitchFamily="18" charset="0"/>
              <a:ea typeface="+mn-lt"/>
              <a:cs typeface="Times New Roman" panose="02020603050405020304" pitchFamily="18" charset="0"/>
            </a:endParaRPr>
          </a:p>
          <a:p>
            <a:pPr marL="285750" indent="-285750">
              <a:buFont typeface="Arial"/>
              <a:buChar char="•"/>
            </a:pPr>
            <a:r>
              <a:rPr lang="en-GB" sz="1200">
                <a:solidFill>
                  <a:schemeClr val="tx1"/>
                </a:solidFill>
                <a:latin typeface="Times New Roman" panose="02020603050405020304" pitchFamily="18" charset="0"/>
                <a:ea typeface="+mn-lt"/>
                <a:cs typeface="Times New Roman" panose="02020603050405020304" pitchFamily="18" charset="0"/>
              </a:rPr>
              <a:t>Balance sheet can fund disciplined growth and distributions. At a mid-single-digit EV/EBITDA, Royal BAM has long-dated cash flows at a discount to peers, leaving room for a clean re-rating as the company delivers.</a:t>
            </a:r>
            <a:endParaRPr lang="en-US" sz="1200">
              <a:solidFill>
                <a:schemeClr val="tx1"/>
              </a:solidFill>
              <a:latin typeface="Times New Roman" panose="02020603050405020304" pitchFamily="18" charset="0"/>
              <a:ea typeface="+mn-lt"/>
              <a:cs typeface="Times New Roman" panose="02020603050405020304" pitchFamily="18" charset="0"/>
            </a:endParaRPr>
          </a:p>
          <a:p>
            <a:pPr marL="285750" indent="-285750">
              <a:buFont typeface="Arial"/>
              <a:buChar char="•"/>
            </a:pPr>
            <a:endParaRPr lang="en-GB" sz="1400">
              <a:solidFill>
                <a:schemeClr val="tx1"/>
              </a:solidFill>
              <a:latin typeface="Times New Roman" panose="02020603050405020304" pitchFamily="18" charset="0"/>
              <a:ea typeface="Calibri"/>
              <a:cs typeface="Times New Roman" panose="02020603050405020304" pitchFamily="18" charset="0"/>
            </a:endParaRPr>
          </a:p>
        </p:txBody>
      </p:sp>
      <p:sp>
        <p:nvSpPr>
          <p:cNvPr id="20" name="Rectangle 19">
            <a:extLst>
              <a:ext uri="{FF2B5EF4-FFF2-40B4-BE49-F238E27FC236}">
                <a16:creationId xmlns:a16="http://schemas.microsoft.com/office/drawing/2014/main" id="{D6FEAC28-F997-105B-63D1-32B9640FBD0D}"/>
              </a:ext>
            </a:extLst>
          </p:cNvPr>
          <p:cNvSpPr/>
          <p:nvPr/>
        </p:nvSpPr>
        <p:spPr>
          <a:xfrm>
            <a:off x="11120709" y="1443770"/>
            <a:ext cx="3087896" cy="461665"/>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latin typeface="Times New Roman" panose="02020603050405020304" pitchFamily="18" charset="0"/>
                <a:ea typeface="Calibri"/>
                <a:cs typeface="Times New Roman" panose="02020603050405020304" pitchFamily="18" charset="0"/>
              </a:rPr>
              <a:t>Street's view</a:t>
            </a:r>
            <a:endParaRPr lang="en-GB">
              <a:latin typeface="Times New Roman" panose="02020603050405020304" pitchFamily="18" charset="0"/>
              <a:cs typeface="Times New Roman" panose="02020603050405020304" pitchFamily="18" charset="0"/>
            </a:endParaRPr>
          </a:p>
        </p:txBody>
      </p:sp>
      <p:sp>
        <p:nvSpPr>
          <p:cNvPr id="21" name="Rectangle 20">
            <a:extLst>
              <a:ext uri="{FF2B5EF4-FFF2-40B4-BE49-F238E27FC236}">
                <a16:creationId xmlns:a16="http://schemas.microsoft.com/office/drawing/2014/main" id="{F7DD7E37-D850-CEED-D987-6E742EE065B7}"/>
              </a:ext>
            </a:extLst>
          </p:cNvPr>
          <p:cNvSpPr/>
          <p:nvPr/>
        </p:nvSpPr>
        <p:spPr>
          <a:xfrm>
            <a:off x="14370180" y="1455826"/>
            <a:ext cx="3087896" cy="449609"/>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a:latin typeface="Times New Roman" panose="02020603050405020304" pitchFamily="18" charset="0"/>
                <a:ea typeface="Calibri"/>
                <a:cs typeface="Times New Roman" panose="02020603050405020304" pitchFamily="18" charset="0"/>
              </a:rPr>
              <a:t>Our variant view</a:t>
            </a:r>
            <a:endParaRPr lang="en-US">
              <a:latin typeface="Times New Roman" panose="02020603050405020304" pitchFamily="18" charset="0"/>
              <a:cs typeface="Times New Roman" panose="02020603050405020304" pitchFamily="18" charset="0"/>
            </a:endParaRPr>
          </a:p>
        </p:txBody>
      </p:sp>
      <p:sp>
        <p:nvSpPr>
          <p:cNvPr id="22" name="Rectangle 21">
            <a:extLst>
              <a:ext uri="{FF2B5EF4-FFF2-40B4-BE49-F238E27FC236}">
                <a16:creationId xmlns:a16="http://schemas.microsoft.com/office/drawing/2014/main" id="{DF5C66E3-FC00-DF83-EC4D-D1C4CCB4567A}"/>
              </a:ext>
            </a:extLst>
          </p:cNvPr>
          <p:cNvSpPr/>
          <p:nvPr/>
        </p:nvSpPr>
        <p:spPr>
          <a:xfrm>
            <a:off x="9762276" y="2031106"/>
            <a:ext cx="1268669" cy="3177658"/>
          </a:xfrm>
          <a:prstGeom prst="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a:latin typeface="Times New Roman" panose="02020603050405020304" pitchFamily="18" charset="0"/>
                <a:ea typeface="Calibri"/>
                <a:cs typeface="Times New Roman" panose="02020603050405020304" pitchFamily="18" charset="0"/>
              </a:rPr>
              <a:t>Thesis 1</a:t>
            </a:r>
            <a:endParaRPr lang="en-GB">
              <a:latin typeface="Times New Roman" panose="02020603050405020304" pitchFamily="18" charset="0"/>
              <a:cs typeface="Times New Roman" panose="02020603050405020304" pitchFamily="18" charset="0"/>
            </a:endParaRPr>
          </a:p>
        </p:txBody>
      </p:sp>
      <p:sp>
        <p:nvSpPr>
          <p:cNvPr id="23" name="Rectangle 22">
            <a:extLst>
              <a:ext uri="{FF2B5EF4-FFF2-40B4-BE49-F238E27FC236}">
                <a16:creationId xmlns:a16="http://schemas.microsoft.com/office/drawing/2014/main" id="{9F2FAFB2-40D2-1065-13A9-2BBD454111D0}"/>
              </a:ext>
            </a:extLst>
          </p:cNvPr>
          <p:cNvSpPr/>
          <p:nvPr/>
        </p:nvSpPr>
        <p:spPr>
          <a:xfrm>
            <a:off x="9762276" y="5382310"/>
            <a:ext cx="1268669" cy="3274420"/>
          </a:xfrm>
          <a:prstGeom prst="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a:latin typeface="Times New Roman" panose="02020603050405020304" pitchFamily="18" charset="0"/>
                <a:ea typeface="Calibri"/>
                <a:cs typeface="Times New Roman" panose="02020603050405020304" pitchFamily="18" charset="0"/>
              </a:rPr>
              <a:t>Thesis 2</a:t>
            </a:r>
            <a:endParaRPr lang="en-GB">
              <a:latin typeface="Times New Roman" panose="02020603050405020304" pitchFamily="18" charset="0"/>
              <a:cs typeface="Times New Roman" panose="02020603050405020304" pitchFamily="18" charset="0"/>
            </a:endParaRPr>
          </a:p>
        </p:txBody>
      </p:sp>
      <p:sp>
        <p:nvSpPr>
          <p:cNvPr id="26" name="TextBox 25">
            <a:extLst>
              <a:ext uri="{FF2B5EF4-FFF2-40B4-BE49-F238E27FC236}">
                <a16:creationId xmlns:a16="http://schemas.microsoft.com/office/drawing/2014/main" id="{325CE5C8-6EF3-A445-7F20-C8AEF8E7489A}"/>
              </a:ext>
            </a:extLst>
          </p:cNvPr>
          <p:cNvSpPr txBox="1"/>
          <p:nvPr/>
        </p:nvSpPr>
        <p:spPr>
          <a:xfrm>
            <a:off x="951509" y="1428200"/>
            <a:ext cx="9952068"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latin typeface="Times New Roman" panose="02020603050405020304" pitchFamily="18" charset="0"/>
                <a:cs typeface="Times New Roman" panose="02020603050405020304" pitchFamily="18" charset="0"/>
              </a:rPr>
              <a:t>Market is anchored on UK execution noise — missing BAM’s multi-year reinvestment and cash generation recovery. </a:t>
            </a:r>
            <a:endParaRPr lang="en-GB" dirty="0">
              <a:latin typeface="Times New Roman" panose="02020603050405020304" pitchFamily="18" charset="0"/>
              <a:ea typeface="Calibri"/>
              <a:cs typeface="Times New Roman" panose="02020603050405020304" pitchFamily="18" charset="0"/>
            </a:endParaRPr>
          </a:p>
        </p:txBody>
      </p:sp>
      <p:sp>
        <p:nvSpPr>
          <p:cNvPr id="27" name="Rectangle 26">
            <a:extLst>
              <a:ext uri="{FF2B5EF4-FFF2-40B4-BE49-F238E27FC236}">
                <a16:creationId xmlns:a16="http://schemas.microsoft.com/office/drawing/2014/main" id="{E03E8AF9-8650-5C37-F4A0-BA7D1C9B3FCF}"/>
              </a:ext>
            </a:extLst>
          </p:cNvPr>
          <p:cNvSpPr/>
          <p:nvPr/>
        </p:nvSpPr>
        <p:spPr>
          <a:xfrm>
            <a:off x="1051830" y="2536433"/>
            <a:ext cx="279206" cy="540961"/>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Times New Roman" panose="02020603050405020304" pitchFamily="18" charset="0"/>
              <a:cs typeface="Times New Roman" panose="02020603050405020304" pitchFamily="18" charset="0"/>
            </a:endParaRPr>
          </a:p>
        </p:txBody>
      </p:sp>
      <p:sp>
        <p:nvSpPr>
          <p:cNvPr id="28" name="TextBox 27">
            <a:extLst>
              <a:ext uri="{FF2B5EF4-FFF2-40B4-BE49-F238E27FC236}">
                <a16:creationId xmlns:a16="http://schemas.microsoft.com/office/drawing/2014/main" id="{89CA27CD-BAB0-584D-3F2D-AC917BCF49D0}"/>
              </a:ext>
            </a:extLst>
          </p:cNvPr>
          <p:cNvSpPr txBox="1"/>
          <p:nvPr/>
        </p:nvSpPr>
        <p:spPr>
          <a:xfrm>
            <a:off x="1403038" y="2607656"/>
            <a:ext cx="4310243"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000" b="1" dirty="0">
                <a:latin typeface="Times New Roman" panose="02020603050405020304" pitchFamily="18" charset="0"/>
                <a:ea typeface="Calibri"/>
                <a:cs typeface="Times New Roman" panose="02020603050405020304" pitchFamily="18" charset="0"/>
              </a:rPr>
              <a:t>Pitch Narrative</a:t>
            </a:r>
            <a:endParaRPr lang="en-US" dirty="0">
              <a:latin typeface="Times New Roman" panose="02020603050405020304" pitchFamily="18" charset="0"/>
              <a:cs typeface="Times New Roman" panose="02020603050405020304" pitchFamily="18" charset="0"/>
            </a:endParaRPr>
          </a:p>
        </p:txBody>
      </p:sp>
      <p:sp>
        <p:nvSpPr>
          <p:cNvPr id="29" name="TextBox 28">
            <a:extLst>
              <a:ext uri="{FF2B5EF4-FFF2-40B4-BE49-F238E27FC236}">
                <a16:creationId xmlns:a16="http://schemas.microsoft.com/office/drawing/2014/main" id="{48B20B4A-2436-5438-CD56-A617813CFF5B}"/>
              </a:ext>
            </a:extLst>
          </p:cNvPr>
          <p:cNvSpPr txBox="1"/>
          <p:nvPr/>
        </p:nvSpPr>
        <p:spPr>
          <a:xfrm>
            <a:off x="1110339" y="3158304"/>
            <a:ext cx="8280000"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panose="020B0604020202020204" pitchFamily="34" charset="0"/>
              <a:buChar char="•"/>
            </a:pPr>
            <a:r>
              <a:rPr lang="en-GB" dirty="0">
                <a:latin typeface="Times New Roman"/>
                <a:cs typeface="Times New Roman"/>
              </a:rPr>
              <a:t>The market overweight's UK execution headwinds and Dutch permitting delays, overlooking BAM’s improving balance sheet, rising quality of backlog, and visibility on multi-year infrastructure programs in the Netherlands, UK, and Ireland.</a:t>
            </a:r>
          </a:p>
          <a:p>
            <a:pPr marL="285750" indent="-285750">
              <a:buFont typeface="Arial" panose="020B0604020202020204" pitchFamily="34" charset="0"/>
              <a:buChar char="•"/>
            </a:pPr>
            <a:r>
              <a:rPr lang="en-GB" dirty="0">
                <a:latin typeface="Times New Roman"/>
                <a:cs typeface="Times New Roman"/>
              </a:rPr>
              <a:t>Reinvestment discipline and project selectivity are driving higher-margin growth.</a:t>
            </a:r>
          </a:p>
          <a:p>
            <a:pPr marL="285750" indent="-285750">
              <a:buFont typeface="Arial" panose="020B0604020202020204" pitchFamily="34" charset="0"/>
              <a:buChar char="•"/>
            </a:pPr>
            <a:r>
              <a:rPr lang="en-GB" dirty="0">
                <a:latin typeface="Times New Roman"/>
                <a:cs typeface="Times New Roman"/>
              </a:rPr>
              <a:t>As normalisation continues, BAM’s cash yield and valuation gap vs peers (e.g. Balfour Beatty, Skanska) should close.</a:t>
            </a:r>
          </a:p>
          <a:p>
            <a:pPr marL="285750" indent="-285750">
              <a:buFont typeface="Arial" panose="020B0604020202020204" pitchFamily="34" charset="0"/>
              <a:buChar char="•"/>
            </a:pPr>
            <a:endParaRPr lang="en-US" dirty="0">
              <a:latin typeface="Times New Roman"/>
              <a:ea typeface="+mn-lt"/>
              <a:cs typeface="Times New Roman"/>
            </a:endParaRPr>
          </a:p>
        </p:txBody>
      </p:sp>
      <p:sp>
        <p:nvSpPr>
          <p:cNvPr id="31" name="Rectangle 30">
            <a:extLst>
              <a:ext uri="{FF2B5EF4-FFF2-40B4-BE49-F238E27FC236}">
                <a16:creationId xmlns:a16="http://schemas.microsoft.com/office/drawing/2014/main" id="{5A47DC12-C25D-69DA-71FF-F39E6A4996B6}"/>
              </a:ext>
            </a:extLst>
          </p:cNvPr>
          <p:cNvSpPr/>
          <p:nvPr/>
        </p:nvSpPr>
        <p:spPr>
          <a:xfrm>
            <a:off x="1051830" y="5365717"/>
            <a:ext cx="279206" cy="540961"/>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Times New Roman" panose="02020603050405020304" pitchFamily="18" charset="0"/>
              <a:cs typeface="Times New Roman" panose="02020603050405020304" pitchFamily="18" charset="0"/>
            </a:endParaRPr>
          </a:p>
        </p:txBody>
      </p:sp>
      <p:sp>
        <p:nvSpPr>
          <p:cNvPr id="32" name="TextBox 31">
            <a:extLst>
              <a:ext uri="{FF2B5EF4-FFF2-40B4-BE49-F238E27FC236}">
                <a16:creationId xmlns:a16="http://schemas.microsoft.com/office/drawing/2014/main" id="{56EBBFBB-8D2F-258D-AE9C-F93F87734BDC}"/>
              </a:ext>
            </a:extLst>
          </p:cNvPr>
          <p:cNvSpPr txBox="1"/>
          <p:nvPr/>
        </p:nvSpPr>
        <p:spPr>
          <a:xfrm>
            <a:off x="1403038" y="5435519"/>
            <a:ext cx="4310243"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000" b="1" dirty="0">
                <a:latin typeface="Times New Roman" panose="02020603050405020304" pitchFamily="18" charset="0"/>
                <a:ea typeface="Calibri"/>
                <a:cs typeface="Times New Roman" panose="02020603050405020304" pitchFamily="18" charset="0"/>
              </a:rPr>
              <a:t>Valuation Summary</a:t>
            </a:r>
            <a:endParaRPr lang="en-US" dirty="0">
              <a:latin typeface="Times New Roman" panose="02020603050405020304" pitchFamily="18" charset="0"/>
              <a:cs typeface="Times New Roman" panose="02020603050405020304" pitchFamily="18" charset="0"/>
            </a:endParaRPr>
          </a:p>
        </p:txBody>
      </p:sp>
      <p:sp>
        <p:nvSpPr>
          <p:cNvPr id="33" name="Rectangle 32">
            <a:extLst>
              <a:ext uri="{FF2B5EF4-FFF2-40B4-BE49-F238E27FC236}">
                <a16:creationId xmlns:a16="http://schemas.microsoft.com/office/drawing/2014/main" id="{C67674C3-4FC3-CB6D-412A-E343F7EF9CBC}"/>
              </a:ext>
            </a:extLst>
          </p:cNvPr>
          <p:cNvSpPr/>
          <p:nvPr/>
        </p:nvSpPr>
        <p:spPr>
          <a:xfrm>
            <a:off x="1053000" y="6108878"/>
            <a:ext cx="8550000" cy="504000"/>
          </a:xfrm>
          <a:prstGeom prst="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Times New Roman" panose="02020603050405020304" pitchFamily="18" charset="0"/>
              <a:ea typeface="Calibri"/>
              <a:cs typeface="Times New Roman" panose="02020603050405020304" pitchFamily="18" charset="0"/>
            </a:endParaRPr>
          </a:p>
        </p:txBody>
      </p:sp>
      <p:sp>
        <p:nvSpPr>
          <p:cNvPr id="34" name="TextBox 33">
            <a:extLst>
              <a:ext uri="{FF2B5EF4-FFF2-40B4-BE49-F238E27FC236}">
                <a16:creationId xmlns:a16="http://schemas.microsoft.com/office/drawing/2014/main" id="{EF6029FA-FB6A-26BF-1579-BA400941A091}"/>
              </a:ext>
            </a:extLst>
          </p:cNvPr>
          <p:cNvSpPr txBox="1"/>
          <p:nvPr/>
        </p:nvSpPr>
        <p:spPr>
          <a:xfrm>
            <a:off x="5020232" y="6192033"/>
            <a:ext cx="62338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a:solidFill>
                  <a:schemeClr val="bg1"/>
                </a:solidFill>
                <a:latin typeface="Times New Roman" panose="02020603050405020304" pitchFamily="18" charset="0"/>
                <a:ea typeface="Calibri"/>
                <a:cs typeface="Times New Roman" panose="02020603050405020304" pitchFamily="18" charset="0"/>
              </a:rPr>
              <a:t>Bull</a:t>
            </a:r>
          </a:p>
        </p:txBody>
      </p:sp>
      <p:sp>
        <p:nvSpPr>
          <p:cNvPr id="37" name="TextBox 36">
            <a:extLst>
              <a:ext uri="{FF2B5EF4-FFF2-40B4-BE49-F238E27FC236}">
                <a16:creationId xmlns:a16="http://schemas.microsoft.com/office/drawing/2014/main" id="{6B29D432-244B-F781-E53D-F4C2F3286A72}"/>
              </a:ext>
            </a:extLst>
          </p:cNvPr>
          <p:cNvSpPr txBox="1"/>
          <p:nvPr/>
        </p:nvSpPr>
        <p:spPr>
          <a:xfrm>
            <a:off x="6260739" y="6192032"/>
            <a:ext cx="67755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a:solidFill>
                  <a:schemeClr val="bg1"/>
                </a:solidFill>
                <a:latin typeface="Times New Roman" panose="02020603050405020304" pitchFamily="18" charset="0"/>
                <a:ea typeface="Calibri"/>
                <a:cs typeface="Times New Roman" panose="02020603050405020304" pitchFamily="18" charset="0"/>
              </a:rPr>
              <a:t>Base</a:t>
            </a:r>
          </a:p>
        </p:txBody>
      </p:sp>
      <p:sp>
        <p:nvSpPr>
          <p:cNvPr id="38" name="TextBox 37">
            <a:extLst>
              <a:ext uri="{FF2B5EF4-FFF2-40B4-BE49-F238E27FC236}">
                <a16:creationId xmlns:a16="http://schemas.microsoft.com/office/drawing/2014/main" id="{83C83983-FE9B-C09D-757F-23936A22316B}"/>
              </a:ext>
            </a:extLst>
          </p:cNvPr>
          <p:cNvSpPr txBox="1"/>
          <p:nvPr/>
        </p:nvSpPr>
        <p:spPr>
          <a:xfrm>
            <a:off x="7647506" y="6192031"/>
            <a:ext cx="67755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a:solidFill>
                  <a:schemeClr val="bg1"/>
                </a:solidFill>
                <a:latin typeface="Times New Roman" panose="02020603050405020304" pitchFamily="18" charset="0"/>
                <a:ea typeface="Calibri"/>
                <a:cs typeface="Times New Roman" panose="02020603050405020304" pitchFamily="18" charset="0"/>
              </a:rPr>
              <a:t>Bear</a:t>
            </a:r>
          </a:p>
        </p:txBody>
      </p:sp>
      <p:sp>
        <p:nvSpPr>
          <p:cNvPr id="39" name="TextBox 38">
            <a:extLst>
              <a:ext uri="{FF2B5EF4-FFF2-40B4-BE49-F238E27FC236}">
                <a16:creationId xmlns:a16="http://schemas.microsoft.com/office/drawing/2014/main" id="{5306159D-AA7A-7623-4B95-3F71EA34D74C}"/>
              </a:ext>
            </a:extLst>
          </p:cNvPr>
          <p:cNvSpPr txBox="1"/>
          <p:nvPr/>
        </p:nvSpPr>
        <p:spPr>
          <a:xfrm>
            <a:off x="1032328" y="6599331"/>
            <a:ext cx="3775982"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400">
                <a:latin typeface="Times New Roman" panose="02020603050405020304" pitchFamily="18" charset="0"/>
                <a:cs typeface="Times New Roman" panose="02020603050405020304" pitchFamily="18" charset="0"/>
              </a:rPr>
              <a:t>Target Price</a:t>
            </a:r>
          </a:p>
        </p:txBody>
      </p:sp>
      <p:sp>
        <p:nvSpPr>
          <p:cNvPr id="40" name="TextBox 39">
            <a:extLst>
              <a:ext uri="{FF2B5EF4-FFF2-40B4-BE49-F238E27FC236}">
                <a16:creationId xmlns:a16="http://schemas.microsoft.com/office/drawing/2014/main" id="{C803028C-EAED-9BA8-B017-A084A60DE16B}"/>
              </a:ext>
            </a:extLst>
          </p:cNvPr>
          <p:cNvSpPr txBox="1"/>
          <p:nvPr/>
        </p:nvSpPr>
        <p:spPr>
          <a:xfrm>
            <a:off x="1175657" y="7511143"/>
            <a:ext cx="158931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GB">
              <a:latin typeface="Times New Roman" panose="02020603050405020304" pitchFamily="18" charset="0"/>
              <a:cs typeface="Times New Roman" panose="02020603050405020304" pitchFamily="18" charset="0"/>
            </a:endParaRPr>
          </a:p>
        </p:txBody>
      </p:sp>
      <p:sp>
        <p:nvSpPr>
          <p:cNvPr id="41" name="TextBox 40">
            <a:extLst>
              <a:ext uri="{FF2B5EF4-FFF2-40B4-BE49-F238E27FC236}">
                <a16:creationId xmlns:a16="http://schemas.microsoft.com/office/drawing/2014/main" id="{DBE88337-811E-FFB6-1E0A-90374EE42115}"/>
              </a:ext>
            </a:extLst>
          </p:cNvPr>
          <p:cNvSpPr txBox="1"/>
          <p:nvPr/>
        </p:nvSpPr>
        <p:spPr>
          <a:xfrm>
            <a:off x="1034986" y="6993593"/>
            <a:ext cx="3784249"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400" dirty="0">
                <a:latin typeface="Times New Roman" panose="02020603050405020304" pitchFamily="18" charset="0"/>
                <a:cs typeface="Times New Roman" panose="02020603050405020304" pitchFamily="18" charset="0"/>
              </a:rPr>
              <a:t>Return</a:t>
            </a:r>
            <a:endParaRPr lang="en-US" sz="1400" dirty="0">
              <a:latin typeface="Times New Roman" panose="02020603050405020304" pitchFamily="18" charset="0"/>
              <a:cs typeface="Times New Roman" panose="02020603050405020304" pitchFamily="18" charset="0"/>
            </a:endParaRPr>
          </a:p>
        </p:txBody>
      </p:sp>
      <p:sp>
        <p:nvSpPr>
          <p:cNvPr id="42" name="TextBox 41">
            <a:extLst>
              <a:ext uri="{FF2B5EF4-FFF2-40B4-BE49-F238E27FC236}">
                <a16:creationId xmlns:a16="http://schemas.microsoft.com/office/drawing/2014/main" id="{F570FE87-24D3-FE78-2D4F-567DEF4783DC}"/>
              </a:ext>
            </a:extLst>
          </p:cNvPr>
          <p:cNvSpPr txBox="1"/>
          <p:nvPr/>
        </p:nvSpPr>
        <p:spPr>
          <a:xfrm>
            <a:off x="1034985" y="7392946"/>
            <a:ext cx="3775982"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400" dirty="0">
                <a:latin typeface="Times New Roman" panose="02020603050405020304" pitchFamily="18" charset="0"/>
                <a:cs typeface="Times New Roman" panose="02020603050405020304" pitchFamily="18" charset="0"/>
              </a:rPr>
              <a:t>Probability</a:t>
            </a:r>
            <a:endParaRPr lang="en-US" sz="1400" dirty="0">
              <a:latin typeface="Times New Roman" panose="02020603050405020304" pitchFamily="18" charset="0"/>
              <a:cs typeface="Times New Roman" panose="02020603050405020304" pitchFamily="18" charset="0"/>
            </a:endParaRPr>
          </a:p>
        </p:txBody>
      </p:sp>
      <p:sp>
        <p:nvSpPr>
          <p:cNvPr id="43" name="Rectangle 42">
            <a:extLst>
              <a:ext uri="{FF2B5EF4-FFF2-40B4-BE49-F238E27FC236}">
                <a16:creationId xmlns:a16="http://schemas.microsoft.com/office/drawing/2014/main" id="{10F1860F-4EBF-1F79-801B-1D3865E35C18}"/>
              </a:ext>
            </a:extLst>
          </p:cNvPr>
          <p:cNvSpPr/>
          <p:nvPr/>
        </p:nvSpPr>
        <p:spPr>
          <a:xfrm>
            <a:off x="1110339" y="7795996"/>
            <a:ext cx="8548407" cy="84698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Times New Roman" panose="02020603050405020304" pitchFamily="18" charset="0"/>
              <a:cs typeface="Times New Roman" panose="02020603050405020304" pitchFamily="18" charset="0"/>
            </a:endParaRPr>
          </a:p>
        </p:txBody>
      </p:sp>
      <p:sp>
        <p:nvSpPr>
          <p:cNvPr id="45" name="TextBox 44">
            <a:extLst>
              <a:ext uri="{FF2B5EF4-FFF2-40B4-BE49-F238E27FC236}">
                <a16:creationId xmlns:a16="http://schemas.microsoft.com/office/drawing/2014/main" id="{870D3B62-F613-C6B2-27E4-8A231965A379}"/>
              </a:ext>
            </a:extLst>
          </p:cNvPr>
          <p:cNvSpPr txBox="1"/>
          <p:nvPr/>
        </p:nvSpPr>
        <p:spPr>
          <a:xfrm>
            <a:off x="1040376" y="7880878"/>
            <a:ext cx="3766457"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400" dirty="0">
                <a:latin typeface="Times New Roman" panose="02020603050405020304" pitchFamily="18" charset="0"/>
                <a:cs typeface="Times New Roman" panose="02020603050405020304" pitchFamily="18" charset="0"/>
              </a:rPr>
              <a:t>Probability-Weighted Target Price</a:t>
            </a:r>
            <a:endParaRPr lang="en-US" sz="1400" dirty="0">
              <a:latin typeface="Times New Roman" panose="02020603050405020304" pitchFamily="18" charset="0"/>
              <a:cs typeface="Times New Roman" panose="02020603050405020304" pitchFamily="18" charset="0"/>
            </a:endParaRPr>
          </a:p>
        </p:txBody>
      </p:sp>
      <p:sp>
        <p:nvSpPr>
          <p:cNvPr id="46" name="TextBox 45">
            <a:extLst>
              <a:ext uri="{FF2B5EF4-FFF2-40B4-BE49-F238E27FC236}">
                <a16:creationId xmlns:a16="http://schemas.microsoft.com/office/drawing/2014/main" id="{F3D47559-C17A-7FAA-9064-2FFD4F1D5C23}"/>
              </a:ext>
            </a:extLst>
          </p:cNvPr>
          <p:cNvSpPr txBox="1"/>
          <p:nvPr/>
        </p:nvSpPr>
        <p:spPr>
          <a:xfrm>
            <a:off x="1040375" y="8302699"/>
            <a:ext cx="3766457"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400" dirty="0">
                <a:latin typeface="Times New Roman" panose="02020603050405020304" pitchFamily="18" charset="0"/>
                <a:cs typeface="Times New Roman" panose="02020603050405020304" pitchFamily="18" charset="0"/>
              </a:rPr>
              <a:t>Weighted Return</a:t>
            </a:r>
            <a:endParaRPr lang="en-US" sz="1400" dirty="0">
              <a:latin typeface="Times New Roman" panose="02020603050405020304" pitchFamily="18" charset="0"/>
              <a:cs typeface="Times New Roman" panose="02020603050405020304" pitchFamily="18" charset="0"/>
            </a:endParaRPr>
          </a:p>
        </p:txBody>
      </p:sp>
      <p:sp>
        <p:nvSpPr>
          <p:cNvPr id="47" name="TextBox 46">
            <a:extLst>
              <a:ext uri="{FF2B5EF4-FFF2-40B4-BE49-F238E27FC236}">
                <a16:creationId xmlns:a16="http://schemas.microsoft.com/office/drawing/2014/main" id="{DE08C5F3-AE85-CAE0-A152-EE65A25AC5F0}"/>
              </a:ext>
            </a:extLst>
          </p:cNvPr>
          <p:cNvSpPr txBox="1"/>
          <p:nvPr/>
        </p:nvSpPr>
        <p:spPr>
          <a:xfrm>
            <a:off x="5021035" y="6602001"/>
            <a:ext cx="960855"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1400" dirty="0">
                <a:latin typeface="Times New Roman" panose="02020603050405020304" pitchFamily="18" charset="0"/>
                <a:cs typeface="Times New Roman" panose="02020603050405020304" pitchFamily="18" charset="0"/>
              </a:rPr>
              <a:t>€11.72</a:t>
            </a:r>
          </a:p>
        </p:txBody>
      </p:sp>
      <p:sp>
        <p:nvSpPr>
          <p:cNvPr id="48" name="TextBox 47">
            <a:extLst>
              <a:ext uri="{FF2B5EF4-FFF2-40B4-BE49-F238E27FC236}">
                <a16:creationId xmlns:a16="http://schemas.microsoft.com/office/drawing/2014/main" id="{797BE20E-1881-5EC2-CAB8-4548C4DDC07C}"/>
              </a:ext>
            </a:extLst>
          </p:cNvPr>
          <p:cNvSpPr txBox="1"/>
          <p:nvPr/>
        </p:nvSpPr>
        <p:spPr>
          <a:xfrm>
            <a:off x="5026426" y="6970180"/>
            <a:ext cx="828417"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1400">
                <a:latin typeface="Times New Roman" panose="02020603050405020304" pitchFamily="18" charset="0"/>
                <a:cs typeface="Times New Roman" panose="02020603050405020304" pitchFamily="18" charset="0"/>
              </a:rPr>
              <a:t>41.1%</a:t>
            </a:r>
          </a:p>
        </p:txBody>
      </p:sp>
      <p:sp>
        <p:nvSpPr>
          <p:cNvPr id="35" name="TextBox 34">
            <a:extLst>
              <a:ext uri="{FF2B5EF4-FFF2-40B4-BE49-F238E27FC236}">
                <a16:creationId xmlns:a16="http://schemas.microsoft.com/office/drawing/2014/main" id="{D3F68959-7AC1-BF91-168D-982551554097}"/>
              </a:ext>
            </a:extLst>
          </p:cNvPr>
          <p:cNvSpPr txBox="1"/>
          <p:nvPr/>
        </p:nvSpPr>
        <p:spPr>
          <a:xfrm>
            <a:off x="5026425" y="7369152"/>
            <a:ext cx="693707" cy="307777"/>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1400" dirty="0">
                <a:latin typeface="Times New Roman" panose="02020603050405020304" pitchFamily="18" charset="0"/>
                <a:cs typeface="Times New Roman" panose="02020603050405020304" pitchFamily="18" charset="0"/>
              </a:rPr>
              <a:t>20%</a:t>
            </a:r>
          </a:p>
        </p:txBody>
      </p:sp>
      <p:sp>
        <p:nvSpPr>
          <p:cNvPr id="36" name="TextBox 35">
            <a:extLst>
              <a:ext uri="{FF2B5EF4-FFF2-40B4-BE49-F238E27FC236}">
                <a16:creationId xmlns:a16="http://schemas.microsoft.com/office/drawing/2014/main" id="{97CD6182-6B0C-8A54-4F38-08D96023C835}"/>
              </a:ext>
            </a:extLst>
          </p:cNvPr>
          <p:cNvSpPr txBox="1"/>
          <p:nvPr/>
        </p:nvSpPr>
        <p:spPr>
          <a:xfrm>
            <a:off x="6309604" y="6602000"/>
            <a:ext cx="993569"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400" dirty="0">
                <a:latin typeface="Times New Roman" panose="02020603050405020304" pitchFamily="18" charset="0"/>
                <a:cs typeface="Times New Roman" panose="02020603050405020304" pitchFamily="18" charset="0"/>
              </a:rPr>
              <a:t>€ 9.77</a:t>
            </a:r>
          </a:p>
        </p:txBody>
      </p:sp>
      <p:sp>
        <p:nvSpPr>
          <p:cNvPr id="44" name="TextBox 43">
            <a:extLst>
              <a:ext uri="{FF2B5EF4-FFF2-40B4-BE49-F238E27FC236}">
                <a16:creationId xmlns:a16="http://schemas.microsoft.com/office/drawing/2014/main" id="{4C0D93B5-4D2D-78A9-DC45-FB9A6F7ABCBE}"/>
              </a:ext>
            </a:extLst>
          </p:cNvPr>
          <p:cNvSpPr txBox="1"/>
          <p:nvPr/>
        </p:nvSpPr>
        <p:spPr>
          <a:xfrm>
            <a:off x="6309604" y="6959397"/>
            <a:ext cx="783785"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1400" dirty="0">
                <a:latin typeface="Times New Roman" panose="02020603050405020304" pitchFamily="18" charset="0"/>
                <a:cs typeface="Times New Roman" panose="02020603050405020304" pitchFamily="18" charset="0"/>
              </a:rPr>
              <a:t>17.9%</a:t>
            </a:r>
          </a:p>
        </p:txBody>
      </p:sp>
      <p:sp>
        <p:nvSpPr>
          <p:cNvPr id="49" name="TextBox 48">
            <a:extLst>
              <a:ext uri="{FF2B5EF4-FFF2-40B4-BE49-F238E27FC236}">
                <a16:creationId xmlns:a16="http://schemas.microsoft.com/office/drawing/2014/main" id="{012949F8-9849-9421-11F0-E1F0AB3895E1}"/>
              </a:ext>
            </a:extLst>
          </p:cNvPr>
          <p:cNvSpPr txBox="1"/>
          <p:nvPr/>
        </p:nvSpPr>
        <p:spPr>
          <a:xfrm>
            <a:off x="6309603" y="7358368"/>
            <a:ext cx="867598"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1400" dirty="0">
                <a:latin typeface="Times New Roman" panose="02020603050405020304" pitchFamily="18" charset="0"/>
                <a:cs typeface="Times New Roman" panose="02020603050405020304" pitchFamily="18" charset="0"/>
              </a:rPr>
              <a:t>60%</a:t>
            </a:r>
          </a:p>
        </p:txBody>
      </p:sp>
      <p:sp>
        <p:nvSpPr>
          <p:cNvPr id="50" name="TextBox 49">
            <a:extLst>
              <a:ext uri="{FF2B5EF4-FFF2-40B4-BE49-F238E27FC236}">
                <a16:creationId xmlns:a16="http://schemas.microsoft.com/office/drawing/2014/main" id="{B4C7CB93-E8D2-6D95-7E8C-D3D78030AA05}"/>
              </a:ext>
            </a:extLst>
          </p:cNvPr>
          <p:cNvSpPr txBox="1"/>
          <p:nvPr/>
        </p:nvSpPr>
        <p:spPr>
          <a:xfrm>
            <a:off x="7657481" y="6596608"/>
            <a:ext cx="960855"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1400" dirty="0">
                <a:latin typeface="Times New Roman" panose="02020603050405020304" pitchFamily="18" charset="0"/>
                <a:cs typeface="Times New Roman" panose="02020603050405020304" pitchFamily="18" charset="0"/>
              </a:rPr>
              <a:t>€8.30</a:t>
            </a:r>
          </a:p>
        </p:txBody>
      </p:sp>
      <p:sp>
        <p:nvSpPr>
          <p:cNvPr id="51" name="TextBox 50">
            <a:extLst>
              <a:ext uri="{FF2B5EF4-FFF2-40B4-BE49-F238E27FC236}">
                <a16:creationId xmlns:a16="http://schemas.microsoft.com/office/drawing/2014/main" id="{32B95CAD-4D06-59FC-E4F4-FF7A3230895B}"/>
              </a:ext>
            </a:extLst>
          </p:cNvPr>
          <p:cNvSpPr txBox="1"/>
          <p:nvPr/>
        </p:nvSpPr>
        <p:spPr>
          <a:xfrm>
            <a:off x="7657481" y="6954005"/>
            <a:ext cx="8317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1400">
                <a:latin typeface="Times New Roman" panose="02020603050405020304" pitchFamily="18" charset="0"/>
                <a:cs typeface="Times New Roman" panose="02020603050405020304" pitchFamily="18" charset="0"/>
              </a:rPr>
              <a:t>0.1%</a:t>
            </a:r>
          </a:p>
          <a:p>
            <a:pPr algn="l"/>
            <a:endParaRPr lang="en-GB" sz="1400">
              <a:latin typeface="Times New Roman" panose="02020603050405020304" pitchFamily="18" charset="0"/>
              <a:cs typeface="Times New Roman" panose="02020603050405020304" pitchFamily="18" charset="0"/>
            </a:endParaRPr>
          </a:p>
        </p:txBody>
      </p:sp>
      <p:sp>
        <p:nvSpPr>
          <p:cNvPr id="52" name="TextBox 51">
            <a:extLst>
              <a:ext uri="{FF2B5EF4-FFF2-40B4-BE49-F238E27FC236}">
                <a16:creationId xmlns:a16="http://schemas.microsoft.com/office/drawing/2014/main" id="{051F90D8-4420-6F2D-8FED-5396E6B908C8}"/>
              </a:ext>
            </a:extLst>
          </p:cNvPr>
          <p:cNvSpPr txBox="1"/>
          <p:nvPr/>
        </p:nvSpPr>
        <p:spPr>
          <a:xfrm>
            <a:off x="7657480" y="7352976"/>
            <a:ext cx="693707"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1400" dirty="0">
                <a:latin typeface="Times New Roman" panose="02020603050405020304" pitchFamily="18" charset="0"/>
                <a:cs typeface="Times New Roman" panose="02020603050405020304" pitchFamily="18" charset="0"/>
              </a:rPr>
              <a:t>20%</a:t>
            </a:r>
          </a:p>
        </p:txBody>
      </p:sp>
      <p:sp>
        <p:nvSpPr>
          <p:cNvPr id="59" name="TextBox 58">
            <a:extLst>
              <a:ext uri="{FF2B5EF4-FFF2-40B4-BE49-F238E27FC236}">
                <a16:creationId xmlns:a16="http://schemas.microsoft.com/office/drawing/2014/main" id="{CBD9B271-AC1B-2D01-1341-E9D47F284140}"/>
              </a:ext>
            </a:extLst>
          </p:cNvPr>
          <p:cNvSpPr txBox="1"/>
          <p:nvPr/>
        </p:nvSpPr>
        <p:spPr>
          <a:xfrm>
            <a:off x="5031817" y="7822039"/>
            <a:ext cx="877337"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1400" dirty="0">
                <a:latin typeface="Times New Roman" panose="02020603050405020304" pitchFamily="18" charset="0"/>
                <a:cs typeface="Times New Roman" panose="02020603050405020304" pitchFamily="18" charset="0"/>
              </a:rPr>
              <a:t>€2.35</a:t>
            </a:r>
          </a:p>
        </p:txBody>
      </p:sp>
      <p:sp>
        <p:nvSpPr>
          <p:cNvPr id="61" name="TextBox 60">
            <a:extLst>
              <a:ext uri="{FF2B5EF4-FFF2-40B4-BE49-F238E27FC236}">
                <a16:creationId xmlns:a16="http://schemas.microsoft.com/office/drawing/2014/main" id="{010A79DB-F8F7-56D9-13D2-CFFB6F14182D}"/>
              </a:ext>
            </a:extLst>
          </p:cNvPr>
          <p:cNvSpPr txBox="1"/>
          <p:nvPr/>
        </p:nvSpPr>
        <p:spPr>
          <a:xfrm>
            <a:off x="6314995" y="7811255"/>
            <a:ext cx="729538"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1400" dirty="0">
                <a:latin typeface="Times New Roman" panose="02020603050405020304" pitchFamily="18" charset="0"/>
                <a:cs typeface="Times New Roman" panose="02020603050405020304" pitchFamily="18" charset="0"/>
              </a:rPr>
              <a:t>€5.86</a:t>
            </a:r>
          </a:p>
        </p:txBody>
      </p:sp>
      <p:sp>
        <p:nvSpPr>
          <p:cNvPr id="63" name="TextBox 62">
            <a:extLst>
              <a:ext uri="{FF2B5EF4-FFF2-40B4-BE49-F238E27FC236}">
                <a16:creationId xmlns:a16="http://schemas.microsoft.com/office/drawing/2014/main" id="{106494C6-3514-1D2F-228E-70A7B2962453}"/>
              </a:ext>
            </a:extLst>
          </p:cNvPr>
          <p:cNvSpPr txBox="1"/>
          <p:nvPr/>
        </p:nvSpPr>
        <p:spPr>
          <a:xfrm>
            <a:off x="7662872" y="7805863"/>
            <a:ext cx="729538"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1400" dirty="0">
                <a:latin typeface="Times New Roman" panose="02020603050405020304" pitchFamily="18" charset="0"/>
                <a:cs typeface="Times New Roman" panose="02020603050405020304" pitchFamily="18" charset="0"/>
              </a:rPr>
              <a:t>€1.66</a:t>
            </a:r>
          </a:p>
        </p:txBody>
      </p:sp>
      <p:sp>
        <p:nvSpPr>
          <p:cNvPr id="64" name="TextBox 63">
            <a:extLst>
              <a:ext uri="{FF2B5EF4-FFF2-40B4-BE49-F238E27FC236}">
                <a16:creationId xmlns:a16="http://schemas.microsoft.com/office/drawing/2014/main" id="{802A9E80-F7CD-689F-6BDB-AB271DE7B7E3}"/>
              </a:ext>
            </a:extLst>
          </p:cNvPr>
          <p:cNvSpPr txBox="1"/>
          <p:nvPr/>
        </p:nvSpPr>
        <p:spPr>
          <a:xfrm>
            <a:off x="5661919" y="8178792"/>
            <a:ext cx="278911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b="1" dirty="0">
                <a:latin typeface="Times New Roman" panose="02020603050405020304" pitchFamily="18" charset="0"/>
                <a:cs typeface="Times New Roman" panose="02020603050405020304" pitchFamily="18" charset="0"/>
              </a:rPr>
              <a:t>€9.87 per share </a:t>
            </a:r>
          </a:p>
        </p:txBody>
      </p:sp>
      <p:sp>
        <p:nvSpPr>
          <p:cNvPr id="12" name="TextBox 11">
            <a:extLst>
              <a:ext uri="{FF2B5EF4-FFF2-40B4-BE49-F238E27FC236}">
                <a16:creationId xmlns:a16="http://schemas.microsoft.com/office/drawing/2014/main" id="{03E94D0F-3C2F-008F-955F-B577F6333002}"/>
              </a:ext>
            </a:extLst>
          </p:cNvPr>
          <p:cNvSpPr txBox="1"/>
          <p:nvPr/>
        </p:nvSpPr>
        <p:spPr>
          <a:xfrm>
            <a:off x="11231462" y="2042073"/>
            <a:ext cx="3103789" cy="523220"/>
          </a:xfrm>
          <a:prstGeom prst="rect">
            <a:avLst/>
          </a:prstGeom>
          <a:noFill/>
        </p:spPr>
        <p:txBody>
          <a:bodyPr wrap="square" rtlCol="0">
            <a:spAutoFit/>
          </a:bodyPr>
          <a:lstStyle/>
          <a:p>
            <a:r>
              <a:rPr lang="en-GB" sz="1400" i="1">
                <a:latin typeface="Times New Roman" panose="02020603050405020304" pitchFamily="18" charset="0"/>
                <a:cs typeface="Times New Roman" panose="02020603050405020304" pitchFamily="18" charset="0"/>
              </a:rPr>
              <a:t>Sees BAM as </a:t>
            </a:r>
            <a:r>
              <a:rPr lang="en-GB" sz="1400" b="1" i="1">
                <a:latin typeface="Times New Roman" panose="02020603050405020304" pitchFamily="18" charset="0"/>
                <a:cs typeface="Times New Roman" panose="02020603050405020304" pitchFamily="18" charset="0"/>
              </a:rPr>
              <a:t>structurally</a:t>
            </a:r>
            <a:r>
              <a:rPr lang="en-GB" sz="1400" i="1">
                <a:latin typeface="Times New Roman" panose="02020603050405020304" pitchFamily="18" charset="0"/>
                <a:cs typeface="Times New Roman" panose="02020603050405020304" pitchFamily="18" charset="0"/>
              </a:rPr>
              <a:t> </a:t>
            </a:r>
            <a:r>
              <a:rPr lang="en-GB" sz="1400" b="1" i="1">
                <a:latin typeface="Times New Roman" panose="02020603050405020304" pitchFamily="18" charset="0"/>
                <a:cs typeface="Times New Roman" panose="02020603050405020304" pitchFamily="18" charset="0"/>
              </a:rPr>
              <a:t>constrained</a:t>
            </a:r>
            <a:r>
              <a:rPr lang="en-GB" sz="1400" i="1">
                <a:latin typeface="Times New Roman" panose="02020603050405020304" pitchFamily="18" charset="0"/>
                <a:cs typeface="Times New Roman" panose="02020603050405020304" pitchFamily="18" charset="0"/>
              </a:rPr>
              <a:t> and </a:t>
            </a:r>
            <a:r>
              <a:rPr lang="en-GB" sz="1400" b="1" i="1">
                <a:latin typeface="Times New Roman" panose="02020603050405020304" pitchFamily="18" charset="0"/>
                <a:cs typeface="Times New Roman" panose="02020603050405020304" pitchFamily="18" charset="0"/>
              </a:rPr>
              <a:t>cyclical</a:t>
            </a:r>
            <a:r>
              <a:rPr lang="en-GB" sz="1400" i="1">
                <a:latin typeface="Times New Roman" panose="02020603050405020304" pitchFamily="18" charset="0"/>
                <a:cs typeface="Times New Roman" panose="02020603050405020304" pitchFamily="18" charset="0"/>
              </a:rPr>
              <a:t>.</a:t>
            </a:r>
            <a:endParaRPr lang="en-US" sz="1400" i="1">
              <a:latin typeface="Times New Roman" panose="02020603050405020304" pitchFamily="18" charset="0"/>
              <a:ea typeface="Calibri"/>
              <a:cs typeface="Times New Roman" panose="02020603050405020304" pitchFamily="18" charset="0"/>
            </a:endParaRPr>
          </a:p>
        </p:txBody>
      </p:sp>
      <p:sp>
        <p:nvSpPr>
          <p:cNvPr id="13" name="TextBox 12">
            <a:extLst>
              <a:ext uri="{FF2B5EF4-FFF2-40B4-BE49-F238E27FC236}">
                <a16:creationId xmlns:a16="http://schemas.microsoft.com/office/drawing/2014/main" id="{50939010-657A-AACD-BBF1-BDBABF9D314E}"/>
              </a:ext>
            </a:extLst>
          </p:cNvPr>
          <p:cNvSpPr txBox="1"/>
          <p:nvPr/>
        </p:nvSpPr>
        <p:spPr>
          <a:xfrm>
            <a:off x="14190500" y="2024698"/>
            <a:ext cx="3313556" cy="523220"/>
          </a:xfrm>
          <a:prstGeom prst="rect">
            <a:avLst/>
          </a:prstGeom>
          <a:noFill/>
        </p:spPr>
        <p:txBody>
          <a:bodyPr wrap="square" rtlCol="0">
            <a:spAutoFit/>
          </a:bodyPr>
          <a:lstStyle/>
          <a:p>
            <a:pPr marL="285750"/>
            <a:r>
              <a:rPr lang="en-GB" sz="1400" i="1">
                <a:latin typeface="Times New Roman" panose="02020603050405020304" pitchFamily="18" charset="0"/>
                <a:cs typeface="Times New Roman" panose="02020603050405020304" pitchFamily="18" charset="0"/>
              </a:rPr>
              <a:t>Sees BAM as entering</a:t>
            </a:r>
            <a:r>
              <a:rPr lang="en-GB" sz="1400" b="1" i="1">
                <a:latin typeface="Times New Roman" panose="02020603050405020304" pitchFamily="18" charset="0"/>
                <a:cs typeface="Times New Roman" panose="02020603050405020304" pitchFamily="18" charset="0"/>
              </a:rPr>
              <a:t> sustainable margin expansion phase</a:t>
            </a:r>
            <a:endParaRPr lang="en-GB" sz="1400" b="1" i="1">
              <a:latin typeface="Times New Roman" panose="02020603050405020304" pitchFamily="18" charset="0"/>
              <a:ea typeface="+mn-lt"/>
              <a:cs typeface="Times New Roman" panose="02020603050405020304" pitchFamily="18" charset="0"/>
            </a:endParaRPr>
          </a:p>
        </p:txBody>
      </p:sp>
      <p:sp>
        <p:nvSpPr>
          <p:cNvPr id="30" name="AutoShape 10">
            <a:extLst>
              <a:ext uri="{FF2B5EF4-FFF2-40B4-BE49-F238E27FC236}">
                <a16:creationId xmlns:a16="http://schemas.microsoft.com/office/drawing/2014/main" id="{43A5A870-1E3C-9507-D8C7-AF06D8445CFC}"/>
              </a:ext>
            </a:extLst>
          </p:cNvPr>
          <p:cNvSpPr/>
          <p:nvPr/>
        </p:nvSpPr>
        <p:spPr>
          <a:xfrm>
            <a:off x="973240" y="1362172"/>
            <a:ext cx="13744971" cy="0"/>
          </a:xfrm>
          <a:prstGeom prst="line">
            <a:avLst/>
          </a:prstGeom>
          <a:ln w="38100" cap="flat">
            <a:solidFill>
              <a:srgbClr val="214779"/>
            </a:solidFill>
            <a:prstDash val="solid"/>
            <a:headEnd type="none" w="sm" len="sm"/>
            <a:tailEnd type="none" w="sm" len="sm"/>
          </a:ln>
        </p:spPr>
        <p:txBody>
          <a:bodyPr/>
          <a:lstStyle/>
          <a:p>
            <a:endParaRPr lang="en-GB">
              <a:latin typeface="Times New Roman" panose="02020603050405020304" pitchFamily="18" charset="0"/>
              <a:cs typeface="Times New Roman" panose="02020603050405020304" pitchFamily="18" charset="0"/>
            </a:endParaRPr>
          </a:p>
        </p:txBody>
      </p:sp>
      <p:sp>
        <p:nvSpPr>
          <p:cNvPr id="25" name="TextBox 49">
            <a:extLst>
              <a:ext uri="{FF2B5EF4-FFF2-40B4-BE49-F238E27FC236}">
                <a16:creationId xmlns:a16="http://schemas.microsoft.com/office/drawing/2014/main" id="{A69354CD-AAD5-4977-95E0-9EEF943BEEC4}"/>
              </a:ext>
            </a:extLst>
          </p:cNvPr>
          <p:cNvSpPr txBox="1"/>
          <p:nvPr/>
        </p:nvSpPr>
        <p:spPr>
          <a:xfrm>
            <a:off x="3233349" y="9250434"/>
            <a:ext cx="8782188" cy="466474"/>
          </a:xfrm>
          <a:prstGeom prst="rect">
            <a:avLst/>
          </a:prstGeom>
        </p:spPr>
        <p:txBody>
          <a:bodyPr wrap="square" lIns="0" tIns="0" rIns="0" bIns="0" rtlCol="0" anchor="t">
            <a:spAutoFit/>
          </a:bodyPr>
          <a:lstStyle/>
          <a:p>
            <a:pPr algn="ctr">
              <a:lnSpc>
                <a:spcPts val="4060"/>
              </a:lnSpc>
              <a:spcBef>
                <a:spcPct val="0"/>
              </a:spcBef>
            </a:pPr>
            <a:r>
              <a:rPr lang="en-US" sz="2400" dirty="0">
                <a:solidFill>
                  <a:schemeClr val="bg1">
                    <a:lumMod val="50000"/>
                  </a:schemeClr>
                </a:solidFill>
                <a:latin typeface="Times New Roman" panose="02020603050405020304" pitchFamily="18" charset="0"/>
                <a:ea typeface="Times New Roman"/>
                <a:cs typeface="Times New Roman" panose="02020603050405020304" pitchFamily="18" charset="0"/>
                <a:sym typeface="Times New Roman"/>
              </a:rPr>
              <a:t>29/10/25		      Royal Bam Group – (XAMS</a:t>
            </a:r>
            <a:r>
              <a:rPr lang="en-US" sz="2400" dirty="0">
                <a:solidFill>
                  <a:schemeClr val="bg1">
                    <a:lumMod val="50000"/>
                  </a:schemeClr>
                </a:solidFill>
                <a:latin typeface="Times New Roman" panose="02020603050405020304" pitchFamily="18" charset="0"/>
                <a:ea typeface="Times New Roman"/>
                <a:cs typeface="Times New Roman" panose="02020603050405020304" pitchFamily="18" charset="0"/>
                <a:sym typeface="Wingdings" pitchFamily="2" charset="2"/>
              </a:rPr>
              <a:t>:</a:t>
            </a:r>
            <a:r>
              <a:rPr lang="en-US" sz="2400" dirty="0">
                <a:solidFill>
                  <a:schemeClr val="bg1">
                    <a:lumMod val="50000"/>
                  </a:schemeClr>
                </a:solidFill>
                <a:latin typeface="Times New Roman" panose="02020603050405020304" pitchFamily="18" charset="0"/>
                <a:ea typeface="Times New Roman"/>
                <a:cs typeface="Times New Roman" panose="02020603050405020304" pitchFamily="18" charset="0"/>
                <a:sym typeface="Times New Roman"/>
              </a:rPr>
              <a:t> BAMNB)</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23487A"/>
        </a:solidFill>
        <a:effectLst/>
      </p:bgPr>
    </p:bg>
    <p:spTree>
      <p:nvGrpSpPr>
        <p:cNvPr id="1" name=""/>
        <p:cNvGrpSpPr/>
        <p:nvPr/>
      </p:nvGrpSpPr>
      <p:grpSpPr>
        <a:xfrm>
          <a:off x="0" y="0"/>
          <a:ext cx="0" cy="0"/>
          <a:chOff x="0" y="0"/>
          <a:chExt cx="0" cy="0"/>
        </a:xfrm>
      </p:grpSpPr>
      <p:sp>
        <p:nvSpPr>
          <p:cNvPr id="2" name="Freeform 2"/>
          <p:cNvSpPr/>
          <p:nvPr/>
        </p:nvSpPr>
        <p:spPr>
          <a:xfrm>
            <a:off x="7846503" y="6394025"/>
            <a:ext cx="2594994" cy="2153293"/>
          </a:xfrm>
          <a:custGeom>
            <a:avLst/>
            <a:gdLst/>
            <a:ahLst/>
            <a:cxnLst/>
            <a:rect l="l" t="t" r="r" b="b"/>
            <a:pathLst>
              <a:path w="2594994" h="2153293">
                <a:moveTo>
                  <a:pt x="0" y="0"/>
                </a:moveTo>
                <a:lnTo>
                  <a:pt x="2594994" y="0"/>
                </a:lnTo>
                <a:lnTo>
                  <a:pt x="2594994" y="2153293"/>
                </a:lnTo>
                <a:lnTo>
                  <a:pt x="0" y="2153293"/>
                </a:lnTo>
                <a:lnTo>
                  <a:pt x="0" y="0"/>
                </a:lnTo>
                <a:close/>
              </a:path>
            </a:pathLst>
          </a:custGeom>
          <a:blipFill>
            <a:blip r:embed="rId3"/>
            <a:stretch>
              <a:fillRect l="-83932" t="-92948" r="-86060" b="-132427"/>
            </a:stretch>
          </a:blipFill>
        </p:spPr>
        <p:txBody>
          <a:bodyPr/>
          <a:lstStyle/>
          <a:p>
            <a:endParaRPr lang="en-GB">
              <a:latin typeface="Times New Roman" panose="02020603050405020304" pitchFamily="18" charset="0"/>
              <a:cs typeface="Times New Roman" panose="02020603050405020304" pitchFamily="18" charset="0"/>
            </a:endParaRPr>
          </a:p>
        </p:txBody>
      </p:sp>
      <p:sp>
        <p:nvSpPr>
          <p:cNvPr id="3" name="TextBox 3"/>
          <p:cNvSpPr txBox="1"/>
          <p:nvPr/>
        </p:nvSpPr>
        <p:spPr>
          <a:xfrm>
            <a:off x="2663160" y="3407764"/>
            <a:ext cx="12988454" cy="580390"/>
          </a:xfrm>
          <a:prstGeom prst="rect">
            <a:avLst/>
          </a:prstGeom>
        </p:spPr>
        <p:txBody>
          <a:bodyPr lIns="0" tIns="0" rIns="0" bIns="0" rtlCol="0" anchor="t">
            <a:spAutoFit/>
          </a:bodyPr>
          <a:lstStyle/>
          <a:p>
            <a:pPr algn="ctr">
              <a:lnSpc>
                <a:spcPts val="4759"/>
              </a:lnSpc>
              <a:spcBef>
                <a:spcPct val="0"/>
              </a:spcBef>
            </a:pPr>
            <a:r>
              <a:rPr lang="en-US" sz="3399">
                <a:solidFill>
                  <a:srgbClr val="23487A"/>
                </a:solidFill>
                <a:latin typeface="Times New Roman" panose="02020603050405020304" pitchFamily="18" charset="0"/>
                <a:ea typeface="Montserrat"/>
                <a:cs typeface="Times New Roman" panose="02020603050405020304" pitchFamily="18" charset="0"/>
                <a:sym typeface="Montserrat"/>
              </a:rPr>
              <a:t>Newcastle University Investment Fund Training Programme</a:t>
            </a:r>
          </a:p>
        </p:txBody>
      </p:sp>
      <p:sp>
        <p:nvSpPr>
          <p:cNvPr id="4" name="TextBox 4"/>
          <p:cNvSpPr txBox="1"/>
          <p:nvPr/>
        </p:nvSpPr>
        <p:spPr>
          <a:xfrm>
            <a:off x="5717486" y="4246908"/>
            <a:ext cx="6879803" cy="580390"/>
          </a:xfrm>
          <a:prstGeom prst="rect">
            <a:avLst/>
          </a:prstGeom>
        </p:spPr>
        <p:txBody>
          <a:bodyPr lIns="0" tIns="0" rIns="0" bIns="0" rtlCol="0" anchor="t">
            <a:spAutoFit/>
          </a:bodyPr>
          <a:lstStyle/>
          <a:p>
            <a:pPr algn="ctr">
              <a:lnSpc>
                <a:spcPts val="4759"/>
              </a:lnSpc>
              <a:spcBef>
                <a:spcPct val="0"/>
              </a:spcBef>
            </a:pPr>
            <a:r>
              <a:rPr lang="en-US" sz="3399">
                <a:solidFill>
                  <a:srgbClr val="23487A"/>
                </a:solidFill>
                <a:latin typeface="Times New Roman" panose="02020603050405020304" pitchFamily="18" charset="0"/>
                <a:ea typeface="Montserrat"/>
                <a:cs typeface="Times New Roman" panose="02020603050405020304" pitchFamily="18" charset="0"/>
                <a:sym typeface="Montserrat"/>
              </a:rPr>
              <a:t>Session 1: What is a Stock Pitch?</a:t>
            </a:r>
          </a:p>
        </p:txBody>
      </p:sp>
      <p:sp>
        <p:nvSpPr>
          <p:cNvPr id="5" name="TextBox 5"/>
          <p:cNvSpPr txBox="1"/>
          <p:nvPr/>
        </p:nvSpPr>
        <p:spPr>
          <a:xfrm>
            <a:off x="2616726" y="5213560"/>
            <a:ext cx="13081322" cy="1180465"/>
          </a:xfrm>
          <a:prstGeom prst="rect">
            <a:avLst/>
          </a:prstGeom>
        </p:spPr>
        <p:txBody>
          <a:bodyPr lIns="0" tIns="0" rIns="0" bIns="0" rtlCol="0" anchor="t">
            <a:spAutoFit/>
          </a:bodyPr>
          <a:lstStyle/>
          <a:p>
            <a:pPr algn="ctr">
              <a:lnSpc>
                <a:spcPts val="4759"/>
              </a:lnSpc>
              <a:spcBef>
                <a:spcPct val="0"/>
              </a:spcBef>
            </a:pPr>
            <a:r>
              <a:rPr lang="en-US" sz="3399">
                <a:solidFill>
                  <a:srgbClr val="23487A"/>
                </a:solidFill>
                <a:latin typeface="Times New Roman" panose="02020603050405020304" pitchFamily="18" charset="0"/>
                <a:ea typeface="Montserrat"/>
                <a:cs typeface="Times New Roman" panose="02020603050405020304" pitchFamily="18" charset="0"/>
                <a:sym typeface="Montserrat"/>
              </a:rPr>
              <a:t>Going from "It's a good company" to "It's a good investment"</a:t>
            </a:r>
          </a:p>
          <a:p>
            <a:pPr algn="ctr">
              <a:lnSpc>
                <a:spcPts val="4759"/>
              </a:lnSpc>
              <a:spcBef>
                <a:spcPct val="0"/>
              </a:spcBef>
            </a:pPr>
            <a:endParaRPr lang="en-US" sz="3399">
              <a:solidFill>
                <a:srgbClr val="23487A"/>
              </a:solidFill>
              <a:latin typeface="Times New Roman" panose="02020603050405020304" pitchFamily="18" charset="0"/>
              <a:ea typeface="Montserrat"/>
              <a:cs typeface="Times New Roman" panose="02020603050405020304" pitchFamily="18" charset="0"/>
              <a:sym typeface="Montserrat"/>
            </a:endParaRPr>
          </a:p>
        </p:txBody>
      </p:sp>
      <p:grpSp>
        <p:nvGrpSpPr>
          <p:cNvPr id="6" name="Group 6"/>
          <p:cNvGrpSpPr/>
          <p:nvPr/>
        </p:nvGrpSpPr>
        <p:grpSpPr>
          <a:xfrm>
            <a:off x="482833" y="399657"/>
            <a:ext cx="17349108" cy="9487687"/>
            <a:chOff x="0" y="0"/>
            <a:chExt cx="5293499" cy="2894850"/>
          </a:xfrm>
        </p:grpSpPr>
        <p:sp>
          <p:nvSpPr>
            <p:cNvPr id="7" name="Freeform 7"/>
            <p:cNvSpPr/>
            <p:nvPr/>
          </p:nvSpPr>
          <p:spPr>
            <a:xfrm>
              <a:off x="0" y="0"/>
              <a:ext cx="5293499" cy="2894850"/>
            </a:xfrm>
            <a:custGeom>
              <a:avLst/>
              <a:gdLst/>
              <a:ahLst/>
              <a:cxnLst/>
              <a:rect l="l" t="t" r="r" b="b"/>
              <a:pathLst>
                <a:path w="5293499" h="2894850">
                  <a:moveTo>
                    <a:pt x="0" y="0"/>
                  </a:moveTo>
                  <a:lnTo>
                    <a:pt x="5293499" y="0"/>
                  </a:lnTo>
                  <a:lnTo>
                    <a:pt x="5293499" y="2894850"/>
                  </a:lnTo>
                  <a:lnTo>
                    <a:pt x="0" y="2894850"/>
                  </a:lnTo>
                  <a:close/>
                </a:path>
              </a:pathLst>
            </a:custGeom>
            <a:solidFill>
              <a:srgbClr val="FFFFFF"/>
            </a:solidFill>
          </p:spPr>
          <p:txBody>
            <a:bodyPr/>
            <a:lstStyle/>
            <a:p>
              <a:endParaRPr lang="en-GB">
                <a:latin typeface="Times New Roman" panose="02020603050405020304" pitchFamily="18" charset="0"/>
                <a:cs typeface="Times New Roman" panose="02020603050405020304" pitchFamily="18" charset="0"/>
              </a:endParaRPr>
            </a:p>
          </p:txBody>
        </p:sp>
        <p:sp>
          <p:nvSpPr>
            <p:cNvPr id="8" name="TextBox 8"/>
            <p:cNvSpPr txBox="1"/>
            <p:nvPr/>
          </p:nvSpPr>
          <p:spPr>
            <a:xfrm>
              <a:off x="0" y="-28575"/>
              <a:ext cx="5293499" cy="2923425"/>
            </a:xfrm>
            <a:prstGeom prst="rect">
              <a:avLst/>
            </a:prstGeom>
          </p:spPr>
          <p:txBody>
            <a:bodyPr lIns="43850" tIns="43850" rIns="43850" bIns="43850" rtlCol="0" anchor="ctr"/>
            <a:lstStyle/>
            <a:p>
              <a:pPr algn="ctr">
                <a:lnSpc>
                  <a:spcPts val="2296"/>
                </a:lnSpc>
                <a:spcBef>
                  <a:spcPct val="0"/>
                </a:spcBef>
              </a:pPr>
              <a:endParaRPr>
                <a:latin typeface="Times New Roman" panose="02020603050405020304" pitchFamily="18" charset="0"/>
                <a:cs typeface="Times New Roman" panose="02020603050405020304" pitchFamily="18" charset="0"/>
              </a:endParaRPr>
            </a:p>
          </p:txBody>
        </p:sp>
      </p:grpSp>
      <p:sp>
        <p:nvSpPr>
          <p:cNvPr id="9" name="Freeform 9"/>
          <p:cNvSpPr/>
          <p:nvPr/>
        </p:nvSpPr>
        <p:spPr>
          <a:xfrm>
            <a:off x="16305847" y="8621010"/>
            <a:ext cx="1526094" cy="1266333"/>
          </a:xfrm>
          <a:custGeom>
            <a:avLst/>
            <a:gdLst/>
            <a:ahLst/>
            <a:cxnLst/>
            <a:rect l="l" t="t" r="r" b="b"/>
            <a:pathLst>
              <a:path w="1526094" h="1266333">
                <a:moveTo>
                  <a:pt x="0" y="0"/>
                </a:moveTo>
                <a:lnTo>
                  <a:pt x="1526094" y="0"/>
                </a:lnTo>
                <a:lnTo>
                  <a:pt x="1526094" y="1266333"/>
                </a:lnTo>
                <a:lnTo>
                  <a:pt x="0" y="1266333"/>
                </a:lnTo>
                <a:lnTo>
                  <a:pt x="0" y="0"/>
                </a:lnTo>
                <a:close/>
              </a:path>
            </a:pathLst>
          </a:custGeom>
          <a:blipFill>
            <a:blip r:embed="rId3"/>
            <a:stretch>
              <a:fillRect l="-83932" t="-92948" r="-86060" b="-132427"/>
            </a:stretch>
          </a:blipFill>
        </p:spPr>
        <p:txBody>
          <a:bodyPr/>
          <a:lstStyle/>
          <a:p>
            <a:endParaRPr lang="en-GB">
              <a:latin typeface="Times New Roman" panose="02020603050405020304" pitchFamily="18" charset="0"/>
              <a:cs typeface="Times New Roman" panose="02020603050405020304" pitchFamily="18" charset="0"/>
            </a:endParaRPr>
          </a:p>
        </p:txBody>
      </p:sp>
      <p:sp>
        <p:nvSpPr>
          <p:cNvPr id="10" name="AutoShape 10"/>
          <p:cNvSpPr/>
          <p:nvPr/>
        </p:nvSpPr>
        <p:spPr>
          <a:xfrm>
            <a:off x="2209802" y="9254177"/>
            <a:ext cx="13744971" cy="0"/>
          </a:xfrm>
          <a:prstGeom prst="line">
            <a:avLst/>
          </a:prstGeom>
          <a:ln w="38100" cap="flat">
            <a:solidFill>
              <a:srgbClr val="214779"/>
            </a:solidFill>
            <a:prstDash val="solid"/>
            <a:headEnd type="none" w="sm" len="sm"/>
            <a:tailEnd type="none" w="sm" len="sm"/>
          </a:ln>
        </p:spPr>
        <p:txBody>
          <a:bodyPr/>
          <a:lstStyle/>
          <a:p>
            <a:endParaRPr lang="en-GB">
              <a:latin typeface="Times New Roman" panose="02020603050405020304" pitchFamily="18" charset="0"/>
              <a:cs typeface="Times New Roman" panose="02020603050405020304" pitchFamily="18" charset="0"/>
            </a:endParaRPr>
          </a:p>
        </p:txBody>
      </p:sp>
      <p:sp>
        <p:nvSpPr>
          <p:cNvPr id="11" name="TextBox 11"/>
          <p:cNvSpPr txBox="1"/>
          <p:nvPr/>
        </p:nvSpPr>
        <p:spPr>
          <a:xfrm>
            <a:off x="967401" y="717155"/>
            <a:ext cx="5237748" cy="615553"/>
          </a:xfrm>
          <a:prstGeom prst="rect">
            <a:avLst/>
          </a:prstGeom>
        </p:spPr>
        <p:txBody>
          <a:bodyPr wrap="square" lIns="0" tIns="0" rIns="0" bIns="0" rtlCol="0" anchor="t">
            <a:spAutoFit/>
          </a:bodyPr>
          <a:lstStyle/>
          <a:p>
            <a:pPr>
              <a:lnSpc>
                <a:spcPts val="4759"/>
              </a:lnSpc>
              <a:spcBef>
                <a:spcPct val="0"/>
              </a:spcBef>
            </a:pPr>
            <a:r>
              <a:rPr lang="en-US" sz="4400" dirty="0">
                <a:latin typeface="Times New Roman" panose="02020603050405020304" pitchFamily="18" charset="0"/>
                <a:ea typeface="Montserrat"/>
                <a:cs typeface="Times New Roman" panose="02020603050405020304" pitchFamily="18" charset="0"/>
                <a:sym typeface="Montserrat"/>
              </a:rPr>
              <a:t>Company Overview</a:t>
            </a:r>
          </a:p>
        </p:txBody>
      </p:sp>
      <p:sp>
        <p:nvSpPr>
          <p:cNvPr id="16" name="TextBox 15">
            <a:extLst>
              <a:ext uri="{FF2B5EF4-FFF2-40B4-BE49-F238E27FC236}">
                <a16:creationId xmlns:a16="http://schemas.microsoft.com/office/drawing/2014/main" id="{0A1BF83B-47E2-A756-26C8-546128E07A52}"/>
              </a:ext>
            </a:extLst>
          </p:cNvPr>
          <p:cNvSpPr txBox="1"/>
          <p:nvPr/>
        </p:nvSpPr>
        <p:spPr>
          <a:xfrm>
            <a:off x="1102171" y="1861264"/>
            <a:ext cx="686632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latin typeface="Times New Roman" panose="02020603050405020304" pitchFamily="18" charset="0"/>
                <a:ea typeface="Calibri"/>
                <a:cs typeface="Times New Roman" panose="02020603050405020304" pitchFamily="18" charset="0"/>
              </a:rPr>
              <a:t>          </a:t>
            </a:r>
          </a:p>
        </p:txBody>
      </p:sp>
      <p:sp>
        <p:nvSpPr>
          <p:cNvPr id="12" name="TextBox 11">
            <a:extLst>
              <a:ext uri="{FF2B5EF4-FFF2-40B4-BE49-F238E27FC236}">
                <a16:creationId xmlns:a16="http://schemas.microsoft.com/office/drawing/2014/main" id="{6B6641B2-B415-B044-8A1D-B985B24A1D24}"/>
              </a:ext>
            </a:extLst>
          </p:cNvPr>
          <p:cNvSpPr txBox="1"/>
          <p:nvPr/>
        </p:nvSpPr>
        <p:spPr>
          <a:xfrm>
            <a:off x="903830" y="1420059"/>
            <a:ext cx="10314745"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latin typeface="Times New Roman" panose="02020603050405020304" pitchFamily="18" charset="0"/>
                <a:ea typeface="Calibri"/>
                <a:cs typeface="Times New Roman" panose="02020603050405020304" pitchFamily="18" charset="0"/>
              </a:rPr>
              <a:t>Diversified</a:t>
            </a:r>
            <a:r>
              <a:rPr lang="en-US" sz="2400" dirty="0">
                <a:latin typeface="Times New Roman" panose="02020603050405020304" pitchFamily="18" charset="0"/>
                <a:ea typeface="+mn-lt"/>
                <a:cs typeface="Times New Roman" panose="02020603050405020304" pitchFamily="18" charset="0"/>
              </a:rPr>
              <a:t> European construction and civil engineering leader.</a:t>
            </a:r>
            <a:endParaRPr lang="en-US" sz="2400"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E825E1F7-055D-64EC-35B3-7D8D2B6F35DF}"/>
              </a:ext>
            </a:extLst>
          </p:cNvPr>
          <p:cNvSpPr txBox="1"/>
          <p:nvPr/>
        </p:nvSpPr>
        <p:spPr>
          <a:xfrm>
            <a:off x="764382" y="4918543"/>
            <a:ext cx="616906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latin typeface="Times New Roman" panose="02020603050405020304" pitchFamily="18" charset="0"/>
                <a:ea typeface="Calibri"/>
                <a:cs typeface="Times New Roman" panose="02020603050405020304" pitchFamily="18" charset="0"/>
              </a:rPr>
              <a:t>Historical financials:</a:t>
            </a:r>
            <a:endParaRPr lang="en-GB" dirty="0">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81451D8B-C5AF-4F1B-4FC7-B35B5CD9AF0C}"/>
              </a:ext>
            </a:extLst>
          </p:cNvPr>
          <p:cNvSpPr txBox="1"/>
          <p:nvPr/>
        </p:nvSpPr>
        <p:spPr>
          <a:xfrm>
            <a:off x="9356466" y="1941536"/>
            <a:ext cx="2731743" cy="338554"/>
          </a:xfrm>
          <a:prstGeom prst="rect">
            <a:avLst/>
          </a:prstGeom>
          <a:solidFill>
            <a:schemeClr val="bg1">
              <a:lumMod val="95000"/>
            </a:schemeClr>
          </a:solidFill>
          <a:ln>
            <a:solidFill>
              <a:schemeClr val="tx2">
                <a:lumMod val="75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1600">
                <a:latin typeface="Times New Roman" panose="02020603050405020304" pitchFamily="18" charset="0"/>
                <a:ea typeface="Calibri"/>
                <a:cs typeface="Times New Roman" panose="02020603050405020304" pitchFamily="18" charset="0"/>
              </a:rPr>
              <a:t>Past Projects</a:t>
            </a:r>
            <a:endParaRPr lang="en-US">
              <a:latin typeface="Times New Roman" panose="02020603050405020304" pitchFamily="18" charset="0"/>
              <a:cs typeface="Times New Roman" panose="02020603050405020304" pitchFamily="18" charset="0"/>
            </a:endParaRPr>
          </a:p>
        </p:txBody>
      </p:sp>
      <p:sp>
        <p:nvSpPr>
          <p:cNvPr id="19" name="TextBox 18">
            <a:extLst>
              <a:ext uri="{FF2B5EF4-FFF2-40B4-BE49-F238E27FC236}">
                <a16:creationId xmlns:a16="http://schemas.microsoft.com/office/drawing/2014/main" id="{112183DB-A298-CA69-C8C6-DE01218A3195}"/>
              </a:ext>
            </a:extLst>
          </p:cNvPr>
          <p:cNvSpPr txBox="1"/>
          <p:nvPr/>
        </p:nvSpPr>
        <p:spPr>
          <a:xfrm>
            <a:off x="13614128" y="1941535"/>
            <a:ext cx="3705878" cy="338554"/>
          </a:xfrm>
          <a:prstGeom prst="rect">
            <a:avLst/>
          </a:prstGeom>
          <a:solidFill>
            <a:schemeClr val="bg1">
              <a:lumMod val="95000"/>
            </a:schemeClr>
          </a:solidFill>
          <a:ln>
            <a:solidFill>
              <a:schemeClr val="tx2">
                <a:lumMod val="75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1600">
                <a:latin typeface="Times New Roman" panose="02020603050405020304" pitchFamily="18" charset="0"/>
                <a:ea typeface="Calibri"/>
                <a:cs typeface="Times New Roman" panose="02020603050405020304" pitchFamily="18" charset="0"/>
              </a:rPr>
              <a:t>Current Projects/ Backlogs</a:t>
            </a:r>
            <a:endParaRPr lang="en-GB" sz="1600">
              <a:latin typeface="Times New Roman" panose="02020603050405020304" pitchFamily="18" charset="0"/>
              <a:cs typeface="Times New Roman" panose="02020603050405020304" pitchFamily="18" charset="0"/>
            </a:endParaRPr>
          </a:p>
        </p:txBody>
      </p:sp>
      <p:sp>
        <p:nvSpPr>
          <p:cNvPr id="107" name="TextBox 106">
            <a:extLst>
              <a:ext uri="{FF2B5EF4-FFF2-40B4-BE49-F238E27FC236}">
                <a16:creationId xmlns:a16="http://schemas.microsoft.com/office/drawing/2014/main" id="{CD048DB1-6BA3-BDBE-DAB3-597C67986E9F}"/>
              </a:ext>
            </a:extLst>
          </p:cNvPr>
          <p:cNvSpPr txBox="1"/>
          <p:nvPr/>
        </p:nvSpPr>
        <p:spPr>
          <a:xfrm>
            <a:off x="8569428" y="2310973"/>
            <a:ext cx="4298883" cy="338554"/>
          </a:xfrm>
          <a:prstGeom prst="rect">
            <a:avLst/>
          </a:prstGeom>
          <a:solidFill>
            <a:schemeClr val="bg1">
              <a:lumMod val="65000"/>
            </a:schemeClr>
          </a:solid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a:latin typeface="Times New Roman" panose="02020603050405020304" pitchFamily="18" charset="0"/>
                <a:ea typeface="Calibri"/>
                <a:cs typeface="Times New Roman" panose="02020603050405020304" pitchFamily="18" charset="0"/>
              </a:rPr>
              <a:t>HSL‑Zuid high‑speed rail line</a:t>
            </a:r>
          </a:p>
        </p:txBody>
      </p:sp>
      <p:sp>
        <p:nvSpPr>
          <p:cNvPr id="108" name="TextBox 107">
            <a:extLst>
              <a:ext uri="{FF2B5EF4-FFF2-40B4-BE49-F238E27FC236}">
                <a16:creationId xmlns:a16="http://schemas.microsoft.com/office/drawing/2014/main" id="{10A8E45F-6424-F313-9F58-7D0BC82FAC3D}"/>
              </a:ext>
            </a:extLst>
          </p:cNvPr>
          <p:cNvSpPr txBox="1"/>
          <p:nvPr/>
        </p:nvSpPr>
        <p:spPr>
          <a:xfrm>
            <a:off x="13141428" y="2296505"/>
            <a:ext cx="4660590" cy="338554"/>
          </a:xfrm>
          <a:prstGeom prst="rect">
            <a:avLst/>
          </a:prstGeom>
          <a:solidFill>
            <a:schemeClr val="bg1">
              <a:lumMod val="65000"/>
            </a:schemeClr>
          </a:solid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a:latin typeface="Times New Roman" panose="02020603050405020304" pitchFamily="18" charset="0"/>
                <a:ea typeface="+mn-lt"/>
                <a:cs typeface="Times New Roman" panose="02020603050405020304" pitchFamily="18" charset="0"/>
              </a:rPr>
              <a:t>Energy &amp; water supply network</a:t>
            </a:r>
            <a:endParaRPr lang="en-US" sz="1600">
              <a:latin typeface="Times New Roman" panose="02020603050405020304" pitchFamily="18" charset="0"/>
              <a:cs typeface="Times New Roman" panose="02020603050405020304" pitchFamily="18" charset="0"/>
            </a:endParaRPr>
          </a:p>
        </p:txBody>
      </p:sp>
      <p:pic>
        <p:nvPicPr>
          <p:cNvPr id="109" name="Picture 108" descr="Did the Netherlands Ever Need 300 km/h Trains? | Pedestrian Observations">
            <a:extLst>
              <a:ext uri="{FF2B5EF4-FFF2-40B4-BE49-F238E27FC236}">
                <a16:creationId xmlns:a16="http://schemas.microsoft.com/office/drawing/2014/main" id="{EF981A06-02F4-DB38-8951-720FBE7AA634}"/>
              </a:ext>
            </a:extLst>
          </p:cNvPr>
          <p:cNvPicPr>
            <a:picLocks noChangeAspect="1"/>
          </p:cNvPicPr>
          <p:nvPr/>
        </p:nvPicPr>
        <p:blipFill>
          <a:blip r:embed="rId4"/>
          <a:stretch>
            <a:fillRect/>
          </a:stretch>
        </p:blipFill>
        <p:spPr>
          <a:xfrm>
            <a:off x="8568159" y="2790845"/>
            <a:ext cx="1701479" cy="1739295"/>
          </a:xfrm>
          <a:prstGeom prst="rect">
            <a:avLst/>
          </a:prstGeom>
        </p:spPr>
      </p:pic>
      <p:sp>
        <p:nvSpPr>
          <p:cNvPr id="111" name="TextBox 110">
            <a:extLst>
              <a:ext uri="{FF2B5EF4-FFF2-40B4-BE49-F238E27FC236}">
                <a16:creationId xmlns:a16="http://schemas.microsoft.com/office/drawing/2014/main" id="{16C298D8-919D-41B7-EE84-A9AB2210F5F2}"/>
              </a:ext>
            </a:extLst>
          </p:cNvPr>
          <p:cNvSpPr txBox="1"/>
          <p:nvPr/>
        </p:nvSpPr>
        <p:spPr>
          <a:xfrm>
            <a:off x="10277487" y="2679817"/>
            <a:ext cx="2574970"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GB" sz="1400" b="1" dirty="0">
                <a:latin typeface="Times New Roman" panose="02020603050405020304" pitchFamily="18" charset="0"/>
                <a:ea typeface="+mn-lt"/>
                <a:cs typeface="Times New Roman" panose="02020603050405020304" pitchFamily="18" charset="0"/>
              </a:rPr>
              <a:t>€6.9 billion</a:t>
            </a:r>
            <a:r>
              <a:rPr lang="en-GB" sz="1400" dirty="0">
                <a:latin typeface="Times New Roman" panose="02020603050405020304" pitchFamily="18" charset="0"/>
                <a:ea typeface="+mn-lt"/>
                <a:cs typeface="Times New Roman" panose="02020603050405020304" pitchFamily="18" charset="0"/>
              </a:rPr>
              <a:t> for the full PPP project BAM’s share via consortium (≈ 45 %)</a:t>
            </a:r>
          </a:p>
          <a:p>
            <a:pPr marL="285750" indent="-285750">
              <a:buFont typeface="Arial"/>
              <a:buChar char="•"/>
            </a:pPr>
            <a:r>
              <a:rPr lang="en-GB" sz="1400" dirty="0">
                <a:latin typeface="Times New Roman" panose="02020603050405020304" pitchFamily="18" charset="0"/>
                <a:ea typeface="+mn-lt"/>
                <a:cs typeface="Times New Roman" panose="02020603050405020304" pitchFamily="18" charset="0"/>
              </a:rPr>
              <a:t>Construction 2001‑2006 then 25‑year maintenance/ availability concession</a:t>
            </a:r>
            <a:endParaRPr lang="en-GB" sz="1400" dirty="0">
              <a:latin typeface="Times New Roman" panose="02020603050405020304" pitchFamily="18" charset="0"/>
              <a:ea typeface="Calibri"/>
              <a:cs typeface="Times New Roman" panose="02020603050405020304" pitchFamily="18" charset="0"/>
            </a:endParaRPr>
          </a:p>
        </p:txBody>
      </p:sp>
      <p:sp>
        <p:nvSpPr>
          <p:cNvPr id="112" name="TextBox 111">
            <a:extLst>
              <a:ext uri="{FF2B5EF4-FFF2-40B4-BE49-F238E27FC236}">
                <a16:creationId xmlns:a16="http://schemas.microsoft.com/office/drawing/2014/main" id="{D6D397A2-CFE9-86EB-D862-6F74F6099A57}"/>
              </a:ext>
            </a:extLst>
          </p:cNvPr>
          <p:cNvSpPr txBox="1"/>
          <p:nvPr/>
        </p:nvSpPr>
        <p:spPr>
          <a:xfrm>
            <a:off x="8569428" y="4539100"/>
            <a:ext cx="4298883" cy="338554"/>
          </a:xfrm>
          <a:prstGeom prst="rect">
            <a:avLst/>
          </a:prstGeom>
          <a:solidFill>
            <a:schemeClr val="bg1">
              <a:lumMod val="65000"/>
            </a:schemeClr>
          </a:solid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a:latin typeface="Times New Roman" panose="02020603050405020304" pitchFamily="18" charset="0"/>
                <a:ea typeface="+mn-lt"/>
                <a:cs typeface="Times New Roman" panose="02020603050405020304" pitchFamily="18" charset="0"/>
              </a:rPr>
              <a:t>Wildparkstadio renewal project</a:t>
            </a:r>
            <a:endParaRPr lang="en-GB" sz="1600">
              <a:latin typeface="Times New Roman" panose="02020603050405020304" pitchFamily="18" charset="0"/>
              <a:ea typeface="Calibri"/>
              <a:cs typeface="Times New Roman" panose="02020603050405020304" pitchFamily="18" charset="0"/>
            </a:endParaRPr>
          </a:p>
        </p:txBody>
      </p:sp>
      <p:pic>
        <p:nvPicPr>
          <p:cNvPr id="115" name="Picture 114" descr="A New Stadium for Karlsruhe">
            <a:extLst>
              <a:ext uri="{FF2B5EF4-FFF2-40B4-BE49-F238E27FC236}">
                <a16:creationId xmlns:a16="http://schemas.microsoft.com/office/drawing/2014/main" id="{B31142B0-B6DF-DC04-35A6-29FB06DC6488}"/>
              </a:ext>
            </a:extLst>
          </p:cNvPr>
          <p:cNvPicPr>
            <a:picLocks noChangeAspect="1"/>
          </p:cNvPicPr>
          <p:nvPr/>
        </p:nvPicPr>
        <p:blipFill>
          <a:blip r:embed="rId5"/>
          <a:stretch>
            <a:fillRect/>
          </a:stretch>
        </p:blipFill>
        <p:spPr>
          <a:xfrm>
            <a:off x="8568158" y="5024135"/>
            <a:ext cx="1701481" cy="1656627"/>
          </a:xfrm>
          <a:prstGeom prst="rect">
            <a:avLst/>
          </a:prstGeom>
        </p:spPr>
      </p:pic>
      <p:sp>
        <p:nvSpPr>
          <p:cNvPr id="116" name="TextBox 115">
            <a:extLst>
              <a:ext uri="{FF2B5EF4-FFF2-40B4-BE49-F238E27FC236}">
                <a16:creationId xmlns:a16="http://schemas.microsoft.com/office/drawing/2014/main" id="{16F60D0E-0135-61C4-3C16-0C1F6B3B6FD1}"/>
              </a:ext>
            </a:extLst>
          </p:cNvPr>
          <p:cNvSpPr txBox="1"/>
          <p:nvPr/>
        </p:nvSpPr>
        <p:spPr>
          <a:xfrm>
            <a:off x="10273721" y="5027258"/>
            <a:ext cx="2868102" cy="16004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GB" sz="1400" dirty="0">
                <a:latin typeface="Times New Roman" panose="02020603050405020304" pitchFamily="18" charset="0"/>
                <a:ea typeface="+mn-lt"/>
                <a:cs typeface="Times New Roman" panose="02020603050405020304" pitchFamily="18" charset="0"/>
              </a:rPr>
              <a:t>€100 million as of BAM press release</a:t>
            </a:r>
          </a:p>
          <a:p>
            <a:pPr marL="285750" indent="-285750">
              <a:buFont typeface="Arial"/>
              <a:buChar char="•"/>
            </a:pPr>
            <a:r>
              <a:rPr lang="en-GB" sz="1400" dirty="0">
                <a:latin typeface="Times New Roman" panose="02020603050405020304" pitchFamily="18" charset="0"/>
                <a:ea typeface="+mn-lt"/>
                <a:cs typeface="Times New Roman" panose="02020603050405020304" pitchFamily="18" charset="0"/>
              </a:rPr>
              <a:t>4.5 to 5 years between 2018-2023</a:t>
            </a:r>
          </a:p>
          <a:p>
            <a:pPr marL="285750" indent="-285750">
              <a:buFont typeface="Arial"/>
              <a:buChar char="•"/>
            </a:pPr>
            <a:r>
              <a:rPr lang="en-GB" sz="1400" dirty="0">
                <a:latin typeface="Times New Roman" panose="02020603050405020304" pitchFamily="18" charset="0"/>
                <a:ea typeface="Calibri"/>
                <a:cs typeface="Times New Roman" panose="02020603050405020304" pitchFamily="18" charset="0"/>
              </a:rPr>
              <a:t>Converting backlog into revenue, in line with sustainability goals</a:t>
            </a:r>
          </a:p>
        </p:txBody>
      </p:sp>
      <p:sp>
        <p:nvSpPr>
          <p:cNvPr id="117" name="TextBox 116">
            <a:extLst>
              <a:ext uri="{FF2B5EF4-FFF2-40B4-BE49-F238E27FC236}">
                <a16:creationId xmlns:a16="http://schemas.microsoft.com/office/drawing/2014/main" id="{EB6400DC-E26A-C923-75A3-26BF5B5072BF}"/>
              </a:ext>
            </a:extLst>
          </p:cNvPr>
          <p:cNvSpPr txBox="1"/>
          <p:nvPr/>
        </p:nvSpPr>
        <p:spPr>
          <a:xfrm>
            <a:off x="8554959" y="6694884"/>
            <a:ext cx="4298883" cy="338554"/>
          </a:xfrm>
          <a:prstGeom prst="rect">
            <a:avLst/>
          </a:prstGeom>
          <a:solidFill>
            <a:schemeClr val="bg1">
              <a:lumMod val="65000"/>
            </a:schemeClr>
          </a:solid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a:latin typeface="Times New Roman" panose="02020603050405020304" pitchFamily="18" charset="0"/>
                <a:ea typeface="+mn-lt"/>
                <a:cs typeface="Times New Roman" panose="02020603050405020304" pitchFamily="18" charset="0"/>
              </a:rPr>
              <a:t>Afsluitdijk Reinforce Project </a:t>
            </a:r>
          </a:p>
        </p:txBody>
      </p:sp>
      <p:pic>
        <p:nvPicPr>
          <p:cNvPr id="118" name="Picture 117" descr="Reinforcing the Afsluitdijk to prevent ...">
            <a:extLst>
              <a:ext uri="{FF2B5EF4-FFF2-40B4-BE49-F238E27FC236}">
                <a16:creationId xmlns:a16="http://schemas.microsoft.com/office/drawing/2014/main" id="{27DFF541-9BB1-F8CC-724E-19E60DA080F1}"/>
              </a:ext>
            </a:extLst>
          </p:cNvPr>
          <p:cNvPicPr>
            <a:picLocks noChangeAspect="1"/>
          </p:cNvPicPr>
          <p:nvPr/>
        </p:nvPicPr>
        <p:blipFill>
          <a:blip r:embed="rId6"/>
          <a:stretch>
            <a:fillRect/>
          </a:stretch>
        </p:blipFill>
        <p:spPr>
          <a:xfrm>
            <a:off x="8554415" y="7179198"/>
            <a:ext cx="1714501" cy="1990845"/>
          </a:xfrm>
          <a:prstGeom prst="rect">
            <a:avLst/>
          </a:prstGeom>
        </p:spPr>
      </p:pic>
      <p:sp>
        <p:nvSpPr>
          <p:cNvPr id="120" name="TextBox 119">
            <a:extLst>
              <a:ext uri="{FF2B5EF4-FFF2-40B4-BE49-F238E27FC236}">
                <a16:creationId xmlns:a16="http://schemas.microsoft.com/office/drawing/2014/main" id="{4570423A-C546-8065-47A8-3D3DAA100889}"/>
              </a:ext>
            </a:extLst>
          </p:cNvPr>
          <p:cNvSpPr txBox="1"/>
          <p:nvPr/>
        </p:nvSpPr>
        <p:spPr>
          <a:xfrm>
            <a:off x="10277289" y="7175907"/>
            <a:ext cx="2580123"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GB" sz="1400" dirty="0">
                <a:latin typeface="Times New Roman" panose="02020603050405020304" pitchFamily="18" charset="0"/>
                <a:ea typeface="+mn-lt"/>
                <a:cs typeface="Times New Roman" panose="02020603050405020304" pitchFamily="18" charset="0"/>
              </a:rPr>
              <a:t>Contract value €550 million</a:t>
            </a:r>
          </a:p>
          <a:p>
            <a:pPr marL="285750" indent="-285750">
              <a:buFont typeface="Arial"/>
              <a:buChar char="•"/>
            </a:pPr>
            <a:r>
              <a:rPr lang="en-GB" sz="1400" dirty="0">
                <a:latin typeface="Times New Roman" panose="02020603050405020304" pitchFamily="18" charset="0"/>
                <a:ea typeface="+mn-lt"/>
                <a:cs typeface="Times New Roman" panose="02020603050405020304" pitchFamily="18" charset="0"/>
              </a:rPr>
              <a:t>Duration of the full contract (including maintenance) spans 25 years</a:t>
            </a:r>
          </a:p>
          <a:p>
            <a:pPr marL="285750" indent="-285750">
              <a:buFont typeface="Arial"/>
              <a:buChar char="•"/>
            </a:pPr>
            <a:r>
              <a:rPr lang="en-GB" sz="1400" dirty="0">
                <a:latin typeface="Times New Roman" panose="02020603050405020304" pitchFamily="18" charset="0"/>
                <a:ea typeface="Calibri"/>
                <a:cs typeface="Times New Roman" panose="02020603050405020304" pitchFamily="18" charset="0"/>
              </a:rPr>
              <a:t>Represents longevity in maintenance contracts</a:t>
            </a:r>
          </a:p>
        </p:txBody>
      </p:sp>
      <p:sp>
        <p:nvSpPr>
          <p:cNvPr id="123" name="TextBox 122">
            <a:extLst>
              <a:ext uri="{FF2B5EF4-FFF2-40B4-BE49-F238E27FC236}">
                <a16:creationId xmlns:a16="http://schemas.microsoft.com/office/drawing/2014/main" id="{974458E6-ADA1-B41D-F5F8-D91453F213C5}"/>
              </a:ext>
            </a:extLst>
          </p:cNvPr>
          <p:cNvSpPr txBox="1"/>
          <p:nvPr/>
        </p:nvSpPr>
        <p:spPr>
          <a:xfrm>
            <a:off x="13141428" y="4539099"/>
            <a:ext cx="4660590" cy="338554"/>
          </a:xfrm>
          <a:prstGeom prst="rect">
            <a:avLst/>
          </a:prstGeom>
          <a:solidFill>
            <a:schemeClr val="bg1">
              <a:lumMod val="65000"/>
            </a:schemeClr>
          </a:solid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a:latin typeface="Times New Roman" panose="02020603050405020304" pitchFamily="18" charset="0"/>
                <a:ea typeface="+mn-lt"/>
                <a:cs typeface="Times New Roman" panose="02020603050405020304" pitchFamily="18" charset="0"/>
              </a:rPr>
              <a:t>Eastern Green Link 2</a:t>
            </a:r>
          </a:p>
        </p:txBody>
      </p:sp>
      <p:sp>
        <p:nvSpPr>
          <p:cNvPr id="124" name="TextBox 123">
            <a:extLst>
              <a:ext uri="{FF2B5EF4-FFF2-40B4-BE49-F238E27FC236}">
                <a16:creationId xmlns:a16="http://schemas.microsoft.com/office/drawing/2014/main" id="{461C8BB7-0D43-C74F-AD9A-C1745112734F}"/>
              </a:ext>
            </a:extLst>
          </p:cNvPr>
          <p:cNvSpPr txBox="1"/>
          <p:nvPr/>
        </p:nvSpPr>
        <p:spPr>
          <a:xfrm>
            <a:off x="13170365" y="6694885"/>
            <a:ext cx="4660590" cy="338554"/>
          </a:xfrm>
          <a:prstGeom prst="rect">
            <a:avLst/>
          </a:prstGeom>
          <a:solidFill>
            <a:schemeClr val="bg1">
              <a:lumMod val="65000"/>
            </a:schemeClr>
          </a:solid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a:latin typeface="Times New Roman" panose="02020603050405020304" pitchFamily="18" charset="0"/>
                <a:ea typeface="+mn-lt"/>
                <a:cs typeface="Times New Roman" panose="02020603050405020304" pitchFamily="18" charset="0"/>
              </a:rPr>
              <a:t>Orkney‑Caithness Subsea Link </a:t>
            </a:r>
            <a:endParaRPr lang="en-US" sz="1600">
              <a:latin typeface="Times New Roman" panose="02020603050405020304" pitchFamily="18" charset="0"/>
              <a:cs typeface="Times New Roman" panose="02020603050405020304" pitchFamily="18" charset="0"/>
            </a:endParaRPr>
          </a:p>
        </p:txBody>
      </p:sp>
      <p:sp>
        <p:nvSpPr>
          <p:cNvPr id="125" name="TextBox 124">
            <a:extLst>
              <a:ext uri="{FF2B5EF4-FFF2-40B4-BE49-F238E27FC236}">
                <a16:creationId xmlns:a16="http://schemas.microsoft.com/office/drawing/2014/main" id="{8A2A3A89-7F78-EF99-5AD3-8E4D098BA7FB}"/>
              </a:ext>
            </a:extLst>
          </p:cNvPr>
          <p:cNvSpPr txBox="1"/>
          <p:nvPr/>
        </p:nvSpPr>
        <p:spPr>
          <a:xfrm>
            <a:off x="15128548" y="2744825"/>
            <a:ext cx="2713905" cy="1600438"/>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GB" sz="1400" dirty="0">
                <a:latin typeface="Times New Roman" panose="02020603050405020304" pitchFamily="18" charset="0"/>
                <a:ea typeface="+mn-lt"/>
                <a:cs typeface="Times New Roman" panose="02020603050405020304" pitchFamily="18" charset="0"/>
              </a:rPr>
              <a:t>Contract value approx. </a:t>
            </a:r>
            <a:r>
              <a:rPr lang="en-GB" sz="1400" b="1" dirty="0">
                <a:latin typeface="Times New Roman" panose="02020603050405020304" pitchFamily="18" charset="0"/>
                <a:ea typeface="+mn-lt"/>
                <a:cs typeface="Times New Roman" panose="02020603050405020304" pitchFamily="18" charset="0"/>
              </a:rPr>
              <a:t>€600 million</a:t>
            </a:r>
          </a:p>
          <a:p>
            <a:pPr marL="285750" indent="-285750">
              <a:buFont typeface="Arial"/>
              <a:buChar char="•"/>
            </a:pPr>
            <a:r>
              <a:rPr lang="en-GB" sz="1400" dirty="0">
                <a:latin typeface="Times New Roman" panose="02020603050405020304" pitchFamily="18" charset="0"/>
                <a:ea typeface="+mn-lt"/>
                <a:cs typeface="Times New Roman" panose="02020603050405020304" pitchFamily="18" charset="0"/>
              </a:rPr>
              <a:t>Future‑proof energy &amp; water supply network</a:t>
            </a:r>
          </a:p>
          <a:p>
            <a:pPr marL="285750" indent="-285750">
              <a:buFont typeface="Arial"/>
              <a:buChar char="•"/>
            </a:pPr>
            <a:r>
              <a:rPr lang="en-GB" sz="1400" dirty="0">
                <a:latin typeface="Times New Roman" panose="02020603050405020304" pitchFamily="18" charset="0"/>
                <a:ea typeface="+mn-lt"/>
                <a:cs typeface="Times New Roman" panose="02020603050405020304" pitchFamily="18" charset="0"/>
              </a:rPr>
              <a:t>12-year cooperation agreement; works start end-2025</a:t>
            </a:r>
            <a:endParaRPr lang="en-GB" sz="1400" dirty="0">
              <a:latin typeface="Times New Roman" panose="02020603050405020304" pitchFamily="18" charset="0"/>
              <a:ea typeface="Calibri"/>
              <a:cs typeface="Times New Roman" panose="02020603050405020304" pitchFamily="18" charset="0"/>
            </a:endParaRPr>
          </a:p>
        </p:txBody>
      </p:sp>
      <p:pic>
        <p:nvPicPr>
          <p:cNvPr id="126" name="Picture 125" descr="province of Limburg in the Netherlands ...">
            <a:extLst>
              <a:ext uri="{FF2B5EF4-FFF2-40B4-BE49-F238E27FC236}">
                <a16:creationId xmlns:a16="http://schemas.microsoft.com/office/drawing/2014/main" id="{0C266EA9-EB4C-C05D-D47D-CFC0E6362B90}"/>
              </a:ext>
            </a:extLst>
          </p:cNvPr>
          <p:cNvPicPr>
            <a:picLocks noChangeAspect="1"/>
          </p:cNvPicPr>
          <p:nvPr/>
        </p:nvPicPr>
        <p:blipFill>
          <a:blip r:embed="rId7"/>
          <a:stretch>
            <a:fillRect/>
          </a:stretch>
        </p:blipFill>
        <p:spPr>
          <a:xfrm>
            <a:off x="13283938" y="2719086"/>
            <a:ext cx="1703288" cy="1767068"/>
          </a:xfrm>
          <a:prstGeom prst="rect">
            <a:avLst/>
          </a:prstGeom>
        </p:spPr>
      </p:pic>
      <p:pic>
        <p:nvPicPr>
          <p:cNvPr id="127" name="Picture 126" descr="electricity 'superhighway ...">
            <a:extLst>
              <a:ext uri="{FF2B5EF4-FFF2-40B4-BE49-F238E27FC236}">
                <a16:creationId xmlns:a16="http://schemas.microsoft.com/office/drawing/2014/main" id="{A52AE4A6-A77D-1BF9-9E0C-A5A75A8EC8C5}"/>
              </a:ext>
            </a:extLst>
          </p:cNvPr>
          <p:cNvPicPr>
            <a:picLocks noChangeAspect="1"/>
          </p:cNvPicPr>
          <p:nvPr/>
        </p:nvPicPr>
        <p:blipFill>
          <a:blip r:embed="rId8"/>
          <a:stretch>
            <a:fillRect/>
          </a:stretch>
        </p:blipFill>
        <p:spPr>
          <a:xfrm>
            <a:off x="13175306" y="5023051"/>
            <a:ext cx="1833744" cy="1600923"/>
          </a:xfrm>
          <a:prstGeom prst="rect">
            <a:avLst/>
          </a:prstGeom>
        </p:spPr>
      </p:pic>
      <p:sp>
        <p:nvSpPr>
          <p:cNvPr id="128" name="TextBox 127">
            <a:extLst>
              <a:ext uri="{FF2B5EF4-FFF2-40B4-BE49-F238E27FC236}">
                <a16:creationId xmlns:a16="http://schemas.microsoft.com/office/drawing/2014/main" id="{1BC8BCF6-421F-4B67-A1B1-4C7E03D81403}"/>
              </a:ext>
            </a:extLst>
          </p:cNvPr>
          <p:cNvSpPr txBox="1"/>
          <p:nvPr/>
        </p:nvSpPr>
        <p:spPr>
          <a:xfrm>
            <a:off x="15093863" y="5026068"/>
            <a:ext cx="2614808"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GB" sz="1400" dirty="0">
                <a:latin typeface="Times New Roman" panose="02020603050405020304" pitchFamily="18" charset="0"/>
                <a:ea typeface="+mn-lt"/>
                <a:cs typeface="Times New Roman" panose="02020603050405020304" pitchFamily="18" charset="0"/>
              </a:rPr>
              <a:t>Up to </a:t>
            </a:r>
            <a:r>
              <a:rPr lang="en-GB" sz="1400" b="1" dirty="0">
                <a:latin typeface="Times New Roman" panose="02020603050405020304" pitchFamily="18" charset="0"/>
                <a:ea typeface="+mn-lt"/>
                <a:cs typeface="Times New Roman" panose="02020603050405020304" pitchFamily="18" charset="0"/>
              </a:rPr>
              <a:t>£700 million</a:t>
            </a:r>
            <a:r>
              <a:rPr lang="en-GB" sz="1400" dirty="0">
                <a:latin typeface="Times New Roman" panose="02020603050405020304" pitchFamily="18" charset="0"/>
                <a:ea typeface="+mn-lt"/>
                <a:cs typeface="Times New Roman" panose="02020603050405020304" pitchFamily="18" charset="0"/>
              </a:rPr>
              <a:t> for BAM</a:t>
            </a:r>
          </a:p>
          <a:p>
            <a:pPr marL="285750" indent="-285750">
              <a:buFont typeface="Arial"/>
              <a:buChar char="•"/>
            </a:pPr>
            <a:r>
              <a:rPr lang="en-GB" sz="1400" dirty="0">
                <a:latin typeface="Times New Roman" panose="02020603050405020304" pitchFamily="18" charset="0"/>
                <a:ea typeface="+mn-lt"/>
                <a:cs typeface="Times New Roman" panose="02020603050405020304" pitchFamily="18" charset="0"/>
              </a:rPr>
              <a:t>Target completion ~</a:t>
            </a:r>
            <a:r>
              <a:rPr lang="en-GB" sz="1400" b="1" dirty="0">
                <a:latin typeface="Times New Roman" panose="02020603050405020304" pitchFamily="18" charset="0"/>
                <a:ea typeface="+mn-lt"/>
                <a:cs typeface="Times New Roman" panose="02020603050405020304" pitchFamily="18" charset="0"/>
              </a:rPr>
              <a:t>2029</a:t>
            </a:r>
          </a:p>
          <a:p>
            <a:pPr marL="285750" indent="-285750">
              <a:buFont typeface="Arial"/>
              <a:buChar char="•"/>
            </a:pPr>
            <a:r>
              <a:rPr lang="en-GB" sz="1400" dirty="0">
                <a:latin typeface="Times New Roman" panose="02020603050405020304" pitchFamily="18" charset="0"/>
                <a:ea typeface="+mn-lt"/>
                <a:cs typeface="Times New Roman" panose="02020603050405020304" pitchFamily="18" charset="0"/>
              </a:rPr>
              <a:t>UK’s single largest electricity transmission project ever</a:t>
            </a:r>
            <a:endParaRPr lang="en-GB" sz="1400" b="1" dirty="0">
              <a:latin typeface="Times New Roman" panose="02020603050405020304" pitchFamily="18" charset="0"/>
              <a:ea typeface="Calibri"/>
              <a:cs typeface="Times New Roman" panose="02020603050405020304" pitchFamily="18" charset="0"/>
            </a:endParaRPr>
          </a:p>
        </p:txBody>
      </p:sp>
      <p:pic>
        <p:nvPicPr>
          <p:cNvPr id="129" name="Picture 128" descr="SSEN subsea link near Dounreay">
            <a:extLst>
              <a:ext uri="{FF2B5EF4-FFF2-40B4-BE49-F238E27FC236}">
                <a16:creationId xmlns:a16="http://schemas.microsoft.com/office/drawing/2014/main" id="{BFA555F8-ED9E-8ED9-3466-B375081FCA49}"/>
              </a:ext>
            </a:extLst>
          </p:cNvPr>
          <p:cNvPicPr>
            <a:picLocks noChangeAspect="1"/>
          </p:cNvPicPr>
          <p:nvPr/>
        </p:nvPicPr>
        <p:blipFill>
          <a:blip r:embed="rId9"/>
          <a:stretch>
            <a:fillRect/>
          </a:stretch>
        </p:blipFill>
        <p:spPr>
          <a:xfrm>
            <a:off x="13144198" y="7180102"/>
            <a:ext cx="1939364" cy="1989036"/>
          </a:xfrm>
          <a:prstGeom prst="rect">
            <a:avLst/>
          </a:prstGeom>
        </p:spPr>
      </p:pic>
      <p:sp>
        <p:nvSpPr>
          <p:cNvPr id="130" name="TextBox 129">
            <a:extLst>
              <a:ext uri="{FF2B5EF4-FFF2-40B4-BE49-F238E27FC236}">
                <a16:creationId xmlns:a16="http://schemas.microsoft.com/office/drawing/2014/main" id="{94654057-4DF1-9AEB-95A3-F74A0B572BE1}"/>
              </a:ext>
            </a:extLst>
          </p:cNvPr>
          <p:cNvSpPr txBox="1"/>
          <p:nvPr/>
        </p:nvSpPr>
        <p:spPr>
          <a:xfrm>
            <a:off x="15172150" y="7265096"/>
            <a:ext cx="2379945"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GB" sz="1400" dirty="0">
                <a:latin typeface="Times New Roman" panose="02020603050405020304" pitchFamily="18" charset="0"/>
                <a:ea typeface="+mn-lt"/>
                <a:cs typeface="Times New Roman" panose="02020603050405020304" pitchFamily="18" charset="0"/>
              </a:rPr>
              <a:t>Estimated </a:t>
            </a:r>
            <a:r>
              <a:rPr lang="en-GB" sz="1400" b="1" dirty="0">
                <a:latin typeface="Times New Roman" panose="02020603050405020304" pitchFamily="18" charset="0"/>
                <a:ea typeface="+mn-lt"/>
                <a:cs typeface="Times New Roman" panose="02020603050405020304" pitchFamily="18" charset="0"/>
              </a:rPr>
              <a:t>£900 million</a:t>
            </a:r>
            <a:r>
              <a:rPr lang="en-GB" sz="1400" dirty="0">
                <a:latin typeface="Times New Roman" panose="02020603050405020304" pitchFamily="18" charset="0"/>
                <a:ea typeface="+mn-lt"/>
                <a:cs typeface="Times New Roman" panose="02020603050405020304" pitchFamily="18" charset="0"/>
              </a:rPr>
              <a:t> investment </a:t>
            </a:r>
          </a:p>
          <a:p>
            <a:pPr marL="285750" indent="-285750">
              <a:buFont typeface="Arial"/>
              <a:buChar char="•"/>
            </a:pPr>
            <a:r>
              <a:rPr lang="en-GB" sz="1400" dirty="0">
                <a:latin typeface="Times New Roman" panose="02020603050405020304" pitchFamily="18" charset="0"/>
                <a:ea typeface="+mn-lt"/>
                <a:cs typeface="Times New Roman" panose="02020603050405020304" pitchFamily="18" charset="0"/>
              </a:rPr>
              <a:t>Full energisation expected by </a:t>
            </a:r>
            <a:r>
              <a:rPr lang="en-GB" sz="1400" b="1" dirty="0">
                <a:latin typeface="Times New Roman" panose="02020603050405020304" pitchFamily="18" charset="0"/>
                <a:ea typeface="+mn-lt"/>
                <a:cs typeface="Times New Roman" panose="02020603050405020304" pitchFamily="18" charset="0"/>
              </a:rPr>
              <a:t>2028</a:t>
            </a:r>
          </a:p>
          <a:p>
            <a:pPr marL="285750" indent="-285750">
              <a:buFont typeface="Arial"/>
              <a:buChar char="•"/>
            </a:pPr>
            <a:r>
              <a:rPr lang="en-GB" sz="1400" dirty="0">
                <a:latin typeface="Times New Roman" panose="02020603050405020304" pitchFamily="18" charset="0"/>
                <a:ea typeface="+mn-lt"/>
                <a:cs typeface="Times New Roman" panose="02020603050405020304" pitchFamily="18" charset="0"/>
              </a:rPr>
              <a:t>14 km underground cable + 53 km subsea cable</a:t>
            </a:r>
            <a:endParaRPr lang="en-GB" sz="1400" b="1" dirty="0">
              <a:latin typeface="Times New Roman" panose="02020603050405020304" pitchFamily="18" charset="0"/>
              <a:ea typeface="Calibri"/>
              <a:cs typeface="Times New Roman" panose="02020603050405020304" pitchFamily="18" charset="0"/>
            </a:endParaRPr>
          </a:p>
        </p:txBody>
      </p:sp>
      <p:sp>
        <p:nvSpPr>
          <p:cNvPr id="131" name="TextBox 130">
            <a:extLst>
              <a:ext uri="{FF2B5EF4-FFF2-40B4-BE49-F238E27FC236}">
                <a16:creationId xmlns:a16="http://schemas.microsoft.com/office/drawing/2014/main" id="{2392AB2D-14CF-850B-AA40-25878033E67F}"/>
              </a:ext>
            </a:extLst>
          </p:cNvPr>
          <p:cNvSpPr txBox="1"/>
          <p:nvPr/>
        </p:nvSpPr>
        <p:spPr>
          <a:xfrm>
            <a:off x="852504" y="7621985"/>
            <a:ext cx="3881085"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dirty="0">
                <a:latin typeface="Times New Roman" panose="02020603050405020304" pitchFamily="18" charset="0"/>
                <a:ea typeface="Calibri"/>
                <a:cs typeface="Times New Roman" panose="02020603050405020304" pitchFamily="18" charset="0"/>
              </a:rPr>
              <a:t>Revenues are on an upward trend, recent 2025 H1 reports show accurate forecasting for 5% growth YoY. EBITDA margins are 1.2% above industry average (4%). Highlights relative-outperformance.</a:t>
            </a:r>
          </a:p>
        </p:txBody>
      </p:sp>
      <p:sp>
        <p:nvSpPr>
          <p:cNvPr id="132" name="TextBox 131">
            <a:extLst>
              <a:ext uri="{FF2B5EF4-FFF2-40B4-BE49-F238E27FC236}">
                <a16:creationId xmlns:a16="http://schemas.microsoft.com/office/drawing/2014/main" id="{86632098-D06E-6496-6C97-0A3458BE8996}"/>
              </a:ext>
            </a:extLst>
          </p:cNvPr>
          <p:cNvSpPr txBox="1"/>
          <p:nvPr/>
        </p:nvSpPr>
        <p:spPr>
          <a:xfrm>
            <a:off x="4761364" y="7775234"/>
            <a:ext cx="3268857"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dirty="0">
                <a:latin typeface="Times New Roman" panose="02020603050405020304" pitchFamily="18" charset="0"/>
                <a:ea typeface="Calibri"/>
                <a:cs typeface="Times New Roman" panose="02020603050405020304" pitchFamily="18" charset="0"/>
              </a:rPr>
              <a:t>Revenues are prioritised in construction and civil engineering, with relative growth in UK and Ireland over the last 5 years.</a:t>
            </a:r>
            <a:endParaRPr lang="en-GB" sz="1600" dirty="0">
              <a:latin typeface="Times New Roman" panose="02020603050405020304" pitchFamily="18" charset="0"/>
              <a:cs typeface="Times New Roman" panose="02020603050405020304" pitchFamily="18" charset="0"/>
            </a:endParaRPr>
          </a:p>
        </p:txBody>
      </p:sp>
      <p:sp>
        <p:nvSpPr>
          <p:cNvPr id="134" name="AutoShape 10">
            <a:extLst>
              <a:ext uri="{FF2B5EF4-FFF2-40B4-BE49-F238E27FC236}">
                <a16:creationId xmlns:a16="http://schemas.microsoft.com/office/drawing/2014/main" id="{ACE1058D-75C6-9BE7-28CB-23E601574321}"/>
              </a:ext>
            </a:extLst>
          </p:cNvPr>
          <p:cNvSpPr/>
          <p:nvPr/>
        </p:nvSpPr>
        <p:spPr>
          <a:xfrm>
            <a:off x="973240" y="1362172"/>
            <a:ext cx="13744971" cy="0"/>
          </a:xfrm>
          <a:prstGeom prst="line">
            <a:avLst/>
          </a:prstGeom>
          <a:ln w="38100" cap="flat">
            <a:solidFill>
              <a:srgbClr val="214779"/>
            </a:solidFill>
            <a:prstDash val="solid"/>
            <a:headEnd type="none" w="sm" len="sm"/>
            <a:tailEnd type="none" w="sm" len="sm"/>
          </a:ln>
        </p:spPr>
        <p:txBody>
          <a:bodyPr/>
          <a:lstStyle/>
          <a:p>
            <a:endParaRPr lang="en-GB">
              <a:latin typeface="Times New Roman" panose="02020603050405020304" pitchFamily="18" charset="0"/>
              <a:cs typeface="Times New Roman" panose="02020603050405020304" pitchFamily="18" charset="0"/>
            </a:endParaRPr>
          </a:p>
        </p:txBody>
      </p:sp>
      <p:graphicFrame>
        <p:nvGraphicFramePr>
          <p:cNvPr id="21" name="Diagram 20">
            <a:extLst>
              <a:ext uri="{FF2B5EF4-FFF2-40B4-BE49-F238E27FC236}">
                <a16:creationId xmlns:a16="http://schemas.microsoft.com/office/drawing/2014/main" id="{DCF3482F-F010-D8AC-56C0-AFF23763B172}"/>
              </a:ext>
            </a:extLst>
          </p:cNvPr>
          <p:cNvGraphicFramePr/>
          <p:nvPr>
            <p:extLst>
              <p:ext uri="{D42A27DB-BD31-4B8C-83A1-F6EECF244321}">
                <p14:modId xmlns:p14="http://schemas.microsoft.com/office/powerpoint/2010/main" val="3644247971"/>
              </p:ext>
            </p:extLst>
          </p:nvPr>
        </p:nvGraphicFramePr>
        <p:xfrm>
          <a:off x="1054446" y="1943837"/>
          <a:ext cx="6776101" cy="2907477"/>
        </p:xfrm>
        <a:graphic>
          <a:graphicData uri="http://schemas.openxmlformats.org/drawingml/2006/diagram">
            <dgm:relIds xmlns:dgm="http://schemas.openxmlformats.org/drawingml/2006/diagram" xmlns:r="http://schemas.openxmlformats.org/officeDocument/2006/relationships" r:dm="rId10" r:lo="rId11" r:qs="rId12" r:cs="rId13"/>
          </a:graphicData>
        </a:graphic>
      </p:graphicFrame>
      <p:graphicFrame>
        <p:nvGraphicFramePr>
          <p:cNvPr id="23" name="Chart 22">
            <a:extLst>
              <a:ext uri="{FF2B5EF4-FFF2-40B4-BE49-F238E27FC236}">
                <a16:creationId xmlns:a16="http://schemas.microsoft.com/office/drawing/2014/main" id="{4B6DCDC1-8779-154D-5116-2B4500D89BE1}"/>
              </a:ext>
            </a:extLst>
          </p:cNvPr>
          <p:cNvGraphicFramePr>
            <a:graphicFrameLocks/>
          </p:cNvGraphicFramePr>
          <p:nvPr>
            <p:extLst>
              <p:ext uri="{D42A27DB-BD31-4B8C-83A1-F6EECF244321}">
                <p14:modId xmlns:p14="http://schemas.microsoft.com/office/powerpoint/2010/main" val="2350016108"/>
              </p:ext>
            </p:extLst>
          </p:nvPr>
        </p:nvGraphicFramePr>
        <p:xfrm>
          <a:off x="764382" y="5165322"/>
          <a:ext cx="3839326" cy="2394550"/>
        </p:xfrm>
        <a:graphic>
          <a:graphicData uri="http://schemas.openxmlformats.org/drawingml/2006/chart">
            <c:chart xmlns:c="http://schemas.openxmlformats.org/drawingml/2006/chart" xmlns:r="http://schemas.openxmlformats.org/officeDocument/2006/relationships" r:id="rId15"/>
          </a:graphicData>
        </a:graphic>
      </p:graphicFrame>
      <p:graphicFrame>
        <p:nvGraphicFramePr>
          <p:cNvPr id="24" name="Chart 23">
            <a:extLst>
              <a:ext uri="{FF2B5EF4-FFF2-40B4-BE49-F238E27FC236}">
                <a16:creationId xmlns:a16="http://schemas.microsoft.com/office/drawing/2014/main" id="{266FB0D1-DD2E-7AF7-E78A-C972E1A003FC}"/>
              </a:ext>
            </a:extLst>
          </p:cNvPr>
          <p:cNvGraphicFramePr>
            <a:graphicFrameLocks/>
          </p:cNvGraphicFramePr>
          <p:nvPr>
            <p:extLst>
              <p:ext uri="{D42A27DB-BD31-4B8C-83A1-F6EECF244321}">
                <p14:modId xmlns:p14="http://schemas.microsoft.com/office/powerpoint/2010/main" val="482322802"/>
              </p:ext>
            </p:extLst>
          </p:nvPr>
        </p:nvGraphicFramePr>
        <p:xfrm>
          <a:off x="4330204" y="5227964"/>
          <a:ext cx="3937425" cy="2582486"/>
        </p:xfrm>
        <a:graphic>
          <a:graphicData uri="http://schemas.openxmlformats.org/drawingml/2006/chart">
            <c:chart xmlns:c="http://schemas.openxmlformats.org/drawingml/2006/chart" xmlns:r="http://schemas.openxmlformats.org/officeDocument/2006/relationships" r:id="rId16"/>
          </a:graphicData>
        </a:graphic>
      </p:graphicFrame>
      <p:sp>
        <p:nvSpPr>
          <p:cNvPr id="17" name="TextBox 16">
            <a:extLst>
              <a:ext uri="{FF2B5EF4-FFF2-40B4-BE49-F238E27FC236}">
                <a16:creationId xmlns:a16="http://schemas.microsoft.com/office/drawing/2014/main" id="{89637C39-0779-8987-0806-5EB3EE85341E}"/>
              </a:ext>
            </a:extLst>
          </p:cNvPr>
          <p:cNvSpPr txBox="1"/>
          <p:nvPr/>
        </p:nvSpPr>
        <p:spPr>
          <a:xfrm>
            <a:off x="10747887" y="1435915"/>
            <a:ext cx="4844955" cy="400110"/>
          </a:xfrm>
          <a:prstGeom prst="rect">
            <a:avLst/>
          </a:prstGeom>
          <a:noFill/>
        </p:spPr>
        <p:txBody>
          <a:bodyPr wrap="square" rtlCol="0">
            <a:spAutoFit/>
          </a:bodyPr>
          <a:lstStyle/>
          <a:p>
            <a:r>
              <a:rPr lang="en-GB" sz="2000" dirty="0">
                <a:latin typeface="Times New Roman" panose="02020603050405020304" pitchFamily="18" charset="0"/>
                <a:cs typeface="Times New Roman" panose="02020603050405020304" pitchFamily="18" charset="0"/>
              </a:rPr>
              <a:t>Project Portfolio: </a:t>
            </a:r>
            <a:r>
              <a:rPr lang="en-GB" sz="2000" b="1" dirty="0">
                <a:latin typeface="Times New Roman" panose="02020603050405020304" pitchFamily="18" charset="0"/>
                <a:cs typeface="Times New Roman" panose="02020603050405020304" pitchFamily="18" charset="0"/>
              </a:rPr>
              <a:t>Diversified</a:t>
            </a:r>
            <a:r>
              <a:rPr lang="en-GB" sz="2000"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Across</a:t>
            </a:r>
            <a:r>
              <a:rPr lang="en-GB" sz="2000"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Europe</a:t>
            </a:r>
          </a:p>
        </p:txBody>
      </p:sp>
      <p:pic>
        <p:nvPicPr>
          <p:cNvPr id="5122" name="Picture 2" descr="Flag of the Netherlands image and meaning Dutch flag - country flags">
            <a:extLst>
              <a:ext uri="{FF2B5EF4-FFF2-40B4-BE49-F238E27FC236}">
                <a16:creationId xmlns:a16="http://schemas.microsoft.com/office/drawing/2014/main" id="{AD04B7ED-5E80-664E-335D-FF275C01640C}"/>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1218575" y="2372355"/>
            <a:ext cx="318153" cy="212208"/>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Union Jack Flag Free Stock Photo - Public Domain Pictures">
            <a:extLst>
              <a:ext uri="{FF2B5EF4-FFF2-40B4-BE49-F238E27FC236}">
                <a16:creationId xmlns:a16="http://schemas.microsoft.com/office/drawing/2014/main" id="{ED01BFB3-8B03-DB27-46AA-9B228A55C375}"/>
              </a:ext>
            </a:extLst>
          </p:cNvPr>
          <p:cNvPicPr>
            <a:picLocks noChangeAspect="1" noChangeArrowheads="1"/>
          </p:cNvPicPr>
          <p:nvPr/>
        </p:nvPicPr>
        <p:blipFill rotWithShape="1">
          <a:blip r:embed="rId18">
            <a:extLst>
              <a:ext uri="{28A0092B-C50C-407E-A947-70E740481C1C}">
                <a14:useLocalDpi xmlns:a14="http://schemas.microsoft.com/office/drawing/2010/main" val="0"/>
              </a:ext>
            </a:extLst>
          </a:blip>
          <a:srcRect l="1785" t="6425" r="1843" b="4625"/>
          <a:stretch>
            <a:fillRect/>
          </a:stretch>
        </p:blipFill>
        <p:spPr bwMode="auto">
          <a:xfrm>
            <a:off x="15104819" y="4618088"/>
            <a:ext cx="362248" cy="178841"/>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2" descr="Flag of the Netherlands image and meaning Dutch flag - country flags">
            <a:extLst>
              <a:ext uri="{FF2B5EF4-FFF2-40B4-BE49-F238E27FC236}">
                <a16:creationId xmlns:a16="http://schemas.microsoft.com/office/drawing/2014/main" id="{758D73D7-1134-F222-587A-A7E25DAB7E95}"/>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5987694" y="2358761"/>
            <a:ext cx="318153" cy="212208"/>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descr="DE Germany Flag Icon | Public Domain World Flags Iconpack | Wikipedia ...">
            <a:extLst>
              <a:ext uri="{FF2B5EF4-FFF2-40B4-BE49-F238E27FC236}">
                <a16:creationId xmlns:a16="http://schemas.microsoft.com/office/drawing/2014/main" id="{61BD8CB2-8DFB-843F-D59D-1208F4EA5C33}"/>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1314521" y="4519462"/>
            <a:ext cx="362248" cy="362248"/>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 descr="Flag of the Netherlands image and meaning Dutch flag - country flags">
            <a:extLst>
              <a:ext uri="{FF2B5EF4-FFF2-40B4-BE49-F238E27FC236}">
                <a16:creationId xmlns:a16="http://schemas.microsoft.com/office/drawing/2014/main" id="{D5D353C3-F972-04B1-8622-9FFFF8CB0CA0}"/>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1091024" y="6767760"/>
            <a:ext cx="318153" cy="212208"/>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4" descr="Union Jack Flag Free Stock Photo - Public Domain Pictures">
            <a:extLst>
              <a:ext uri="{FF2B5EF4-FFF2-40B4-BE49-F238E27FC236}">
                <a16:creationId xmlns:a16="http://schemas.microsoft.com/office/drawing/2014/main" id="{CA6EADDB-F6E0-6873-ECAB-DEDBD6FF714A}"/>
              </a:ext>
            </a:extLst>
          </p:cNvPr>
          <p:cNvPicPr>
            <a:picLocks noChangeAspect="1" noChangeArrowheads="1"/>
          </p:cNvPicPr>
          <p:nvPr/>
        </p:nvPicPr>
        <p:blipFill rotWithShape="1">
          <a:blip r:embed="rId18">
            <a:extLst>
              <a:ext uri="{28A0092B-C50C-407E-A947-70E740481C1C}">
                <a14:useLocalDpi xmlns:a14="http://schemas.microsoft.com/office/drawing/2010/main" val="0"/>
              </a:ext>
            </a:extLst>
          </a:blip>
          <a:srcRect l="1785" t="6425" r="1843" b="4625"/>
          <a:stretch>
            <a:fillRect/>
          </a:stretch>
        </p:blipFill>
        <p:spPr bwMode="auto">
          <a:xfrm>
            <a:off x="15829619" y="6767760"/>
            <a:ext cx="362248" cy="178841"/>
          </a:xfrm>
          <a:prstGeom prst="rect">
            <a:avLst/>
          </a:prstGeom>
          <a:noFill/>
          <a:extLst>
            <a:ext uri="{909E8E84-426E-40DD-AFC4-6F175D3DCCD1}">
              <a14:hiddenFill xmlns:a14="http://schemas.microsoft.com/office/drawing/2010/main">
                <a:solidFill>
                  <a:srgbClr val="FFFFFF"/>
                </a:solidFill>
              </a14:hiddenFill>
            </a:ext>
          </a:extLst>
        </p:spPr>
      </p:pic>
      <p:sp>
        <p:nvSpPr>
          <p:cNvPr id="26" name="TextBox 49">
            <a:extLst>
              <a:ext uri="{FF2B5EF4-FFF2-40B4-BE49-F238E27FC236}">
                <a16:creationId xmlns:a16="http://schemas.microsoft.com/office/drawing/2014/main" id="{04C031C9-1ADC-9827-8DF9-FAA9AD2BBFFE}"/>
              </a:ext>
            </a:extLst>
          </p:cNvPr>
          <p:cNvSpPr txBox="1"/>
          <p:nvPr/>
        </p:nvSpPr>
        <p:spPr>
          <a:xfrm>
            <a:off x="3233349" y="9250434"/>
            <a:ext cx="8782188" cy="466474"/>
          </a:xfrm>
          <a:prstGeom prst="rect">
            <a:avLst/>
          </a:prstGeom>
        </p:spPr>
        <p:txBody>
          <a:bodyPr wrap="square" lIns="0" tIns="0" rIns="0" bIns="0" rtlCol="0" anchor="t">
            <a:spAutoFit/>
          </a:bodyPr>
          <a:lstStyle/>
          <a:p>
            <a:pPr algn="ctr">
              <a:lnSpc>
                <a:spcPts val="4060"/>
              </a:lnSpc>
              <a:spcBef>
                <a:spcPct val="0"/>
              </a:spcBef>
            </a:pPr>
            <a:r>
              <a:rPr lang="en-US" sz="2400" dirty="0">
                <a:solidFill>
                  <a:schemeClr val="bg1">
                    <a:lumMod val="50000"/>
                  </a:schemeClr>
                </a:solidFill>
                <a:latin typeface="Times New Roman" panose="02020603050405020304" pitchFamily="18" charset="0"/>
                <a:ea typeface="Times New Roman"/>
                <a:cs typeface="Times New Roman" panose="02020603050405020304" pitchFamily="18" charset="0"/>
                <a:sym typeface="Times New Roman"/>
              </a:rPr>
              <a:t>29/10/25		      Royal Bam Group – (XAMS</a:t>
            </a:r>
            <a:r>
              <a:rPr lang="en-US" sz="2400" dirty="0">
                <a:solidFill>
                  <a:schemeClr val="bg1">
                    <a:lumMod val="50000"/>
                  </a:schemeClr>
                </a:solidFill>
                <a:latin typeface="Times New Roman" panose="02020603050405020304" pitchFamily="18" charset="0"/>
                <a:ea typeface="Times New Roman"/>
                <a:cs typeface="Times New Roman" panose="02020603050405020304" pitchFamily="18" charset="0"/>
                <a:sym typeface="Wingdings" pitchFamily="2" charset="2"/>
              </a:rPr>
              <a:t>:</a:t>
            </a:r>
            <a:r>
              <a:rPr lang="en-US" sz="2400" dirty="0">
                <a:solidFill>
                  <a:schemeClr val="bg1">
                    <a:lumMod val="50000"/>
                  </a:schemeClr>
                </a:solidFill>
                <a:latin typeface="Times New Roman" panose="02020603050405020304" pitchFamily="18" charset="0"/>
                <a:ea typeface="Times New Roman"/>
                <a:cs typeface="Times New Roman" panose="02020603050405020304" pitchFamily="18" charset="0"/>
                <a:sym typeface="Times New Roman"/>
              </a:rPr>
              <a:t> BAMNB)</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23487A"/>
        </a:solidFill>
        <a:effectLst/>
      </p:bgPr>
    </p:bg>
    <p:spTree>
      <p:nvGrpSpPr>
        <p:cNvPr id="1" name=""/>
        <p:cNvGrpSpPr/>
        <p:nvPr/>
      </p:nvGrpSpPr>
      <p:grpSpPr>
        <a:xfrm>
          <a:off x="0" y="0"/>
          <a:ext cx="0" cy="0"/>
          <a:chOff x="0" y="0"/>
          <a:chExt cx="0" cy="0"/>
        </a:xfrm>
      </p:grpSpPr>
      <p:grpSp>
        <p:nvGrpSpPr>
          <p:cNvPr id="6" name="Group 6"/>
          <p:cNvGrpSpPr>
            <a:grpSpLocks noGrp="1" noUngrp="1" noRot="1" noMove="1" noResize="1"/>
          </p:cNvGrpSpPr>
          <p:nvPr/>
        </p:nvGrpSpPr>
        <p:grpSpPr>
          <a:xfrm>
            <a:off x="482833" y="306004"/>
            <a:ext cx="17349108" cy="9581340"/>
            <a:chOff x="0" y="-28575"/>
            <a:chExt cx="5293499" cy="2923425"/>
          </a:xfrm>
        </p:grpSpPr>
        <p:sp>
          <p:nvSpPr>
            <p:cNvPr id="7" name="Freeform 7"/>
            <p:cNvSpPr>
              <a:spLocks noGrp="1" noRot="1" noMove="1" noResize="1" noEditPoints="1" noAdjustHandles="1" noChangeArrowheads="1" noChangeShapeType="1"/>
            </p:cNvSpPr>
            <p:nvPr/>
          </p:nvSpPr>
          <p:spPr>
            <a:xfrm>
              <a:off x="0" y="0"/>
              <a:ext cx="5293499" cy="2894850"/>
            </a:xfrm>
            <a:custGeom>
              <a:avLst/>
              <a:gdLst/>
              <a:ahLst/>
              <a:cxnLst/>
              <a:rect l="l" t="t" r="r" b="b"/>
              <a:pathLst>
                <a:path w="5293499" h="2894850">
                  <a:moveTo>
                    <a:pt x="0" y="0"/>
                  </a:moveTo>
                  <a:lnTo>
                    <a:pt x="5293499" y="0"/>
                  </a:lnTo>
                  <a:lnTo>
                    <a:pt x="5293499" y="2894850"/>
                  </a:lnTo>
                  <a:lnTo>
                    <a:pt x="0" y="2894850"/>
                  </a:lnTo>
                  <a:close/>
                </a:path>
              </a:pathLst>
            </a:custGeom>
            <a:solidFill>
              <a:srgbClr val="FFFFFF"/>
            </a:solidFill>
          </p:spPr>
          <p:txBody>
            <a:bodyPr/>
            <a:lstStyle/>
            <a:p>
              <a:endParaRPr lang="en-GB">
                <a:latin typeface="Times New Roman" panose="02020603050405020304" pitchFamily="18" charset="0"/>
                <a:cs typeface="Times New Roman" panose="02020603050405020304" pitchFamily="18" charset="0"/>
              </a:endParaRPr>
            </a:p>
          </p:txBody>
        </p:sp>
        <p:sp>
          <p:nvSpPr>
            <p:cNvPr id="8" name="TextBox 8"/>
            <p:cNvSpPr txBox="1">
              <a:spLocks noGrp="1" noRot="1" noMove="1" noResize="1" noEditPoints="1" noAdjustHandles="1" noChangeArrowheads="1" noChangeShapeType="1"/>
            </p:cNvSpPr>
            <p:nvPr/>
          </p:nvSpPr>
          <p:spPr>
            <a:xfrm>
              <a:off x="0" y="-28575"/>
              <a:ext cx="5293499" cy="2923425"/>
            </a:xfrm>
            <a:prstGeom prst="rect">
              <a:avLst/>
            </a:prstGeom>
          </p:spPr>
          <p:txBody>
            <a:bodyPr lIns="43850" tIns="43850" rIns="43850" bIns="43850" rtlCol="0" anchor="ctr"/>
            <a:lstStyle/>
            <a:p>
              <a:pPr algn="ctr">
                <a:lnSpc>
                  <a:spcPts val="2296"/>
                </a:lnSpc>
                <a:spcBef>
                  <a:spcPct val="0"/>
                </a:spcBef>
              </a:pPr>
              <a:endParaRPr>
                <a:latin typeface="Times New Roman" panose="02020603050405020304" pitchFamily="18" charset="0"/>
                <a:cs typeface="Times New Roman" panose="02020603050405020304" pitchFamily="18" charset="0"/>
              </a:endParaRPr>
            </a:p>
          </p:txBody>
        </p:sp>
      </p:grpSp>
      <p:sp>
        <p:nvSpPr>
          <p:cNvPr id="11" name="AutoShape 10">
            <a:extLst>
              <a:ext uri="{FF2B5EF4-FFF2-40B4-BE49-F238E27FC236}">
                <a16:creationId xmlns:a16="http://schemas.microsoft.com/office/drawing/2014/main" id="{85BCAA08-A79C-413E-72D9-24CE1FFA602D}"/>
              </a:ext>
            </a:extLst>
          </p:cNvPr>
          <p:cNvSpPr/>
          <p:nvPr/>
        </p:nvSpPr>
        <p:spPr>
          <a:xfrm>
            <a:off x="2209802" y="9254177"/>
            <a:ext cx="13744971" cy="0"/>
          </a:xfrm>
          <a:prstGeom prst="line">
            <a:avLst/>
          </a:prstGeom>
          <a:ln w="38100" cap="flat">
            <a:solidFill>
              <a:srgbClr val="214779"/>
            </a:solidFill>
            <a:prstDash val="solid"/>
            <a:headEnd type="none" w="sm" len="sm"/>
            <a:tailEnd type="none" w="sm" len="sm"/>
          </a:ln>
        </p:spPr>
        <p:txBody>
          <a:bodyPr/>
          <a:lstStyle/>
          <a:p>
            <a:endParaRPr lang="en-GB">
              <a:latin typeface="Times New Roman" panose="02020603050405020304" pitchFamily="18" charset="0"/>
              <a:cs typeface="Times New Roman" panose="02020603050405020304" pitchFamily="18" charset="0"/>
            </a:endParaRPr>
          </a:p>
        </p:txBody>
      </p:sp>
      <p:sp>
        <p:nvSpPr>
          <p:cNvPr id="9" name="Freeform 9"/>
          <p:cNvSpPr/>
          <p:nvPr/>
        </p:nvSpPr>
        <p:spPr>
          <a:xfrm>
            <a:off x="16566775" y="8837866"/>
            <a:ext cx="1265165" cy="1049477"/>
          </a:xfrm>
          <a:custGeom>
            <a:avLst/>
            <a:gdLst/>
            <a:ahLst/>
            <a:cxnLst/>
            <a:rect l="l" t="t" r="r" b="b"/>
            <a:pathLst>
              <a:path w="1526094" h="1266333">
                <a:moveTo>
                  <a:pt x="0" y="0"/>
                </a:moveTo>
                <a:lnTo>
                  <a:pt x="1526094" y="0"/>
                </a:lnTo>
                <a:lnTo>
                  <a:pt x="1526094" y="1266333"/>
                </a:lnTo>
                <a:lnTo>
                  <a:pt x="0" y="1266333"/>
                </a:lnTo>
                <a:lnTo>
                  <a:pt x="0" y="0"/>
                </a:lnTo>
                <a:close/>
              </a:path>
            </a:pathLst>
          </a:custGeom>
          <a:blipFill>
            <a:blip r:embed="rId3"/>
            <a:stretch>
              <a:fillRect l="-83932" t="-92948" r="-86060" b="-132427"/>
            </a:stretch>
          </a:blipFill>
        </p:spPr>
        <p:txBody>
          <a:bodyPr/>
          <a:lstStyle/>
          <a:p>
            <a:endParaRPr lang="en-GB">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6CDCCEBE-38CC-76C0-CBCD-F7C87B97E9AD}"/>
              </a:ext>
            </a:extLst>
          </p:cNvPr>
          <p:cNvSpPr txBox="1"/>
          <p:nvPr/>
        </p:nvSpPr>
        <p:spPr>
          <a:xfrm>
            <a:off x="889572" y="2044686"/>
            <a:ext cx="6471099"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endParaRPr lang="en-GB" sz="1600">
              <a:solidFill>
                <a:schemeClr val="tx2">
                  <a:lumMod val="76000"/>
                </a:schemeClr>
              </a:solidFill>
              <a:latin typeface="Times New Roman" panose="02020603050405020304" pitchFamily="18" charset="0"/>
              <a:ea typeface="Calibri"/>
              <a:cs typeface="Times New Roman" panose="02020603050405020304" pitchFamily="18" charset="0"/>
            </a:endParaRPr>
          </a:p>
          <a:p>
            <a:endParaRPr lang="en-GB" sz="1600">
              <a:solidFill>
                <a:schemeClr val="tx2">
                  <a:lumMod val="76000"/>
                </a:schemeClr>
              </a:solidFill>
              <a:latin typeface="Times New Roman" panose="02020603050405020304" pitchFamily="18" charset="0"/>
              <a:ea typeface="Calibri"/>
              <a:cs typeface="Times New Roman" panose="02020603050405020304" pitchFamily="18" charset="0"/>
            </a:endParaRPr>
          </a:p>
          <a:p>
            <a:pPr marL="285750" indent="-285750">
              <a:buFont typeface="Arial"/>
              <a:buChar char="•"/>
            </a:pPr>
            <a:endParaRPr lang="en-GB" sz="1600">
              <a:solidFill>
                <a:srgbClr val="18375F"/>
              </a:solidFill>
              <a:latin typeface="Times New Roman" panose="02020603050405020304" pitchFamily="18" charset="0"/>
              <a:ea typeface="Calibri"/>
              <a:cs typeface="Times New Roman" panose="02020603050405020304" pitchFamily="18" charset="0"/>
            </a:endParaRPr>
          </a:p>
        </p:txBody>
      </p:sp>
      <p:sp>
        <p:nvSpPr>
          <p:cNvPr id="17" name="TextBox 16">
            <a:extLst>
              <a:ext uri="{FF2B5EF4-FFF2-40B4-BE49-F238E27FC236}">
                <a16:creationId xmlns:a16="http://schemas.microsoft.com/office/drawing/2014/main" id="{712D3B7E-D15D-A65C-1F60-34E979B0DE2C}"/>
              </a:ext>
            </a:extLst>
          </p:cNvPr>
          <p:cNvSpPr txBox="1"/>
          <p:nvPr/>
        </p:nvSpPr>
        <p:spPr>
          <a:xfrm>
            <a:off x="889572" y="1381484"/>
            <a:ext cx="16080684"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400" dirty="0">
                <a:latin typeface="Times New Roman" panose="02020603050405020304" pitchFamily="18" charset="0"/>
                <a:ea typeface="+mn-lt"/>
                <a:cs typeface="Times New Roman" panose="02020603050405020304" pitchFamily="18" charset="0"/>
              </a:rPr>
              <a:t>Resilient public investment, accelerating energy-transition projects, and sustained urban renewal</a:t>
            </a:r>
            <a:endParaRPr lang="en-US" sz="2400" dirty="0">
              <a:latin typeface="Times New Roman" panose="02020603050405020304" pitchFamily="18" charset="0"/>
              <a:cs typeface="Times New Roman" panose="02020603050405020304" pitchFamily="18" charset="0"/>
            </a:endParaRPr>
          </a:p>
        </p:txBody>
      </p:sp>
      <p:graphicFrame>
        <p:nvGraphicFramePr>
          <p:cNvPr id="20" name="Diagram 19">
            <a:extLst>
              <a:ext uri="{FF2B5EF4-FFF2-40B4-BE49-F238E27FC236}">
                <a16:creationId xmlns:a16="http://schemas.microsoft.com/office/drawing/2014/main" id="{B8E37950-7C23-AD7F-C80B-DBF9EB17C82C}"/>
              </a:ext>
            </a:extLst>
          </p:cNvPr>
          <p:cNvGraphicFramePr/>
          <p:nvPr>
            <p:extLst>
              <p:ext uri="{D42A27DB-BD31-4B8C-83A1-F6EECF244321}">
                <p14:modId xmlns:p14="http://schemas.microsoft.com/office/powerpoint/2010/main" val="3367587866"/>
              </p:ext>
            </p:extLst>
          </p:nvPr>
        </p:nvGraphicFramePr>
        <p:xfrm>
          <a:off x="8211690" y="1949211"/>
          <a:ext cx="9086126" cy="368653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2921" name="Picture 2920" descr="Fitch Solutions (@FitchSolutions) / X">
            <a:extLst>
              <a:ext uri="{FF2B5EF4-FFF2-40B4-BE49-F238E27FC236}">
                <a16:creationId xmlns:a16="http://schemas.microsoft.com/office/drawing/2014/main" id="{791EC40A-B9D2-3CD3-9B6C-B9EC70388269}"/>
              </a:ext>
            </a:extLst>
          </p:cNvPr>
          <p:cNvPicPr>
            <a:picLocks noChangeAspect="1"/>
          </p:cNvPicPr>
          <p:nvPr/>
        </p:nvPicPr>
        <p:blipFill>
          <a:blip r:embed="rId9"/>
          <a:stretch>
            <a:fillRect/>
          </a:stretch>
        </p:blipFill>
        <p:spPr>
          <a:xfrm>
            <a:off x="15378956" y="1749451"/>
            <a:ext cx="2143125" cy="1679300"/>
          </a:xfrm>
          <a:prstGeom prst="rect">
            <a:avLst/>
          </a:prstGeom>
        </p:spPr>
      </p:pic>
      <p:pic>
        <p:nvPicPr>
          <p:cNvPr id="54" name="Picture 53">
            <a:extLst>
              <a:ext uri="{FF2B5EF4-FFF2-40B4-BE49-F238E27FC236}">
                <a16:creationId xmlns:a16="http://schemas.microsoft.com/office/drawing/2014/main" id="{C3679EAA-C778-4194-FCB6-24753CABD677}"/>
              </a:ext>
            </a:extLst>
          </p:cNvPr>
          <p:cNvPicPr>
            <a:picLocks noChangeAspect="1"/>
          </p:cNvPicPr>
          <p:nvPr/>
        </p:nvPicPr>
        <p:blipFill>
          <a:blip r:embed="rId10"/>
          <a:srcRect l="1489" t="2724" r="3339" b="5010"/>
          <a:stretch>
            <a:fillRect/>
          </a:stretch>
        </p:blipFill>
        <p:spPr>
          <a:xfrm>
            <a:off x="1085991" y="3999823"/>
            <a:ext cx="6965977" cy="3368657"/>
          </a:xfrm>
          <a:prstGeom prst="rect">
            <a:avLst/>
          </a:prstGeom>
          <a:ln>
            <a:noFill/>
          </a:ln>
        </p:spPr>
      </p:pic>
      <p:sp>
        <p:nvSpPr>
          <p:cNvPr id="55" name="TextBox 54">
            <a:extLst>
              <a:ext uri="{FF2B5EF4-FFF2-40B4-BE49-F238E27FC236}">
                <a16:creationId xmlns:a16="http://schemas.microsoft.com/office/drawing/2014/main" id="{6ED04186-43E6-7D0A-DAAC-59FB2E56EE08}"/>
              </a:ext>
            </a:extLst>
          </p:cNvPr>
          <p:cNvSpPr txBox="1"/>
          <p:nvPr/>
        </p:nvSpPr>
        <p:spPr>
          <a:xfrm>
            <a:off x="889572" y="7442085"/>
            <a:ext cx="7655559"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GB" dirty="0">
                <a:latin typeface="Times New Roman" panose="02020603050405020304" pitchFamily="18" charset="0"/>
                <a:ea typeface="Calibri"/>
                <a:cs typeface="Times New Roman" panose="02020603050405020304" pitchFamily="18" charset="0"/>
              </a:rPr>
              <a:t>Dutch PMI sits comfortably above the EU average at 53.7 showing signs of economic momentum. </a:t>
            </a:r>
          </a:p>
          <a:p>
            <a:pPr marL="285750" indent="-285750">
              <a:buFont typeface="Arial"/>
              <a:buChar char="•"/>
            </a:pPr>
            <a:r>
              <a:rPr lang="en-GB" dirty="0">
                <a:latin typeface="Times New Roman" panose="02020603050405020304" pitchFamily="18" charset="0"/>
                <a:ea typeface="Calibri"/>
                <a:cs typeface="Times New Roman" panose="02020603050405020304" pitchFamily="18" charset="0"/>
              </a:rPr>
              <a:t>This environment supports rising demand and stronger order books</a:t>
            </a:r>
          </a:p>
          <a:p>
            <a:pPr marL="285750" indent="-285750">
              <a:buFont typeface="Arial"/>
              <a:buChar char="•"/>
            </a:pPr>
            <a:r>
              <a:rPr lang="en-GB" dirty="0">
                <a:latin typeface="Times New Roman" panose="02020603050405020304" pitchFamily="18" charset="0"/>
                <a:ea typeface="Calibri"/>
                <a:cs typeface="Times New Roman" panose="02020603050405020304" pitchFamily="18" charset="0"/>
              </a:rPr>
              <a:t>Industrial activity and infrastructure demand is expanding </a:t>
            </a:r>
          </a:p>
          <a:p>
            <a:pPr marL="285750" indent="-285750">
              <a:buFont typeface="Arial"/>
              <a:buChar char="•"/>
            </a:pPr>
            <a:r>
              <a:rPr lang="en-GB" dirty="0">
                <a:latin typeface="Times New Roman" panose="02020603050405020304" pitchFamily="18" charset="0"/>
                <a:ea typeface="Calibri"/>
                <a:cs typeface="Times New Roman" panose="02020603050405020304" pitchFamily="18" charset="0"/>
              </a:rPr>
              <a:t>Reflective of improved business sentiment and tendering conditions</a:t>
            </a:r>
          </a:p>
          <a:p>
            <a:pPr marL="285750" indent="-285750">
              <a:buFont typeface="Arial"/>
              <a:buChar char="•"/>
            </a:pPr>
            <a:r>
              <a:rPr lang="en-GB" dirty="0">
                <a:latin typeface="Times New Roman" panose="02020603050405020304" pitchFamily="18" charset="0"/>
                <a:ea typeface="Calibri"/>
                <a:cs typeface="Times New Roman" panose="02020603050405020304" pitchFamily="18" charset="0"/>
              </a:rPr>
              <a:t>Investors likely to favour Dutch-listed firms such as BAM</a:t>
            </a:r>
          </a:p>
        </p:txBody>
      </p:sp>
      <p:sp>
        <p:nvSpPr>
          <p:cNvPr id="26" name="Arrow: Up 25">
            <a:extLst>
              <a:ext uri="{FF2B5EF4-FFF2-40B4-BE49-F238E27FC236}">
                <a16:creationId xmlns:a16="http://schemas.microsoft.com/office/drawing/2014/main" id="{D66C27B1-2961-10D8-108F-CAA339828CBD}"/>
              </a:ext>
            </a:extLst>
          </p:cNvPr>
          <p:cNvSpPr/>
          <p:nvPr/>
        </p:nvSpPr>
        <p:spPr>
          <a:xfrm>
            <a:off x="9219209" y="7314956"/>
            <a:ext cx="548210" cy="862671"/>
          </a:xfrm>
          <a:prstGeom prst="upArrow">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Times New Roman" panose="02020603050405020304" pitchFamily="18" charset="0"/>
              <a:cs typeface="Times New Roman" panose="02020603050405020304" pitchFamily="18" charset="0"/>
            </a:endParaRPr>
          </a:p>
        </p:txBody>
      </p:sp>
      <p:sp>
        <p:nvSpPr>
          <p:cNvPr id="27" name="Arrow: Up 26">
            <a:extLst>
              <a:ext uri="{FF2B5EF4-FFF2-40B4-BE49-F238E27FC236}">
                <a16:creationId xmlns:a16="http://schemas.microsoft.com/office/drawing/2014/main" id="{74CE9C21-B71D-E9D0-723B-E2D3C88E2B97}"/>
              </a:ext>
            </a:extLst>
          </p:cNvPr>
          <p:cNvSpPr/>
          <p:nvPr/>
        </p:nvSpPr>
        <p:spPr>
          <a:xfrm>
            <a:off x="9219209" y="5709799"/>
            <a:ext cx="548210" cy="862671"/>
          </a:xfrm>
          <a:prstGeom prst="upArrow">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Times New Roman" panose="02020603050405020304" pitchFamily="18" charset="0"/>
              <a:cs typeface="Times New Roman" panose="02020603050405020304" pitchFamily="18" charset="0"/>
            </a:endParaRPr>
          </a:p>
        </p:txBody>
      </p:sp>
      <p:grpSp>
        <p:nvGrpSpPr>
          <p:cNvPr id="18" name="Group 17">
            <a:extLst>
              <a:ext uri="{FF2B5EF4-FFF2-40B4-BE49-F238E27FC236}">
                <a16:creationId xmlns:a16="http://schemas.microsoft.com/office/drawing/2014/main" id="{58131214-42E8-6FAE-6AE4-A3E9C4677848}"/>
              </a:ext>
            </a:extLst>
          </p:cNvPr>
          <p:cNvGrpSpPr/>
          <p:nvPr/>
        </p:nvGrpSpPr>
        <p:grpSpPr>
          <a:xfrm>
            <a:off x="9549409" y="6231877"/>
            <a:ext cx="3810797" cy="2673205"/>
            <a:chOff x="3962663" y="951761"/>
            <a:chExt cx="6134099" cy="3001503"/>
          </a:xfrm>
        </p:grpSpPr>
        <p:sp>
          <p:nvSpPr>
            <p:cNvPr id="22" name="Freeform: Shape 21">
              <a:extLst>
                <a:ext uri="{FF2B5EF4-FFF2-40B4-BE49-F238E27FC236}">
                  <a16:creationId xmlns:a16="http://schemas.microsoft.com/office/drawing/2014/main" id="{3530469E-5C83-D2F2-D09A-E03C6D49B783}"/>
                </a:ext>
              </a:extLst>
            </p:cNvPr>
            <p:cNvSpPr/>
            <p:nvPr/>
          </p:nvSpPr>
          <p:spPr>
            <a:xfrm>
              <a:off x="3987579" y="951761"/>
              <a:ext cx="6071645" cy="1261233"/>
            </a:xfrm>
            <a:custGeom>
              <a:avLst/>
              <a:gdLst>
                <a:gd name="connsiteX0" fmla="*/ 210210 w 1261232"/>
                <a:gd name="connsiteY0" fmla="*/ 0 h 6363349"/>
                <a:gd name="connsiteX1" fmla="*/ 1051022 w 1261232"/>
                <a:gd name="connsiteY1" fmla="*/ 0 h 6363349"/>
                <a:gd name="connsiteX2" fmla="*/ 1261232 w 1261232"/>
                <a:gd name="connsiteY2" fmla="*/ 210210 h 6363349"/>
                <a:gd name="connsiteX3" fmla="*/ 1261232 w 1261232"/>
                <a:gd name="connsiteY3" fmla="*/ 6363349 h 6363349"/>
                <a:gd name="connsiteX4" fmla="*/ 1261232 w 1261232"/>
                <a:gd name="connsiteY4" fmla="*/ 6363349 h 6363349"/>
                <a:gd name="connsiteX5" fmla="*/ 0 w 1261232"/>
                <a:gd name="connsiteY5" fmla="*/ 6363349 h 6363349"/>
                <a:gd name="connsiteX6" fmla="*/ 0 w 1261232"/>
                <a:gd name="connsiteY6" fmla="*/ 6363349 h 6363349"/>
                <a:gd name="connsiteX7" fmla="*/ 0 w 1261232"/>
                <a:gd name="connsiteY7" fmla="*/ 210210 h 6363349"/>
                <a:gd name="connsiteX8" fmla="*/ 210210 w 1261232"/>
                <a:gd name="connsiteY8" fmla="*/ 0 h 6363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61232" h="6363349">
                  <a:moveTo>
                    <a:pt x="1261232" y="1060583"/>
                  </a:moveTo>
                  <a:lnTo>
                    <a:pt x="1261232" y="5302766"/>
                  </a:lnTo>
                  <a:cubicBezTo>
                    <a:pt x="1261232" y="5888509"/>
                    <a:pt x="1242578" y="6363346"/>
                    <a:pt x="1219568" y="6363346"/>
                  </a:cubicBezTo>
                  <a:lnTo>
                    <a:pt x="0" y="6363346"/>
                  </a:lnTo>
                  <a:lnTo>
                    <a:pt x="0" y="6363346"/>
                  </a:lnTo>
                  <a:lnTo>
                    <a:pt x="0" y="3"/>
                  </a:lnTo>
                  <a:lnTo>
                    <a:pt x="0" y="3"/>
                  </a:lnTo>
                  <a:lnTo>
                    <a:pt x="1219568" y="3"/>
                  </a:lnTo>
                  <a:cubicBezTo>
                    <a:pt x="1242578" y="3"/>
                    <a:pt x="1261232" y="474840"/>
                    <a:pt x="1261232" y="1060583"/>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13793" tIns="71728" rIns="71728" bIns="71729" numCol="1" spcCol="1270" anchor="ctr" anchorCtr="0">
              <a:noAutofit/>
            </a:bodyPr>
            <a:lstStyle/>
            <a:p>
              <a:pPr marL="171450" lvl="1" indent="-171450" algn="l" defTabSz="711200">
                <a:lnSpc>
                  <a:spcPct val="90000"/>
                </a:lnSpc>
                <a:spcBef>
                  <a:spcPct val="0"/>
                </a:spcBef>
                <a:spcAft>
                  <a:spcPct val="15000"/>
                </a:spcAft>
                <a:buFont typeface="Arial"/>
                <a:buChar char="•"/>
              </a:pPr>
              <a:r>
                <a:rPr lang="en-GB" sz="1400" kern="1200" dirty="0">
                  <a:solidFill>
                    <a:schemeClr val="tx1"/>
                  </a:solidFill>
                  <a:latin typeface="Times New Roman" panose="02020603050405020304" pitchFamily="18" charset="0"/>
                  <a:ea typeface="+mn-lt"/>
                  <a:cs typeface="Times New Roman" panose="02020603050405020304" pitchFamily="18" charset="0"/>
                </a:rPr>
                <a:t>Large public infrastructure and energy transition programmes</a:t>
              </a:r>
              <a:r>
                <a:rPr lang="en-GB" sz="1400" dirty="0">
                  <a:solidFill>
                    <a:schemeClr val="tx1"/>
                  </a:solidFill>
                  <a:latin typeface="Times New Roman" panose="02020603050405020304" pitchFamily="18" charset="0"/>
                  <a:ea typeface="+mn-lt"/>
                  <a:cs typeface="Times New Roman" panose="02020603050405020304" pitchFamily="18" charset="0"/>
                </a:rPr>
                <a:t>.</a:t>
              </a:r>
              <a:r>
                <a:rPr lang="en-GB" sz="1400" kern="1200" dirty="0">
                  <a:solidFill>
                    <a:schemeClr val="tx1"/>
                  </a:solidFill>
                  <a:latin typeface="Times New Roman" panose="02020603050405020304" pitchFamily="18" charset="0"/>
                  <a:ea typeface="+mn-lt"/>
                  <a:cs typeface="Times New Roman" panose="02020603050405020304" pitchFamily="18" charset="0"/>
                </a:rPr>
                <a:t> Renewals of transport, utilities, housing and energy provide long-term revenue pipelines in UK and NE. Proven through commitments by governments.</a:t>
              </a:r>
              <a:endParaRPr lang="en-GB" sz="1400" kern="1200" dirty="0">
                <a:solidFill>
                  <a:schemeClr val="tx1"/>
                </a:solidFill>
                <a:latin typeface="Times New Roman" panose="02020603050405020304" pitchFamily="18" charset="0"/>
                <a:cs typeface="Times New Roman" panose="02020603050405020304" pitchFamily="18" charset="0"/>
              </a:endParaRPr>
            </a:p>
          </p:txBody>
        </p:sp>
        <p:sp>
          <p:nvSpPr>
            <p:cNvPr id="24" name="Freeform: Shape 23">
              <a:extLst>
                <a:ext uri="{FF2B5EF4-FFF2-40B4-BE49-F238E27FC236}">
                  <a16:creationId xmlns:a16="http://schemas.microsoft.com/office/drawing/2014/main" id="{3A9A2995-26DB-1B2A-6784-7E7268FC8EE6}"/>
                </a:ext>
              </a:extLst>
            </p:cNvPr>
            <p:cNvSpPr/>
            <p:nvPr/>
          </p:nvSpPr>
          <p:spPr>
            <a:xfrm>
              <a:off x="3962663" y="2731353"/>
              <a:ext cx="6134099" cy="1221911"/>
            </a:xfrm>
            <a:custGeom>
              <a:avLst/>
              <a:gdLst>
                <a:gd name="connsiteX0" fmla="*/ 210210 w 1261232"/>
                <a:gd name="connsiteY0" fmla="*/ 0 h 6363349"/>
                <a:gd name="connsiteX1" fmla="*/ 1051022 w 1261232"/>
                <a:gd name="connsiteY1" fmla="*/ 0 h 6363349"/>
                <a:gd name="connsiteX2" fmla="*/ 1261232 w 1261232"/>
                <a:gd name="connsiteY2" fmla="*/ 210210 h 6363349"/>
                <a:gd name="connsiteX3" fmla="*/ 1261232 w 1261232"/>
                <a:gd name="connsiteY3" fmla="*/ 6363349 h 6363349"/>
                <a:gd name="connsiteX4" fmla="*/ 1261232 w 1261232"/>
                <a:gd name="connsiteY4" fmla="*/ 6363349 h 6363349"/>
                <a:gd name="connsiteX5" fmla="*/ 0 w 1261232"/>
                <a:gd name="connsiteY5" fmla="*/ 6363349 h 6363349"/>
                <a:gd name="connsiteX6" fmla="*/ 0 w 1261232"/>
                <a:gd name="connsiteY6" fmla="*/ 6363349 h 6363349"/>
                <a:gd name="connsiteX7" fmla="*/ 0 w 1261232"/>
                <a:gd name="connsiteY7" fmla="*/ 210210 h 6363349"/>
                <a:gd name="connsiteX8" fmla="*/ 210210 w 1261232"/>
                <a:gd name="connsiteY8" fmla="*/ 0 h 6363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61232" h="6363349">
                  <a:moveTo>
                    <a:pt x="1261232" y="1060583"/>
                  </a:moveTo>
                  <a:lnTo>
                    <a:pt x="1261232" y="5302766"/>
                  </a:lnTo>
                  <a:cubicBezTo>
                    <a:pt x="1261232" y="5888509"/>
                    <a:pt x="1242578" y="6363346"/>
                    <a:pt x="1219568" y="6363346"/>
                  </a:cubicBezTo>
                  <a:lnTo>
                    <a:pt x="0" y="6363346"/>
                  </a:lnTo>
                  <a:lnTo>
                    <a:pt x="0" y="6363346"/>
                  </a:lnTo>
                  <a:lnTo>
                    <a:pt x="0" y="3"/>
                  </a:lnTo>
                  <a:lnTo>
                    <a:pt x="0" y="3"/>
                  </a:lnTo>
                  <a:lnTo>
                    <a:pt x="1219568" y="3"/>
                  </a:lnTo>
                  <a:cubicBezTo>
                    <a:pt x="1242578" y="3"/>
                    <a:pt x="1261232" y="474840"/>
                    <a:pt x="1261232" y="1060583"/>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13793" tIns="71728" rIns="71728" bIns="71729" numCol="1" spcCol="1270" anchor="ctr" anchorCtr="0">
              <a:noAutofit/>
            </a:bodyPr>
            <a:lstStyle/>
            <a:p>
              <a:pPr marL="171450" lvl="1" indent="-171450" algn="l" defTabSz="711200">
                <a:lnSpc>
                  <a:spcPct val="90000"/>
                </a:lnSpc>
                <a:spcBef>
                  <a:spcPct val="0"/>
                </a:spcBef>
                <a:spcAft>
                  <a:spcPct val="15000"/>
                </a:spcAft>
                <a:buFont typeface="Arial"/>
                <a:buChar char="•"/>
              </a:pPr>
              <a:r>
                <a:rPr lang="en-GB" sz="1400" kern="1200" dirty="0">
                  <a:solidFill>
                    <a:schemeClr val="tx1"/>
                  </a:solidFill>
                  <a:latin typeface="Times New Roman" panose="02020603050405020304" pitchFamily="18" charset="0"/>
                  <a:ea typeface="Calibri"/>
                  <a:cs typeface="Times New Roman" panose="02020603050405020304" pitchFamily="18" charset="0"/>
                </a:rPr>
                <a:t>Digitalisation and productivity gains</a:t>
              </a:r>
              <a:r>
                <a:rPr lang="en-GB" sz="1400" dirty="0">
                  <a:solidFill>
                    <a:schemeClr val="tx1"/>
                  </a:solidFill>
                  <a:latin typeface="Times New Roman" panose="02020603050405020304" pitchFamily="18" charset="0"/>
                  <a:ea typeface="Calibri"/>
                  <a:cs typeface="Times New Roman" panose="02020603050405020304" pitchFamily="18" charset="0"/>
                </a:rPr>
                <a:t>. </a:t>
              </a:r>
              <a:r>
                <a:rPr lang="en-GB" sz="1400" kern="1200" dirty="0">
                  <a:solidFill>
                    <a:schemeClr val="tx1"/>
                  </a:solidFill>
                  <a:latin typeface="Times New Roman" panose="02020603050405020304" pitchFamily="18" charset="0"/>
                  <a:ea typeface="+mn-lt"/>
                  <a:cs typeface="Times New Roman" panose="02020603050405020304" pitchFamily="18" charset="0"/>
                </a:rPr>
                <a:t>The industry is increasingly adopting digital tools, modular construction, off‑site manufacturing and data‑driven delivery, which can improve efficiency and open new project types</a:t>
              </a:r>
              <a:endParaRPr lang="en-GB" sz="1400" kern="1200" dirty="0">
                <a:solidFill>
                  <a:schemeClr val="tx1"/>
                </a:solidFill>
                <a:latin typeface="Times New Roman" panose="02020603050405020304" pitchFamily="18" charset="0"/>
                <a:cs typeface="Times New Roman" panose="02020603050405020304" pitchFamily="18" charset="0"/>
              </a:endParaRPr>
            </a:p>
          </p:txBody>
        </p:sp>
      </p:grpSp>
      <p:sp>
        <p:nvSpPr>
          <p:cNvPr id="28" name="TextBox 27">
            <a:extLst>
              <a:ext uri="{FF2B5EF4-FFF2-40B4-BE49-F238E27FC236}">
                <a16:creationId xmlns:a16="http://schemas.microsoft.com/office/drawing/2014/main" id="{237A4B68-5381-CBB5-C115-582A5225C9B2}"/>
              </a:ext>
            </a:extLst>
          </p:cNvPr>
          <p:cNvSpPr txBox="1"/>
          <p:nvPr/>
        </p:nvSpPr>
        <p:spPr>
          <a:xfrm>
            <a:off x="9629136" y="5921780"/>
            <a:ext cx="1972879" cy="369332"/>
          </a:xfrm>
          <a:prstGeom prst="rect">
            <a:avLst/>
          </a:prstGeom>
          <a:noFill/>
        </p:spPr>
        <p:txBody>
          <a:bodyPr wrap="square" rtlCol="0">
            <a:spAutoFit/>
          </a:bodyPr>
          <a:lstStyle/>
          <a:p>
            <a:r>
              <a:rPr lang="en-GB" dirty="0">
                <a:latin typeface="Times New Roman" panose="02020603050405020304" pitchFamily="18" charset="0"/>
                <a:cs typeface="Times New Roman" panose="02020603050405020304" pitchFamily="18" charset="0"/>
              </a:rPr>
              <a:t>Tailwinds</a:t>
            </a:r>
          </a:p>
        </p:txBody>
      </p:sp>
      <p:sp>
        <p:nvSpPr>
          <p:cNvPr id="30" name="Arrow: Up 29">
            <a:extLst>
              <a:ext uri="{FF2B5EF4-FFF2-40B4-BE49-F238E27FC236}">
                <a16:creationId xmlns:a16="http://schemas.microsoft.com/office/drawing/2014/main" id="{F3C50536-DDFD-DD7E-D8DB-D82AFA9EBE24}"/>
              </a:ext>
            </a:extLst>
          </p:cNvPr>
          <p:cNvSpPr/>
          <p:nvPr/>
        </p:nvSpPr>
        <p:spPr>
          <a:xfrm rot="10800000">
            <a:off x="13433709" y="6927079"/>
            <a:ext cx="548210" cy="862671"/>
          </a:xfrm>
          <a:prstGeom prst="upArrow">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Times New Roman" panose="02020603050405020304" pitchFamily="18" charset="0"/>
              <a:cs typeface="Times New Roman" panose="02020603050405020304" pitchFamily="18" charset="0"/>
            </a:endParaRPr>
          </a:p>
        </p:txBody>
      </p:sp>
      <p:sp>
        <p:nvSpPr>
          <p:cNvPr id="29" name="Arrow: Up 28">
            <a:extLst>
              <a:ext uri="{FF2B5EF4-FFF2-40B4-BE49-F238E27FC236}">
                <a16:creationId xmlns:a16="http://schemas.microsoft.com/office/drawing/2014/main" id="{876FFB87-F6BC-6968-ADF6-62874269CD04}"/>
              </a:ext>
            </a:extLst>
          </p:cNvPr>
          <p:cNvSpPr/>
          <p:nvPr/>
        </p:nvSpPr>
        <p:spPr>
          <a:xfrm rot="10800000">
            <a:off x="13433709" y="8532236"/>
            <a:ext cx="548210" cy="862671"/>
          </a:xfrm>
          <a:prstGeom prst="upArrow">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Times New Roman" panose="02020603050405020304" pitchFamily="18" charset="0"/>
              <a:cs typeface="Times New Roman" panose="02020603050405020304" pitchFamily="18" charset="0"/>
            </a:endParaRPr>
          </a:p>
        </p:txBody>
      </p:sp>
      <p:grpSp>
        <p:nvGrpSpPr>
          <p:cNvPr id="31" name="Group 30">
            <a:extLst>
              <a:ext uri="{FF2B5EF4-FFF2-40B4-BE49-F238E27FC236}">
                <a16:creationId xmlns:a16="http://schemas.microsoft.com/office/drawing/2014/main" id="{1AC6B9B0-A655-36DB-6DD2-A0061C6FBD7F}"/>
              </a:ext>
            </a:extLst>
          </p:cNvPr>
          <p:cNvGrpSpPr/>
          <p:nvPr/>
        </p:nvGrpSpPr>
        <p:grpSpPr>
          <a:xfrm>
            <a:off x="13690407" y="6216845"/>
            <a:ext cx="3968697" cy="2708226"/>
            <a:chOff x="3962663" y="951761"/>
            <a:chExt cx="6388264" cy="3040825"/>
          </a:xfrm>
        </p:grpSpPr>
        <p:sp>
          <p:nvSpPr>
            <p:cNvPr id="2915" name="Freeform: Shape 2914">
              <a:extLst>
                <a:ext uri="{FF2B5EF4-FFF2-40B4-BE49-F238E27FC236}">
                  <a16:creationId xmlns:a16="http://schemas.microsoft.com/office/drawing/2014/main" id="{502B0B77-2A06-B6F3-41BB-AA4F0279ACFB}"/>
                </a:ext>
              </a:extLst>
            </p:cNvPr>
            <p:cNvSpPr/>
            <p:nvPr/>
          </p:nvSpPr>
          <p:spPr>
            <a:xfrm>
              <a:off x="3987577" y="951761"/>
              <a:ext cx="6363350" cy="1261233"/>
            </a:xfrm>
            <a:custGeom>
              <a:avLst/>
              <a:gdLst>
                <a:gd name="connsiteX0" fmla="*/ 210210 w 1261232"/>
                <a:gd name="connsiteY0" fmla="*/ 0 h 6363349"/>
                <a:gd name="connsiteX1" fmla="*/ 1051022 w 1261232"/>
                <a:gd name="connsiteY1" fmla="*/ 0 h 6363349"/>
                <a:gd name="connsiteX2" fmla="*/ 1261232 w 1261232"/>
                <a:gd name="connsiteY2" fmla="*/ 210210 h 6363349"/>
                <a:gd name="connsiteX3" fmla="*/ 1261232 w 1261232"/>
                <a:gd name="connsiteY3" fmla="*/ 6363349 h 6363349"/>
                <a:gd name="connsiteX4" fmla="*/ 1261232 w 1261232"/>
                <a:gd name="connsiteY4" fmla="*/ 6363349 h 6363349"/>
                <a:gd name="connsiteX5" fmla="*/ 0 w 1261232"/>
                <a:gd name="connsiteY5" fmla="*/ 6363349 h 6363349"/>
                <a:gd name="connsiteX6" fmla="*/ 0 w 1261232"/>
                <a:gd name="connsiteY6" fmla="*/ 6363349 h 6363349"/>
                <a:gd name="connsiteX7" fmla="*/ 0 w 1261232"/>
                <a:gd name="connsiteY7" fmla="*/ 210210 h 6363349"/>
                <a:gd name="connsiteX8" fmla="*/ 210210 w 1261232"/>
                <a:gd name="connsiteY8" fmla="*/ 0 h 6363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61232" h="6363349">
                  <a:moveTo>
                    <a:pt x="1261232" y="1060583"/>
                  </a:moveTo>
                  <a:lnTo>
                    <a:pt x="1261232" y="5302766"/>
                  </a:lnTo>
                  <a:cubicBezTo>
                    <a:pt x="1261232" y="5888509"/>
                    <a:pt x="1242578" y="6363346"/>
                    <a:pt x="1219568" y="6363346"/>
                  </a:cubicBezTo>
                  <a:lnTo>
                    <a:pt x="0" y="6363346"/>
                  </a:lnTo>
                  <a:lnTo>
                    <a:pt x="0" y="6363346"/>
                  </a:lnTo>
                  <a:lnTo>
                    <a:pt x="0" y="3"/>
                  </a:lnTo>
                  <a:lnTo>
                    <a:pt x="0" y="3"/>
                  </a:lnTo>
                  <a:lnTo>
                    <a:pt x="1219568" y="3"/>
                  </a:lnTo>
                  <a:cubicBezTo>
                    <a:pt x="1242578" y="3"/>
                    <a:pt x="1261232" y="474840"/>
                    <a:pt x="1261232" y="1060583"/>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13793" tIns="71728" rIns="71728" bIns="71729" numCol="1" spcCol="1270" anchor="ctr" anchorCtr="0">
              <a:noAutofit/>
            </a:bodyPr>
            <a:lstStyle/>
            <a:p>
              <a:pPr marL="285750" indent="-285750">
                <a:buFont typeface="Arial"/>
                <a:buChar char="•"/>
              </a:pPr>
              <a:r>
                <a:rPr lang="en-GB" sz="1400" dirty="0">
                  <a:solidFill>
                    <a:schemeClr val="tx1"/>
                  </a:solidFill>
                  <a:latin typeface="Times New Roman" panose="02020603050405020304" pitchFamily="18" charset="0"/>
                  <a:ea typeface="+mn-lt"/>
                  <a:cs typeface="Times New Roman" panose="02020603050405020304" pitchFamily="18" charset="0"/>
                </a:rPr>
                <a:t>Supply‑chain / labour constraints. Material and labour cost inflation, shortages of skilled workers, and supply‑chain delays are squeezing margins </a:t>
              </a:r>
            </a:p>
          </p:txBody>
        </p:sp>
        <p:sp>
          <p:nvSpPr>
            <p:cNvPr id="2916" name="Freeform: Shape 2915">
              <a:extLst>
                <a:ext uri="{FF2B5EF4-FFF2-40B4-BE49-F238E27FC236}">
                  <a16:creationId xmlns:a16="http://schemas.microsoft.com/office/drawing/2014/main" id="{DC860214-FC8A-1B69-5EDF-1DB17E228499}"/>
                </a:ext>
              </a:extLst>
            </p:cNvPr>
            <p:cNvSpPr/>
            <p:nvPr/>
          </p:nvSpPr>
          <p:spPr>
            <a:xfrm>
              <a:off x="3962663" y="2731353"/>
              <a:ext cx="6363350" cy="1261233"/>
            </a:xfrm>
            <a:custGeom>
              <a:avLst/>
              <a:gdLst>
                <a:gd name="connsiteX0" fmla="*/ 210210 w 1261232"/>
                <a:gd name="connsiteY0" fmla="*/ 0 h 6363349"/>
                <a:gd name="connsiteX1" fmla="*/ 1051022 w 1261232"/>
                <a:gd name="connsiteY1" fmla="*/ 0 h 6363349"/>
                <a:gd name="connsiteX2" fmla="*/ 1261232 w 1261232"/>
                <a:gd name="connsiteY2" fmla="*/ 210210 h 6363349"/>
                <a:gd name="connsiteX3" fmla="*/ 1261232 w 1261232"/>
                <a:gd name="connsiteY3" fmla="*/ 6363349 h 6363349"/>
                <a:gd name="connsiteX4" fmla="*/ 1261232 w 1261232"/>
                <a:gd name="connsiteY4" fmla="*/ 6363349 h 6363349"/>
                <a:gd name="connsiteX5" fmla="*/ 0 w 1261232"/>
                <a:gd name="connsiteY5" fmla="*/ 6363349 h 6363349"/>
                <a:gd name="connsiteX6" fmla="*/ 0 w 1261232"/>
                <a:gd name="connsiteY6" fmla="*/ 6363349 h 6363349"/>
                <a:gd name="connsiteX7" fmla="*/ 0 w 1261232"/>
                <a:gd name="connsiteY7" fmla="*/ 210210 h 6363349"/>
                <a:gd name="connsiteX8" fmla="*/ 210210 w 1261232"/>
                <a:gd name="connsiteY8" fmla="*/ 0 h 6363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61232" h="6363349">
                  <a:moveTo>
                    <a:pt x="1261232" y="1060583"/>
                  </a:moveTo>
                  <a:lnTo>
                    <a:pt x="1261232" y="5302766"/>
                  </a:lnTo>
                  <a:cubicBezTo>
                    <a:pt x="1261232" y="5888509"/>
                    <a:pt x="1242578" y="6363346"/>
                    <a:pt x="1219568" y="6363346"/>
                  </a:cubicBezTo>
                  <a:lnTo>
                    <a:pt x="0" y="6363346"/>
                  </a:lnTo>
                  <a:lnTo>
                    <a:pt x="0" y="6363346"/>
                  </a:lnTo>
                  <a:lnTo>
                    <a:pt x="0" y="3"/>
                  </a:lnTo>
                  <a:lnTo>
                    <a:pt x="0" y="3"/>
                  </a:lnTo>
                  <a:lnTo>
                    <a:pt x="1219568" y="3"/>
                  </a:lnTo>
                  <a:cubicBezTo>
                    <a:pt x="1242578" y="3"/>
                    <a:pt x="1261232" y="474840"/>
                    <a:pt x="1261232" y="1060583"/>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13793" tIns="71728" rIns="71728" bIns="71729" numCol="1" spcCol="1270" anchor="ctr" anchorCtr="0">
              <a:noAutofit/>
            </a:bodyPr>
            <a:lstStyle/>
            <a:p>
              <a:pPr marL="171450" lvl="1" indent="-171450" defTabSz="711200">
                <a:lnSpc>
                  <a:spcPct val="90000"/>
                </a:lnSpc>
                <a:spcBef>
                  <a:spcPct val="0"/>
                </a:spcBef>
                <a:spcAft>
                  <a:spcPct val="15000"/>
                </a:spcAft>
                <a:buFont typeface="Arial"/>
                <a:buChar char="•"/>
              </a:pPr>
              <a:r>
                <a:rPr lang="en-GB" sz="1400" dirty="0">
                  <a:solidFill>
                    <a:schemeClr val="tx1"/>
                  </a:solidFill>
                  <a:latin typeface="Times New Roman" panose="02020603050405020304" pitchFamily="18" charset="0"/>
                  <a:ea typeface="+mn-lt"/>
                  <a:cs typeface="Times New Roman" panose="02020603050405020304" pitchFamily="18" charset="0"/>
                </a:rPr>
                <a:t>Public‑spending uncertainty. Infrastructure pipelines may face slower phasing or budget constraints. UK output growth is forecast low (~1%) and subject to public‑spend squeeze</a:t>
              </a:r>
            </a:p>
          </p:txBody>
        </p:sp>
      </p:grpSp>
      <p:sp>
        <p:nvSpPr>
          <p:cNvPr id="2919" name="TextBox 2918">
            <a:extLst>
              <a:ext uri="{FF2B5EF4-FFF2-40B4-BE49-F238E27FC236}">
                <a16:creationId xmlns:a16="http://schemas.microsoft.com/office/drawing/2014/main" id="{8ED0B036-F7FA-AB11-65BD-31B1B234CF41}"/>
              </a:ext>
            </a:extLst>
          </p:cNvPr>
          <p:cNvSpPr txBox="1"/>
          <p:nvPr/>
        </p:nvSpPr>
        <p:spPr>
          <a:xfrm>
            <a:off x="13656028" y="5888845"/>
            <a:ext cx="1972879" cy="369332"/>
          </a:xfrm>
          <a:prstGeom prst="rect">
            <a:avLst/>
          </a:prstGeom>
          <a:noFill/>
        </p:spPr>
        <p:txBody>
          <a:bodyPr wrap="square" rtlCol="0">
            <a:spAutoFit/>
          </a:bodyPr>
          <a:lstStyle/>
          <a:p>
            <a:r>
              <a:rPr lang="en-GB" dirty="0">
                <a:latin typeface="Times New Roman" panose="02020603050405020304" pitchFamily="18" charset="0"/>
                <a:cs typeface="Times New Roman" panose="02020603050405020304" pitchFamily="18" charset="0"/>
              </a:rPr>
              <a:t>Headwinds</a:t>
            </a:r>
          </a:p>
        </p:txBody>
      </p:sp>
      <p:sp>
        <p:nvSpPr>
          <p:cNvPr id="2922" name="Rectangle: Rounded Corners 2921">
            <a:extLst>
              <a:ext uri="{FF2B5EF4-FFF2-40B4-BE49-F238E27FC236}">
                <a16:creationId xmlns:a16="http://schemas.microsoft.com/office/drawing/2014/main" id="{4C7F3A92-4D7C-D32C-0A8E-D7547041E977}"/>
              </a:ext>
            </a:extLst>
          </p:cNvPr>
          <p:cNvSpPr/>
          <p:nvPr/>
        </p:nvSpPr>
        <p:spPr>
          <a:xfrm>
            <a:off x="899872" y="1876373"/>
            <a:ext cx="6511133" cy="2018367"/>
          </a:xfrm>
          <a:prstGeom prst="round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en-GB" dirty="0">
                <a:solidFill>
                  <a:schemeClr val="bg1"/>
                </a:solidFill>
                <a:latin typeface="Times New Roman" panose="02020603050405020304" pitchFamily="18" charset="0"/>
                <a:ea typeface="Calibri"/>
                <a:cs typeface="Times New Roman" panose="02020603050405020304" pitchFamily="18" charset="0"/>
              </a:rPr>
              <a:t>Driven by infrastructure investment, energy transition, sustainable building, and infrastructure renewal.</a:t>
            </a:r>
            <a:endParaRPr lang="en-GB" dirty="0">
              <a:solidFill>
                <a:schemeClr val="bg1"/>
              </a:solidFill>
              <a:latin typeface="Times New Roman" panose="02020603050405020304" pitchFamily="18" charset="0"/>
              <a:ea typeface="+mn-lt"/>
              <a:cs typeface="Times New Roman" panose="02020603050405020304" pitchFamily="18" charset="0"/>
            </a:endParaRPr>
          </a:p>
          <a:p>
            <a:pPr marL="342900" indent="-342900">
              <a:buFont typeface="Arial" panose="020B0604020202020204" pitchFamily="34" charset="0"/>
              <a:buChar char="•"/>
            </a:pPr>
            <a:r>
              <a:rPr lang="en-GB" dirty="0">
                <a:solidFill>
                  <a:schemeClr val="bg1"/>
                </a:solidFill>
                <a:latin typeface="Times New Roman" panose="02020603050405020304" pitchFamily="18" charset="0"/>
                <a:ea typeface="+mn-lt"/>
                <a:cs typeface="Times New Roman" panose="02020603050405020304" pitchFamily="18" charset="0"/>
              </a:rPr>
              <a:t>Sustainability and net-zero targets accelerating demand for low-carbon, circular, and modular construction.</a:t>
            </a:r>
            <a:endParaRPr lang="en-GB" dirty="0">
              <a:solidFill>
                <a:schemeClr val="bg1"/>
              </a:solidFill>
              <a:latin typeface="Times New Roman" panose="02020603050405020304" pitchFamily="18" charset="0"/>
              <a:ea typeface="Calibri"/>
              <a:cs typeface="Times New Roman" panose="02020603050405020304" pitchFamily="18" charset="0"/>
            </a:endParaRPr>
          </a:p>
          <a:p>
            <a:pPr marL="342900" indent="-342900">
              <a:buFont typeface="Arial" panose="020B0604020202020204" pitchFamily="34" charset="0"/>
              <a:buChar char="•"/>
            </a:pPr>
            <a:r>
              <a:rPr lang="en-GB" dirty="0">
                <a:solidFill>
                  <a:schemeClr val="bg1"/>
                </a:solidFill>
                <a:latin typeface="Times New Roman" panose="02020603050405020304" pitchFamily="18" charset="0"/>
                <a:ea typeface="+mn-lt"/>
                <a:cs typeface="Times New Roman" panose="02020603050405020304" pitchFamily="18" charset="0"/>
              </a:rPr>
              <a:t>Digitalisation, industrialised construction, and off-site manufacturing driving productivity improvements.</a:t>
            </a:r>
            <a:endParaRPr lang="en-GB" dirty="0">
              <a:solidFill>
                <a:schemeClr val="bg1"/>
              </a:solidFill>
              <a:latin typeface="Times New Roman" panose="02020603050405020304" pitchFamily="18" charset="0"/>
              <a:ea typeface="Calibri"/>
              <a:cs typeface="Times New Roman" panose="02020603050405020304" pitchFamily="18" charset="0"/>
            </a:endParaRPr>
          </a:p>
          <a:p>
            <a:pPr algn="ctr"/>
            <a:endParaRPr lang="en-GB" dirty="0">
              <a:latin typeface="Times New Roman" panose="02020603050405020304" pitchFamily="18" charset="0"/>
              <a:cs typeface="Times New Roman" panose="02020603050405020304" pitchFamily="18" charset="0"/>
            </a:endParaRPr>
          </a:p>
        </p:txBody>
      </p:sp>
      <p:sp>
        <p:nvSpPr>
          <p:cNvPr id="2925" name="TextBox 11">
            <a:extLst>
              <a:ext uri="{FF2B5EF4-FFF2-40B4-BE49-F238E27FC236}">
                <a16:creationId xmlns:a16="http://schemas.microsoft.com/office/drawing/2014/main" id="{4293D58B-52D9-90AF-E63D-28BF9BAD9A45}"/>
              </a:ext>
            </a:extLst>
          </p:cNvPr>
          <p:cNvSpPr txBox="1"/>
          <p:nvPr/>
        </p:nvSpPr>
        <p:spPr>
          <a:xfrm>
            <a:off x="979992" y="731897"/>
            <a:ext cx="5237748" cy="615553"/>
          </a:xfrm>
          <a:prstGeom prst="rect">
            <a:avLst/>
          </a:prstGeom>
        </p:spPr>
        <p:txBody>
          <a:bodyPr wrap="square" lIns="0" tIns="0" rIns="0" bIns="0" rtlCol="0" anchor="t">
            <a:spAutoFit/>
          </a:bodyPr>
          <a:lstStyle/>
          <a:p>
            <a:pPr>
              <a:lnSpc>
                <a:spcPts val="4759"/>
              </a:lnSpc>
              <a:spcBef>
                <a:spcPct val="0"/>
              </a:spcBef>
            </a:pPr>
            <a:r>
              <a:rPr lang="en-US" sz="4400" dirty="0">
                <a:latin typeface="Times New Roman" panose="02020603050405020304" pitchFamily="18" charset="0"/>
                <a:ea typeface="Montserrat"/>
                <a:cs typeface="Times New Roman" panose="02020603050405020304" pitchFamily="18" charset="0"/>
                <a:sym typeface="Montserrat"/>
              </a:rPr>
              <a:t>Industry Overview</a:t>
            </a:r>
          </a:p>
        </p:txBody>
      </p:sp>
      <p:sp>
        <p:nvSpPr>
          <p:cNvPr id="2926" name="AutoShape 10">
            <a:extLst>
              <a:ext uri="{FF2B5EF4-FFF2-40B4-BE49-F238E27FC236}">
                <a16:creationId xmlns:a16="http://schemas.microsoft.com/office/drawing/2014/main" id="{3ADFD8E2-EAD2-F06B-30A3-33C80F7D00F4}"/>
              </a:ext>
            </a:extLst>
          </p:cNvPr>
          <p:cNvSpPr/>
          <p:nvPr/>
        </p:nvSpPr>
        <p:spPr>
          <a:xfrm>
            <a:off x="973240" y="1362172"/>
            <a:ext cx="13744971" cy="0"/>
          </a:xfrm>
          <a:prstGeom prst="line">
            <a:avLst/>
          </a:prstGeom>
          <a:ln w="38100" cap="flat">
            <a:solidFill>
              <a:srgbClr val="214779"/>
            </a:solidFill>
            <a:prstDash val="solid"/>
            <a:headEnd type="none" w="sm" len="sm"/>
            <a:tailEnd type="none" w="sm" len="sm"/>
          </a:ln>
        </p:spPr>
        <p:txBody>
          <a:bodyPr/>
          <a:lstStyle/>
          <a:p>
            <a:endParaRPr lang="en-GB">
              <a:latin typeface="Times New Roman" panose="02020603050405020304" pitchFamily="18" charset="0"/>
              <a:cs typeface="Times New Roman" panose="02020603050405020304" pitchFamily="18" charset="0"/>
            </a:endParaRPr>
          </a:p>
        </p:txBody>
      </p:sp>
      <p:sp>
        <p:nvSpPr>
          <p:cNvPr id="10" name="TextBox 49">
            <a:extLst>
              <a:ext uri="{FF2B5EF4-FFF2-40B4-BE49-F238E27FC236}">
                <a16:creationId xmlns:a16="http://schemas.microsoft.com/office/drawing/2014/main" id="{CF583B80-FFBB-79AB-7850-ACD12CF82427}"/>
              </a:ext>
            </a:extLst>
          </p:cNvPr>
          <p:cNvSpPr txBox="1"/>
          <p:nvPr/>
        </p:nvSpPr>
        <p:spPr>
          <a:xfrm>
            <a:off x="3233349" y="9250434"/>
            <a:ext cx="8782188" cy="466474"/>
          </a:xfrm>
          <a:prstGeom prst="rect">
            <a:avLst/>
          </a:prstGeom>
        </p:spPr>
        <p:txBody>
          <a:bodyPr wrap="square" lIns="0" tIns="0" rIns="0" bIns="0" rtlCol="0" anchor="t">
            <a:spAutoFit/>
          </a:bodyPr>
          <a:lstStyle/>
          <a:p>
            <a:pPr algn="ctr">
              <a:lnSpc>
                <a:spcPts val="4060"/>
              </a:lnSpc>
              <a:spcBef>
                <a:spcPct val="0"/>
              </a:spcBef>
            </a:pPr>
            <a:r>
              <a:rPr lang="en-US" sz="2400" dirty="0">
                <a:solidFill>
                  <a:schemeClr val="bg1">
                    <a:lumMod val="50000"/>
                  </a:schemeClr>
                </a:solidFill>
                <a:latin typeface="Times New Roman" panose="02020603050405020304" pitchFamily="18" charset="0"/>
                <a:ea typeface="Times New Roman"/>
                <a:cs typeface="Times New Roman" panose="02020603050405020304" pitchFamily="18" charset="0"/>
                <a:sym typeface="Times New Roman"/>
              </a:rPr>
              <a:t>29/10/25		      Royal Bam Group – (XAMS</a:t>
            </a:r>
            <a:r>
              <a:rPr lang="en-US" sz="2400" dirty="0">
                <a:solidFill>
                  <a:schemeClr val="bg1">
                    <a:lumMod val="50000"/>
                  </a:schemeClr>
                </a:solidFill>
                <a:latin typeface="Times New Roman" panose="02020603050405020304" pitchFamily="18" charset="0"/>
                <a:ea typeface="Times New Roman"/>
                <a:cs typeface="Times New Roman" panose="02020603050405020304" pitchFamily="18" charset="0"/>
                <a:sym typeface="Wingdings" pitchFamily="2" charset="2"/>
              </a:rPr>
              <a:t>:</a:t>
            </a:r>
            <a:r>
              <a:rPr lang="en-US" sz="2400" dirty="0">
                <a:solidFill>
                  <a:schemeClr val="bg1">
                    <a:lumMod val="50000"/>
                  </a:schemeClr>
                </a:solidFill>
                <a:latin typeface="Times New Roman" panose="02020603050405020304" pitchFamily="18" charset="0"/>
                <a:ea typeface="Times New Roman"/>
                <a:cs typeface="Times New Roman" panose="02020603050405020304" pitchFamily="18" charset="0"/>
                <a:sym typeface="Times New Roman"/>
              </a:rPr>
              <a:t> BAMNB)</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23487A"/>
        </a:solidFill>
        <a:effectLst/>
      </p:bgPr>
    </p:bg>
    <p:spTree>
      <p:nvGrpSpPr>
        <p:cNvPr id="1" name=""/>
        <p:cNvGrpSpPr/>
        <p:nvPr/>
      </p:nvGrpSpPr>
      <p:grpSpPr>
        <a:xfrm>
          <a:off x="0" y="0"/>
          <a:ext cx="0" cy="0"/>
          <a:chOff x="0" y="0"/>
          <a:chExt cx="0" cy="0"/>
        </a:xfrm>
      </p:grpSpPr>
      <p:sp>
        <p:nvSpPr>
          <p:cNvPr id="33" name="Freeform 7">
            <a:extLst>
              <a:ext uri="{FF2B5EF4-FFF2-40B4-BE49-F238E27FC236}">
                <a16:creationId xmlns:a16="http://schemas.microsoft.com/office/drawing/2014/main" id="{DB27047C-F42E-1041-9A6A-EA7AB0F5B4A3}"/>
              </a:ext>
            </a:extLst>
          </p:cNvPr>
          <p:cNvSpPr/>
          <p:nvPr/>
        </p:nvSpPr>
        <p:spPr>
          <a:xfrm>
            <a:off x="482833" y="399657"/>
            <a:ext cx="17349108" cy="9487687"/>
          </a:xfrm>
          <a:custGeom>
            <a:avLst/>
            <a:gdLst/>
            <a:ahLst/>
            <a:cxnLst/>
            <a:rect l="l" t="t" r="r" b="b"/>
            <a:pathLst>
              <a:path w="5293499" h="2894850">
                <a:moveTo>
                  <a:pt x="0" y="0"/>
                </a:moveTo>
                <a:lnTo>
                  <a:pt x="5293499" y="0"/>
                </a:lnTo>
                <a:lnTo>
                  <a:pt x="5293499" y="2894850"/>
                </a:lnTo>
                <a:lnTo>
                  <a:pt x="0" y="2894850"/>
                </a:lnTo>
                <a:close/>
              </a:path>
            </a:pathLst>
          </a:custGeom>
          <a:solidFill>
            <a:srgbClr val="FFFFFF"/>
          </a:solidFill>
        </p:spPr>
        <p:txBody>
          <a:bodyPr/>
          <a:lstStyle/>
          <a:p>
            <a:endParaRPr lang="en-GB">
              <a:latin typeface="Times New Roman" panose="02020603050405020304" pitchFamily="18" charset="0"/>
              <a:cs typeface="Times New Roman" panose="02020603050405020304" pitchFamily="18" charset="0"/>
            </a:endParaRPr>
          </a:p>
        </p:txBody>
      </p:sp>
      <p:sp>
        <p:nvSpPr>
          <p:cNvPr id="2" name="Freeform 2"/>
          <p:cNvSpPr/>
          <p:nvPr/>
        </p:nvSpPr>
        <p:spPr>
          <a:xfrm>
            <a:off x="7846503" y="6394025"/>
            <a:ext cx="2594994" cy="2153293"/>
          </a:xfrm>
          <a:custGeom>
            <a:avLst/>
            <a:gdLst/>
            <a:ahLst/>
            <a:cxnLst/>
            <a:rect l="l" t="t" r="r" b="b"/>
            <a:pathLst>
              <a:path w="2594994" h="2153293">
                <a:moveTo>
                  <a:pt x="0" y="0"/>
                </a:moveTo>
                <a:lnTo>
                  <a:pt x="2594994" y="0"/>
                </a:lnTo>
                <a:lnTo>
                  <a:pt x="2594994" y="2153293"/>
                </a:lnTo>
                <a:lnTo>
                  <a:pt x="0" y="2153293"/>
                </a:lnTo>
                <a:lnTo>
                  <a:pt x="0" y="0"/>
                </a:lnTo>
                <a:close/>
              </a:path>
            </a:pathLst>
          </a:custGeom>
          <a:blipFill>
            <a:blip r:embed="rId3"/>
            <a:stretch>
              <a:fillRect l="-83932" t="-92948" r="-86060" b="-132427"/>
            </a:stretch>
          </a:blipFill>
        </p:spPr>
        <p:txBody>
          <a:bodyPr/>
          <a:lstStyle/>
          <a:p>
            <a:endParaRPr lang="en-GB">
              <a:latin typeface="Times New Roman" panose="02020603050405020304" pitchFamily="18" charset="0"/>
              <a:cs typeface="Times New Roman" panose="02020603050405020304" pitchFamily="18" charset="0"/>
            </a:endParaRPr>
          </a:p>
        </p:txBody>
      </p:sp>
      <p:sp>
        <p:nvSpPr>
          <p:cNvPr id="8" name="TextBox 8"/>
          <p:cNvSpPr txBox="1"/>
          <p:nvPr/>
        </p:nvSpPr>
        <p:spPr>
          <a:xfrm>
            <a:off x="482833" y="306003"/>
            <a:ext cx="17349108" cy="9581340"/>
          </a:xfrm>
          <a:prstGeom prst="rect">
            <a:avLst/>
          </a:prstGeom>
        </p:spPr>
        <p:txBody>
          <a:bodyPr lIns="43850" tIns="43850" rIns="43850" bIns="43850" rtlCol="0" anchor="ctr"/>
          <a:lstStyle/>
          <a:p>
            <a:pPr algn="ctr">
              <a:lnSpc>
                <a:spcPts val="2296"/>
              </a:lnSpc>
              <a:spcBef>
                <a:spcPct val="0"/>
              </a:spcBef>
            </a:pPr>
            <a:endParaRPr lang="en-GB">
              <a:latin typeface="Times New Roman" panose="02020603050405020304" pitchFamily="18" charset="0"/>
              <a:cs typeface="Times New Roman" panose="02020603050405020304" pitchFamily="18" charset="0"/>
            </a:endParaRPr>
          </a:p>
        </p:txBody>
      </p:sp>
      <p:sp>
        <p:nvSpPr>
          <p:cNvPr id="9" name="Freeform 9"/>
          <p:cNvSpPr/>
          <p:nvPr/>
        </p:nvSpPr>
        <p:spPr>
          <a:xfrm>
            <a:off x="16305847" y="8621010"/>
            <a:ext cx="1526094" cy="1266333"/>
          </a:xfrm>
          <a:custGeom>
            <a:avLst/>
            <a:gdLst/>
            <a:ahLst/>
            <a:cxnLst/>
            <a:rect l="l" t="t" r="r" b="b"/>
            <a:pathLst>
              <a:path w="1526094" h="1266333">
                <a:moveTo>
                  <a:pt x="0" y="0"/>
                </a:moveTo>
                <a:lnTo>
                  <a:pt x="1526094" y="0"/>
                </a:lnTo>
                <a:lnTo>
                  <a:pt x="1526094" y="1266333"/>
                </a:lnTo>
                <a:lnTo>
                  <a:pt x="0" y="1266333"/>
                </a:lnTo>
                <a:lnTo>
                  <a:pt x="0" y="0"/>
                </a:lnTo>
                <a:close/>
              </a:path>
            </a:pathLst>
          </a:custGeom>
          <a:blipFill>
            <a:blip r:embed="rId3"/>
            <a:stretch>
              <a:fillRect l="-83932" t="-92948" r="-86060" b="-132427"/>
            </a:stretch>
          </a:blipFill>
        </p:spPr>
        <p:txBody>
          <a:bodyPr/>
          <a:lstStyle/>
          <a:p>
            <a:endParaRPr lang="en-GB">
              <a:latin typeface="Times New Roman" panose="02020603050405020304" pitchFamily="18" charset="0"/>
              <a:cs typeface="Times New Roman" panose="02020603050405020304" pitchFamily="18" charset="0"/>
            </a:endParaRPr>
          </a:p>
        </p:txBody>
      </p:sp>
      <p:sp>
        <p:nvSpPr>
          <p:cNvPr id="10" name="AutoShape 10"/>
          <p:cNvSpPr/>
          <p:nvPr/>
        </p:nvSpPr>
        <p:spPr>
          <a:xfrm>
            <a:off x="2209802" y="9254177"/>
            <a:ext cx="13744971" cy="0"/>
          </a:xfrm>
          <a:prstGeom prst="line">
            <a:avLst/>
          </a:prstGeom>
          <a:ln w="38100" cap="flat">
            <a:solidFill>
              <a:srgbClr val="214779"/>
            </a:solidFill>
            <a:prstDash val="solid"/>
            <a:headEnd type="none" w="sm" len="sm"/>
            <a:tailEnd type="none" w="sm" len="sm"/>
          </a:ln>
        </p:spPr>
        <p:txBody>
          <a:bodyPr/>
          <a:lstStyle/>
          <a:p>
            <a:endParaRPr lang="en-GB">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6F4827B2-9864-A1F6-083C-BB035F3BAB3C}"/>
              </a:ext>
            </a:extLst>
          </p:cNvPr>
          <p:cNvSpPr txBox="1"/>
          <p:nvPr/>
        </p:nvSpPr>
        <p:spPr>
          <a:xfrm>
            <a:off x="967401" y="1358298"/>
            <a:ext cx="8051201"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800" dirty="0">
                <a:latin typeface="Times New Roman" panose="02020603050405020304" pitchFamily="18" charset="0"/>
                <a:ea typeface="Calibri"/>
                <a:cs typeface="Times New Roman" panose="02020603050405020304" pitchFamily="18" charset="0"/>
              </a:rPr>
              <a:t>What moves the needle?</a:t>
            </a:r>
          </a:p>
        </p:txBody>
      </p:sp>
      <p:sp>
        <p:nvSpPr>
          <p:cNvPr id="17" name="Rectangle 16">
            <a:extLst>
              <a:ext uri="{FF2B5EF4-FFF2-40B4-BE49-F238E27FC236}">
                <a16:creationId xmlns:a16="http://schemas.microsoft.com/office/drawing/2014/main" id="{DD298DB7-0D55-E698-6D38-4EC9A28AE8ED}"/>
              </a:ext>
            </a:extLst>
          </p:cNvPr>
          <p:cNvSpPr/>
          <p:nvPr/>
        </p:nvSpPr>
        <p:spPr>
          <a:xfrm>
            <a:off x="1026854" y="2177630"/>
            <a:ext cx="279206" cy="540961"/>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2F15AC35-7DB7-88D9-6F90-0CB823103313}"/>
              </a:ext>
            </a:extLst>
          </p:cNvPr>
          <p:cNvSpPr txBox="1"/>
          <p:nvPr/>
        </p:nvSpPr>
        <p:spPr>
          <a:xfrm>
            <a:off x="1308652" y="2211457"/>
            <a:ext cx="387626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400" dirty="0">
                <a:latin typeface="Times New Roman" panose="02020603050405020304" pitchFamily="18" charset="0"/>
                <a:ea typeface="Calibri"/>
                <a:cs typeface="Times New Roman" panose="02020603050405020304" pitchFamily="18" charset="0"/>
              </a:rPr>
              <a:t>Recent Share Price Action</a:t>
            </a:r>
          </a:p>
        </p:txBody>
      </p:sp>
      <p:sp>
        <p:nvSpPr>
          <p:cNvPr id="27" name="Oval 26">
            <a:extLst>
              <a:ext uri="{FF2B5EF4-FFF2-40B4-BE49-F238E27FC236}">
                <a16:creationId xmlns:a16="http://schemas.microsoft.com/office/drawing/2014/main" id="{D09A5D8C-B0DF-B49B-F1A2-4A1D54C0E8BC}"/>
              </a:ext>
            </a:extLst>
          </p:cNvPr>
          <p:cNvSpPr/>
          <p:nvPr/>
        </p:nvSpPr>
        <p:spPr>
          <a:xfrm>
            <a:off x="1217302" y="7573199"/>
            <a:ext cx="242323" cy="243318"/>
          </a:xfrm>
          <a:prstGeom prst="ellipse">
            <a:avLst/>
          </a:prstGeom>
          <a:ln>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GB">
                <a:solidFill>
                  <a:schemeClr val="tx1"/>
                </a:solidFill>
                <a:latin typeface="Times New Roman" panose="02020603050405020304" pitchFamily="18" charset="0"/>
                <a:ea typeface="Calibri"/>
                <a:cs typeface="Times New Roman" panose="02020603050405020304" pitchFamily="18" charset="0"/>
              </a:rPr>
              <a:t>1</a:t>
            </a:r>
          </a:p>
        </p:txBody>
      </p:sp>
      <p:sp>
        <p:nvSpPr>
          <p:cNvPr id="29" name="Oval 28">
            <a:extLst>
              <a:ext uri="{FF2B5EF4-FFF2-40B4-BE49-F238E27FC236}">
                <a16:creationId xmlns:a16="http://schemas.microsoft.com/office/drawing/2014/main" id="{47D218D6-ED5B-9D71-88AC-74C2D2A9009C}"/>
              </a:ext>
            </a:extLst>
          </p:cNvPr>
          <p:cNvSpPr/>
          <p:nvPr/>
        </p:nvSpPr>
        <p:spPr>
          <a:xfrm>
            <a:off x="1217301" y="8117741"/>
            <a:ext cx="242323" cy="243318"/>
          </a:xfrm>
          <a:prstGeom prst="ellipse">
            <a:avLst/>
          </a:prstGeom>
          <a:ln>
            <a:solidFill>
              <a:schemeClr val="tx2"/>
            </a:solidFill>
          </a:ln>
        </p:spPr>
        <p:style>
          <a:lnRef idx="2">
            <a:schemeClr val="accent1"/>
          </a:lnRef>
          <a:fillRef idx="1">
            <a:schemeClr val="lt1"/>
          </a:fillRef>
          <a:effectRef idx="0">
            <a:schemeClr val="accent1"/>
          </a:effectRef>
          <a:fontRef idx="minor">
            <a:schemeClr val="dk1"/>
          </a:fontRef>
        </p:style>
        <p:txBody>
          <a:bodyPr lIns="91440" tIns="45720" rIns="91440" bIns="45720" rtlCol="0" anchor="ctr"/>
          <a:lstStyle/>
          <a:p>
            <a:pPr algn="ctr"/>
            <a:r>
              <a:rPr lang="en-GB">
                <a:latin typeface="Times New Roman" panose="02020603050405020304" pitchFamily="18" charset="0"/>
                <a:ea typeface="Calibri"/>
                <a:cs typeface="Times New Roman" panose="02020603050405020304" pitchFamily="18" charset="0"/>
              </a:rPr>
              <a:t>2</a:t>
            </a:r>
          </a:p>
        </p:txBody>
      </p:sp>
      <p:sp>
        <p:nvSpPr>
          <p:cNvPr id="30" name="TextBox 29">
            <a:extLst>
              <a:ext uri="{FF2B5EF4-FFF2-40B4-BE49-F238E27FC236}">
                <a16:creationId xmlns:a16="http://schemas.microsoft.com/office/drawing/2014/main" id="{AF01C93F-6B7A-6CF0-6D5B-6F33F57CDF07}"/>
              </a:ext>
            </a:extLst>
          </p:cNvPr>
          <p:cNvSpPr txBox="1"/>
          <p:nvPr/>
        </p:nvSpPr>
        <p:spPr>
          <a:xfrm>
            <a:off x="1459378" y="7520162"/>
            <a:ext cx="5097192"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dirty="0">
                <a:latin typeface="Times New Roman" panose="02020603050405020304" pitchFamily="18" charset="0"/>
                <a:ea typeface="Calibri"/>
                <a:cs typeface="Times New Roman" panose="02020603050405020304" pitchFamily="18" charset="0"/>
              </a:rPr>
              <a:t>Silvertown Tunnel opening, M28 Cork–</a:t>
            </a:r>
            <a:r>
              <a:rPr lang="en-GB" sz="1200" dirty="0" err="1">
                <a:latin typeface="Times New Roman" panose="02020603050405020304" pitchFamily="18" charset="0"/>
                <a:ea typeface="Calibri"/>
                <a:cs typeface="Times New Roman" panose="02020603050405020304" pitchFamily="18" charset="0"/>
              </a:rPr>
              <a:t>Ringaskiddy</a:t>
            </a:r>
            <a:r>
              <a:rPr lang="en-GB" sz="1200" dirty="0">
                <a:latin typeface="Times New Roman" panose="02020603050405020304" pitchFamily="18" charset="0"/>
                <a:ea typeface="Calibri"/>
                <a:cs typeface="Times New Roman" panose="02020603050405020304" pitchFamily="18" charset="0"/>
              </a:rPr>
              <a:t> motorway contract, Hither Green station accessibility upgrade led to a ~34% jump in the next month </a:t>
            </a:r>
            <a:endParaRPr lang="en-US" sz="1200" dirty="0">
              <a:latin typeface="Times New Roman" panose="02020603050405020304" pitchFamily="18" charset="0"/>
              <a:ea typeface="Calibri"/>
              <a:cs typeface="Times New Roman" panose="02020603050405020304" pitchFamily="18" charset="0"/>
            </a:endParaRPr>
          </a:p>
        </p:txBody>
      </p:sp>
      <p:pic>
        <p:nvPicPr>
          <p:cNvPr id="13" name="Picture 12" descr="A graph of stock market&#10;&#10;AI-generated content may be incorrect.">
            <a:extLst>
              <a:ext uri="{FF2B5EF4-FFF2-40B4-BE49-F238E27FC236}">
                <a16:creationId xmlns:a16="http://schemas.microsoft.com/office/drawing/2014/main" id="{59657C64-512F-CDB7-EB81-40435E16E1FE}"/>
              </a:ext>
            </a:extLst>
          </p:cNvPr>
          <p:cNvPicPr>
            <a:picLocks noChangeAspect="1"/>
          </p:cNvPicPr>
          <p:nvPr/>
        </p:nvPicPr>
        <p:blipFill>
          <a:blip r:embed="rId4"/>
          <a:srcRect l="6034" t="9409" r="70" b="5238"/>
          <a:stretch>
            <a:fillRect/>
          </a:stretch>
        </p:blipFill>
        <p:spPr>
          <a:xfrm>
            <a:off x="1168593" y="2976326"/>
            <a:ext cx="5383077" cy="4330729"/>
          </a:xfrm>
          <a:prstGeom prst="rect">
            <a:avLst/>
          </a:prstGeom>
        </p:spPr>
      </p:pic>
      <p:sp>
        <p:nvSpPr>
          <p:cNvPr id="25" name="Oval 24">
            <a:extLst>
              <a:ext uri="{FF2B5EF4-FFF2-40B4-BE49-F238E27FC236}">
                <a16:creationId xmlns:a16="http://schemas.microsoft.com/office/drawing/2014/main" id="{107A996E-68EA-EBF3-AE04-39452BDD44AB}"/>
              </a:ext>
            </a:extLst>
          </p:cNvPr>
          <p:cNvSpPr/>
          <p:nvPr/>
        </p:nvSpPr>
        <p:spPr>
          <a:xfrm>
            <a:off x="2613703" y="6802214"/>
            <a:ext cx="183017" cy="184012"/>
          </a:xfrm>
          <a:prstGeom prst="ellipse">
            <a:avLst/>
          </a:prstGeom>
          <a:ln>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GB">
                <a:latin typeface="Times New Roman" panose="02020603050405020304" pitchFamily="18" charset="0"/>
                <a:ea typeface="Calibri"/>
                <a:cs typeface="Times New Roman" panose="02020603050405020304" pitchFamily="18" charset="0"/>
              </a:rPr>
              <a:t>1</a:t>
            </a:r>
          </a:p>
        </p:txBody>
      </p:sp>
      <p:sp>
        <p:nvSpPr>
          <p:cNvPr id="26" name="Oval 25">
            <a:extLst>
              <a:ext uri="{FF2B5EF4-FFF2-40B4-BE49-F238E27FC236}">
                <a16:creationId xmlns:a16="http://schemas.microsoft.com/office/drawing/2014/main" id="{829829B7-58E3-BA4F-42E6-073A7D8EDD2E}"/>
              </a:ext>
            </a:extLst>
          </p:cNvPr>
          <p:cNvSpPr/>
          <p:nvPr/>
        </p:nvSpPr>
        <p:spPr>
          <a:xfrm>
            <a:off x="4867353" y="4446124"/>
            <a:ext cx="183017" cy="184012"/>
          </a:xfrm>
          <a:prstGeom prst="ellipse">
            <a:avLst/>
          </a:prstGeom>
          <a:ln>
            <a:solidFill>
              <a:schemeClr val="tx2"/>
            </a:solidFill>
          </a:ln>
        </p:spPr>
        <p:style>
          <a:lnRef idx="2">
            <a:schemeClr val="accent1"/>
          </a:lnRef>
          <a:fillRef idx="1">
            <a:schemeClr val="lt1"/>
          </a:fillRef>
          <a:effectRef idx="0">
            <a:schemeClr val="accent1"/>
          </a:effectRef>
          <a:fontRef idx="minor">
            <a:schemeClr val="dk1"/>
          </a:fontRef>
        </p:style>
        <p:txBody>
          <a:bodyPr lIns="91440" tIns="45720" rIns="91440" bIns="45720" rtlCol="0" anchor="ctr"/>
          <a:lstStyle/>
          <a:p>
            <a:pPr algn="ctr"/>
            <a:r>
              <a:rPr lang="en-GB">
                <a:latin typeface="Times New Roman" panose="02020603050405020304" pitchFamily="18" charset="0"/>
                <a:ea typeface="Calibri"/>
                <a:cs typeface="Times New Roman" panose="02020603050405020304" pitchFamily="18" charset="0"/>
              </a:rPr>
              <a:t>2</a:t>
            </a:r>
          </a:p>
        </p:txBody>
      </p:sp>
      <p:sp>
        <p:nvSpPr>
          <p:cNvPr id="14" name="TextBox 13">
            <a:extLst>
              <a:ext uri="{FF2B5EF4-FFF2-40B4-BE49-F238E27FC236}">
                <a16:creationId xmlns:a16="http://schemas.microsoft.com/office/drawing/2014/main" id="{BE58DC38-678F-DE04-2259-A5A0330F9719}"/>
              </a:ext>
            </a:extLst>
          </p:cNvPr>
          <p:cNvSpPr txBox="1"/>
          <p:nvPr/>
        </p:nvSpPr>
        <p:spPr>
          <a:xfrm>
            <a:off x="1491726" y="8118619"/>
            <a:ext cx="5097192"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dirty="0">
                <a:latin typeface="Times New Roman" panose="02020603050405020304" pitchFamily="18" charset="0"/>
                <a:ea typeface="+mn-lt"/>
                <a:cs typeface="Times New Roman" panose="02020603050405020304" pitchFamily="18" charset="0"/>
              </a:rPr>
              <a:t>Royal BAM Group (BAMNB) dropped ~13% after ABN AMRO analyst (Den </a:t>
            </a:r>
            <a:r>
              <a:rPr lang="en-GB" sz="1200" dirty="0" err="1">
                <a:latin typeface="Times New Roman" panose="02020603050405020304" pitchFamily="18" charset="0"/>
                <a:ea typeface="+mn-lt"/>
                <a:cs typeface="Times New Roman" panose="02020603050405020304" pitchFamily="18" charset="0"/>
              </a:rPr>
              <a:t>Drijver</a:t>
            </a:r>
            <a:r>
              <a:rPr lang="en-GB" sz="1200" dirty="0">
                <a:latin typeface="Times New Roman" panose="02020603050405020304" pitchFamily="18" charset="0"/>
                <a:ea typeface="+mn-lt"/>
                <a:cs typeface="Times New Roman" panose="02020603050405020304" pitchFamily="18" charset="0"/>
              </a:rPr>
              <a:t>) put BAM on the sell list, flagging fresh risks on projects in Dublin and the </a:t>
            </a:r>
            <a:r>
              <a:rPr lang="en-GB" sz="1200" dirty="0" err="1">
                <a:latin typeface="Times New Roman" panose="02020603050405020304" pitchFamily="18" charset="0"/>
                <a:ea typeface="+mn-lt"/>
                <a:cs typeface="Times New Roman" panose="02020603050405020304" pitchFamily="18" charset="0"/>
              </a:rPr>
              <a:t>Fehmarnbelt</a:t>
            </a:r>
            <a:r>
              <a:rPr lang="en-GB" sz="1200" dirty="0">
                <a:latin typeface="Times New Roman" panose="02020603050405020304" pitchFamily="18" charset="0"/>
                <a:ea typeface="+mn-lt"/>
                <a:cs typeface="Times New Roman" panose="02020603050405020304" pitchFamily="18" charset="0"/>
              </a:rPr>
              <a:t> Denmark–Germany tunnel</a:t>
            </a:r>
            <a:endParaRPr lang="en-US" sz="2000" dirty="0">
              <a:latin typeface="Times New Roman" panose="02020603050405020304" pitchFamily="18" charset="0"/>
              <a:cs typeface="Times New Roman" panose="02020603050405020304" pitchFamily="18" charset="0"/>
            </a:endParaRPr>
          </a:p>
          <a:p>
            <a:endParaRPr lang="en-GB" sz="1200" dirty="0">
              <a:solidFill>
                <a:srgbClr val="23487B"/>
              </a:solidFill>
              <a:latin typeface="Times New Roman" panose="02020603050405020304" pitchFamily="18" charset="0"/>
              <a:ea typeface="Calibri"/>
              <a:cs typeface="Times New Roman" panose="02020603050405020304" pitchFamily="18" charset="0"/>
            </a:endParaRPr>
          </a:p>
        </p:txBody>
      </p:sp>
      <p:graphicFrame>
        <p:nvGraphicFramePr>
          <p:cNvPr id="19" name="Table 18">
            <a:extLst>
              <a:ext uri="{FF2B5EF4-FFF2-40B4-BE49-F238E27FC236}">
                <a16:creationId xmlns:a16="http://schemas.microsoft.com/office/drawing/2014/main" id="{40B56AC9-75E4-B3E7-4C76-1C760F288A93}"/>
              </a:ext>
            </a:extLst>
          </p:cNvPr>
          <p:cNvGraphicFramePr>
            <a:graphicFrameLocks noGrp="1"/>
          </p:cNvGraphicFramePr>
          <p:nvPr>
            <p:extLst>
              <p:ext uri="{D42A27DB-BD31-4B8C-83A1-F6EECF244321}">
                <p14:modId xmlns:p14="http://schemas.microsoft.com/office/powerpoint/2010/main" val="545637104"/>
              </p:ext>
            </p:extLst>
          </p:nvPr>
        </p:nvGraphicFramePr>
        <p:xfrm>
          <a:off x="6945630" y="1636776"/>
          <a:ext cx="9804981" cy="1483360"/>
        </p:xfrm>
        <a:graphic>
          <a:graphicData uri="http://schemas.openxmlformats.org/drawingml/2006/table">
            <a:tbl>
              <a:tblPr firstRow="1" bandRow="1">
                <a:tableStyleId>{3C2FFA5D-87B4-456A-9821-1D502468CF0F}</a:tableStyleId>
              </a:tblPr>
              <a:tblGrid>
                <a:gridCol w="3268327">
                  <a:extLst>
                    <a:ext uri="{9D8B030D-6E8A-4147-A177-3AD203B41FA5}">
                      <a16:colId xmlns:a16="http://schemas.microsoft.com/office/drawing/2014/main" val="841553307"/>
                    </a:ext>
                  </a:extLst>
                </a:gridCol>
                <a:gridCol w="3268327">
                  <a:extLst>
                    <a:ext uri="{9D8B030D-6E8A-4147-A177-3AD203B41FA5}">
                      <a16:colId xmlns:a16="http://schemas.microsoft.com/office/drawing/2014/main" val="1160139807"/>
                    </a:ext>
                  </a:extLst>
                </a:gridCol>
                <a:gridCol w="3268327">
                  <a:extLst>
                    <a:ext uri="{9D8B030D-6E8A-4147-A177-3AD203B41FA5}">
                      <a16:colId xmlns:a16="http://schemas.microsoft.com/office/drawing/2014/main" val="2469376787"/>
                    </a:ext>
                  </a:extLst>
                </a:gridCol>
              </a:tblGrid>
              <a:tr h="370840">
                <a:tc>
                  <a:txBody>
                    <a:bodyPr/>
                    <a:lstStyle/>
                    <a:p>
                      <a:r>
                        <a:rPr lang="en-GB" sz="1600">
                          <a:latin typeface="Times New Roman" panose="02020603050405020304" pitchFamily="18" charset="0"/>
                          <a:cs typeface="Times New Roman" panose="02020603050405020304" pitchFamily="18" charset="0"/>
                        </a:rPr>
                        <a:t>Company</a:t>
                      </a:r>
                    </a:p>
                  </a:txBody>
                  <a:tcPr>
                    <a:solidFill>
                      <a:schemeClr val="tx2"/>
                    </a:solidFill>
                  </a:tcPr>
                </a:tc>
                <a:tc>
                  <a:txBody>
                    <a:bodyPr/>
                    <a:lstStyle/>
                    <a:p>
                      <a:r>
                        <a:rPr lang="en-GB" sz="1600" b="1">
                          <a:latin typeface="Times New Roman" panose="02020603050405020304" pitchFamily="18" charset="0"/>
                          <a:cs typeface="Times New Roman" panose="02020603050405020304" pitchFamily="18" charset="0"/>
                        </a:rPr>
                        <a:t>Year</a:t>
                      </a:r>
                    </a:p>
                  </a:txBody>
                  <a:tcPr>
                    <a:solidFill>
                      <a:schemeClr val="tx2"/>
                    </a:solidFill>
                  </a:tcPr>
                </a:tc>
                <a:tc>
                  <a:txBody>
                    <a:bodyPr/>
                    <a:lstStyle/>
                    <a:p>
                      <a:pPr lvl="0">
                        <a:buNone/>
                      </a:pPr>
                      <a:r>
                        <a:rPr lang="en-GB" sz="1600" b="1" u="none" strike="noStrike" noProof="0">
                          <a:latin typeface="Times New Roman" panose="02020603050405020304" pitchFamily="18" charset="0"/>
                          <a:cs typeface="Times New Roman" panose="02020603050405020304" pitchFamily="18" charset="0"/>
                        </a:rPr>
                        <a:t>FCF/EBITDA % (pre-IFRS16)</a:t>
                      </a:r>
                      <a:endParaRPr lang="en-US" sz="1600" b="1">
                        <a:latin typeface="Times New Roman" panose="02020603050405020304" pitchFamily="18" charset="0"/>
                        <a:cs typeface="Times New Roman" panose="02020603050405020304" pitchFamily="18" charset="0"/>
                      </a:endParaRPr>
                    </a:p>
                  </a:txBody>
                  <a:tcPr>
                    <a:solidFill>
                      <a:schemeClr val="tx2"/>
                    </a:solidFill>
                  </a:tcPr>
                </a:tc>
                <a:extLst>
                  <a:ext uri="{0D108BD9-81ED-4DB2-BD59-A6C34878D82A}">
                    <a16:rowId xmlns:a16="http://schemas.microsoft.com/office/drawing/2014/main" val="4265602370"/>
                  </a:ext>
                </a:extLst>
              </a:tr>
              <a:tr h="370840">
                <a:tc>
                  <a:txBody>
                    <a:bodyPr/>
                    <a:lstStyle/>
                    <a:p>
                      <a:pPr lvl="0">
                        <a:buNone/>
                      </a:pPr>
                      <a:r>
                        <a:rPr lang="en-GB" sz="1600" u="none" strike="noStrike" noProof="0">
                          <a:latin typeface="Times New Roman" panose="02020603050405020304" pitchFamily="18" charset="0"/>
                          <a:cs typeface="Times New Roman" panose="02020603050405020304" pitchFamily="18" charset="0"/>
                        </a:rPr>
                        <a:t>Royal BAM Group</a:t>
                      </a:r>
                      <a:endParaRPr lang="en-US" sz="1600">
                        <a:latin typeface="Times New Roman" panose="02020603050405020304" pitchFamily="18" charset="0"/>
                        <a:cs typeface="Times New Roman" panose="02020603050405020304" pitchFamily="18" charset="0"/>
                      </a:endParaRPr>
                    </a:p>
                  </a:txBody>
                  <a:tcPr>
                    <a:solidFill>
                      <a:schemeClr val="bg1">
                        <a:lumMod val="95000"/>
                      </a:schemeClr>
                    </a:solidFill>
                  </a:tcPr>
                </a:tc>
                <a:tc>
                  <a:txBody>
                    <a:bodyPr/>
                    <a:lstStyle/>
                    <a:p>
                      <a:pPr lvl="0">
                        <a:buNone/>
                      </a:pPr>
                      <a:r>
                        <a:rPr lang="en-GB" sz="1600" u="none" strike="noStrike" noProof="0">
                          <a:latin typeface="Times New Roman" panose="02020603050405020304" pitchFamily="18" charset="0"/>
                          <a:cs typeface="Times New Roman" panose="02020603050405020304" pitchFamily="18" charset="0"/>
                        </a:rPr>
                        <a:t>FY2024 / FY2023</a:t>
                      </a:r>
                      <a:endParaRPr lang="en-US" sz="1600">
                        <a:latin typeface="Times New Roman" panose="02020603050405020304" pitchFamily="18" charset="0"/>
                        <a:cs typeface="Times New Roman" panose="02020603050405020304" pitchFamily="18" charset="0"/>
                      </a:endParaRPr>
                    </a:p>
                  </a:txBody>
                  <a:tcPr>
                    <a:solidFill>
                      <a:schemeClr val="bg1">
                        <a:lumMod val="95000"/>
                      </a:schemeClr>
                    </a:solidFill>
                  </a:tcPr>
                </a:tc>
                <a:tc>
                  <a:txBody>
                    <a:bodyPr/>
                    <a:lstStyle/>
                    <a:p>
                      <a:pPr lvl="0">
                        <a:buNone/>
                      </a:pPr>
                      <a:r>
                        <a:rPr lang="en-GB" sz="1600" u="none" strike="noStrike" noProof="0">
                          <a:latin typeface="Times New Roman" panose="02020603050405020304" pitchFamily="18" charset="0"/>
                          <a:cs typeface="Times New Roman" panose="02020603050405020304" pitchFamily="18" charset="0"/>
                        </a:rPr>
                        <a:t>51.6% / 9.23%</a:t>
                      </a:r>
                      <a:endParaRPr lang="en-US" sz="1600">
                        <a:latin typeface="Times New Roman" panose="02020603050405020304" pitchFamily="18" charset="0"/>
                        <a:cs typeface="Times New Roman" panose="02020603050405020304" pitchFamily="18" charset="0"/>
                      </a:endParaRPr>
                    </a:p>
                  </a:txBody>
                  <a:tcPr>
                    <a:solidFill>
                      <a:schemeClr val="bg1">
                        <a:lumMod val="95000"/>
                      </a:schemeClr>
                    </a:solidFill>
                  </a:tcPr>
                </a:tc>
                <a:extLst>
                  <a:ext uri="{0D108BD9-81ED-4DB2-BD59-A6C34878D82A}">
                    <a16:rowId xmlns:a16="http://schemas.microsoft.com/office/drawing/2014/main" val="1967605914"/>
                  </a:ext>
                </a:extLst>
              </a:tr>
              <a:tr h="370840">
                <a:tc>
                  <a:txBody>
                    <a:bodyPr/>
                    <a:lstStyle/>
                    <a:p>
                      <a:pPr lvl="0">
                        <a:buNone/>
                      </a:pPr>
                      <a:r>
                        <a:rPr lang="en-GB" sz="1600" u="none" strike="noStrike" noProof="0">
                          <a:latin typeface="Times New Roman" panose="02020603050405020304" pitchFamily="18" charset="0"/>
                          <a:cs typeface="Times New Roman" panose="02020603050405020304" pitchFamily="18" charset="0"/>
                        </a:rPr>
                        <a:t>Balfour Beatty</a:t>
                      </a:r>
                      <a:endParaRPr lang="en-US" sz="1600">
                        <a:latin typeface="Times New Roman" panose="02020603050405020304" pitchFamily="18" charset="0"/>
                        <a:cs typeface="Times New Roman" panose="02020603050405020304" pitchFamily="18" charset="0"/>
                      </a:endParaRPr>
                    </a:p>
                  </a:txBody>
                  <a:tcPr>
                    <a:solidFill>
                      <a:srgbClr val="D9D9D9"/>
                    </a:solidFill>
                  </a:tcPr>
                </a:tc>
                <a:tc>
                  <a:txBody>
                    <a:bodyPr/>
                    <a:lstStyle/>
                    <a:p>
                      <a:pPr lvl="0">
                        <a:buNone/>
                      </a:pPr>
                      <a:r>
                        <a:rPr lang="en-GB" sz="1600" u="none" strike="noStrike" noProof="0">
                          <a:latin typeface="Times New Roman" panose="02020603050405020304" pitchFamily="18" charset="0"/>
                          <a:cs typeface="Times New Roman" panose="02020603050405020304" pitchFamily="18" charset="0"/>
                        </a:rPr>
                        <a:t>FY2024 / FY2023</a:t>
                      </a:r>
                      <a:endParaRPr lang="en-US" sz="1600">
                        <a:latin typeface="Times New Roman" panose="02020603050405020304" pitchFamily="18" charset="0"/>
                        <a:cs typeface="Times New Roman" panose="02020603050405020304" pitchFamily="18" charset="0"/>
                      </a:endParaRPr>
                    </a:p>
                  </a:txBody>
                  <a:tcPr>
                    <a:solidFill>
                      <a:schemeClr val="bg1">
                        <a:lumMod val="85000"/>
                      </a:schemeClr>
                    </a:solidFill>
                  </a:tcPr>
                </a:tc>
                <a:tc>
                  <a:txBody>
                    <a:bodyPr/>
                    <a:lstStyle/>
                    <a:p>
                      <a:pPr lvl="0">
                        <a:buNone/>
                      </a:pPr>
                      <a:r>
                        <a:rPr lang="en-GB" sz="1600" u="none" strike="noStrike" noProof="0">
                          <a:latin typeface="Times New Roman" panose="02020603050405020304" pitchFamily="18" charset="0"/>
                          <a:cs typeface="Times New Roman" panose="02020603050405020304" pitchFamily="18" charset="0"/>
                        </a:rPr>
                        <a:t>68.9% / 68.4%</a:t>
                      </a:r>
                      <a:endParaRPr lang="en-US" sz="1600">
                        <a:latin typeface="Times New Roman" panose="02020603050405020304" pitchFamily="18" charset="0"/>
                        <a:cs typeface="Times New Roman" panose="02020603050405020304" pitchFamily="18" charset="0"/>
                      </a:endParaRPr>
                    </a:p>
                  </a:txBody>
                  <a:tcPr>
                    <a:solidFill>
                      <a:schemeClr val="bg1">
                        <a:lumMod val="85000"/>
                      </a:schemeClr>
                    </a:solidFill>
                  </a:tcPr>
                </a:tc>
                <a:extLst>
                  <a:ext uri="{0D108BD9-81ED-4DB2-BD59-A6C34878D82A}">
                    <a16:rowId xmlns:a16="http://schemas.microsoft.com/office/drawing/2014/main" val="746102648"/>
                  </a:ext>
                </a:extLst>
              </a:tr>
              <a:tr h="370840">
                <a:tc>
                  <a:txBody>
                    <a:bodyPr/>
                    <a:lstStyle/>
                    <a:p>
                      <a:pPr lvl="0">
                        <a:buNone/>
                      </a:pPr>
                      <a:r>
                        <a:rPr lang="en-GB" sz="1600" u="none" strike="noStrike" noProof="0">
                          <a:latin typeface="Times New Roman" panose="02020603050405020304" pitchFamily="18" charset="0"/>
                          <a:cs typeface="Times New Roman" panose="02020603050405020304" pitchFamily="18" charset="0"/>
                        </a:rPr>
                        <a:t>Kier Group</a:t>
                      </a:r>
                      <a:endParaRPr lang="en-US" sz="1600">
                        <a:latin typeface="Times New Roman" panose="02020603050405020304" pitchFamily="18" charset="0"/>
                        <a:cs typeface="Times New Roman" panose="02020603050405020304" pitchFamily="18" charset="0"/>
                      </a:endParaRPr>
                    </a:p>
                  </a:txBody>
                  <a:tcPr>
                    <a:solidFill>
                      <a:schemeClr val="bg1">
                        <a:lumMod val="95000"/>
                      </a:schemeClr>
                    </a:solidFill>
                  </a:tcPr>
                </a:tc>
                <a:tc>
                  <a:txBody>
                    <a:bodyPr/>
                    <a:lstStyle/>
                    <a:p>
                      <a:pPr lvl="0">
                        <a:buNone/>
                      </a:pPr>
                      <a:r>
                        <a:rPr lang="en-GB" sz="1600" u="none" strike="noStrike" noProof="0">
                          <a:latin typeface="Times New Roman" panose="02020603050405020304" pitchFamily="18" charset="0"/>
                          <a:cs typeface="Times New Roman" panose="02020603050405020304" pitchFamily="18" charset="0"/>
                        </a:rPr>
                        <a:t>FY2024 / FY2023</a:t>
                      </a:r>
                      <a:endParaRPr lang="en-US" sz="1600">
                        <a:latin typeface="Times New Roman" panose="02020603050405020304" pitchFamily="18" charset="0"/>
                        <a:cs typeface="Times New Roman" panose="02020603050405020304" pitchFamily="18" charset="0"/>
                      </a:endParaRPr>
                    </a:p>
                  </a:txBody>
                  <a:tcPr>
                    <a:solidFill>
                      <a:schemeClr val="bg1">
                        <a:lumMod val="95000"/>
                      </a:schemeClr>
                    </a:solidFill>
                  </a:tcPr>
                </a:tc>
                <a:tc>
                  <a:txBody>
                    <a:bodyPr/>
                    <a:lstStyle/>
                    <a:p>
                      <a:pPr lvl="0">
                        <a:buNone/>
                      </a:pPr>
                      <a:r>
                        <a:rPr lang="en-GB" sz="1600" u="none" strike="noStrike" noProof="0">
                          <a:latin typeface="Times New Roman" panose="02020603050405020304" pitchFamily="18" charset="0"/>
                          <a:cs typeface="Times New Roman" panose="02020603050405020304" pitchFamily="18" charset="0"/>
                        </a:rPr>
                        <a:t>97.8% / 86.3%</a:t>
                      </a:r>
                      <a:endParaRPr lang="en-US" sz="1600">
                        <a:latin typeface="Times New Roman" panose="02020603050405020304" pitchFamily="18" charset="0"/>
                        <a:cs typeface="Times New Roman" panose="02020603050405020304" pitchFamily="18" charset="0"/>
                      </a:endParaRPr>
                    </a:p>
                  </a:txBody>
                  <a:tcPr>
                    <a:solidFill>
                      <a:schemeClr val="bg1">
                        <a:lumMod val="95000"/>
                      </a:schemeClr>
                    </a:solidFill>
                  </a:tcPr>
                </a:tc>
                <a:extLst>
                  <a:ext uri="{0D108BD9-81ED-4DB2-BD59-A6C34878D82A}">
                    <a16:rowId xmlns:a16="http://schemas.microsoft.com/office/drawing/2014/main" val="1211346127"/>
                  </a:ext>
                </a:extLst>
              </a:tr>
            </a:tbl>
          </a:graphicData>
        </a:graphic>
      </p:graphicFrame>
      <p:sp>
        <p:nvSpPr>
          <p:cNvPr id="16" name="TextBox 15">
            <a:extLst>
              <a:ext uri="{FF2B5EF4-FFF2-40B4-BE49-F238E27FC236}">
                <a16:creationId xmlns:a16="http://schemas.microsoft.com/office/drawing/2014/main" id="{504A8403-8706-4068-04B2-03C967E8DEFF}"/>
              </a:ext>
            </a:extLst>
          </p:cNvPr>
          <p:cNvSpPr txBox="1"/>
          <p:nvPr/>
        </p:nvSpPr>
        <p:spPr>
          <a:xfrm>
            <a:off x="6872171" y="3294682"/>
            <a:ext cx="9433676"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GB" sz="1600" dirty="0">
                <a:latin typeface="Times New Roman" panose="02020603050405020304" pitchFamily="18" charset="0"/>
                <a:ea typeface="+mn-lt"/>
                <a:cs typeface="Times New Roman" panose="02020603050405020304" pitchFamily="18" charset="0"/>
              </a:rPr>
              <a:t>Price implies &lt;60% FCF/EBITDA; framework peers deliver ~70–90%+.</a:t>
            </a:r>
            <a:endParaRPr lang="en-US" sz="1600" dirty="0">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2DE15D2B-0C9F-7D24-42BC-1A97B54B1F18}"/>
              </a:ext>
            </a:extLst>
          </p:cNvPr>
          <p:cNvSpPr txBox="1"/>
          <p:nvPr/>
        </p:nvSpPr>
        <p:spPr>
          <a:xfrm>
            <a:off x="7016892" y="4446251"/>
            <a:ext cx="9661901"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GB" sz="1600" dirty="0">
                <a:latin typeface="Times New Roman" panose="02020603050405020304" pitchFamily="18" charset="0"/>
                <a:ea typeface="+mn-lt"/>
                <a:cs typeface="Times New Roman" panose="02020603050405020304" pitchFamily="18" charset="0"/>
              </a:rPr>
              <a:t>BAM’s portfolio is shifting from lump-sum building toward frameworks, renewals and target-cost work. That profile has delivered ~70–90% pre-IFRS 16 FCF/EBITDA at peers. </a:t>
            </a:r>
            <a:endParaRPr lang="en-US" sz="1600" dirty="0">
              <a:latin typeface="Times New Roman" panose="02020603050405020304" pitchFamily="18" charset="0"/>
              <a:ea typeface="+mn-lt"/>
              <a:cs typeface="Times New Roman" panose="02020603050405020304" pitchFamily="18" charset="0"/>
            </a:endParaRPr>
          </a:p>
          <a:p>
            <a:pPr marL="285750" indent="-285750">
              <a:buFont typeface="Arial"/>
              <a:buChar char="•"/>
            </a:pPr>
            <a:endParaRPr lang="en-GB" sz="1600" dirty="0">
              <a:solidFill>
                <a:srgbClr val="23487B"/>
              </a:solidFill>
              <a:latin typeface="Times New Roman" panose="02020603050405020304" pitchFamily="18" charset="0"/>
              <a:ea typeface="+mn-lt"/>
              <a:cs typeface="Times New Roman" panose="02020603050405020304" pitchFamily="18" charset="0"/>
            </a:endParaRPr>
          </a:p>
          <a:p>
            <a:pPr marL="285750" indent="-285750">
              <a:buFont typeface="Arial"/>
              <a:buChar char="•"/>
            </a:pPr>
            <a:r>
              <a:rPr lang="en-GB" sz="1600" dirty="0">
                <a:latin typeface="Times New Roman" panose="02020603050405020304" pitchFamily="18" charset="0"/>
                <a:ea typeface="+mn-lt"/>
                <a:cs typeface="Times New Roman" panose="02020603050405020304" pitchFamily="18" charset="0"/>
              </a:rPr>
              <a:t>We expect BAM’s conversion to converge to that range as mix shifts and legacy fixed-price exposure rolls off.</a:t>
            </a:r>
          </a:p>
        </p:txBody>
      </p:sp>
      <p:sp>
        <p:nvSpPr>
          <p:cNvPr id="21" name="Rectangle 20">
            <a:extLst>
              <a:ext uri="{FF2B5EF4-FFF2-40B4-BE49-F238E27FC236}">
                <a16:creationId xmlns:a16="http://schemas.microsoft.com/office/drawing/2014/main" id="{7100476D-DC66-9DB2-0780-57DC29589884}"/>
              </a:ext>
            </a:extLst>
          </p:cNvPr>
          <p:cNvSpPr/>
          <p:nvPr/>
        </p:nvSpPr>
        <p:spPr>
          <a:xfrm>
            <a:off x="6945171" y="3816294"/>
            <a:ext cx="279206" cy="540961"/>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Times New Roman" panose="02020603050405020304" pitchFamily="18" charset="0"/>
              <a:cs typeface="Times New Roman" panose="02020603050405020304" pitchFamily="18" charset="0"/>
            </a:endParaRPr>
          </a:p>
        </p:txBody>
      </p:sp>
      <p:sp>
        <p:nvSpPr>
          <p:cNvPr id="22" name="TextBox 21">
            <a:extLst>
              <a:ext uri="{FF2B5EF4-FFF2-40B4-BE49-F238E27FC236}">
                <a16:creationId xmlns:a16="http://schemas.microsoft.com/office/drawing/2014/main" id="{A8AFC06D-11BC-5895-0E1B-A53626925F79}"/>
              </a:ext>
            </a:extLst>
          </p:cNvPr>
          <p:cNvSpPr txBox="1"/>
          <p:nvPr/>
        </p:nvSpPr>
        <p:spPr>
          <a:xfrm>
            <a:off x="7226019" y="3898054"/>
            <a:ext cx="428624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000" dirty="0">
                <a:latin typeface="Times New Roman" panose="02020603050405020304" pitchFamily="18" charset="0"/>
                <a:ea typeface="Calibri"/>
                <a:cs typeface="Times New Roman" panose="02020603050405020304" pitchFamily="18" charset="0"/>
              </a:rPr>
              <a:t>What the Market Misses</a:t>
            </a:r>
          </a:p>
        </p:txBody>
      </p:sp>
      <p:graphicFrame>
        <p:nvGraphicFramePr>
          <p:cNvPr id="23" name="Table 22">
            <a:extLst>
              <a:ext uri="{FF2B5EF4-FFF2-40B4-BE49-F238E27FC236}">
                <a16:creationId xmlns:a16="http://schemas.microsoft.com/office/drawing/2014/main" id="{8F137E24-5A55-5776-3BE6-C238F86EA6F5}"/>
              </a:ext>
            </a:extLst>
          </p:cNvPr>
          <p:cNvGraphicFramePr>
            <a:graphicFrameLocks noGrp="1"/>
          </p:cNvGraphicFramePr>
          <p:nvPr>
            <p:extLst>
              <p:ext uri="{D42A27DB-BD31-4B8C-83A1-F6EECF244321}">
                <p14:modId xmlns:p14="http://schemas.microsoft.com/office/powerpoint/2010/main" val="2197419412"/>
              </p:ext>
            </p:extLst>
          </p:nvPr>
        </p:nvGraphicFramePr>
        <p:xfrm>
          <a:off x="7018153" y="5608533"/>
          <a:ext cx="9391598" cy="3518505"/>
        </p:xfrm>
        <a:graphic>
          <a:graphicData uri="http://schemas.openxmlformats.org/drawingml/2006/table">
            <a:tbl>
              <a:tblPr firstRow="1" bandRow="1">
                <a:tableStyleId>{5C22544A-7EE6-4342-B048-85BDC9FD1C3A}</a:tableStyleId>
              </a:tblPr>
              <a:tblGrid>
                <a:gridCol w="9391598">
                  <a:extLst>
                    <a:ext uri="{9D8B030D-6E8A-4147-A177-3AD203B41FA5}">
                      <a16:colId xmlns:a16="http://schemas.microsoft.com/office/drawing/2014/main" val="3128717612"/>
                    </a:ext>
                  </a:extLst>
                </a:gridCol>
              </a:tblGrid>
              <a:tr h="409545">
                <a:tc>
                  <a:txBody>
                    <a:bodyPr/>
                    <a:lstStyle/>
                    <a:p>
                      <a:pPr lvl="0">
                        <a:buNone/>
                      </a:pPr>
                      <a:r>
                        <a:rPr lang="en-GB" sz="2000" b="1" i="0" u="none" strike="noStrike" baseline="0" noProof="0">
                          <a:solidFill>
                            <a:srgbClr val="FFFFFF"/>
                          </a:solidFill>
                          <a:latin typeface="Times New Roman" panose="02020603050405020304" pitchFamily="18" charset="0"/>
                          <a:cs typeface="Times New Roman" panose="02020603050405020304" pitchFamily="18" charset="0"/>
                        </a:rPr>
                        <a:t>Proof Points</a:t>
                      </a:r>
                      <a:endParaRPr lang="en-US" sz="2000">
                        <a:latin typeface="Times New Roman" panose="02020603050405020304" pitchFamily="18" charset="0"/>
                        <a:cs typeface="Times New Roman" panose="02020603050405020304" pitchFamily="18" charset="0"/>
                      </a:endParaRPr>
                    </a:p>
                  </a:txBody>
                  <a:tcPr>
                    <a:solidFill>
                      <a:schemeClr val="tx2"/>
                    </a:solidFill>
                  </a:tcPr>
                </a:tc>
                <a:extLst>
                  <a:ext uri="{0D108BD9-81ED-4DB2-BD59-A6C34878D82A}">
                    <a16:rowId xmlns:a16="http://schemas.microsoft.com/office/drawing/2014/main" val="562628442"/>
                  </a:ext>
                </a:extLst>
              </a:tr>
              <a:tr h="750833">
                <a:tc>
                  <a:txBody>
                    <a:bodyPr/>
                    <a:lstStyle/>
                    <a:p>
                      <a:pPr marL="285750" lvl="0" indent="-285750">
                        <a:buFont typeface="Arial"/>
                        <a:buChar char="•"/>
                      </a:pPr>
                      <a:r>
                        <a:rPr lang="en-GB" sz="1600" b="1" i="0" u="none" strike="noStrike" baseline="0" noProof="0">
                          <a:solidFill>
                            <a:srgbClr val="000000"/>
                          </a:solidFill>
                          <a:latin typeface="Times New Roman" panose="02020603050405020304" pitchFamily="18" charset="0"/>
                          <a:cs typeface="Times New Roman" panose="02020603050405020304" pitchFamily="18" charset="0"/>
                        </a:rPr>
                        <a:t>Operating cash flow positive in both recent halves</a:t>
                      </a:r>
                      <a:r>
                        <a:rPr lang="en-GB" sz="1600" b="0" i="0" u="none" strike="noStrike" baseline="0" noProof="0">
                          <a:solidFill>
                            <a:srgbClr val="000000"/>
                          </a:solidFill>
                          <a:latin typeface="Times New Roman" panose="02020603050405020304" pitchFamily="18" charset="0"/>
                          <a:cs typeface="Times New Roman" panose="02020603050405020304" pitchFamily="18" charset="0"/>
                        </a:rPr>
                        <a:t>: </a:t>
                      </a:r>
                      <a:endParaRPr lang="en-US" sz="1600">
                        <a:latin typeface="Times New Roman" panose="02020603050405020304" pitchFamily="18" charset="0"/>
                        <a:cs typeface="Times New Roman" panose="02020603050405020304" pitchFamily="18" charset="0"/>
                      </a:endParaRPr>
                    </a:p>
                    <a:p>
                      <a:pPr marL="285750" lvl="0" indent="-285750">
                        <a:buFont typeface="Arial"/>
                        <a:buChar char="•"/>
                      </a:pPr>
                      <a:endParaRPr lang="en-GB" sz="1600" b="0" i="0" u="none" strike="noStrike" baseline="0" noProof="0">
                        <a:solidFill>
                          <a:srgbClr val="000000"/>
                        </a:solidFill>
                        <a:latin typeface="Times New Roman" panose="02020603050405020304" pitchFamily="18" charset="0"/>
                        <a:cs typeface="Times New Roman" panose="02020603050405020304" pitchFamily="18" charset="0"/>
                      </a:endParaRPr>
                    </a:p>
                    <a:p>
                      <a:pPr marL="285750" lvl="0" indent="-285750">
                        <a:buFont typeface="Arial"/>
                        <a:buChar char="•"/>
                      </a:pPr>
                      <a:r>
                        <a:rPr lang="en-GB" sz="1600" b="0" i="0" u="none" strike="noStrike" baseline="0" noProof="0">
                          <a:solidFill>
                            <a:srgbClr val="000000"/>
                          </a:solidFill>
                          <a:latin typeface="Times New Roman" panose="02020603050405020304" pitchFamily="18" charset="0"/>
                          <a:cs typeface="Times New Roman" panose="02020603050405020304" pitchFamily="18" charset="0"/>
                        </a:rPr>
                        <a:t>H1-2025 €151m; H2-2024 ~€173m</a:t>
                      </a:r>
                      <a:endParaRPr lang="en-US" sz="1600">
                        <a:latin typeface="Times New Roman" panose="02020603050405020304" pitchFamily="18" charset="0"/>
                        <a:cs typeface="Times New Roman" panose="02020603050405020304" pitchFamily="18" charset="0"/>
                      </a:endParaRPr>
                    </a:p>
                  </a:txBody>
                  <a:tcPr>
                    <a:solidFill>
                      <a:srgbClr val="F2F2F2"/>
                    </a:solidFill>
                  </a:tcPr>
                </a:tc>
                <a:extLst>
                  <a:ext uri="{0D108BD9-81ED-4DB2-BD59-A6C34878D82A}">
                    <a16:rowId xmlns:a16="http://schemas.microsoft.com/office/drawing/2014/main" val="4043381515"/>
                  </a:ext>
                </a:extLst>
              </a:tr>
              <a:tr h="2061383">
                <a:tc>
                  <a:txBody>
                    <a:bodyPr/>
                    <a:lstStyle/>
                    <a:p>
                      <a:pPr marL="285750" lvl="0" indent="-285750" algn="l">
                        <a:lnSpc>
                          <a:spcPct val="100000"/>
                        </a:lnSpc>
                        <a:buFont typeface="Arial"/>
                        <a:buChar char="•"/>
                      </a:pPr>
                      <a:r>
                        <a:rPr lang="en-GB" sz="1600" b="1" i="0" u="none" strike="noStrike" baseline="0" noProof="0" dirty="0">
                          <a:solidFill>
                            <a:srgbClr val="000000"/>
                          </a:solidFill>
                          <a:latin typeface="Times New Roman" panose="02020603050405020304" pitchFamily="18" charset="0"/>
                          <a:cs typeface="Times New Roman" panose="02020603050405020304" pitchFamily="18" charset="0"/>
                        </a:rPr>
                        <a:t>Portfolio tilt to frameworks continues:</a:t>
                      </a:r>
                      <a:endParaRPr lang="en-US" sz="1600" b="1" dirty="0">
                        <a:latin typeface="Times New Roman" panose="02020603050405020304" pitchFamily="18" charset="0"/>
                        <a:cs typeface="Times New Roman" panose="02020603050405020304" pitchFamily="18" charset="0"/>
                      </a:endParaRPr>
                    </a:p>
                    <a:p>
                      <a:pPr marL="285750" lvl="0" indent="-285750" algn="l">
                        <a:lnSpc>
                          <a:spcPct val="100000"/>
                        </a:lnSpc>
                        <a:buFont typeface="Arial"/>
                        <a:buChar char="•"/>
                      </a:pPr>
                      <a:endParaRPr lang="en-GB" sz="1600" b="1" i="0" u="none" strike="noStrike" baseline="0" noProof="0" dirty="0">
                        <a:solidFill>
                          <a:srgbClr val="000000"/>
                        </a:solidFill>
                        <a:latin typeface="Times New Roman" panose="02020603050405020304" pitchFamily="18" charset="0"/>
                        <a:cs typeface="Times New Roman" panose="02020603050405020304" pitchFamily="18" charset="0"/>
                      </a:endParaRPr>
                    </a:p>
                    <a:p>
                      <a:pPr marL="0" lvl="0" indent="0" algn="l">
                        <a:lnSpc>
                          <a:spcPct val="100000"/>
                        </a:lnSpc>
                        <a:buNone/>
                      </a:pPr>
                      <a:r>
                        <a:rPr lang="en-GB" sz="1600" b="0" i="1" u="none" strike="noStrike" baseline="0" noProof="0" dirty="0">
                          <a:solidFill>
                            <a:srgbClr val="000000"/>
                          </a:solidFill>
                          <a:latin typeface="Times New Roman" panose="02020603050405020304" pitchFamily="18" charset="0"/>
                          <a:cs typeface="Times New Roman" panose="02020603050405020304" pitchFamily="18" charset="0"/>
                        </a:rPr>
                        <a:t>Recent Awards</a:t>
                      </a:r>
                    </a:p>
                    <a:p>
                      <a:pPr marL="0" lvl="0" indent="0" algn="l">
                        <a:lnSpc>
                          <a:spcPct val="100000"/>
                        </a:lnSpc>
                        <a:buNone/>
                      </a:pPr>
                      <a:endParaRPr lang="en-GB" sz="1600" b="0" i="1" u="none" strike="noStrike" baseline="0" noProof="0" dirty="0">
                        <a:solidFill>
                          <a:srgbClr val="000000"/>
                        </a:solidFill>
                        <a:latin typeface="Times New Roman" panose="02020603050405020304" pitchFamily="18" charset="0"/>
                        <a:cs typeface="Times New Roman" panose="02020603050405020304" pitchFamily="18" charset="0"/>
                      </a:endParaRPr>
                    </a:p>
                    <a:p>
                      <a:pPr marL="285750" lvl="0" indent="-285750" algn="l">
                        <a:lnSpc>
                          <a:spcPct val="100000"/>
                        </a:lnSpc>
                        <a:buFont typeface="Arial"/>
                        <a:buChar char="•"/>
                      </a:pPr>
                      <a:r>
                        <a:rPr lang="en-GB" sz="1600" b="0" i="0" u="none" strike="noStrike" baseline="0" noProof="0" dirty="0">
                          <a:solidFill>
                            <a:srgbClr val="000000"/>
                          </a:solidFill>
                          <a:latin typeface="Times New Roman" panose="02020603050405020304" pitchFamily="18" charset="0"/>
                          <a:cs typeface="Times New Roman" panose="02020603050405020304" pitchFamily="18" charset="0"/>
                        </a:rPr>
                        <a:t>Northumbrian Water AMP8 “Living Water Enterprise” framework (Jan-2024)</a:t>
                      </a:r>
                      <a:endParaRPr lang="en-GB" sz="1600" dirty="0">
                        <a:latin typeface="Times New Roman" panose="02020603050405020304" pitchFamily="18" charset="0"/>
                        <a:cs typeface="Times New Roman" panose="02020603050405020304" pitchFamily="18" charset="0"/>
                      </a:endParaRPr>
                    </a:p>
                    <a:p>
                      <a:pPr marL="285750" lvl="0" indent="-285750" algn="l">
                        <a:lnSpc>
                          <a:spcPct val="100000"/>
                        </a:lnSpc>
                        <a:buFont typeface="Arial"/>
                        <a:buChar char="•"/>
                      </a:pPr>
                      <a:r>
                        <a:rPr lang="en-GB" sz="1600" b="0" i="0" u="none" strike="noStrike" baseline="0" noProof="0" dirty="0">
                          <a:solidFill>
                            <a:srgbClr val="000000"/>
                          </a:solidFill>
                          <a:latin typeface="Times New Roman" panose="02020603050405020304" pitchFamily="18" charset="0"/>
                          <a:cs typeface="Times New Roman" panose="02020603050405020304" pitchFamily="18" charset="0"/>
                        </a:rPr>
                        <a:t>Southwest Water AMP8 Engineering Capital Delivery Programme (May-2024)</a:t>
                      </a:r>
                      <a:endParaRPr lang="en-GB" sz="1600" dirty="0">
                        <a:latin typeface="Times New Roman" panose="02020603050405020304" pitchFamily="18" charset="0"/>
                        <a:cs typeface="Times New Roman" panose="02020603050405020304" pitchFamily="18" charset="0"/>
                      </a:endParaRPr>
                    </a:p>
                    <a:p>
                      <a:pPr marL="285750" lvl="0" indent="-285750" algn="l">
                        <a:lnSpc>
                          <a:spcPct val="100000"/>
                        </a:lnSpc>
                        <a:buFont typeface="Arial"/>
                        <a:buChar char="•"/>
                      </a:pPr>
                      <a:r>
                        <a:rPr lang="en-GB" sz="1600" b="0" i="0" u="none" strike="noStrike" baseline="0" noProof="0" dirty="0">
                          <a:solidFill>
                            <a:srgbClr val="000000"/>
                          </a:solidFill>
                          <a:latin typeface="Times New Roman" panose="02020603050405020304" pitchFamily="18" charset="0"/>
                          <a:cs typeface="Times New Roman" panose="02020603050405020304" pitchFamily="18" charset="0"/>
                        </a:rPr>
                        <a:t>TRU West Alliance, next phase (£2bn alliance; BAM c.£800m) (Sep-2024)</a:t>
                      </a:r>
                      <a:endParaRPr lang="en-GB" sz="1600" dirty="0">
                        <a:latin typeface="Times New Roman" panose="02020603050405020304" pitchFamily="18" charset="0"/>
                        <a:cs typeface="Times New Roman" panose="02020603050405020304" pitchFamily="18" charset="0"/>
                      </a:endParaRPr>
                    </a:p>
                    <a:p>
                      <a:pPr marL="285750" lvl="0" indent="-285750" algn="l">
                        <a:lnSpc>
                          <a:spcPct val="100000"/>
                        </a:lnSpc>
                        <a:buFont typeface="Arial"/>
                        <a:buChar char="•"/>
                      </a:pPr>
                      <a:r>
                        <a:rPr lang="en-GB" sz="1600" b="0" i="0" u="none" strike="noStrike" baseline="0" noProof="0" dirty="0" err="1">
                          <a:solidFill>
                            <a:srgbClr val="000000"/>
                          </a:solidFill>
                          <a:latin typeface="Times New Roman" panose="02020603050405020304" pitchFamily="18" charset="0"/>
                          <a:cs typeface="Times New Roman" panose="02020603050405020304" pitchFamily="18" charset="0"/>
                        </a:rPr>
                        <a:t>TenneT</a:t>
                      </a:r>
                      <a:r>
                        <a:rPr lang="en-GB" sz="1600" b="0" i="0" u="none" strike="noStrike" baseline="0" noProof="0" dirty="0">
                          <a:solidFill>
                            <a:srgbClr val="000000"/>
                          </a:solidFill>
                          <a:latin typeface="Times New Roman" panose="02020603050405020304" pitchFamily="18" charset="0"/>
                          <a:cs typeface="Times New Roman" panose="02020603050405020304" pitchFamily="18" charset="0"/>
                        </a:rPr>
                        <a:t> EU367 multi-year framework, Moerdijk–Tilburg 380 kV section (Apr-2025)</a:t>
                      </a:r>
                      <a:endParaRPr lang="en-GB" sz="1600" dirty="0">
                        <a:latin typeface="Times New Roman" panose="02020603050405020304" pitchFamily="18" charset="0"/>
                        <a:cs typeface="Times New Roman" panose="02020603050405020304" pitchFamily="18" charset="0"/>
                      </a:endParaRPr>
                    </a:p>
                    <a:p>
                      <a:pPr lvl="0">
                        <a:buNone/>
                      </a:pPr>
                      <a:endParaRPr lang="en-GB" sz="1600" dirty="0">
                        <a:latin typeface="Times New Roman" panose="02020603050405020304" pitchFamily="18" charset="0"/>
                        <a:cs typeface="Times New Roman" panose="02020603050405020304" pitchFamily="18" charset="0"/>
                      </a:endParaRPr>
                    </a:p>
                  </a:txBody>
                  <a:tcPr>
                    <a:solidFill>
                      <a:srgbClr val="D9D9D9"/>
                    </a:solidFill>
                  </a:tcPr>
                </a:tc>
                <a:extLst>
                  <a:ext uri="{0D108BD9-81ED-4DB2-BD59-A6C34878D82A}">
                    <a16:rowId xmlns:a16="http://schemas.microsoft.com/office/drawing/2014/main" val="54607786"/>
                  </a:ext>
                </a:extLst>
              </a:tr>
            </a:tbl>
          </a:graphicData>
        </a:graphic>
      </p:graphicFrame>
      <p:sp>
        <p:nvSpPr>
          <p:cNvPr id="31" name="TextBox 11">
            <a:extLst>
              <a:ext uri="{FF2B5EF4-FFF2-40B4-BE49-F238E27FC236}">
                <a16:creationId xmlns:a16="http://schemas.microsoft.com/office/drawing/2014/main" id="{ED071793-E611-E9E4-B3B0-33D970005B16}"/>
              </a:ext>
            </a:extLst>
          </p:cNvPr>
          <p:cNvSpPr txBox="1"/>
          <p:nvPr/>
        </p:nvSpPr>
        <p:spPr>
          <a:xfrm>
            <a:off x="967401" y="746620"/>
            <a:ext cx="5237748" cy="615553"/>
          </a:xfrm>
          <a:prstGeom prst="rect">
            <a:avLst/>
          </a:prstGeom>
        </p:spPr>
        <p:txBody>
          <a:bodyPr wrap="square" lIns="0" tIns="0" rIns="0" bIns="0" rtlCol="0" anchor="t">
            <a:spAutoFit/>
          </a:bodyPr>
          <a:lstStyle/>
          <a:p>
            <a:pPr>
              <a:lnSpc>
                <a:spcPts val="4759"/>
              </a:lnSpc>
              <a:spcBef>
                <a:spcPct val="0"/>
              </a:spcBef>
            </a:pPr>
            <a:r>
              <a:rPr lang="en-US" sz="4400" dirty="0">
                <a:latin typeface="Times New Roman" panose="02020603050405020304" pitchFamily="18" charset="0"/>
                <a:ea typeface="Montserrat"/>
                <a:cs typeface="Times New Roman" panose="02020603050405020304" pitchFamily="18" charset="0"/>
                <a:sym typeface="Montserrat"/>
              </a:rPr>
              <a:t>Market Expectations</a:t>
            </a:r>
          </a:p>
        </p:txBody>
      </p:sp>
      <p:sp>
        <p:nvSpPr>
          <p:cNvPr id="32" name="AutoShape 10">
            <a:extLst>
              <a:ext uri="{FF2B5EF4-FFF2-40B4-BE49-F238E27FC236}">
                <a16:creationId xmlns:a16="http://schemas.microsoft.com/office/drawing/2014/main" id="{1DE447B1-A4DD-23A1-8132-D05F58A2981F}"/>
              </a:ext>
            </a:extLst>
          </p:cNvPr>
          <p:cNvSpPr/>
          <p:nvPr/>
        </p:nvSpPr>
        <p:spPr>
          <a:xfrm>
            <a:off x="973240" y="1362172"/>
            <a:ext cx="13744971" cy="0"/>
          </a:xfrm>
          <a:prstGeom prst="line">
            <a:avLst/>
          </a:prstGeom>
          <a:ln w="38100" cap="flat">
            <a:solidFill>
              <a:srgbClr val="214779"/>
            </a:solidFill>
            <a:prstDash val="solid"/>
            <a:headEnd type="none" w="sm" len="sm"/>
            <a:tailEnd type="none" w="sm" len="sm"/>
          </a:ln>
        </p:spPr>
        <p:txBody>
          <a:bodyPr/>
          <a:lstStyle/>
          <a:p>
            <a:endParaRPr lang="en-GB">
              <a:latin typeface="Times New Roman" panose="02020603050405020304" pitchFamily="18" charset="0"/>
              <a:cs typeface="Times New Roman" panose="02020603050405020304" pitchFamily="18" charset="0"/>
            </a:endParaRPr>
          </a:p>
        </p:txBody>
      </p:sp>
      <p:sp>
        <p:nvSpPr>
          <p:cNvPr id="4" name="TextBox 49">
            <a:extLst>
              <a:ext uri="{FF2B5EF4-FFF2-40B4-BE49-F238E27FC236}">
                <a16:creationId xmlns:a16="http://schemas.microsoft.com/office/drawing/2014/main" id="{4F2327EB-301A-F880-C2C2-3E39466C49AC}"/>
              </a:ext>
            </a:extLst>
          </p:cNvPr>
          <p:cNvSpPr txBox="1"/>
          <p:nvPr/>
        </p:nvSpPr>
        <p:spPr>
          <a:xfrm>
            <a:off x="3233349" y="9250434"/>
            <a:ext cx="8782188" cy="466474"/>
          </a:xfrm>
          <a:prstGeom prst="rect">
            <a:avLst/>
          </a:prstGeom>
        </p:spPr>
        <p:txBody>
          <a:bodyPr wrap="square" lIns="0" tIns="0" rIns="0" bIns="0" rtlCol="0" anchor="t">
            <a:spAutoFit/>
          </a:bodyPr>
          <a:lstStyle/>
          <a:p>
            <a:pPr algn="ctr">
              <a:lnSpc>
                <a:spcPts val="4060"/>
              </a:lnSpc>
              <a:spcBef>
                <a:spcPct val="0"/>
              </a:spcBef>
            </a:pPr>
            <a:r>
              <a:rPr lang="en-US" sz="2400" dirty="0">
                <a:solidFill>
                  <a:schemeClr val="bg1">
                    <a:lumMod val="50000"/>
                  </a:schemeClr>
                </a:solidFill>
                <a:latin typeface="Times New Roman" panose="02020603050405020304" pitchFamily="18" charset="0"/>
                <a:ea typeface="Times New Roman"/>
                <a:cs typeface="Times New Roman" panose="02020603050405020304" pitchFamily="18" charset="0"/>
                <a:sym typeface="Times New Roman"/>
              </a:rPr>
              <a:t>29/10/25		      Royal Bam Group – (XAMS</a:t>
            </a:r>
            <a:r>
              <a:rPr lang="en-US" sz="2400" dirty="0">
                <a:solidFill>
                  <a:schemeClr val="bg1">
                    <a:lumMod val="50000"/>
                  </a:schemeClr>
                </a:solidFill>
                <a:latin typeface="Times New Roman" panose="02020603050405020304" pitchFamily="18" charset="0"/>
                <a:ea typeface="Times New Roman"/>
                <a:cs typeface="Times New Roman" panose="02020603050405020304" pitchFamily="18" charset="0"/>
                <a:sym typeface="Wingdings" pitchFamily="2" charset="2"/>
              </a:rPr>
              <a:t>:</a:t>
            </a:r>
            <a:r>
              <a:rPr lang="en-US" sz="2400" dirty="0">
                <a:solidFill>
                  <a:schemeClr val="bg1">
                    <a:lumMod val="50000"/>
                  </a:schemeClr>
                </a:solidFill>
                <a:latin typeface="Times New Roman" panose="02020603050405020304" pitchFamily="18" charset="0"/>
                <a:ea typeface="Times New Roman"/>
                <a:cs typeface="Times New Roman" panose="02020603050405020304" pitchFamily="18" charset="0"/>
                <a:sym typeface="Times New Roman"/>
              </a:rPr>
              <a:t> BAMNB)</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23487A"/>
        </a:solidFill>
        <a:effectLst/>
      </p:bgPr>
    </p:bg>
    <p:spTree>
      <p:nvGrpSpPr>
        <p:cNvPr id="1" name=""/>
        <p:cNvGrpSpPr/>
        <p:nvPr/>
      </p:nvGrpSpPr>
      <p:grpSpPr>
        <a:xfrm>
          <a:off x="0" y="0"/>
          <a:ext cx="0" cy="0"/>
          <a:chOff x="0" y="0"/>
          <a:chExt cx="0" cy="0"/>
        </a:xfrm>
      </p:grpSpPr>
      <p:sp>
        <p:nvSpPr>
          <p:cNvPr id="2" name="Freeform 2"/>
          <p:cNvSpPr/>
          <p:nvPr/>
        </p:nvSpPr>
        <p:spPr>
          <a:xfrm>
            <a:off x="7846503" y="6394025"/>
            <a:ext cx="2594994" cy="2153293"/>
          </a:xfrm>
          <a:custGeom>
            <a:avLst/>
            <a:gdLst/>
            <a:ahLst/>
            <a:cxnLst/>
            <a:rect l="l" t="t" r="r" b="b"/>
            <a:pathLst>
              <a:path w="2594994" h="2153293">
                <a:moveTo>
                  <a:pt x="0" y="0"/>
                </a:moveTo>
                <a:lnTo>
                  <a:pt x="2594994" y="0"/>
                </a:lnTo>
                <a:lnTo>
                  <a:pt x="2594994" y="2153293"/>
                </a:lnTo>
                <a:lnTo>
                  <a:pt x="0" y="2153293"/>
                </a:lnTo>
                <a:lnTo>
                  <a:pt x="0" y="0"/>
                </a:lnTo>
                <a:close/>
              </a:path>
            </a:pathLst>
          </a:custGeom>
          <a:blipFill>
            <a:blip r:embed="rId3"/>
            <a:stretch>
              <a:fillRect l="-83932" t="-92948" r="-86060" b="-132427"/>
            </a:stretch>
          </a:blipFill>
        </p:spPr>
        <p:txBody>
          <a:bodyPr/>
          <a:lstStyle/>
          <a:p>
            <a:endParaRPr lang="en-GB"/>
          </a:p>
        </p:txBody>
      </p:sp>
      <p:sp>
        <p:nvSpPr>
          <p:cNvPr id="3" name="TextBox 3"/>
          <p:cNvSpPr txBox="1"/>
          <p:nvPr/>
        </p:nvSpPr>
        <p:spPr>
          <a:xfrm>
            <a:off x="2663160" y="3407764"/>
            <a:ext cx="12988454" cy="580390"/>
          </a:xfrm>
          <a:prstGeom prst="rect">
            <a:avLst/>
          </a:prstGeom>
        </p:spPr>
        <p:txBody>
          <a:bodyPr lIns="0" tIns="0" rIns="0" bIns="0" rtlCol="0" anchor="t">
            <a:spAutoFit/>
          </a:bodyPr>
          <a:lstStyle/>
          <a:p>
            <a:pPr algn="ctr">
              <a:lnSpc>
                <a:spcPts val="4759"/>
              </a:lnSpc>
              <a:spcBef>
                <a:spcPct val="0"/>
              </a:spcBef>
            </a:pPr>
            <a:r>
              <a:rPr lang="en-US" sz="3399">
                <a:solidFill>
                  <a:srgbClr val="23487A"/>
                </a:solidFill>
                <a:latin typeface="Montserrat"/>
                <a:ea typeface="Montserrat"/>
                <a:cs typeface="Montserrat"/>
                <a:sym typeface="Montserrat"/>
              </a:rPr>
              <a:t>Newcastle University Investment Fund Training Programme</a:t>
            </a:r>
          </a:p>
        </p:txBody>
      </p:sp>
      <p:sp>
        <p:nvSpPr>
          <p:cNvPr id="4" name="TextBox 4"/>
          <p:cNvSpPr txBox="1"/>
          <p:nvPr/>
        </p:nvSpPr>
        <p:spPr>
          <a:xfrm>
            <a:off x="5717486" y="4246908"/>
            <a:ext cx="6879803" cy="580390"/>
          </a:xfrm>
          <a:prstGeom prst="rect">
            <a:avLst/>
          </a:prstGeom>
        </p:spPr>
        <p:txBody>
          <a:bodyPr lIns="0" tIns="0" rIns="0" bIns="0" rtlCol="0" anchor="t">
            <a:spAutoFit/>
          </a:bodyPr>
          <a:lstStyle/>
          <a:p>
            <a:pPr algn="ctr">
              <a:lnSpc>
                <a:spcPts val="4759"/>
              </a:lnSpc>
              <a:spcBef>
                <a:spcPct val="0"/>
              </a:spcBef>
            </a:pPr>
            <a:r>
              <a:rPr lang="en-US" sz="3399">
                <a:solidFill>
                  <a:srgbClr val="23487A"/>
                </a:solidFill>
                <a:latin typeface="Montserrat"/>
                <a:ea typeface="Montserrat"/>
                <a:cs typeface="Montserrat"/>
                <a:sym typeface="Montserrat"/>
              </a:rPr>
              <a:t>Session 1: What is a Stock Pitch?</a:t>
            </a:r>
          </a:p>
        </p:txBody>
      </p:sp>
      <p:sp>
        <p:nvSpPr>
          <p:cNvPr id="5" name="TextBox 5"/>
          <p:cNvSpPr txBox="1"/>
          <p:nvPr/>
        </p:nvSpPr>
        <p:spPr>
          <a:xfrm>
            <a:off x="2616726" y="5213560"/>
            <a:ext cx="13081322" cy="1180465"/>
          </a:xfrm>
          <a:prstGeom prst="rect">
            <a:avLst/>
          </a:prstGeom>
        </p:spPr>
        <p:txBody>
          <a:bodyPr lIns="0" tIns="0" rIns="0" bIns="0" rtlCol="0" anchor="t">
            <a:spAutoFit/>
          </a:bodyPr>
          <a:lstStyle/>
          <a:p>
            <a:pPr algn="ctr">
              <a:lnSpc>
                <a:spcPts val="4759"/>
              </a:lnSpc>
              <a:spcBef>
                <a:spcPct val="0"/>
              </a:spcBef>
            </a:pPr>
            <a:r>
              <a:rPr lang="en-US" sz="3399">
                <a:solidFill>
                  <a:srgbClr val="23487A"/>
                </a:solidFill>
                <a:latin typeface="Montserrat"/>
                <a:ea typeface="Montserrat"/>
                <a:cs typeface="Montserrat"/>
                <a:sym typeface="Montserrat"/>
              </a:rPr>
              <a:t>Going from "It's a good company" to "It's a good investment"</a:t>
            </a:r>
          </a:p>
          <a:p>
            <a:pPr algn="ctr">
              <a:lnSpc>
                <a:spcPts val="4759"/>
              </a:lnSpc>
              <a:spcBef>
                <a:spcPct val="0"/>
              </a:spcBef>
            </a:pPr>
            <a:endParaRPr lang="en-US" sz="3399">
              <a:solidFill>
                <a:srgbClr val="23487A"/>
              </a:solidFill>
              <a:latin typeface="Montserrat"/>
              <a:ea typeface="Montserrat"/>
              <a:cs typeface="Montserrat"/>
              <a:sym typeface="Montserrat"/>
            </a:endParaRPr>
          </a:p>
        </p:txBody>
      </p:sp>
      <p:grpSp>
        <p:nvGrpSpPr>
          <p:cNvPr id="6" name="Group 6"/>
          <p:cNvGrpSpPr>
            <a:grpSpLocks noGrp="1" noUngrp="1" noRot="1" noMove="1" noResize="1"/>
          </p:cNvGrpSpPr>
          <p:nvPr/>
        </p:nvGrpSpPr>
        <p:grpSpPr>
          <a:xfrm>
            <a:off x="482833" y="399657"/>
            <a:ext cx="17349108" cy="9487687"/>
            <a:chOff x="0" y="0"/>
            <a:chExt cx="5293499" cy="2894850"/>
          </a:xfrm>
        </p:grpSpPr>
        <p:sp>
          <p:nvSpPr>
            <p:cNvPr id="7" name="Freeform 7"/>
            <p:cNvSpPr>
              <a:spLocks noGrp="1" noRot="1" noMove="1" noResize="1" noEditPoints="1" noAdjustHandles="1" noChangeArrowheads="1" noChangeShapeType="1"/>
            </p:cNvSpPr>
            <p:nvPr/>
          </p:nvSpPr>
          <p:spPr>
            <a:xfrm>
              <a:off x="0" y="0"/>
              <a:ext cx="5293499" cy="2894850"/>
            </a:xfrm>
            <a:custGeom>
              <a:avLst/>
              <a:gdLst/>
              <a:ahLst/>
              <a:cxnLst/>
              <a:rect l="l" t="t" r="r" b="b"/>
              <a:pathLst>
                <a:path w="5293499" h="2894850">
                  <a:moveTo>
                    <a:pt x="0" y="0"/>
                  </a:moveTo>
                  <a:lnTo>
                    <a:pt x="5293499" y="0"/>
                  </a:lnTo>
                  <a:lnTo>
                    <a:pt x="5293499" y="2894850"/>
                  </a:lnTo>
                  <a:lnTo>
                    <a:pt x="0" y="2894850"/>
                  </a:lnTo>
                  <a:close/>
                </a:path>
              </a:pathLst>
            </a:custGeom>
            <a:solidFill>
              <a:srgbClr val="FFFFFF"/>
            </a:solidFill>
          </p:spPr>
          <p:txBody>
            <a:bodyPr/>
            <a:lstStyle/>
            <a:p>
              <a:endParaRPr lang="en-GB"/>
            </a:p>
          </p:txBody>
        </p:sp>
        <p:sp>
          <p:nvSpPr>
            <p:cNvPr id="8" name="TextBox 8"/>
            <p:cNvSpPr txBox="1">
              <a:spLocks noGrp="1" noRot="1" noMove="1" noResize="1" noEditPoints="1" noAdjustHandles="1" noChangeArrowheads="1" noChangeShapeType="1"/>
            </p:cNvSpPr>
            <p:nvPr/>
          </p:nvSpPr>
          <p:spPr>
            <a:xfrm>
              <a:off x="0" y="-28575"/>
              <a:ext cx="5293499" cy="2923425"/>
            </a:xfrm>
            <a:prstGeom prst="rect">
              <a:avLst/>
            </a:prstGeom>
          </p:spPr>
          <p:txBody>
            <a:bodyPr lIns="43850" tIns="43850" rIns="43850" bIns="43850" rtlCol="0" anchor="ctr"/>
            <a:lstStyle/>
            <a:p>
              <a:pPr algn="ctr">
                <a:lnSpc>
                  <a:spcPts val="2296"/>
                </a:lnSpc>
                <a:spcBef>
                  <a:spcPct val="0"/>
                </a:spcBef>
              </a:pPr>
              <a:endParaRPr/>
            </a:p>
          </p:txBody>
        </p:sp>
      </p:grpSp>
      <p:sp>
        <p:nvSpPr>
          <p:cNvPr id="9" name="Freeform 9"/>
          <p:cNvSpPr>
            <a:spLocks noGrp="1" noRot="1" noMove="1" noResize="1" noEditPoints="1" noAdjustHandles="1" noChangeArrowheads="1" noChangeShapeType="1"/>
          </p:cNvSpPr>
          <p:nvPr/>
        </p:nvSpPr>
        <p:spPr>
          <a:xfrm>
            <a:off x="16305847" y="8621010"/>
            <a:ext cx="1526094" cy="1266333"/>
          </a:xfrm>
          <a:custGeom>
            <a:avLst/>
            <a:gdLst/>
            <a:ahLst/>
            <a:cxnLst/>
            <a:rect l="l" t="t" r="r" b="b"/>
            <a:pathLst>
              <a:path w="1526094" h="1266333">
                <a:moveTo>
                  <a:pt x="0" y="0"/>
                </a:moveTo>
                <a:lnTo>
                  <a:pt x="1526094" y="0"/>
                </a:lnTo>
                <a:lnTo>
                  <a:pt x="1526094" y="1266333"/>
                </a:lnTo>
                <a:lnTo>
                  <a:pt x="0" y="1266333"/>
                </a:lnTo>
                <a:lnTo>
                  <a:pt x="0" y="0"/>
                </a:lnTo>
                <a:close/>
              </a:path>
            </a:pathLst>
          </a:custGeom>
          <a:blipFill>
            <a:blip r:embed="rId3"/>
            <a:stretch>
              <a:fillRect l="-83932" t="-92948" r="-86060" b="-132427"/>
            </a:stretch>
          </a:blipFill>
        </p:spPr>
        <p:txBody>
          <a:bodyPr/>
          <a:lstStyle/>
          <a:p>
            <a:endParaRPr lang="en-GB"/>
          </a:p>
        </p:txBody>
      </p:sp>
      <p:sp>
        <p:nvSpPr>
          <p:cNvPr id="10" name="AutoShape 10"/>
          <p:cNvSpPr>
            <a:spLocks noGrp="1" noRot="1" noMove="1" noResize="1" noEditPoints="1" noAdjustHandles="1" noChangeArrowheads="1" noChangeShapeType="1"/>
          </p:cNvSpPr>
          <p:nvPr/>
        </p:nvSpPr>
        <p:spPr>
          <a:xfrm>
            <a:off x="2209802" y="9254177"/>
            <a:ext cx="13744971" cy="0"/>
          </a:xfrm>
          <a:prstGeom prst="line">
            <a:avLst/>
          </a:prstGeom>
          <a:ln w="38100" cap="flat">
            <a:solidFill>
              <a:srgbClr val="214779"/>
            </a:solidFill>
            <a:prstDash val="solid"/>
            <a:headEnd type="none" w="sm" len="sm"/>
            <a:tailEnd type="none" w="sm" len="sm"/>
          </a:ln>
        </p:spPr>
        <p:txBody>
          <a:bodyPr/>
          <a:lstStyle/>
          <a:p>
            <a:endParaRPr lang="en-GB"/>
          </a:p>
        </p:txBody>
      </p:sp>
      <p:sp>
        <p:nvSpPr>
          <p:cNvPr id="12" name="AutoShape 12"/>
          <p:cNvSpPr>
            <a:spLocks noGrp="1" noRot="1" noMove="1" noResize="1" noEditPoints="1" noAdjustHandles="1" noChangeArrowheads="1" noChangeShapeType="1"/>
          </p:cNvSpPr>
          <p:nvPr/>
        </p:nvSpPr>
        <p:spPr>
          <a:xfrm>
            <a:off x="1028734" y="1304608"/>
            <a:ext cx="10729029" cy="19050"/>
          </a:xfrm>
          <a:prstGeom prst="line">
            <a:avLst/>
          </a:prstGeom>
          <a:ln w="38100" cap="flat">
            <a:solidFill>
              <a:srgbClr val="214779"/>
            </a:solidFill>
            <a:prstDash val="solid"/>
            <a:headEnd type="none" w="sm" len="sm"/>
            <a:tailEnd type="none" w="sm" len="sm"/>
          </a:ln>
        </p:spPr>
        <p:txBody>
          <a:bodyPr/>
          <a:lstStyle/>
          <a:p>
            <a:endParaRPr lang="en-GB"/>
          </a:p>
        </p:txBody>
      </p:sp>
      <p:sp>
        <p:nvSpPr>
          <p:cNvPr id="15" name="TextBox 15"/>
          <p:cNvSpPr txBox="1"/>
          <p:nvPr/>
        </p:nvSpPr>
        <p:spPr>
          <a:xfrm>
            <a:off x="9139238" y="4819967"/>
            <a:ext cx="9525" cy="580390"/>
          </a:xfrm>
          <a:prstGeom prst="rect">
            <a:avLst/>
          </a:prstGeom>
        </p:spPr>
        <p:txBody>
          <a:bodyPr lIns="0" tIns="0" rIns="0" bIns="0" rtlCol="0" anchor="t">
            <a:spAutoFit/>
          </a:bodyPr>
          <a:lstStyle/>
          <a:p>
            <a:pPr algn="ctr">
              <a:lnSpc>
                <a:spcPts val="4759"/>
              </a:lnSpc>
            </a:pPr>
            <a:endParaRPr/>
          </a:p>
        </p:txBody>
      </p:sp>
      <p:sp>
        <p:nvSpPr>
          <p:cNvPr id="17" name="TextBox 11">
            <a:extLst>
              <a:ext uri="{FF2B5EF4-FFF2-40B4-BE49-F238E27FC236}">
                <a16:creationId xmlns:a16="http://schemas.microsoft.com/office/drawing/2014/main" id="{0F12B423-CA94-5B45-FECE-EBD9FCF7C2C8}"/>
              </a:ext>
            </a:extLst>
          </p:cNvPr>
          <p:cNvSpPr txBox="1"/>
          <p:nvPr/>
        </p:nvSpPr>
        <p:spPr>
          <a:xfrm>
            <a:off x="1028734" y="1288745"/>
            <a:ext cx="9662852" cy="550407"/>
          </a:xfrm>
          <a:prstGeom prst="rect">
            <a:avLst/>
          </a:prstGeom>
        </p:spPr>
        <p:txBody>
          <a:bodyPr wrap="square" lIns="0" tIns="0" rIns="0" bIns="0" rtlCol="0" anchor="t">
            <a:spAutoFit/>
          </a:bodyPr>
          <a:lstStyle/>
          <a:p>
            <a:pPr>
              <a:lnSpc>
                <a:spcPts val="4759"/>
              </a:lnSpc>
              <a:spcBef>
                <a:spcPct val="0"/>
              </a:spcBef>
            </a:pPr>
            <a:r>
              <a:rPr lang="en-US" sz="2400" dirty="0">
                <a:latin typeface="Times New Roman" panose="02020603050405020304" pitchFamily="18" charset="0"/>
                <a:ea typeface="Montserrat"/>
                <a:cs typeface="Times New Roman" panose="02020603050405020304" pitchFamily="18" charset="0"/>
                <a:sym typeface="Montserrat"/>
              </a:rPr>
              <a:t>Disciplined backlog. Rising Margins. Rerate ahead.</a:t>
            </a:r>
          </a:p>
        </p:txBody>
      </p:sp>
      <p:sp>
        <p:nvSpPr>
          <p:cNvPr id="21" name="TextBox 11">
            <a:extLst>
              <a:ext uri="{FF2B5EF4-FFF2-40B4-BE49-F238E27FC236}">
                <a16:creationId xmlns:a16="http://schemas.microsoft.com/office/drawing/2014/main" id="{E3CB9011-C3C0-15CD-1CC7-DE522A6EA803}"/>
              </a:ext>
            </a:extLst>
          </p:cNvPr>
          <p:cNvSpPr txBox="1"/>
          <p:nvPr/>
        </p:nvSpPr>
        <p:spPr>
          <a:xfrm>
            <a:off x="990662" y="1765170"/>
            <a:ext cx="5437450" cy="4278094"/>
          </a:xfrm>
          <a:prstGeom prst="rect">
            <a:avLst/>
          </a:prstGeom>
        </p:spPr>
        <p:txBody>
          <a:bodyPr wrap="square" lIns="0" tIns="0" rIns="0" bIns="0" rtlCol="0" anchor="t">
            <a:spAutoFit/>
          </a:bodyPr>
          <a:lstStyle/>
          <a:p>
            <a:pPr>
              <a:lnSpc>
                <a:spcPct val="200000"/>
              </a:lnSpc>
              <a:spcBef>
                <a:spcPct val="0"/>
              </a:spcBef>
            </a:pPr>
            <a:r>
              <a:rPr lang="en-US" sz="2000" dirty="0">
                <a:latin typeface="Times New Roman" panose="02020603050405020304" pitchFamily="18" charset="0"/>
                <a:ea typeface="Montserrat"/>
                <a:cs typeface="Times New Roman" panose="02020603050405020304" pitchFamily="18" charset="0"/>
                <a:sym typeface="Montserrat"/>
              </a:rPr>
              <a:t>Leaner footprint, tighter execution</a:t>
            </a:r>
          </a:p>
          <a:p>
            <a:pPr marL="342900" indent="-342900">
              <a:spcBef>
                <a:spcPct val="0"/>
              </a:spcBef>
              <a:buFont typeface="Arial" panose="020B0604020202020204" pitchFamily="34" charset="0"/>
              <a:buChar char="•"/>
            </a:pPr>
            <a:r>
              <a:rPr lang="en-US" sz="1400" dirty="0">
                <a:latin typeface="Times New Roman" panose="02020603050405020304" pitchFamily="18" charset="0"/>
                <a:ea typeface="Montserrat"/>
                <a:cs typeface="Times New Roman" panose="02020603050405020304" pitchFamily="18" charset="0"/>
                <a:sym typeface="Montserrat"/>
              </a:rPr>
              <a:t>Strategic exits from Germany and Belgium 2021-2023</a:t>
            </a:r>
          </a:p>
          <a:p>
            <a:pPr marL="800100" lvl="1" indent="-342900">
              <a:spcBef>
                <a:spcPct val="0"/>
              </a:spcBef>
              <a:buFont typeface="Arial" panose="020B0604020202020204" pitchFamily="34" charset="0"/>
              <a:buChar char="•"/>
            </a:pPr>
            <a:r>
              <a:rPr lang="en-US" sz="1400" dirty="0">
                <a:latin typeface="Times New Roman" panose="02020603050405020304" pitchFamily="18" charset="0"/>
                <a:ea typeface="Montserrat"/>
                <a:cs typeface="Times New Roman" panose="02020603050405020304" pitchFamily="18" charset="0"/>
                <a:sym typeface="Montserrat"/>
              </a:rPr>
              <a:t>Geographical shifts to focus on markets where they have “scale and competitive advantage” i.e. Netherlands, UK, and Ireland</a:t>
            </a:r>
          </a:p>
          <a:p>
            <a:pPr marL="800100" lvl="1" indent="-342900">
              <a:spcBef>
                <a:spcPct val="0"/>
              </a:spcBef>
              <a:buFont typeface="Arial" panose="020B0604020202020204" pitchFamily="34" charset="0"/>
              <a:buChar char="•"/>
            </a:pPr>
            <a:r>
              <a:rPr lang="en-US" sz="1400" dirty="0">
                <a:latin typeface="Times New Roman" panose="02020603050405020304" pitchFamily="18" charset="0"/>
                <a:ea typeface="Montserrat"/>
                <a:cs typeface="Times New Roman" panose="02020603050405020304" pitchFamily="18" charset="0"/>
                <a:sym typeface="Montserrat"/>
              </a:rPr>
              <a:t>Success evinced in a 33% gain in order book, which they’ve maintained going into 2025 H1 while simultaneously increasing revenue by 7%</a:t>
            </a:r>
          </a:p>
          <a:p>
            <a:pPr marL="342900" indent="-342900">
              <a:spcBef>
                <a:spcPct val="0"/>
              </a:spcBef>
              <a:buFont typeface="Arial" panose="020B0604020202020204" pitchFamily="34" charset="0"/>
              <a:buChar char="•"/>
            </a:pPr>
            <a:r>
              <a:rPr lang="en-US" sz="1400" dirty="0">
                <a:latin typeface="Times New Roman" panose="02020603050405020304" pitchFamily="18" charset="0"/>
                <a:ea typeface="Montserrat"/>
                <a:cs typeface="Times New Roman" panose="02020603050405020304" pitchFamily="18" charset="0"/>
                <a:sym typeface="Montserrat"/>
              </a:rPr>
              <a:t>Smarter order book</a:t>
            </a:r>
          </a:p>
          <a:p>
            <a:pPr marL="800100" lvl="1" indent="-342900">
              <a:spcBef>
                <a:spcPct val="0"/>
              </a:spcBef>
              <a:buFont typeface="Arial" panose="020B0604020202020204" pitchFamily="34" charset="0"/>
              <a:buChar char="•"/>
            </a:pPr>
            <a:r>
              <a:rPr lang="en-US" sz="1400" dirty="0">
                <a:latin typeface="Times New Roman" panose="02020603050405020304" pitchFamily="18" charset="0"/>
                <a:ea typeface="Montserrat"/>
                <a:cs typeface="Times New Roman" panose="02020603050405020304" pitchFamily="18" charset="0"/>
                <a:sym typeface="Montserrat"/>
              </a:rPr>
              <a:t>“Be selective and strengthen control: focus on predictable product market combinations with two-stage, medium sized projects”</a:t>
            </a:r>
          </a:p>
          <a:p>
            <a:pPr marL="800100" lvl="1" indent="-342900">
              <a:spcBef>
                <a:spcPct val="0"/>
              </a:spcBef>
              <a:buFont typeface="Arial" panose="020B0604020202020204" pitchFamily="34" charset="0"/>
              <a:buChar char="•"/>
            </a:pPr>
            <a:r>
              <a:rPr lang="en-US" sz="1400" dirty="0">
                <a:latin typeface="Times New Roman" panose="02020603050405020304" pitchFamily="18" charset="0"/>
                <a:ea typeface="Montserrat"/>
                <a:cs typeface="Times New Roman" panose="02020603050405020304" pitchFamily="18" charset="0"/>
                <a:sym typeface="Montserrat"/>
              </a:rPr>
              <a:t>Pursuing higher risk/reward opportunities, involving earlier contractor involvement in low-surprise delivery models – managed risk transfer</a:t>
            </a:r>
          </a:p>
          <a:p>
            <a:pPr marL="342900" indent="-342900">
              <a:spcBef>
                <a:spcPct val="0"/>
              </a:spcBef>
              <a:buFont typeface="Arial" panose="020B0604020202020204" pitchFamily="34" charset="0"/>
              <a:buChar char="•"/>
            </a:pPr>
            <a:r>
              <a:rPr lang="en-US" sz="1400" dirty="0">
                <a:latin typeface="Times New Roman" panose="02020603050405020304" pitchFamily="18" charset="0"/>
                <a:ea typeface="Montserrat"/>
                <a:cs typeface="Times New Roman" panose="02020603050405020304" pitchFamily="18" charset="0"/>
                <a:sym typeface="Montserrat"/>
              </a:rPr>
              <a:t>Execution upgrade</a:t>
            </a:r>
          </a:p>
          <a:p>
            <a:pPr marL="800100" lvl="1" indent="-342900">
              <a:spcBef>
                <a:spcPct val="0"/>
              </a:spcBef>
              <a:buFont typeface="Arial" panose="020B0604020202020204" pitchFamily="34" charset="0"/>
              <a:buChar char="•"/>
            </a:pPr>
            <a:r>
              <a:rPr lang="en-US" sz="1400" dirty="0">
                <a:latin typeface="Times New Roman" panose="02020603050405020304" pitchFamily="18" charset="0"/>
                <a:ea typeface="Montserrat"/>
                <a:cs typeface="Times New Roman" panose="02020603050405020304" pitchFamily="18" charset="0"/>
                <a:sym typeface="Montserrat"/>
              </a:rPr>
              <a:t>Improvement and deployment of company wide workflows including digital modelling with BIM, VR/AR, robotics allows for easier execution and less reworks</a:t>
            </a:r>
          </a:p>
        </p:txBody>
      </p:sp>
      <p:graphicFrame>
        <p:nvGraphicFramePr>
          <p:cNvPr id="22" name="Chart 21">
            <a:extLst>
              <a:ext uri="{FF2B5EF4-FFF2-40B4-BE49-F238E27FC236}">
                <a16:creationId xmlns:a16="http://schemas.microsoft.com/office/drawing/2014/main" id="{4CAF937F-645F-9D0C-08FF-0F336E220ACE}"/>
              </a:ext>
            </a:extLst>
          </p:cNvPr>
          <p:cNvGraphicFramePr>
            <a:graphicFrameLocks/>
          </p:cNvGraphicFramePr>
          <p:nvPr>
            <p:extLst>
              <p:ext uri="{D42A27DB-BD31-4B8C-83A1-F6EECF244321}">
                <p14:modId xmlns:p14="http://schemas.microsoft.com/office/powerpoint/2010/main" val="3532771781"/>
              </p:ext>
            </p:extLst>
          </p:nvPr>
        </p:nvGraphicFramePr>
        <p:xfrm>
          <a:off x="1078180" y="6079911"/>
          <a:ext cx="5455461" cy="3048974"/>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30" name="Chart 29">
            <a:extLst>
              <a:ext uri="{FF2B5EF4-FFF2-40B4-BE49-F238E27FC236}">
                <a16:creationId xmlns:a16="http://schemas.microsoft.com/office/drawing/2014/main" id="{C3FD9CB3-56C4-F1D3-6824-1193DB67D21E}"/>
              </a:ext>
            </a:extLst>
          </p:cNvPr>
          <p:cNvGraphicFramePr/>
          <p:nvPr>
            <p:extLst>
              <p:ext uri="{D42A27DB-BD31-4B8C-83A1-F6EECF244321}">
                <p14:modId xmlns:p14="http://schemas.microsoft.com/office/powerpoint/2010/main" val="432953153"/>
              </p:ext>
            </p:extLst>
          </p:nvPr>
        </p:nvGraphicFramePr>
        <p:xfrm>
          <a:off x="6113251" y="1823395"/>
          <a:ext cx="3196534" cy="3369493"/>
        </p:xfrm>
        <a:graphic>
          <a:graphicData uri="http://schemas.openxmlformats.org/drawingml/2006/chart">
            <c:chart xmlns:c="http://schemas.openxmlformats.org/drawingml/2006/chart" xmlns:r="http://schemas.openxmlformats.org/officeDocument/2006/relationships" r:id="rId5"/>
          </a:graphicData>
        </a:graphic>
      </p:graphicFrame>
      <mc:AlternateContent xmlns:mc="http://schemas.openxmlformats.org/markup-compatibility/2006" xmlns:a14="http://schemas.microsoft.com/office/drawing/2010/main">
        <mc:Choice Requires="a14">
          <p:graphicFrame>
            <p:nvGraphicFramePr>
              <p:cNvPr id="34" name="Diagram 33">
                <a:extLst>
                  <a:ext uri="{FF2B5EF4-FFF2-40B4-BE49-F238E27FC236}">
                    <a16:creationId xmlns:a16="http://schemas.microsoft.com/office/drawing/2014/main" id="{EDE216A2-F5D6-CE65-0357-D01F20C42325}"/>
                  </a:ext>
                </a:extLst>
              </p:cNvPr>
              <p:cNvGraphicFramePr/>
              <p:nvPr>
                <p:extLst>
                  <p:ext uri="{D42A27DB-BD31-4B8C-83A1-F6EECF244321}">
                    <p14:modId xmlns:p14="http://schemas.microsoft.com/office/powerpoint/2010/main" val="1540557214"/>
                  </p:ext>
                </p:extLst>
              </p:nvPr>
            </p:nvGraphicFramePr>
            <p:xfrm>
              <a:off x="9088635" y="918551"/>
              <a:ext cx="8235477" cy="6955525"/>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mc:Choice>
        <mc:Fallback xmlns="">
          <p:graphicFrame>
            <p:nvGraphicFramePr>
              <p:cNvPr id="34" name="Diagram 33">
                <a:extLst>
                  <a:ext uri="{FF2B5EF4-FFF2-40B4-BE49-F238E27FC236}">
                    <a16:creationId xmlns:a16="http://schemas.microsoft.com/office/drawing/2014/main" id="{EDE216A2-F5D6-CE65-0357-D01F20C42325}"/>
                  </a:ext>
                </a:extLst>
              </p:cNvPr>
              <p:cNvGraphicFramePr/>
              <p:nvPr>
                <p:extLst>
                  <p:ext uri="{D42A27DB-BD31-4B8C-83A1-F6EECF244321}">
                    <p14:modId xmlns:p14="http://schemas.microsoft.com/office/powerpoint/2010/main" val="1540557214"/>
                  </p:ext>
                </p:extLst>
              </p:nvPr>
            </p:nvGraphicFramePr>
            <p:xfrm>
              <a:off x="9088635" y="918551"/>
              <a:ext cx="8235477" cy="6955525"/>
            </p:xfrm>
            <a:graphic>
              <a:graphicData uri="http://schemas.openxmlformats.org/drawingml/2006/diagram">
                <dgm:relIds xmlns:dgm="http://schemas.openxmlformats.org/drawingml/2006/diagram" xmlns:r="http://schemas.openxmlformats.org/officeDocument/2006/relationships" r:dm="rId11" r:lo="rId12" r:qs="rId13" r:cs="rId14"/>
              </a:graphicData>
            </a:graphic>
          </p:graphicFrame>
        </mc:Fallback>
      </mc:AlternateContent>
      <p:sp>
        <p:nvSpPr>
          <p:cNvPr id="36" name="TextBox 11">
            <a:extLst>
              <a:ext uri="{FF2B5EF4-FFF2-40B4-BE49-F238E27FC236}">
                <a16:creationId xmlns:a16="http://schemas.microsoft.com/office/drawing/2014/main" id="{176EC6FE-A575-6B09-858D-01324F2FB935}"/>
              </a:ext>
            </a:extLst>
          </p:cNvPr>
          <p:cNvSpPr txBox="1"/>
          <p:nvPr/>
        </p:nvSpPr>
        <p:spPr>
          <a:xfrm>
            <a:off x="6866011" y="6452043"/>
            <a:ext cx="1927914" cy="1153264"/>
          </a:xfrm>
          <a:prstGeom prst="rect">
            <a:avLst/>
          </a:prstGeom>
        </p:spPr>
        <p:txBody>
          <a:bodyPr wrap="square" lIns="0" tIns="0" rIns="0" bIns="0" rtlCol="0" anchor="t">
            <a:spAutoFit/>
          </a:bodyPr>
          <a:lstStyle/>
          <a:p>
            <a:pPr>
              <a:lnSpc>
                <a:spcPts val="4759"/>
              </a:lnSpc>
              <a:spcBef>
                <a:spcPct val="0"/>
              </a:spcBef>
            </a:pPr>
            <a:endParaRPr lang="en-US" sz="1200">
              <a:solidFill>
                <a:srgbClr val="23487A"/>
              </a:solidFill>
              <a:latin typeface="Montserrat"/>
              <a:ea typeface="Montserrat"/>
              <a:cs typeface="Montserrat"/>
              <a:sym typeface="Montserrat"/>
            </a:endParaRPr>
          </a:p>
          <a:p>
            <a:pPr>
              <a:lnSpc>
                <a:spcPts val="4759"/>
              </a:lnSpc>
              <a:spcBef>
                <a:spcPct val="0"/>
              </a:spcBef>
            </a:pPr>
            <a:endParaRPr lang="en-US" sz="2400">
              <a:solidFill>
                <a:srgbClr val="23487A"/>
              </a:solidFill>
              <a:latin typeface="Montserrat"/>
              <a:ea typeface="Montserrat"/>
              <a:cs typeface="Montserrat"/>
              <a:sym typeface="Montserrat"/>
            </a:endParaRPr>
          </a:p>
        </p:txBody>
      </p:sp>
      <p:graphicFrame>
        <p:nvGraphicFramePr>
          <p:cNvPr id="40" name="Diagram 39">
            <a:extLst>
              <a:ext uri="{FF2B5EF4-FFF2-40B4-BE49-F238E27FC236}">
                <a16:creationId xmlns:a16="http://schemas.microsoft.com/office/drawing/2014/main" id="{77A24D35-A807-4C80-CCCF-791C941ECA3C}"/>
              </a:ext>
            </a:extLst>
          </p:cNvPr>
          <p:cNvGraphicFramePr/>
          <p:nvPr>
            <p:extLst>
              <p:ext uri="{D42A27DB-BD31-4B8C-83A1-F6EECF244321}">
                <p14:modId xmlns:p14="http://schemas.microsoft.com/office/powerpoint/2010/main" val="1809032430"/>
              </p:ext>
            </p:extLst>
          </p:nvPr>
        </p:nvGraphicFramePr>
        <p:xfrm>
          <a:off x="6254456" y="4545718"/>
          <a:ext cx="10339600" cy="7283580"/>
        </p:xfrm>
        <a:graphic>
          <a:graphicData uri="http://schemas.openxmlformats.org/drawingml/2006/diagram">
            <dgm:relIds xmlns:dgm="http://schemas.openxmlformats.org/drawingml/2006/diagram" xmlns:r="http://schemas.openxmlformats.org/officeDocument/2006/relationships" r:dm="rId15" r:lo="rId16" r:qs="rId17" r:cs="rId18"/>
          </a:graphicData>
        </a:graphic>
      </p:graphicFrame>
      <p:sp>
        <p:nvSpPr>
          <p:cNvPr id="19" name="Rectangle 18">
            <a:extLst>
              <a:ext uri="{FF2B5EF4-FFF2-40B4-BE49-F238E27FC236}">
                <a16:creationId xmlns:a16="http://schemas.microsoft.com/office/drawing/2014/main" id="{6DE5DBBE-4A28-7FAC-BD90-7E9D03F66562}"/>
              </a:ext>
            </a:extLst>
          </p:cNvPr>
          <p:cNvSpPr/>
          <p:nvPr/>
        </p:nvSpPr>
        <p:spPr>
          <a:xfrm>
            <a:off x="1037096" y="1103086"/>
            <a:ext cx="10995247" cy="24143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TextBox 11">
            <a:extLst>
              <a:ext uri="{FF2B5EF4-FFF2-40B4-BE49-F238E27FC236}">
                <a16:creationId xmlns:a16="http://schemas.microsoft.com/office/drawing/2014/main" id="{1D709336-A4C7-A6D9-F3F9-678B8E81BB0D}"/>
              </a:ext>
            </a:extLst>
          </p:cNvPr>
          <p:cNvSpPr txBox="1"/>
          <p:nvPr/>
        </p:nvSpPr>
        <p:spPr>
          <a:xfrm>
            <a:off x="958119" y="774637"/>
            <a:ext cx="5237748" cy="615553"/>
          </a:xfrm>
          <a:prstGeom prst="rect">
            <a:avLst/>
          </a:prstGeom>
        </p:spPr>
        <p:txBody>
          <a:bodyPr wrap="square" lIns="0" tIns="0" rIns="0" bIns="0" rtlCol="0" anchor="t">
            <a:spAutoFit/>
          </a:bodyPr>
          <a:lstStyle/>
          <a:p>
            <a:pPr>
              <a:lnSpc>
                <a:spcPts val="4759"/>
              </a:lnSpc>
              <a:spcBef>
                <a:spcPct val="0"/>
              </a:spcBef>
            </a:pPr>
            <a:r>
              <a:rPr lang="en-US" sz="4400" dirty="0">
                <a:latin typeface="Times New Roman" panose="02020603050405020304" pitchFamily="18" charset="0"/>
                <a:ea typeface="Montserrat"/>
                <a:cs typeface="Times New Roman" panose="02020603050405020304" pitchFamily="18" charset="0"/>
                <a:sym typeface="Montserrat"/>
              </a:rPr>
              <a:t>Thesis</a:t>
            </a:r>
          </a:p>
        </p:txBody>
      </p:sp>
      <p:sp>
        <p:nvSpPr>
          <p:cNvPr id="23" name="AutoShape 10">
            <a:extLst>
              <a:ext uri="{FF2B5EF4-FFF2-40B4-BE49-F238E27FC236}">
                <a16:creationId xmlns:a16="http://schemas.microsoft.com/office/drawing/2014/main" id="{36D8E8AA-9EEF-037D-68BA-0EBAF1EF306C}"/>
              </a:ext>
            </a:extLst>
          </p:cNvPr>
          <p:cNvSpPr/>
          <p:nvPr/>
        </p:nvSpPr>
        <p:spPr>
          <a:xfrm>
            <a:off x="973240" y="1362172"/>
            <a:ext cx="13744971" cy="0"/>
          </a:xfrm>
          <a:prstGeom prst="line">
            <a:avLst/>
          </a:prstGeom>
          <a:ln w="38100" cap="flat">
            <a:solidFill>
              <a:srgbClr val="214779"/>
            </a:solidFill>
            <a:prstDash val="solid"/>
            <a:headEnd type="none" w="sm" len="sm"/>
            <a:tailEnd type="none" w="sm" len="sm"/>
          </a:ln>
        </p:spPr>
        <p:txBody>
          <a:bodyPr/>
          <a:lstStyle/>
          <a:p>
            <a:endParaRPr lang="en-GB">
              <a:latin typeface="Times New Roman" panose="02020603050405020304" pitchFamily="18" charset="0"/>
              <a:cs typeface="Times New Roman" panose="02020603050405020304" pitchFamily="18" charset="0"/>
            </a:endParaRPr>
          </a:p>
        </p:txBody>
      </p:sp>
      <p:sp>
        <p:nvSpPr>
          <p:cNvPr id="11" name="TextBox 49">
            <a:extLst>
              <a:ext uri="{FF2B5EF4-FFF2-40B4-BE49-F238E27FC236}">
                <a16:creationId xmlns:a16="http://schemas.microsoft.com/office/drawing/2014/main" id="{C2C7B4A5-6D0E-F9A9-2B33-691BA1243237}"/>
              </a:ext>
            </a:extLst>
          </p:cNvPr>
          <p:cNvSpPr txBox="1"/>
          <p:nvPr/>
        </p:nvSpPr>
        <p:spPr>
          <a:xfrm>
            <a:off x="3233349" y="9250434"/>
            <a:ext cx="8782188" cy="466474"/>
          </a:xfrm>
          <a:prstGeom prst="rect">
            <a:avLst/>
          </a:prstGeom>
        </p:spPr>
        <p:txBody>
          <a:bodyPr wrap="square" lIns="0" tIns="0" rIns="0" bIns="0" rtlCol="0" anchor="t">
            <a:spAutoFit/>
          </a:bodyPr>
          <a:lstStyle/>
          <a:p>
            <a:pPr algn="ctr">
              <a:lnSpc>
                <a:spcPts val="4060"/>
              </a:lnSpc>
              <a:spcBef>
                <a:spcPct val="0"/>
              </a:spcBef>
            </a:pPr>
            <a:r>
              <a:rPr lang="en-US" sz="2400" dirty="0">
                <a:solidFill>
                  <a:schemeClr val="bg1">
                    <a:lumMod val="50000"/>
                  </a:schemeClr>
                </a:solidFill>
                <a:latin typeface="Times New Roman" panose="02020603050405020304" pitchFamily="18" charset="0"/>
                <a:ea typeface="Times New Roman"/>
                <a:cs typeface="Times New Roman" panose="02020603050405020304" pitchFamily="18" charset="0"/>
                <a:sym typeface="Times New Roman"/>
              </a:rPr>
              <a:t>29/10/25		      Royal Bam Group – (XAMS</a:t>
            </a:r>
            <a:r>
              <a:rPr lang="en-US" sz="2400" dirty="0">
                <a:solidFill>
                  <a:schemeClr val="bg1">
                    <a:lumMod val="50000"/>
                  </a:schemeClr>
                </a:solidFill>
                <a:latin typeface="Times New Roman" panose="02020603050405020304" pitchFamily="18" charset="0"/>
                <a:ea typeface="Times New Roman"/>
                <a:cs typeface="Times New Roman" panose="02020603050405020304" pitchFamily="18" charset="0"/>
                <a:sym typeface="Wingdings" pitchFamily="2" charset="2"/>
              </a:rPr>
              <a:t>:</a:t>
            </a:r>
            <a:r>
              <a:rPr lang="en-US" sz="2400" dirty="0">
                <a:solidFill>
                  <a:schemeClr val="bg1">
                    <a:lumMod val="50000"/>
                  </a:schemeClr>
                </a:solidFill>
                <a:latin typeface="Times New Roman" panose="02020603050405020304" pitchFamily="18" charset="0"/>
                <a:ea typeface="Times New Roman"/>
                <a:cs typeface="Times New Roman" panose="02020603050405020304" pitchFamily="18" charset="0"/>
                <a:sym typeface="Times New Roman"/>
              </a:rPr>
              <a:t> BAMNB)</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23487A"/>
        </a:solidFill>
        <a:effectLst/>
      </p:bgPr>
    </p:bg>
    <p:spTree>
      <p:nvGrpSpPr>
        <p:cNvPr id="1" name=""/>
        <p:cNvGrpSpPr/>
        <p:nvPr/>
      </p:nvGrpSpPr>
      <p:grpSpPr>
        <a:xfrm>
          <a:off x="0" y="0"/>
          <a:ext cx="0" cy="0"/>
          <a:chOff x="0" y="0"/>
          <a:chExt cx="0" cy="0"/>
        </a:xfrm>
      </p:grpSpPr>
      <p:grpSp>
        <p:nvGrpSpPr>
          <p:cNvPr id="33" name="Group 6">
            <a:extLst>
              <a:ext uri="{FF2B5EF4-FFF2-40B4-BE49-F238E27FC236}">
                <a16:creationId xmlns:a16="http://schemas.microsoft.com/office/drawing/2014/main" id="{3746429B-B77E-2D51-D41A-8AB37B356A43}"/>
              </a:ext>
            </a:extLst>
          </p:cNvPr>
          <p:cNvGrpSpPr>
            <a:grpSpLocks/>
          </p:cNvGrpSpPr>
          <p:nvPr/>
        </p:nvGrpSpPr>
        <p:grpSpPr>
          <a:xfrm>
            <a:off x="469446" y="279540"/>
            <a:ext cx="17349108" cy="9581340"/>
            <a:chOff x="0" y="-28575"/>
            <a:chExt cx="5293499" cy="2923425"/>
          </a:xfrm>
        </p:grpSpPr>
        <p:sp>
          <p:nvSpPr>
            <p:cNvPr id="36" name="Freeform 7">
              <a:extLst>
                <a:ext uri="{FF2B5EF4-FFF2-40B4-BE49-F238E27FC236}">
                  <a16:creationId xmlns:a16="http://schemas.microsoft.com/office/drawing/2014/main" id="{C2FE765C-41F5-2773-49E9-6F45BA093A71}"/>
                </a:ext>
              </a:extLst>
            </p:cNvPr>
            <p:cNvSpPr>
              <a:spLocks/>
            </p:cNvSpPr>
            <p:nvPr/>
          </p:nvSpPr>
          <p:spPr>
            <a:xfrm>
              <a:off x="0" y="0"/>
              <a:ext cx="5293499" cy="2894850"/>
            </a:xfrm>
            <a:custGeom>
              <a:avLst/>
              <a:gdLst/>
              <a:ahLst/>
              <a:cxnLst/>
              <a:rect l="l" t="t" r="r" b="b"/>
              <a:pathLst>
                <a:path w="5293499" h="2894850">
                  <a:moveTo>
                    <a:pt x="0" y="0"/>
                  </a:moveTo>
                  <a:lnTo>
                    <a:pt x="5293499" y="0"/>
                  </a:lnTo>
                  <a:lnTo>
                    <a:pt x="5293499" y="2894850"/>
                  </a:lnTo>
                  <a:lnTo>
                    <a:pt x="0" y="2894850"/>
                  </a:lnTo>
                  <a:close/>
                </a:path>
              </a:pathLst>
            </a:custGeom>
            <a:solidFill>
              <a:srgbClr val="FFFFFF"/>
            </a:solidFill>
          </p:spPr>
          <p:txBody>
            <a:bodyPr/>
            <a:lstStyle/>
            <a:p>
              <a:endParaRPr lang="en-GB">
                <a:latin typeface="Times New Roman" panose="02020603050405020304" pitchFamily="18" charset="0"/>
                <a:cs typeface="Times New Roman" panose="02020603050405020304" pitchFamily="18" charset="0"/>
              </a:endParaRPr>
            </a:p>
          </p:txBody>
        </p:sp>
        <p:sp>
          <p:nvSpPr>
            <p:cNvPr id="39" name="TextBox 8">
              <a:extLst>
                <a:ext uri="{FF2B5EF4-FFF2-40B4-BE49-F238E27FC236}">
                  <a16:creationId xmlns:a16="http://schemas.microsoft.com/office/drawing/2014/main" id="{231691AF-6F3D-F042-0D32-562B43B25FEF}"/>
                </a:ext>
              </a:extLst>
            </p:cNvPr>
            <p:cNvSpPr txBox="1">
              <a:spLocks/>
            </p:cNvSpPr>
            <p:nvPr/>
          </p:nvSpPr>
          <p:spPr>
            <a:xfrm>
              <a:off x="0" y="-28575"/>
              <a:ext cx="5293499" cy="2923425"/>
            </a:xfrm>
            <a:prstGeom prst="rect">
              <a:avLst/>
            </a:prstGeom>
          </p:spPr>
          <p:txBody>
            <a:bodyPr lIns="43850" tIns="43850" rIns="43850" bIns="43850" rtlCol="0" anchor="ctr"/>
            <a:lstStyle/>
            <a:p>
              <a:pPr algn="ctr">
                <a:lnSpc>
                  <a:spcPts val="2296"/>
                </a:lnSpc>
                <a:spcBef>
                  <a:spcPct val="0"/>
                </a:spcBef>
              </a:pPr>
              <a:endParaRPr>
                <a:latin typeface="Times New Roman" panose="02020603050405020304" pitchFamily="18" charset="0"/>
                <a:cs typeface="Times New Roman" panose="02020603050405020304" pitchFamily="18" charset="0"/>
              </a:endParaRPr>
            </a:p>
          </p:txBody>
        </p:sp>
      </p:grpSp>
      <p:sp>
        <p:nvSpPr>
          <p:cNvPr id="58" name="Rectangle: Rounded Corners 57">
            <a:extLst>
              <a:ext uri="{FF2B5EF4-FFF2-40B4-BE49-F238E27FC236}">
                <a16:creationId xmlns:a16="http://schemas.microsoft.com/office/drawing/2014/main" id="{B247F870-3746-824A-B31B-CF520518A2D0}"/>
              </a:ext>
            </a:extLst>
          </p:cNvPr>
          <p:cNvSpPr/>
          <p:nvPr/>
        </p:nvSpPr>
        <p:spPr>
          <a:xfrm>
            <a:off x="973240" y="1419817"/>
            <a:ext cx="8303078" cy="807062"/>
          </a:xfrm>
          <a:prstGeom prst="round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Times New Roman" panose="02020603050405020304" pitchFamily="18" charset="0"/>
              <a:cs typeface="Times New Roman" panose="02020603050405020304" pitchFamily="18" charset="0"/>
            </a:endParaRPr>
          </a:p>
        </p:txBody>
      </p:sp>
      <p:sp>
        <p:nvSpPr>
          <p:cNvPr id="9" name="Freeform 9"/>
          <p:cNvSpPr/>
          <p:nvPr/>
        </p:nvSpPr>
        <p:spPr>
          <a:xfrm>
            <a:off x="16230747" y="8473883"/>
            <a:ext cx="1526094" cy="1266333"/>
          </a:xfrm>
          <a:custGeom>
            <a:avLst/>
            <a:gdLst/>
            <a:ahLst/>
            <a:cxnLst/>
            <a:rect l="l" t="t" r="r" b="b"/>
            <a:pathLst>
              <a:path w="1526094" h="1266333">
                <a:moveTo>
                  <a:pt x="0" y="0"/>
                </a:moveTo>
                <a:lnTo>
                  <a:pt x="1526094" y="0"/>
                </a:lnTo>
                <a:lnTo>
                  <a:pt x="1526094" y="1266333"/>
                </a:lnTo>
                <a:lnTo>
                  <a:pt x="0" y="1266333"/>
                </a:lnTo>
                <a:lnTo>
                  <a:pt x="0" y="0"/>
                </a:lnTo>
                <a:close/>
              </a:path>
            </a:pathLst>
          </a:custGeom>
          <a:blipFill>
            <a:blip r:embed="rId3"/>
            <a:stretch>
              <a:fillRect l="-83932" t="-92948" r="-86060" b="-132427"/>
            </a:stretch>
          </a:blipFill>
        </p:spPr>
        <p:txBody>
          <a:bodyPr/>
          <a:lstStyle/>
          <a:p>
            <a:endParaRPr lang="en-GB">
              <a:latin typeface="Times New Roman" panose="02020603050405020304" pitchFamily="18" charset="0"/>
              <a:cs typeface="Times New Roman" panose="02020603050405020304" pitchFamily="18" charset="0"/>
            </a:endParaRPr>
          </a:p>
        </p:txBody>
      </p:sp>
      <p:sp>
        <p:nvSpPr>
          <p:cNvPr id="10" name="AutoShape 10"/>
          <p:cNvSpPr/>
          <p:nvPr/>
        </p:nvSpPr>
        <p:spPr>
          <a:xfrm>
            <a:off x="2209802" y="9254177"/>
            <a:ext cx="13744971" cy="0"/>
          </a:xfrm>
          <a:prstGeom prst="line">
            <a:avLst/>
          </a:prstGeom>
          <a:ln w="38100" cap="flat">
            <a:solidFill>
              <a:srgbClr val="214779"/>
            </a:solidFill>
            <a:prstDash val="solid"/>
            <a:headEnd type="none" w="sm" len="sm"/>
            <a:tailEnd type="none" w="sm" len="sm"/>
          </a:ln>
        </p:spPr>
        <p:txBody>
          <a:bodyPr/>
          <a:lstStyle/>
          <a:p>
            <a:endParaRPr lang="en-GB">
              <a:latin typeface="Times New Roman" panose="02020603050405020304" pitchFamily="18" charset="0"/>
              <a:cs typeface="Times New Roman" panose="02020603050405020304" pitchFamily="18" charset="0"/>
            </a:endParaRPr>
          </a:p>
        </p:txBody>
      </p:sp>
      <p:graphicFrame>
        <p:nvGraphicFramePr>
          <p:cNvPr id="21" name="Table 20">
            <a:extLst>
              <a:ext uri="{FF2B5EF4-FFF2-40B4-BE49-F238E27FC236}">
                <a16:creationId xmlns:a16="http://schemas.microsoft.com/office/drawing/2014/main" id="{7CAA7A4E-0370-CF20-7557-8C3A64CFBA42}"/>
              </a:ext>
            </a:extLst>
          </p:cNvPr>
          <p:cNvGraphicFramePr>
            <a:graphicFrameLocks noGrp="1"/>
          </p:cNvGraphicFramePr>
          <p:nvPr>
            <p:extLst>
              <p:ext uri="{D42A27DB-BD31-4B8C-83A1-F6EECF244321}">
                <p14:modId xmlns:p14="http://schemas.microsoft.com/office/powerpoint/2010/main" val="1364750254"/>
              </p:ext>
            </p:extLst>
          </p:nvPr>
        </p:nvGraphicFramePr>
        <p:xfrm>
          <a:off x="693160" y="7121927"/>
          <a:ext cx="6105834" cy="2031941"/>
        </p:xfrm>
        <a:graphic>
          <a:graphicData uri="http://schemas.openxmlformats.org/drawingml/2006/table">
            <a:tbl>
              <a:tblPr firstRow="1"/>
              <a:tblGrid>
                <a:gridCol w="872262">
                  <a:extLst>
                    <a:ext uri="{9D8B030D-6E8A-4147-A177-3AD203B41FA5}">
                      <a16:colId xmlns:a16="http://schemas.microsoft.com/office/drawing/2014/main" val="1288246561"/>
                    </a:ext>
                  </a:extLst>
                </a:gridCol>
                <a:gridCol w="872262">
                  <a:extLst>
                    <a:ext uri="{9D8B030D-6E8A-4147-A177-3AD203B41FA5}">
                      <a16:colId xmlns:a16="http://schemas.microsoft.com/office/drawing/2014/main" val="3114041288"/>
                    </a:ext>
                  </a:extLst>
                </a:gridCol>
                <a:gridCol w="872262">
                  <a:extLst>
                    <a:ext uri="{9D8B030D-6E8A-4147-A177-3AD203B41FA5}">
                      <a16:colId xmlns:a16="http://schemas.microsoft.com/office/drawing/2014/main" val="3438650253"/>
                    </a:ext>
                  </a:extLst>
                </a:gridCol>
                <a:gridCol w="872262">
                  <a:extLst>
                    <a:ext uri="{9D8B030D-6E8A-4147-A177-3AD203B41FA5}">
                      <a16:colId xmlns:a16="http://schemas.microsoft.com/office/drawing/2014/main" val="3741583471"/>
                    </a:ext>
                  </a:extLst>
                </a:gridCol>
                <a:gridCol w="872262">
                  <a:extLst>
                    <a:ext uri="{9D8B030D-6E8A-4147-A177-3AD203B41FA5}">
                      <a16:colId xmlns:a16="http://schemas.microsoft.com/office/drawing/2014/main" val="798009190"/>
                    </a:ext>
                  </a:extLst>
                </a:gridCol>
                <a:gridCol w="872262">
                  <a:extLst>
                    <a:ext uri="{9D8B030D-6E8A-4147-A177-3AD203B41FA5}">
                      <a16:colId xmlns:a16="http://schemas.microsoft.com/office/drawing/2014/main" val="3007142007"/>
                    </a:ext>
                  </a:extLst>
                </a:gridCol>
                <a:gridCol w="872262">
                  <a:extLst>
                    <a:ext uri="{9D8B030D-6E8A-4147-A177-3AD203B41FA5}">
                      <a16:colId xmlns:a16="http://schemas.microsoft.com/office/drawing/2014/main" val="3198460765"/>
                    </a:ext>
                  </a:extLst>
                </a:gridCol>
              </a:tblGrid>
              <a:tr h="305651">
                <a:tc>
                  <a:txBody>
                    <a:bodyPr/>
                    <a:lstStyle/>
                    <a:p>
                      <a:pPr algn="ctr" fontAlgn="ctr">
                        <a:buNone/>
                      </a:pPr>
                      <a:endParaRPr lang="en-GB" sz="1200" b="1" i="0" u="none" strike="noStrike">
                        <a:solidFill>
                          <a:srgbClr val="FFFFFF"/>
                        </a:solidFill>
                        <a:effectLst/>
                        <a:latin typeface="Calibri" panose="020F0502020204030204" pitchFamily="34" charset="0"/>
                      </a:endParaRPr>
                    </a:p>
                  </a:txBody>
                  <a:tcPr marL="9525" marR="9525" marT="9525" marB="0" anchor="ctr">
                    <a:lnL w="6350" cap="flat" cmpd="sng" algn="ctr">
                      <a:noFill/>
                      <a:prstDash val="solid"/>
                      <a:round/>
                      <a:headEnd type="none" w="med" len="med"/>
                      <a:tailEnd type="none" w="med" len="med"/>
                    </a:lnL>
                    <a:lnR>
                      <a:noFill/>
                    </a:lnR>
                    <a:lnT w="6350" cap="flat" cmpd="sng" algn="ctr">
                      <a:solidFill>
                        <a:srgbClr val="9BC2E6"/>
                      </a:solidFill>
                      <a:prstDash val="solid"/>
                      <a:round/>
                      <a:headEnd type="none" w="med" len="med"/>
                      <a:tailEnd type="none" w="med" len="med"/>
                    </a:lnT>
                    <a:lnB w="6350" cap="flat" cmpd="sng" algn="ctr">
                      <a:noFill/>
                      <a:prstDash val="solid"/>
                      <a:round/>
                      <a:headEnd type="none" w="med" len="med"/>
                      <a:tailEnd type="none" w="med" len="med"/>
                    </a:lnB>
                    <a:solidFill>
                      <a:srgbClr val="23487B"/>
                    </a:solidFill>
                  </a:tcPr>
                </a:tc>
                <a:tc>
                  <a:txBody>
                    <a:bodyPr/>
                    <a:lstStyle/>
                    <a:p>
                      <a:pPr algn="ctr" fontAlgn="ctr">
                        <a:buNone/>
                      </a:pPr>
                      <a:endParaRPr lang="en-GB" sz="1200" b="1" i="0" u="none" strike="noStrike">
                        <a:solidFill>
                          <a:srgbClr val="FFFFFF"/>
                        </a:solidFill>
                        <a:effectLst/>
                        <a:latin typeface="Calibri" panose="020F0502020204030204" pitchFamily="34" charset="0"/>
                      </a:endParaRPr>
                    </a:p>
                  </a:txBody>
                  <a:tcPr marL="9525" marR="9525" marT="9525" marB="0" anchor="ctr">
                    <a:lnL w="6350" cap="flat" cmpd="sng" algn="ctr">
                      <a:noFill/>
                      <a:prstDash val="solid"/>
                      <a:round/>
                      <a:headEnd type="none" w="med" len="med"/>
                      <a:tailEnd type="none" w="med" len="med"/>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23487B"/>
                    </a:solidFill>
                  </a:tcPr>
                </a:tc>
                <a:tc>
                  <a:txBody>
                    <a:bodyPr/>
                    <a:lstStyle/>
                    <a:p>
                      <a:pPr algn="ctr" fontAlgn="ctr">
                        <a:buNone/>
                      </a:pPr>
                      <a:endParaRPr lang="en-GB" sz="1200" b="1" i="0" u="none" strike="noStrike">
                        <a:solidFill>
                          <a:srgbClr val="FFFFFF"/>
                        </a:solidFill>
                        <a:effectLst/>
                        <a:latin typeface="Calibri" panose="020F0502020204030204" pitchFamily="34" charset="0"/>
                      </a:endParaRPr>
                    </a:p>
                  </a:txBody>
                  <a:tcPr marL="9525" marR="95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23487B"/>
                    </a:solidFill>
                  </a:tcPr>
                </a:tc>
                <a:tc>
                  <a:txBody>
                    <a:bodyPr/>
                    <a:lstStyle/>
                    <a:p>
                      <a:pPr algn="ctr" fontAlgn="ctr">
                        <a:buNone/>
                      </a:pPr>
                      <a:endParaRPr lang="en-GB" sz="1200" b="1" i="0" u="none" strike="noStrike">
                        <a:solidFill>
                          <a:srgbClr val="FFFFFF"/>
                        </a:solidFill>
                        <a:effectLst/>
                        <a:latin typeface="Calibri" panose="020F0502020204030204" pitchFamily="34" charset="0"/>
                      </a:endParaRPr>
                    </a:p>
                  </a:txBody>
                  <a:tcPr marL="9525" marR="95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23487B"/>
                    </a:solidFill>
                  </a:tcPr>
                </a:tc>
                <a:tc>
                  <a:txBody>
                    <a:bodyPr/>
                    <a:lstStyle/>
                    <a:p>
                      <a:pPr algn="ctr" fontAlgn="ctr">
                        <a:buNone/>
                      </a:pPr>
                      <a:endParaRPr lang="en-GB" sz="1200" b="1" i="0" u="none" strike="noStrike">
                        <a:solidFill>
                          <a:srgbClr val="FFFFFF"/>
                        </a:solidFill>
                        <a:effectLst/>
                        <a:latin typeface="Calibri" panose="020F0502020204030204" pitchFamily="34" charset="0"/>
                      </a:endParaRPr>
                    </a:p>
                  </a:txBody>
                  <a:tcPr marL="9525" marR="95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23487B"/>
                    </a:solidFill>
                  </a:tcPr>
                </a:tc>
                <a:tc>
                  <a:txBody>
                    <a:bodyPr/>
                    <a:lstStyle/>
                    <a:p>
                      <a:pPr algn="ctr" fontAlgn="ctr">
                        <a:buNone/>
                      </a:pPr>
                      <a:endParaRPr lang="en-GB" sz="1200" b="1" i="0" u="none" strike="noStrike">
                        <a:solidFill>
                          <a:srgbClr val="FFFFFF"/>
                        </a:solidFill>
                        <a:effectLst/>
                        <a:latin typeface="Calibri" panose="020F0502020204030204" pitchFamily="34" charset="0"/>
                      </a:endParaRPr>
                    </a:p>
                  </a:txBody>
                  <a:tcPr marL="9525" marR="95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23487B"/>
                    </a:solidFill>
                  </a:tcPr>
                </a:tc>
                <a:tc>
                  <a:txBody>
                    <a:bodyPr/>
                    <a:lstStyle/>
                    <a:p>
                      <a:pPr algn="ctr" fontAlgn="ctr">
                        <a:buNone/>
                      </a:pPr>
                      <a:endParaRPr lang="en-GB" sz="1200" b="1" i="0" u="none" strike="noStrike">
                        <a:solidFill>
                          <a:srgbClr val="FFFFFF"/>
                        </a:solidFill>
                        <a:effectLst/>
                        <a:latin typeface="Calibri" panose="020F0502020204030204" pitchFamily="34" charset="0"/>
                      </a:endParaRPr>
                    </a:p>
                  </a:txBody>
                  <a:tcPr marL="9525" marR="9525" marT="9525" marB="0" anchor="ctr">
                    <a:lnL>
                      <a:noFill/>
                    </a:lnL>
                    <a:lnR w="6350" cap="flat" cmpd="sng" algn="ctr">
                      <a:solidFill>
                        <a:srgbClr val="9BC2E6"/>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23487B"/>
                    </a:solidFill>
                  </a:tcPr>
                </a:tc>
                <a:extLst>
                  <a:ext uri="{0D108BD9-81ED-4DB2-BD59-A6C34878D82A}">
                    <a16:rowId xmlns:a16="http://schemas.microsoft.com/office/drawing/2014/main" val="1768193583"/>
                  </a:ext>
                </a:extLst>
              </a:tr>
              <a:tr h="305651">
                <a:tc>
                  <a:txBody>
                    <a:bodyPr/>
                    <a:lstStyle/>
                    <a:p>
                      <a:pPr algn="ctr" fontAlgn="ctr">
                        <a:buNone/>
                      </a:pPr>
                      <a:endParaRPr lang="en-GB" sz="1200" b="1" i="0" u="none" strike="noStrike">
                        <a:solidFill>
                          <a:srgbClr val="FFFFFF"/>
                        </a:solidFill>
                        <a:effectLst/>
                        <a:latin typeface="Calibri" panose="020F0502020204030204" pitchFamily="34" charset="0"/>
                      </a:endParaRPr>
                    </a:p>
                  </a:txBody>
                  <a:tcPr marL="9525" marR="9525" marT="9525" marB="0" anchor="ctr">
                    <a:lnL w="6350" cap="flat" cmpd="sng" algn="ctr">
                      <a:noFill/>
                      <a:prstDash val="solid"/>
                      <a:round/>
                      <a:headEnd type="none" w="med" len="med"/>
                      <a:tailEnd type="none" w="med" len="med"/>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23487B"/>
                    </a:solidFill>
                  </a:tcPr>
                </a:tc>
                <a:tc>
                  <a:txBody>
                    <a:bodyPr/>
                    <a:lstStyle/>
                    <a:p>
                      <a:pPr algn="ctr" fontAlgn="ctr">
                        <a:buNone/>
                      </a:pPr>
                      <a:endParaRPr lang="en-GB" sz="1200" b="1" i="0" u="none" strike="noStrike">
                        <a:solidFill>
                          <a:srgbClr val="FFFFFF"/>
                        </a:solidFill>
                        <a:effectLst/>
                        <a:latin typeface="Calibri" panose="020F0502020204030204" pitchFamily="34" charset="0"/>
                      </a:endParaRPr>
                    </a:p>
                  </a:txBody>
                  <a:tcPr marL="9525" marR="9525" marT="9525" marB="0" anchor="ctr">
                    <a:lnL w="6350" cap="flat" cmpd="sng" algn="ctr">
                      <a:noFill/>
                      <a:prstDash val="solid"/>
                      <a:round/>
                      <a:headEnd type="none" w="med" len="med"/>
                      <a:tailEnd type="none" w="med" len="med"/>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chemeClr val="accent1"/>
                    </a:solidFill>
                  </a:tcPr>
                </a:tc>
                <a:tc>
                  <a:txBody>
                    <a:bodyPr/>
                    <a:lstStyle/>
                    <a:p>
                      <a:pPr algn="ctr" fontAlgn="ctr">
                        <a:buNone/>
                      </a:pPr>
                      <a:r>
                        <a:rPr lang="en-GB" sz="1200" b="1" i="0" u="none" strike="noStrike">
                          <a:solidFill>
                            <a:srgbClr val="FFFFFF"/>
                          </a:solidFill>
                          <a:effectLst/>
                          <a:latin typeface="Calibri" panose="020F0502020204030204" pitchFamily="34" charset="0"/>
                        </a:rPr>
                        <a:t>1.6%</a:t>
                      </a:r>
                    </a:p>
                  </a:txBody>
                  <a:tcPr marL="9525" marR="95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chemeClr val="accent1"/>
                    </a:solidFill>
                  </a:tcPr>
                </a:tc>
                <a:tc>
                  <a:txBody>
                    <a:bodyPr/>
                    <a:lstStyle/>
                    <a:p>
                      <a:pPr algn="ctr" fontAlgn="ctr">
                        <a:buNone/>
                      </a:pPr>
                      <a:r>
                        <a:rPr lang="en-GB" sz="1200" b="1" i="0" u="none" strike="noStrike">
                          <a:solidFill>
                            <a:srgbClr val="FFFFFF"/>
                          </a:solidFill>
                          <a:effectLst/>
                          <a:latin typeface="Calibri" panose="020F0502020204030204" pitchFamily="34" charset="0"/>
                        </a:rPr>
                        <a:t>1.8%</a:t>
                      </a:r>
                    </a:p>
                  </a:txBody>
                  <a:tcPr marL="9525" marR="95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chemeClr val="accent1"/>
                    </a:solidFill>
                  </a:tcPr>
                </a:tc>
                <a:tc>
                  <a:txBody>
                    <a:bodyPr/>
                    <a:lstStyle/>
                    <a:p>
                      <a:pPr algn="ctr" fontAlgn="ctr">
                        <a:buNone/>
                      </a:pPr>
                      <a:r>
                        <a:rPr lang="en-GB" sz="1200" b="1" i="0" u="none" strike="noStrike">
                          <a:solidFill>
                            <a:srgbClr val="FFFFFF"/>
                          </a:solidFill>
                          <a:effectLst/>
                          <a:latin typeface="Calibri" panose="020F0502020204030204" pitchFamily="34" charset="0"/>
                        </a:rPr>
                        <a:t>2% (Base)</a:t>
                      </a:r>
                    </a:p>
                  </a:txBody>
                  <a:tcPr marL="9525" marR="95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chemeClr val="accent1"/>
                    </a:solidFill>
                  </a:tcPr>
                </a:tc>
                <a:tc>
                  <a:txBody>
                    <a:bodyPr/>
                    <a:lstStyle/>
                    <a:p>
                      <a:pPr algn="ctr" fontAlgn="ctr">
                        <a:buNone/>
                      </a:pPr>
                      <a:r>
                        <a:rPr lang="en-GB" sz="1200" b="1" i="0" u="none" strike="noStrike">
                          <a:solidFill>
                            <a:srgbClr val="FFFFFF"/>
                          </a:solidFill>
                          <a:effectLst/>
                          <a:latin typeface="Calibri" panose="020F0502020204030204" pitchFamily="34" charset="0"/>
                        </a:rPr>
                        <a:t>2.2%</a:t>
                      </a:r>
                    </a:p>
                  </a:txBody>
                  <a:tcPr marL="9525" marR="95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chemeClr val="accent1"/>
                    </a:solidFill>
                  </a:tcPr>
                </a:tc>
                <a:tc>
                  <a:txBody>
                    <a:bodyPr/>
                    <a:lstStyle/>
                    <a:p>
                      <a:pPr algn="ctr" fontAlgn="ctr">
                        <a:buNone/>
                      </a:pPr>
                      <a:r>
                        <a:rPr lang="en-GB" sz="1200" b="1" i="0" u="none" strike="noStrike">
                          <a:solidFill>
                            <a:srgbClr val="FFFFFF"/>
                          </a:solidFill>
                          <a:effectLst/>
                          <a:latin typeface="Calibri" panose="020F0502020204030204" pitchFamily="34" charset="0"/>
                        </a:rPr>
                        <a:t>2.4%</a:t>
                      </a:r>
                    </a:p>
                  </a:txBody>
                  <a:tcPr marL="9525" marR="9525" marT="9525" marB="0" anchor="ctr">
                    <a:lnL>
                      <a:noFill/>
                    </a:lnL>
                    <a:lnR w="6350" cap="flat" cmpd="sng" algn="ctr">
                      <a:solidFill>
                        <a:srgbClr val="9BC2E6"/>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chemeClr val="accent1"/>
                    </a:solidFill>
                  </a:tcPr>
                </a:tc>
                <a:extLst>
                  <a:ext uri="{0D108BD9-81ED-4DB2-BD59-A6C34878D82A}">
                    <a16:rowId xmlns:a16="http://schemas.microsoft.com/office/drawing/2014/main" val="978619354"/>
                  </a:ext>
                </a:extLst>
              </a:tr>
              <a:tr h="276012">
                <a:tc>
                  <a:txBody>
                    <a:bodyPr/>
                    <a:lstStyle/>
                    <a:p>
                      <a:pPr algn="r" fontAlgn="ctr">
                        <a:buNone/>
                      </a:pPr>
                      <a:endParaRPr lang="en-GB" sz="1200" b="1" i="0" u="none" strike="noStrike">
                        <a:solidFill>
                          <a:schemeClr val="bg1"/>
                        </a:solidFill>
                        <a:effectLst/>
                        <a:latin typeface="Calibri" panose="020F0502020204030204" pitchFamily="34" charset="0"/>
                      </a:endParaRPr>
                    </a:p>
                  </a:txBody>
                  <a:tcPr marL="9525" marR="9525" marT="9525" marB="0" anchor="ctr">
                    <a:lnL w="6350" cap="flat" cmpd="sng" algn="ctr">
                      <a:noFill/>
                      <a:prstDash val="solid"/>
                      <a:round/>
                      <a:headEnd type="none" w="med" len="med"/>
                      <a:tailEnd type="none" w="med" len="med"/>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23487B"/>
                    </a:solidFill>
                  </a:tcPr>
                </a:tc>
                <a:tc>
                  <a:txBody>
                    <a:bodyPr/>
                    <a:lstStyle/>
                    <a:p>
                      <a:pPr algn="r" fontAlgn="ctr">
                        <a:buNone/>
                      </a:pPr>
                      <a:r>
                        <a:rPr lang="en-GB" sz="1200" b="1" i="0" u="none" strike="noStrike">
                          <a:solidFill>
                            <a:schemeClr val="bg1"/>
                          </a:solidFill>
                          <a:effectLst/>
                          <a:latin typeface="Calibri" panose="020F0502020204030204" pitchFamily="34" charset="0"/>
                        </a:rPr>
                        <a:t>9.9%</a:t>
                      </a:r>
                    </a:p>
                  </a:txBody>
                  <a:tcPr marL="9525" marR="9525" marT="9525" marB="0" anchor="ctr">
                    <a:lnL w="6350" cap="flat" cmpd="sng" algn="ctr">
                      <a:noFill/>
                      <a:prstDash val="solid"/>
                      <a:round/>
                      <a:headEnd type="none" w="med" len="med"/>
                      <a:tailEnd type="none" w="med" len="med"/>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chemeClr val="accent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en-GB" sz="1200" b="0" i="0" u="none" strike="noStrike" kern="1200">
                        <a:solidFill>
                          <a:srgbClr val="000000"/>
                        </a:solidFill>
                        <a:effectLst/>
                        <a:latin typeface="Calibri" panose="020F0502020204030204" pitchFamily="34" charset="0"/>
                        <a:ea typeface="+mn-ea"/>
                        <a:cs typeface="+mn-cs"/>
                      </a:endParaRPr>
                    </a:p>
                  </a:txBody>
                  <a:tcPr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EEE683"/>
                    </a:solidFill>
                  </a:tcPr>
                </a:tc>
                <a:tc>
                  <a:txBody>
                    <a:bodyPr/>
                    <a:lstStyle/>
                    <a:p>
                      <a:pPr algn="r" fontAlgn="ctr">
                        <a:buNone/>
                      </a:pPr>
                      <a:r>
                        <a:rPr lang="en-GB" sz="1200" b="0" i="0" u="none" strike="noStrike">
                          <a:solidFill>
                            <a:srgbClr val="000000"/>
                          </a:solidFill>
                          <a:effectLst/>
                          <a:latin typeface="Calibri" panose="020F0502020204030204" pitchFamily="34" charset="0"/>
                        </a:rPr>
                        <a:t>27.9%</a:t>
                      </a:r>
                    </a:p>
                  </a:txBody>
                  <a:tcPr marL="9525" marR="95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CFDE82"/>
                    </a:solidFill>
                  </a:tcPr>
                </a:tc>
                <a:tc>
                  <a:txBody>
                    <a:bodyPr/>
                    <a:lstStyle/>
                    <a:p>
                      <a:pPr algn="r" fontAlgn="ctr">
                        <a:buNone/>
                      </a:pPr>
                      <a:r>
                        <a:rPr lang="en-GB" sz="1200" b="1" i="0" u="none" strike="noStrike">
                          <a:solidFill>
                            <a:srgbClr val="000000"/>
                          </a:solidFill>
                          <a:effectLst/>
                          <a:latin typeface="Calibri" panose="020F0502020204030204" pitchFamily="34" charset="0"/>
                        </a:rPr>
                        <a:t>31.5%</a:t>
                      </a:r>
                    </a:p>
                  </a:txBody>
                  <a:tcPr marL="9525" marR="95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AED480"/>
                    </a:solidFill>
                  </a:tcPr>
                </a:tc>
                <a:tc>
                  <a:txBody>
                    <a:bodyPr/>
                    <a:lstStyle/>
                    <a:p>
                      <a:pPr algn="r" fontAlgn="ctr">
                        <a:buNone/>
                      </a:pPr>
                      <a:r>
                        <a:rPr lang="en-GB" sz="1200" b="0" i="0" u="none" strike="noStrike">
                          <a:solidFill>
                            <a:srgbClr val="000000"/>
                          </a:solidFill>
                          <a:effectLst/>
                          <a:latin typeface="Calibri" panose="020F0502020204030204" pitchFamily="34" charset="0"/>
                        </a:rPr>
                        <a:t>36.3%</a:t>
                      </a:r>
                    </a:p>
                  </a:txBody>
                  <a:tcPr marL="9525" marR="95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8ACA7E"/>
                    </a:solidFill>
                  </a:tcPr>
                </a:tc>
                <a:tc>
                  <a:txBody>
                    <a:bodyPr/>
                    <a:lstStyle/>
                    <a:p>
                      <a:pPr algn="r" fontAlgn="ctr">
                        <a:buNone/>
                      </a:pPr>
                      <a:r>
                        <a:rPr lang="en-GB" sz="1200" b="0" i="0" u="none" strike="noStrike">
                          <a:solidFill>
                            <a:srgbClr val="000000"/>
                          </a:solidFill>
                          <a:effectLst/>
                          <a:latin typeface="Calibri" panose="020F0502020204030204" pitchFamily="34" charset="0"/>
                        </a:rPr>
                        <a:t>41.1%</a:t>
                      </a:r>
                    </a:p>
                  </a:txBody>
                  <a:tcPr marL="9525" marR="9525" marT="9525" marB="0" anchor="ctr">
                    <a:lnL>
                      <a:noFill/>
                    </a:lnL>
                    <a:lnR w="6350" cap="flat" cmpd="sng" algn="ctr">
                      <a:solidFill>
                        <a:srgbClr val="9BC2E6"/>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63BE7B"/>
                    </a:solidFill>
                  </a:tcPr>
                </a:tc>
                <a:extLst>
                  <a:ext uri="{0D108BD9-81ED-4DB2-BD59-A6C34878D82A}">
                    <a16:rowId xmlns:a16="http://schemas.microsoft.com/office/drawing/2014/main" val="2617843775"/>
                  </a:ext>
                </a:extLst>
              </a:tr>
              <a:tr h="276012">
                <a:tc>
                  <a:txBody>
                    <a:bodyPr/>
                    <a:lstStyle/>
                    <a:p>
                      <a:pPr algn="r" fontAlgn="ctr">
                        <a:buNone/>
                      </a:pPr>
                      <a:endParaRPr lang="en-GB" sz="1200" b="1" i="0" u="none" strike="noStrike">
                        <a:solidFill>
                          <a:schemeClr val="bg1"/>
                        </a:solidFill>
                        <a:effectLst/>
                        <a:latin typeface="Calibri" panose="020F0502020204030204" pitchFamily="34" charset="0"/>
                      </a:endParaRPr>
                    </a:p>
                  </a:txBody>
                  <a:tcPr marL="9525" marR="9525" marT="9525" marB="0" anchor="ctr">
                    <a:lnL w="6350" cap="flat" cmpd="sng" algn="ctr">
                      <a:noFill/>
                      <a:prstDash val="solid"/>
                      <a:round/>
                      <a:headEnd type="none" w="med" len="med"/>
                      <a:tailEnd type="none" w="med" len="med"/>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23487B"/>
                    </a:solidFill>
                  </a:tcPr>
                </a:tc>
                <a:tc>
                  <a:txBody>
                    <a:bodyPr/>
                    <a:lstStyle/>
                    <a:p>
                      <a:pPr algn="r" fontAlgn="ctr">
                        <a:buNone/>
                      </a:pPr>
                      <a:r>
                        <a:rPr lang="en-GB" sz="1200" b="1" i="0" u="none" strike="noStrike">
                          <a:solidFill>
                            <a:schemeClr val="bg1"/>
                          </a:solidFill>
                          <a:effectLst/>
                          <a:latin typeface="Calibri" panose="020F0502020204030204" pitchFamily="34" charset="0"/>
                        </a:rPr>
                        <a:t>10.2%</a:t>
                      </a:r>
                    </a:p>
                  </a:txBody>
                  <a:tcPr marL="9525" marR="9525" marT="9525" marB="0" anchor="ctr">
                    <a:lnL w="6350" cap="flat" cmpd="sng" algn="ctr">
                      <a:noFill/>
                      <a:prstDash val="solid"/>
                      <a:round/>
                      <a:headEnd type="none" w="med" len="med"/>
                      <a:tailEnd type="none" w="med" len="med"/>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chemeClr val="accent1"/>
                    </a:solidFill>
                  </a:tcPr>
                </a:tc>
                <a:tc>
                  <a:txBody>
                    <a:bodyPr/>
                    <a:lstStyle/>
                    <a:p>
                      <a:pPr algn="r" fontAlgn="ctr">
                        <a:buNone/>
                      </a:pPr>
                      <a:r>
                        <a:rPr lang="en-GB" sz="1200" b="0" i="0" u="none" strike="noStrike">
                          <a:solidFill>
                            <a:srgbClr val="000000"/>
                          </a:solidFill>
                          <a:effectLst/>
                          <a:latin typeface="Calibri" panose="020F0502020204030204" pitchFamily="34" charset="0"/>
                        </a:rPr>
                        <a:t>17.0%</a:t>
                      </a:r>
                    </a:p>
                  </a:txBody>
                  <a:tcPr marL="9525" marR="95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FDD57F"/>
                    </a:solidFill>
                  </a:tcPr>
                </a:tc>
                <a:tc>
                  <a:txBody>
                    <a:bodyPr/>
                    <a:lstStyle/>
                    <a:p>
                      <a:pPr algn="r" fontAlgn="ctr">
                        <a:buNone/>
                      </a:pPr>
                      <a:r>
                        <a:rPr lang="en-GB" sz="1200" b="0" i="0" u="none" strike="noStrike">
                          <a:solidFill>
                            <a:srgbClr val="000000"/>
                          </a:solidFill>
                          <a:effectLst/>
                          <a:latin typeface="Calibri" panose="020F0502020204030204" pitchFamily="34" charset="0"/>
                        </a:rPr>
                        <a:t>20.6%</a:t>
                      </a:r>
                    </a:p>
                  </a:txBody>
                  <a:tcPr marL="9525" marR="95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F8E984"/>
                    </a:solidFill>
                  </a:tcPr>
                </a:tc>
                <a:tc>
                  <a:txBody>
                    <a:bodyPr/>
                    <a:lstStyle/>
                    <a:p>
                      <a:pPr algn="r" fontAlgn="ctr">
                        <a:buNone/>
                      </a:pPr>
                      <a:r>
                        <a:rPr lang="en-GB" sz="1200" b="1" i="0" u="none" strike="noStrike">
                          <a:solidFill>
                            <a:srgbClr val="000000"/>
                          </a:solidFill>
                          <a:effectLst/>
                          <a:latin typeface="Calibri" panose="020F0502020204030204" pitchFamily="34" charset="0"/>
                        </a:rPr>
                        <a:t>24.2%</a:t>
                      </a:r>
                    </a:p>
                  </a:txBody>
                  <a:tcPr marL="9525" marR="9525" marT="9525" marB="0" anchor="ctr">
                    <a:lnL>
                      <a:noFill/>
                    </a:lnL>
                    <a:lnR>
                      <a:noFill/>
                    </a:lnR>
                    <a:lnT w="6350" cap="flat" cmpd="sng" algn="ctr">
                      <a:solidFill>
                        <a:srgbClr val="9BC2E6"/>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182"/>
                    </a:solidFill>
                  </a:tcPr>
                </a:tc>
                <a:tc>
                  <a:txBody>
                    <a:bodyPr/>
                    <a:lstStyle/>
                    <a:p>
                      <a:pPr algn="r" fontAlgn="ctr">
                        <a:buNone/>
                      </a:pPr>
                      <a:r>
                        <a:rPr lang="en-GB" sz="1200" b="0" i="0" u="none" strike="noStrike">
                          <a:solidFill>
                            <a:srgbClr val="000000"/>
                          </a:solidFill>
                          <a:effectLst/>
                          <a:latin typeface="Calibri" panose="020F0502020204030204" pitchFamily="34" charset="0"/>
                        </a:rPr>
                        <a:t>27.9%</a:t>
                      </a:r>
                    </a:p>
                  </a:txBody>
                  <a:tcPr marL="9525" marR="95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B9D780"/>
                    </a:solidFill>
                  </a:tcPr>
                </a:tc>
                <a:tc>
                  <a:txBody>
                    <a:bodyPr/>
                    <a:lstStyle/>
                    <a:p>
                      <a:pPr algn="r" fontAlgn="ctr">
                        <a:buNone/>
                      </a:pPr>
                      <a:r>
                        <a:rPr lang="en-GB" sz="1200" b="0" i="0" u="none" strike="noStrike">
                          <a:solidFill>
                            <a:srgbClr val="000000"/>
                          </a:solidFill>
                          <a:effectLst/>
                          <a:latin typeface="Calibri" panose="020F0502020204030204" pitchFamily="34" charset="0"/>
                        </a:rPr>
                        <a:t>32.3%</a:t>
                      </a:r>
                    </a:p>
                  </a:txBody>
                  <a:tcPr marL="9525" marR="9525" marT="9525" marB="0" anchor="ctr">
                    <a:lnL>
                      <a:noFill/>
                    </a:lnL>
                    <a:lnR w="6350" cap="flat" cmpd="sng" algn="ctr">
                      <a:solidFill>
                        <a:srgbClr val="9BC2E6"/>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96CD7E"/>
                    </a:solidFill>
                  </a:tcPr>
                </a:tc>
                <a:extLst>
                  <a:ext uri="{0D108BD9-81ED-4DB2-BD59-A6C34878D82A}">
                    <a16:rowId xmlns:a16="http://schemas.microsoft.com/office/drawing/2014/main" val="2423159239"/>
                  </a:ext>
                </a:extLst>
              </a:tr>
              <a:tr h="316591">
                <a:tc>
                  <a:txBody>
                    <a:bodyPr/>
                    <a:lstStyle/>
                    <a:p>
                      <a:pPr algn="r" fontAlgn="ctr">
                        <a:buNone/>
                      </a:pPr>
                      <a:endParaRPr lang="en-GB" sz="1200" b="1" i="0" u="none" strike="noStrike">
                        <a:solidFill>
                          <a:schemeClr val="bg1"/>
                        </a:solidFill>
                        <a:effectLst/>
                        <a:latin typeface="Calibri" panose="020F0502020204030204" pitchFamily="34" charset="0"/>
                      </a:endParaRPr>
                    </a:p>
                  </a:txBody>
                  <a:tcPr marL="9525" marR="9525" marT="9525" marB="0" anchor="ctr">
                    <a:lnL w="6350" cap="flat" cmpd="sng" algn="ctr">
                      <a:noFill/>
                      <a:prstDash val="solid"/>
                      <a:round/>
                      <a:headEnd type="none" w="med" len="med"/>
                      <a:tailEnd type="none" w="med" len="med"/>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23487B"/>
                    </a:solidFill>
                  </a:tcPr>
                </a:tc>
                <a:tc>
                  <a:txBody>
                    <a:bodyPr/>
                    <a:lstStyle/>
                    <a:p>
                      <a:pPr algn="r" fontAlgn="ctr">
                        <a:buNone/>
                      </a:pPr>
                      <a:r>
                        <a:rPr lang="en-GB" sz="1200" b="1" i="0" u="none" strike="noStrike">
                          <a:solidFill>
                            <a:schemeClr val="bg1"/>
                          </a:solidFill>
                          <a:effectLst/>
                          <a:latin typeface="Calibri" panose="020F0502020204030204" pitchFamily="34" charset="0"/>
                        </a:rPr>
                        <a:t>10.5% (Base)</a:t>
                      </a:r>
                    </a:p>
                  </a:txBody>
                  <a:tcPr marL="9525" marR="9525" marT="9525" marB="0" anchor="ctr">
                    <a:lnL w="6350" cap="flat" cmpd="sng" algn="ctr">
                      <a:noFill/>
                      <a:prstDash val="solid"/>
                      <a:round/>
                      <a:headEnd type="none" w="med" len="med"/>
                      <a:tailEnd type="none" w="med" len="med"/>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chemeClr val="accent1"/>
                    </a:solidFill>
                  </a:tcPr>
                </a:tc>
                <a:tc>
                  <a:txBody>
                    <a:bodyPr/>
                    <a:lstStyle/>
                    <a:p>
                      <a:pPr algn="r" fontAlgn="ctr">
                        <a:buNone/>
                      </a:pPr>
                      <a:r>
                        <a:rPr lang="en-GB" sz="1200" b="1" i="0" u="none" strike="noStrike">
                          <a:solidFill>
                            <a:srgbClr val="000000"/>
                          </a:solidFill>
                          <a:effectLst/>
                          <a:latin typeface="Calibri" panose="020F0502020204030204" pitchFamily="34" charset="0"/>
                        </a:rPr>
                        <a:t>11.0%</a:t>
                      </a:r>
                    </a:p>
                  </a:txBody>
                  <a:tcPr marL="9525" marR="95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FBAE78"/>
                    </a:solidFill>
                  </a:tcPr>
                </a:tc>
                <a:tc>
                  <a:txBody>
                    <a:bodyPr/>
                    <a:lstStyle/>
                    <a:p>
                      <a:pPr algn="r" fontAlgn="ctr">
                        <a:buNone/>
                      </a:pPr>
                      <a:r>
                        <a:rPr lang="en-GB" sz="1200" b="1" i="0" u="none" strike="noStrike">
                          <a:solidFill>
                            <a:srgbClr val="000000"/>
                          </a:solidFill>
                          <a:effectLst/>
                          <a:latin typeface="Calibri" panose="020F0502020204030204" pitchFamily="34" charset="0"/>
                        </a:rPr>
                        <a:t>14.6%</a:t>
                      </a:r>
                    </a:p>
                  </a:txBody>
                  <a:tcPr marL="9525" marR="9525" marT="9525" marB="0" anchor="ctr">
                    <a:lnL>
                      <a:noFill/>
                    </a:lnL>
                    <a:lnR w="12700" cap="flat" cmpd="sng" algn="ctr">
                      <a:solidFill>
                        <a:schemeClr val="tx1"/>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FDCA7D"/>
                    </a:solidFill>
                  </a:tcPr>
                </a:tc>
                <a:tc>
                  <a:txBody>
                    <a:bodyPr/>
                    <a:lstStyle/>
                    <a:p>
                      <a:pPr algn="r" fontAlgn="ctr">
                        <a:buNone/>
                      </a:pPr>
                      <a:r>
                        <a:rPr lang="en-GB" sz="1200" b="1" i="0" u="none" strike="noStrike">
                          <a:solidFill>
                            <a:srgbClr val="000000"/>
                          </a:solidFill>
                          <a:effectLst/>
                          <a:latin typeface="Calibri" panose="020F0502020204030204" pitchFamily="34" charset="0"/>
                        </a:rPr>
                        <a:t> 17.9%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B84"/>
                    </a:solidFill>
                  </a:tcPr>
                </a:tc>
                <a:tc>
                  <a:txBody>
                    <a:bodyPr/>
                    <a:lstStyle/>
                    <a:p>
                      <a:pPr algn="r" fontAlgn="ctr">
                        <a:buNone/>
                      </a:pPr>
                      <a:r>
                        <a:rPr lang="en-GB" sz="1200" b="1" i="0" u="none" strike="noStrike">
                          <a:solidFill>
                            <a:srgbClr val="000000"/>
                          </a:solidFill>
                          <a:effectLst/>
                          <a:latin typeface="Calibri" panose="020F0502020204030204" pitchFamily="34" charset="0"/>
                        </a:rPr>
                        <a:t>21.8%</a:t>
                      </a:r>
                    </a:p>
                  </a:txBody>
                  <a:tcPr marL="9525" marR="9525" marT="9525" marB="0" anchor="ctr">
                    <a:lnL w="12700" cap="flat" cmpd="sng" algn="ctr">
                      <a:solidFill>
                        <a:schemeClr val="tx1"/>
                      </a:solidFill>
                      <a:prstDash val="solid"/>
                      <a:round/>
                      <a:headEnd type="none" w="med" len="med"/>
                      <a:tailEnd type="none" w="med" len="med"/>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FE283"/>
                    </a:solidFill>
                  </a:tcPr>
                </a:tc>
                <a:tc>
                  <a:txBody>
                    <a:bodyPr/>
                    <a:lstStyle/>
                    <a:p>
                      <a:pPr algn="r" fontAlgn="ctr">
                        <a:buNone/>
                      </a:pPr>
                      <a:r>
                        <a:rPr lang="en-GB" sz="1200" b="1" i="0" u="none" strike="noStrike">
                          <a:solidFill>
                            <a:srgbClr val="000000"/>
                          </a:solidFill>
                          <a:effectLst/>
                          <a:latin typeface="Calibri" panose="020F0502020204030204" pitchFamily="34" charset="0"/>
                        </a:rPr>
                        <a:t>25.5%</a:t>
                      </a:r>
                    </a:p>
                  </a:txBody>
                  <a:tcPr marL="9525" marR="9525" marT="9525" marB="0" anchor="ctr">
                    <a:lnL>
                      <a:noFill/>
                    </a:lnL>
                    <a:lnR w="6350" cap="flat" cmpd="sng" algn="ctr">
                      <a:solidFill>
                        <a:srgbClr val="9BC2E6"/>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BDD881"/>
                    </a:solidFill>
                  </a:tcPr>
                </a:tc>
                <a:extLst>
                  <a:ext uri="{0D108BD9-81ED-4DB2-BD59-A6C34878D82A}">
                    <a16:rowId xmlns:a16="http://schemas.microsoft.com/office/drawing/2014/main" val="216752302"/>
                  </a:ext>
                </a:extLst>
              </a:tr>
              <a:tr h="276012">
                <a:tc>
                  <a:txBody>
                    <a:bodyPr/>
                    <a:lstStyle/>
                    <a:p>
                      <a:pPr algn="r" fontAlgn="ctr">
                        <a:buNone/>
                      </a:pPr>
                      <a:endParaRPr lang="en-GB" sz="1200" b="1" i="0" u="none" strike="noStrike">
                        <a:solidFill>
                          <a:schemeClr val="bg1"/>
                        </a:solidFill>
                        <a:effectLst/>
                        <a:latin typeface="Calibri" panose="020F0502020204030204" pitchFamily="34" charset="0"/>
                      </a:endParaRPr>
                    </a:p>
                  </a:txBody>
                  <a:tcPr marL="9525" marR="9525" marT="9525" marB="0" anchor="ctr">
                    <a:lnL w="6350" cap="flat" cmpd="sng" algn="ctr">
                      <a:noFill/>
                      <a:prstDash val="solid"/>
                      <a:round/>
                      <a:headEnd type="none" w="med" len="med"/>
                      <a:tailEnd type="none" w="med" len="med"/>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23487B"/>
                    </a:solidFill>
                  </a:tcPr>
                </a:tc>
                <a:tc>
                  <a:txBody>
                    <a:bodyPr/>
                    <a:lstStyle/>
                    <a:p>
                      <a:pPr algn="r" fontAlgn="ctr">
                        <a:buNone/>
                      </a:pPr>
                      <a:r>
                        <a:rPr lang="en-GB" sz="1200" b="1" i="0" u="none" strike="noStrike">
                          <a:solidFill>
                            <a:schemeClr val="bg1"/>
                          </a:solidFill>
                          <a:effectLst/>
                          <a:latin typeface="Calibri" panose="020F0502020204030204" pitchFamily="34" charset="0"/>
                        </a:rPr>
                        <a:t>10.8%</a:t>
                      </a:r>
                    </a:p>
                  </a:txBody>
                  <a:tcPr marL="9525" marR="9525" marT="9525" marB="0" anchor="ctr">
                    <a:lnL w="6350" cap="flat" cmpd="sng" algn="ctr">
                      <a:noFill/>
                      <a:prstDash val="solid"/>
                      <a:round/>
                      <a:headEnd type="none" w="med" len="med"/>
                      <a:tailEnd type="none" w="med" len="med"/>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chemeClr val="accent1"/>
                    </a:solidFill>
                  </a:tcPr>
                </a:tc>
                <a:tc>
                  <a:txBody>
                    <a:bodyPr/>
                    <a:lstStyle/>
                    <a:p>
                      <a:pPr algn="r" fontAlgn="ctr">
                        <a:buNone/>
                      </a:pPr>
                      <a:r>
                        <a:rPr lang="en-GB" sz="1200" b="0" i="0" u="none" strike="noStrike">
                          <a:solidFill>
                            <a:srgbClr val="000000"/>
                          </a:solidFill>
                          <a:effectLst/>
                          <a:latin typeface="Calibri" panose="020F0502020204030204" pitchFamily="34" charset="0"/>
                        </a:rPr>
                        <a:t>6.2%</a:t>
                      </a:r>
                    </a:p>
                  </a:txBody>
                  <a:tcPr marL="9525" marR="95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F98A71"/>
                    </a:solidFill>
                  </a:tcPr>
                </a:tc>
                <a:tc>
                  <a:txBody>
                    <a:bodyPr/>
                    <a:lstStyle/>
                    <a:p>
                      <a:pPr algn="r" fontAlgn="ctr">
                        <a:buNone/>
                      </a:pPr>
                      <a:r>
                        <a:rPr lang="en-GB" sz="1200" b="0" i="0" u="none" strike="noStrike">
                          <a:solidFill>
                            <a:srgbClr val="000000"/>
                          </a:solidFill>
                          <a:effectLst/>
                          <a:latin typeface="Calibri" panose="020F0502020204030204" pitchFamily="34" charset="0"/>
                        </a:rPr>
                        <a:t>9.8%</a:t>
                      </a:r>
                    </a:p>
                  </a:txBody>
                  <a:tcPr marL="9525" marR="95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FBA576"/>
                    </a:solidFill>
                  </a:tcPr>
                </a:tc>
                <a:tc>
                  <a:txBody>
                    <a:bodyPr/>
                    <a:lstStyle/>
                    <a:p>
                      <a:pPr algn="r" fontAlgn="ctr">
                        <a:buNone/>
                      </a:pPr>
                      <a:r>
                        <a:rPr lang="en-GB" sz="1200" b="1" i="0" u="none" strike="noStrike">
                          <a:solidFill>
                            <a:srgbClr val="000000"/>
                          </a:solidFill>
                          <a:effectLst/>
                          <a:latin typeface="Calibri" panose="020F0502020204030204" pitchFamily="34" charset="0"/>
                        </a:rPr>
                        <a:t>13.4%</a:t>
                      </a:r>
                    </a:p>
                  </a:txBody>
                  <a:tcPr marL="9525" marR="9525" marT="9525" marB="0" anchor="ctr">
                    <a:lnL>
                      <a:noFill/>
                    </a:lnL>
                    <a:lnR>
                      <a:noFill/>
                    </a:lnR>
                    <a:lnT w="12700" cap="flat" cmpd="sng" algn="ctr">
                      <a:solidFill>
                        <a:schemeClr val="tx1"/>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FCC27C"/>
                    </a:solidFill>
                  </a:tcPr>
                </a:tc>
                <a:tc>
                  <a:txBody>
                    <a:bodyPr/>
                    <a:lstStyle/>
                    <a:p>
                      <a:pPr algn="r" fontAlgn="ctr">
                        <a:buNone/>
                      </a:pPr>
                      <a:r>
                        <a:rPr lang="en-GB" sz="1200" b="0" i="0" u="none" strike="noStrike">
                          <a:solidFill>
                            <a:srgbClr val="000000"/>
                          </a:solidFill>
                          <a:effectLst/>
                          <a:latin typeface="Calibri" panose="020F0502020204030204" pitchFamily="34" charset="0"/>
                        </a:rPr>
                        <a:t>17.0%</a:t>
                      </a:r>
                    </a:p>
                  </a:txBody>
                  <a:tcPr marL="9525" marR="95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FEE282"/>
                    </a:solidFill>
                  </a:tcPr>
                </a:tc>
                <a:tc>
                  <a:txBody>
                    <a:bodyPr/>
                    <a:lstStyle/>
                    <a:p>
                      <a:pPr algn="r" fontAlgn="ctr">
                        <a:buNone/>
                      </a:pPr>
                      <a:r>
                        <a:rPr lang="en-GB" sz="1200" b="0" i="0" u="none" strike="noStrike">
                          <a:solidFill>
                            <a:srgbClr val="000000"/>
                          </a:solidFill>
                          <a:effectLst/>
                          <a:latin typeface="Calibri" panose="020F0502020204030204" pitchFamily="34" charset="0"/>
                        </a:rPr>
                        <a:t>20.6%</a:t>
                      </a:r>
                    </a:p>
                  </a:txBody>
                  <a:tcPr marL="9525" marR="9525" marT="9525" marB="0" anchor="ctr">
                    <a:lnL>
                      <a:noFill/>
                    </a:lnL>
                    <a:lnR w="6350" cap="flat" cmpd="sng" algn="ctr">
                      <a:solidFill>
                        <a:srgbClr val="9BC2E6"/>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E8E583"/>
                    </a:solidFill>
                  </a:tcPr>
                </a:tc>
                <a:extLst>
                  <a:ext uri="{0D108BD9-81ED-4DB2-BD59-A6C34878D82A}">
                    <a16:rowId xmlns:a16="http://schemas.microsoft.com/office/drawing/2014/main" val="2346915971"/>
                  </a:ext>
                </a:extLst>
              </a:tr>
              <a:tr h="276012">
                <a:tc>
                  <a:txBody>
                    <a:bodyPr/>
                    <a:lstStyle/>
                    <a:p>
                      <a:pPr algn="r" fontAlgn="ctr">
                        <a:buNone/>
                      </a:pPr>
                      <a:endParaRPr lang="en-GB" sz="1200" b="1" i="0" u="none" strike="noStrike">
                        <a:solidFill>
                          <a:schemeClr val="bg1"/>
                        </a:solidFill>
                        <a:effectLst/>
                        <a:latin typeface="Calibri" panose="020F0502020204030204" pitchFamily="34" charset="0"/>
                      </a:endParaRPr>
                    </a:p>
                  </a:txBody>
                  <a:tcPr marL="9525" marR="9525" marT="9525" marB="0" anchor="ctr">
                    <a:lnL w="6350" cap="flat" cmpd="sng" algn="ctr">
                      <a:noFill/>
                      <a:prstDash val="solid"/>
                      <a:round/>
                      <a:headEnd type="none" w="med" len="med"/>
                      <a:tailEnd type="none" w="med" len="med"/>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23487B"/>
                    </a:solidFill>
                  </a:tcPr>
                </a:tc>
                <a:tc>
                  <a:txBody>
                    <a:bodyPr/>
                    <a:lstStyle/>
                    <a:p>
                      <a:pPr algn="r" fontAlgn="ctr">
                        <a:buNone/>
                      </a:pPr>
                      <a:r>
                        <a:rPr lang="en-GB" sz="1200" b="1" i="0" u="none" strike="noStrike">
                          <a:solidFill>
                            <a:schemeClr val="bg1"/>
                          </a:solidFill>
                          <a:effectLst/>
                          <a:latin typeface="Calibri" panose="020F0502020204030204" pitchFamily="34" charset="0"/>
                        </a:rPr>
                        <a:t>11.1%</a:t>
                      </a:r>
                    </a:p>
                  </a:txBody>
                  <a:tcPr marL="9525" marR="9525" marT="9525" marB="0" anchor="ctr">
                    <a:lnL w="6350" cap="flat" cmpd="sng" algn="ctr">
                      <a:noFill/>
                      <a:prstDash val="solid"/>
                      <a:round/>
                      <a:headEnd type="none" w="med" len="med"/>
                      <a:tailEnd type="none" w="med" len="med"/>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chemeClr val="accent1"/>
                    </a:solidFill>
                  </a:tcPr>
                </a:tc>
                <a:tc>
                  <a:txBody>
                    <a:bodyPr/>
                    <a:lstStyle/>
                    <a:p>
                      <a:pPr algn="r" fontAlgn="ctr">
                        <a:buNone/>
                      </a:pPr>
                      <a:r>
                        <a:rPr lang="en-GB" sz="1200" b="0" i="0" u="none" strike="noStrike">
                          <a:solidFill>
                            <a:srgbClr val="000000"/>
                          </a:solidFill>
                          <a:effectLst/>
                          <a:latin typeface="Calibri" panose="020F0502020204030204" pitchFamily="34" charset="0"/>
                        </a:rPr>
                        <a:t>0.1%</a:t>
                      </a:r>
                    </a:p>
                  </a:txBody>
                  <a:tcPr marL="9525" marR="95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F8696B"/>
                    </a:solidFill>
                  </a:tcPr>
                </a:tc>
                <a:tc>
                  <a:txBody>
                    <a:bodyPr/>
                    <a:lstStyle/>
                    <a:p>
                      <a:pPr algn="r" fontAlgn="ctr">
                        <a:buNone/>
                      </a:pPr>
                      <a:r>
                        <a:rPr lang="en-GB" sz="1200" b="0" i="0" u="none" strike="noStrike">
                          <a:solidFill>
                            <a:srgbClr val="000000"/>
                          </a:solidFill>
                          <a:effectLst/>
                          <a:latin typeface="Calibri" panose="020F0502020204030204" pitchFamily="34" charset="0"/>
                        </a:rPr>
                        <a:t>3.7%</a:t>
                      </a:r>
                    </a:p>
                  </a:txBody>
                  <a:tcPr marL="9525" marR="95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F9826F"/>
                    </a:solidFill>
                  </a:tcPr>
                </a:tc>
                <a:tc>
                  <a:txBody>
                    <a:bodyPr/>
                    <a:lstStyle/>
                    <a:p>
                      <a:pPr algn="r" fontAlgn="ctr">
                        <a:buNone/>
                      </a:pPr>
                      <a:r>
                        <a:rPr lang="en-GB" sz="1200" b="1" i="0" u="none" strike="noStrike">
                          <a:solidFill>
                            <a:srgbClr val="000000"/>
                          </a:solidFill>
                          <a:effectLst/>
                          <a:latin typeface="Calibri" panose="020F0502020204030204" pitchFamily="34" charset="0"/>
                        </a:rPr>
                        <a:t>8.6% </a:t>
                      </a:r>
                    </a:p>
                  </a:txBody>
                  <a:tcPr marL="9525" marR="95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FA9F75"/>
                    </a:solidFill>
                  </a:tcPr>
                </a:tc>
                <a:tc>
                  <a:txBody>
                    <a:bodyPr/>
                    <a:lstStyle/>
                    <a:p>
                      <a:pPr algn="r" fontAlgn="ctr">
                        <a:buNone/>
                      </a:pPr>
                      <a:r>
                        <a:rPr lang="en-GB" sz="1200" b="0" i="0" u="none" strike="noStrike">
                          <a:solidFill>
                            <a:srgbClr val="000000"/>
                          </a:solidFill>
                          <a:effectLst/>
                          <a:latin typeface="Calibri" panose="020F0502020204030204" pitchFamily="34" charset="0"/>
                        </a:rPr>
                        <a:t>12.2%</a:t>
                      </a:r>
                    </a:p>
                  </a:txBody>
                  <a:tcPr marL="9525" marR="95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FCBD7B"/>
                    </a:solidFill>
                  </a:tcPr>
                </a:tc>
                <a:tc>
                  <a:txBody>
                    <a:bodyPr/>
                    <a:lstStyle/>
                    <a:p>
                      <a:pPr algn="r" fontAlgn="ctr">
                        <a:buNone/>
                      </a:pPr>
                      <a:r>
                        <a:rPr lang="en-GB" sz="1200" b="0" i="0" u="none" strike="noStrike">
                          <a:solidFill>
                            <a:srgbClr val="000000"/>
                          </a:solidFill>
                          <a:effectLst/>
                          <a:latin typeface="Calibri" panose="020F0502020204030204" pitchFamily="34" charset="0"/>
                        </a:rPr>
                        <a:t>15.8%</a:t>
                      </a:r>
                    </a:p>
                  </a:txBody>
                  <a:tcPr marL="9525" marR="9525" marT="9525" marB="0" anchor="ctr">
                    <a:lnL>
                      <a:noFill/>
                    </a:lnL>
                    <a:lnR w="6350" cap="flat" cmpd="sng" algn="ctr">
                      <a:solidFill>
                        <a:srgbClr val="9BC2E6"/>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FEDD81"/>
                    </a:solidFill>
                  </a:tcPr>
                </a:tc>
                <a:extLst>
                  <a:ext uri="{0D108BD9-81ED-4DB2-BD59-A6C34878D82A}">
                    <a16:rowId xmlns:a16="http://schemas.microsoft.com/office/drawing/2014/main" val="3282029493"/>
                  </a:ext>
                </a:extLst>
              </a:tr>
            </a:tbl>
          </a:graphicData>
        </a:graphic>
      </p:graphicFrame>
      <p:sp>
        <p:nvSpPr>
          <p:cNvPr id="34" name="TextBox 33">
            <a:extLst>
              <a:ext uri="{FF2B5EF4-FFF2-40B4-BE49-F238E27FC236}">
                <a16:creationId xmlns:a16="http://schemas.microsoft.com/office/drawing/2014/main" id="{2C1BCE6C-9CAD-1F52-7B46-73BD627E95B1}"/>
              </a:ext>
            </a:extLst>
          </p:cNvPr>
          <p:cNvSpPr txBox="1"/>
          <p:nvPr/>
        </p:nvSpPr>
        <p:spPr>
          <a:xfrm>
            <a:off x="1137682" y="6465374"/>
            <a:ext cx="5822576" cy="369332"/>
          </a:xfrm>
          <a:prstGeom prst="rect">
            <a:avLst/>
          </a:prstGeom>
          <a:noFill/>
        </p:spPr>
        <p:txBody>
          <a:bodyPr wrap="square" rtlCol="0">
            <a:spAutoFit/>
          </a:bodyPr>
          <a:lstStyle/>
          <a:p>
            <a:r>
              <a:rPr lang="en-GB" b="1" dirty="0">
                <a:latin typeface="Times New Roman" panose="02020603050405020304" pitchFamily="18" charset="0"/>
                <a:cs typeface="Times New Roman" panose="02020603050405020304" pitchFamily="18" charset="0"/>
              </a:rPr>
              <a:t>Sensitivity Analysis</a:t>
            </a:r>
          </a:p>
        </p:txBody>
      </p:sp>
      <p:sp>
        <p:nvSpPr>
          <p:cNvPr id="35" name="TextBox 34">
            <a:extLst>
              <a:ext uri="{FF2B5EF4-FFF2-40B4-BE49-F238E27FC236}">
                <a16:creationId xmlns:a16="http://schemas.microsoft.com/office/drawing/2014/main" id="{6B302306-CACF-C27A-03CD-36146BC3C263}"/>
              </a:ext>
            </a:extLst>
          </p:cNvPr>
          <p:cNvSpPr txBox="1"/>
          <p:nvPr/>
        </p:nvSpPr>
        <p:spPr>
          <a:xfrm>
            <a:off x="1188672" y="2372194"/>
            <a:ext cx="1979192" cy="369332"/>
          </a:xfrm>
          <a:prstGeom prst="rect">
            <a:avLst/>
          </a:prstGeom>
          <a:noFill/>
        </p:spPr>
        <p:txBody>
          <a:bodyPr wrap="square" rtlCol="0">
            <a:spAutoFit/>
          </a:bodyPr>
          <a:lstStyle/>
          <a:p>
            <a:r>
              <a:rPr lang="en-GB" b="1" dirty="0">
                <a:latin typeface="Times New Roman" panose="02020603050405020304" pitchFamily="18" charset="0"/>
                <a:cs typeface="Times New Roman" panose="02020603050405020304" pitchFamily="18" charset="0"/>
              </a:rPr>
              <a:t>Scenario analysis </a:t>
            </a:r>
          </a:p>
        </p:txBody>
      </p:sp>
      <p:sp>
        <p:nvSpPr>
          <p:cNvPr id="37" name="Rectangle 36">
            <a:extLst>
              <a:ext uri="{FF2B5EF4-FFF2-40B4-BE49-F238E27FC236}">
                <a16:creationId xmlns:a16="http://schemas.microsoft.com/office/drawing/2014/main" id="{164C4400-191E-678B-963A-E06FF1BBC32C}"/>
              </a:ext>
            </a:extLst>
          </p:cNvPr>
          <p:cNvSpPr/>
          <p:nvPr/>
        </p:nvSpPr>
        <p:spPr>
          <a:xfrm>
            <a:off x="1068276" y="2364642"/>
            <a:ext cx="151930" cy="369332"/>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Times New Roman" panose="02020603050405020304" pitchFamily="18" charset="0"/>
              <a:cs typeface="Times New Roman" panose="02020603050405020304" pitchFamily="18" charset="0"/>
            </a:endParaRPr>
          </a:p>
        </p:txBody>
      </p:sp>
      <p:graphicFrame>
        <p:nvGraphicFramePr>
          <p:cNvPr id="12" name="Chart 11">
            <a:extLst>
              <a:ext uri="{FF2B5EF4-FFF2-40B4-BE49-F238E27FC236}">
                <a16:creationId xmlns:a16="http://schemas.microsoft.com/office/drawing/2014/main" id="{688BEC69-3017-A474-C8A1-541458368B74}"/>
              </a:ext>
            </a:extLst>
          </p:cNvPr>
          <p:cNvGraphicFramePr>
            <a:graphicFrameLocks/>
          </p:cNvGraphicFramePr>
          <p:nvPr>
            <p:extLst>
              <p:ext uri="{D42A27DB-BD31-4B8C-83A1-F6EECF244321}">
                <p14:modId xmlns:p14="http://schemas.microsoft.com/office/powerpoint/2010/main" val="3737395782"/>
              </p:ext>
            </p:extLst>
          </p:nvPr>
        </p:nvGraphicFramePr>
        <p:xfrm>
          <a:off x="11958405" y="1564823"/>
          <a:ext cx="5540187" cy="3287805"/>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3" name="Chart 12">
            <a:extLst>
              <a:ext uri="{FF2B5EF4-FFF2-40B4-BE49-F238E27FC236}">
                <a16:creationId xmlns:a16="http://schemas.microsoft.com/office/drawing/2014/main" id="{300CB5B5-A603-D0EE-A083-0346A4E30130}"/>
              </a:ext>
            </a:extLst>
          </p:cNvPr>
          <p:cNvGraphicFramePr>
            <a:graphicFrameLocks/>
          </p:cNvGraphicFramePr>
          <p:nvPr>
            <p:extLst>
              <p:ext uri="{D42A27DB-BD31-4B8C-83A1-F6EECF244321}">
                <p14:modId xmlns:p14="http://schemas.microsoft.com/office/powerpoint/2010/main" val="2901182601"/>
              </p:ext>
            </p:extLst>
          </p:nvPr>
        </p:nvGraphicFramePr>
        <p:xfrm>
          <a:off x="12054655" y="5086052"/>
          <a:ext cx="5540186" cy="3287801"/>
        </p:xfrm>
        <a:graphic>
          <a:graphicData uri="http://schemas.openxmlformats.org/drawingml/2006/chart">
            <c:chart xmlns:c="http://schemas.openxmlformats.org/drawingml/2006/chart" xmlns:r="http://schemas.openxmlformats.org/officeDocument/2006/relationships" r:id="rId5"/>
          </a:graphicData>
        </a:graphic>
      </p:graphicFrame>
      <p:cxnSp>
        <p:nvCxnSpPr>
          <p:cNvPr id="14" name="Straight Connector 13">
            <a:extLst>
              <a:ext uri="{FF2B5EF4-FFF2-40B4-BE49-F238E27FC236}">
                <a16:creationId xmlns:a16="http://schemas.microsoft.com/office/drawing/2014/main" id="{878299FC-3DAD-BB62-13B0-56A6E90CB96A}"/>
              </a:ext>
            </a:extLst>
          </p:cNvPr>
          <p:cNvCxnSpPr>
            <a:cxnSpLocks/>
          </p:cNvCxnSpPr>
          <p:nvPr/>
        </p:nvCxnSpPr>
        <p:spPr>
          <a:xfrm>
            <a:off x="12384906" y="7127342"/>
            <a:ext cx="4976812" cy="0"/>
          </a:xfrm>
          <a:prstGeom prst="line">
            <a:avLst/>
          </a:prstGeom>
          <a:ln>
            <a:prstDash val="dash"/>
          </a:ln>
        </p:spPr>
        <p:style>
          <a:lnRef idx="1">
            <a:schemeClr val="accent6"/>
          </a:lnRef>
          <a:fillRef idx="0">
            <a:schemeClr val="accent6"/>
          </a:fillRef>
          <a:effectRef idx="0">
            <a:schemeClr val="accent6"/>
          </a:effectRef>
          <a:fontRef idx="minor">
            <a:schemeClr val="tx1"/>
          </a:fontRef>
        </p:style>
      </p:cxnSp>
      <p:sp>
        <p:nvSpPr>
          <p:cNvPr id="17" name="TextBox 1">
            <a:extLst>
              <a:ext uri="{FF2B5EF4-FFF2-40B4-BE49-F238E27FC236}">
                <a16:creationId xmlns:a16="http://schemas.microsoft.com/office/drawing/2014/main" id="{3231961B-ED19-4B6B-2CC1-2317CD1CD618}"/>
              </a:ext>
            </a:extLst>
          </p:cNvPr>
          <p:cNvSpPr txBox="1"/>
          <p:nvPr/>
        </p:nvSpPr>
        <p:spPr>
          <a:xfrm>
            <a:off x="10939219" y="6969740"/>
            <a:ext cx="1645386" cy="639432"/>
          </a:xfrm>
          <a:prstGeom prst="rect">
            <a:avLst/>
          </a:prstGeom>
        </p:spPr>
        <p:txBody>
          <a:bodyPr wrap="squar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en-GB" sz="1200" i="1" kern="1200" dirty="0">
                <a:latin typeface="Times New Roman" panose="02020603050405020304" pitchFamily="18" charset="0"/>
                <a:cs typeface="Times New Roman" panose="02020603050405020304" pitchFamily="18" charset="0"/>
              </a:rPr>
              <a:t>5.5 Industry Median</a:t>
            </a:r>
          </a:p>
        </p:txBody>
      </p:sp>
      <p:sp>
        <p:nvSpPr>
          <p:cNvPr id="27" name="TextBox 26">
            <a:extLst>
              <a:ext uri="{FF2B5EF4-FFF2-40B4-BE49-F238E27FC236}">
                <a16:creationId xmlns:a16="http://schemas.microsoft.com/office/drawing/2014/main" id="{5B407B98-BE7A-AA05-DFCE-06507C2C0606}"/>
              </a:ext>
            </a:extLst>
          </p:cNvPr>
          <p:cNvSpPr txBox="1"/>
          <p:nvPr/>
        </p:nvSpPr>
        <p:spPr>
          <a:xfrm>
            <a:off x="973240" y="1364080"/>
            <a:ext cx="8119246" cy="861774"/>
          </a:xfrm>
          <a:prstGeom prst="rect">
            <a:avLst/>
          </a:prstGeom>
          <a:noFill/>
        </p:spPr>
        <p:txBody>
          <a:bodyPr wrap="square" rtlCol="0">
            <a:spAutoFit/>
          </a:bodyPr>
          <a:lstStyle/>
          <a:p>
            <a:r>
              <a:rPr lang="en-GB" b="1" dirty="0">
                <a:latin typeface="Times New Roman" panose="02020603050405020304" pitchFamily="18" charset="0"/>
                <a:cs typeface="Times New Roman" panose="02020603050405020304" pitchFamily="18" charset="0"/>
              </a:rPr>
              <a:t>Valuation techniques indicates 15–20% upside potential</a:t>
            </a:r>
            <a:br>
              <a:rPr lang="en-GB" sz="1600" dirty="0">
                <a:latin typeface="Times New Roman" panose="02020603050405020304" pitchFamily="18" charset="0"/>
                <a:cs typeface="Times New Roman" panose="02020603050405020304" pitchFamily="18" charset="0"/>
              </a:rPr>
            </a:br>
            <a:r>
              <a:rPr lang="en-GB" sz="1600" i="1" dirty="0">
                <a:latin typeface="Times New Roman" panose="02020603050405020304" pitchFamily="18" charset="0"/>
                <a:cs typeface="Times New Roman" panose="02020603050405020304" pitchFamily="18" charset="0"/>
              </a:rPr>
              <a:t>Royal BAM trades at a </a:t>
            </a:r>
            <a:r>
              <a:rPr lang="en-GB" sz="1600" b="1" i="1" dirty="0">
                <a:latin typeface="Times New Roman" panose="02020603050405020304" pitchFamily="18" charset="0"/>
                <a:cs typeface="Times New Roman" panose="02020603050405020304" pitchFamily="18" charset="0"/>
              </a:rPr>
              <a:t>discount</a:t>
            </a:r>
            <a:r>
              <a:rPr lang="en-GB" sz="1600" i="1" dirty="0">
                <a:latin typeface="Times New Roman" panose="02020603050405020304" pitchFamily="18" charset="0"/>
                <a:cs typeface="Times New Roman" panose="02020603050405020304" pitchFamily="18" charset="0"/>
              </a:rPr>
              <a:t> on EV/EBITDA while delivering one of the </a:t>
            </a:r>
            <a:r>
              <a:rPr lang="en-GB" sz="1600" b="1" i="1" dirty="0">
                <a:latin typeface="Times New Roman" panose="02020603050405020304" pitchFamily="18" charset="0"/>
                <a:cs typeface="Times New Roman" panose="02020603050405020304" pitchFamily="18" charset="0"/>
              </a:rPr>
              <a:t>strongest FCF yields </a:t>
            </a:r>
            <a:r>
              <a:rPr lang="en-GB" sz="1600" i="1" dirty="0">
                <a:latin typeface="Times New Roman" panose="02020603050405020304" pitchFamily="18" charset="0"/>
                <a:cs typeface="Times New Roman" panose="02020603050405020304" pitchFamily="18" charset="0"/>
              </a:rPr>
              <a:t>in its peer group. DCF supports re-rating as margins and cash conversion normalise.</a:t>
            </a:r>
            <a:endParaRPr lang="en-GB" sz="1600" b="1" i="1" dirty="0">
              <a:latin typeface="Times New Roman" panose="02020603050405020304" pitchFamily="18" charset="0"/>
              <a:cs typeface="Times New Roman" panose="02020603050405020304" pitchFamily="18" charset="0"/>
            </a:endParaRPr>
          </a:p>
        </p:txBody>
      </p:sp>
      <p:sp>
        <p:nvSpPr>
          <p:cNvPr id="29" name="Rectangle 28">
            <a:extLst>
              <a:ext uri="{FF2B5EF4-FFF2-40B4-BE49-F238E27FC236}">
                <a16:creationId xmlns:a16="http://schemas.microsoft.com/office/drawing/2014/main" id="{904D83F0-AF4E-1AD7-2791-A7220B4E5789}"/>
              </a:ext>
            </a:extLst>
          </p:cNvPr>
          <p:cNvSpPr/>
          <p:nvPr/>
        </p:nvSpPr>
        <p:spPr>
          <a:xfrm>
            <a:off x="10873608" y="1435785"/>
            <a:ext cx="151930" cy="369332"/>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latin typeface="Times New Roman" panose="02020603050405020304" pitchFamily="18" charset="0"/>
              <a:cs typeface="Times New Roman" panose="02020603050405020304" pitchFamily="18" charset="0"/>
            </a:endParaRPr>
          </a:p>
        </p:txBody>
      </p:sp>
      <p:sp>
        <p:nvSpPr>
          <p:cNvPr id="26" name="Rectangle: Rounded Corners 25">
            <a:extLst>
              <a:ext uri="{FF2B5EF4-FFF2-40B4-BE49-F238E27FC236}">
                <a16:creationId xmlns:a16="http://schemas.microsoft.com/office/drawing/2014/main" id="{1C67E99E-890F-27C0-11DA-E9771E65D97C}"/>
              </a:ext>
            </a:extLst>
          </p:cNvPr>
          <p:cNvSpPr/>
          <p:nvPr/>
        </p:nvSpPr>
        <p:spPr>
          <a:xfrm>
            <a:off x="7140135" y="5552809"/>
            <a:ext cx="4565697" cy="882165"/>
          </a:xfrm>
          <a:prstGeom prst="round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Times New Roman" panose="02020603050405020304" pitchFamily="18" charset="0"/>
              <a:cs typeface="Times New Roman" panose="02020603050405020304" pitchFamily="18" charset="0"/>
            </a:endParaRPr>
          </a:p>
        </p:txBody>
      </p:sp>
      <p:sp>
        <p:nvSpPr>
          <p:cNvPr id="31" name="TextBox 30">
            <a:extLst>
              <a:ext uri="{FF2B5EF4-FFF2-40B4-BE49-F238E27FC236}">
                <a16:creationId xmlns:a16="http://schemas.microsoft.com/office/drawing/2014/main" id="{9529990D-5BF3-7A0A-FA7D-7D8244C434EE}"/>
              </a:ext>
            </a:extLst>
          </p:cNvPr>
          <p:cNvSpPr txBox="1"/>
          <p:nvPr/>
        </p:nvSpPr>
        <p:spPr>
          <a:xfrm>
            <a:off x="7189551" y="5569645"/>
            <a:ext cx="4565697" cy="830997"/>
          </a:xfrm>
          <a:prstGeom prst="rect">
            <a:avLst/>
          </a:prstGeom>
          <a:noFill/>
        </p:spPr>
        <p:txBody>
          <a:bodyPr wrap="square" rtlCol="0">
            <a:spAutoFit/>
          </a:bodyPr>
          <a:lstStyle/>
          <a:p>
            <a:r>
              <a:rPr lang="en-GB" sz="1200" dirty="0">
                <a:latin typeface="Times New Roman" panose="02020603050405020304" pitchFamily="18" charset="0"/>
                <a:cs typeface="Times New Roman" panose="02020603050405020304" pitchFamily="18" charset="0"/>
              </a:rPr>
              <a:t>Royal BAM trades below peers on EBITDA while offering one of the highest FCF yields in the sector. Our DCF base case indicates ~18% upside to €9.8 per share, with limited downside and clear re-rating potential as profitability and cash conversion strengthen.</a:t>
            </a:r>
          </a:p>
        </p:txBody>
      </p:sp>
      <p:sp>
        <p:nvSpPr>
          <p:cNvPr id="38" name="TextBox 37">
            <a:extLst>
              <a:ext uri="{FF2B5EF4-FFF2-40B4-BE49-F238E27FC236}">
                <a16:creationId xmlns:a16="http://schemas.microsoft.com/office/drawing/2014/main" id="{761D4EE3-BD81-8370-F036-A61619612D16}"/>
              </a:ext>
            </a:extLst>
          </p:cNvPr>
          <p:cNvSpPr txBox="1"/>
          <p:nvPr/>
        </p:nvSpPr>
        <p:spPr>
          <a:xfrm>
            <a:off x="11000343" y="1435785"/>
            <a:ext cx="2565532" cy="369332"/>
          </a:xfrm>
          <a:prstGeom prst="rect">
            <a:avLst/>
          </a:prstGeom>
          <a:noFill/>
        </p:spPr>
        <p:txBody>
          <a:bodyPr wrap="square" rtlCol="0">
            <a:spAutoFit/>
          </a:bodyPr>
          <a:lstStyle/>
          <a:p>
            <a:r>
              <a:rPr lang="en-GB" b="1" dirty="0">
                <a:latin typeface="Times New Roman" panose="02020603050405020304" pitchFamily="18" charset="0"/>
                <a:cs typeface="Times New Roman" panose="02020603050405020304" pitchFamily="18" charset="0"/>
              </a:rPr>
              <a:t>Relative Valuation </a:t>
            </a:r>
          </a:p>
        </p:txBody>
      </p:sp>
      <p:sp>
        <p:nvSpPr>
          <p:cNvPr id="19" name="Rectangle 18">
            <a:extLst>
              <a:ext uri="{FF2B5EF4-FFF2-40B4-BE49-F238E27FC236}">
                <a16:creationId xmlns:a16="http://schemas.microsoft.com/office/drawing/2014/main" id="{D9C11211-4D88-7E75-9EAA-8911398AC58D}"/>
              </a:ext>
            </a:extLst>
          </p:cNvPr>
          <p:cNvSpPr/>
          <p:nvPr/>
        </p:nvSpPr>
        <p:spPr>
          <a:xfrm>
            <a:off x="7515807" y="4814036"/>
            <a:ext cx="3715254" cy="591809"/>
          </a:xfrm>
          <a:prstGeom prst="rect">
            <a:avLst/>
          </a:prstGeom>
          <a:noFill/>
          <a:ln w="38100">
            <a:solidFill>
              <a:srgbClr val="23487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Times New Roman" panose="02020603050405020304" pitchFamily="18" charset="0"/>
              <a:cs typeface="Times New Roman" panose="02020603050405020304" pitchFamily="18" charset="0"/>
            </a:endParaRPr>
          </a:p>
        </p:txBody>
      </p:sp>
      <p:pic>
        <p:nvPicPr>
          <p:cNvPr id="2050" name="Picture 2" descr="Royal BAM Group logo in PNG SVG Vector format - Free Download">
            <a:extLst>
              <a:ext uri="{FF2B5EF4-FFF2-40B4-BE49-F238E27FC236}">
                <a16:creationId xmlns:a16="http://schemas.microsoft.com/office/drawing/2014/main" id="{317430DA-8387-8845-0746-FC7819A64205}"/>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13582" t="38124" r="11472" b="38181"/>
          <a:stretch>
            <a:fillRect/>
          </a:stretch>
        </p:blipFill>
        <p:spPr bwMode="auto">
          <a:xfrm>
            <a:off x="12209929" y="4726515"/>
            <a:ext cx="1158686" cy="366306"/>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Logo of public company Hochtief displayed on a smartphone. Flag of ...">
            <a:extLst>
              <a:ext uri="{FF2B5EF4-FFF2-40B4-BE49-F238E27FC236}">
                <a16:creationId xmlns:a16="http://schemas.microsoft.com/office/drawing/2014/main" id="{E1C14A15-4760-B831-ABA3-E36C09195ACE}"/>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52824" t="38279" r="23632" b="50628"/>
          <a:stretch>
            <a:fillRect/>
          </a:stretch>
        </p:blipFill>
        <p:spPr bwMode="auto">
          <a:xfrm>
            <a:off x="13271677" y="4726515"/>
            <a:ext cx="987796" cy="343695"/>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Balfour Beatty chief exec announces retirement of managing director of ...">
            <a:extLst>
              <a:ext uri="{FF2B5EF4-FFF2-40B4-BE49-F238E27FC236}">
                <a16:creationId xmlns:a16="http://schemas.microsoft.com/office/drawing/2014/main" id="{F4D26DF9-3C86-6DEC-C80E-F6C95E4E2A8A}"/>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l="14596" t="36881" r="17483" b="39952"/>
          <a:stretch>
            <a:fillRect/>
          </a:stretch>
        </p:blipFill>
        <p:spPr bwMode="auto">
          <a:xfrm>
            <a:off x="14285606" y="4781592"/>
            <a:ext cx="1196121" cy="226651"/>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12" descr="New brand identity wins global design award | Skanska - Global ...">
            <a:extLst>
              <a:ext uri="{FF2B5EF4-FFF2-40B4-BE49-F238E27FC236}">
                <a16:creationId xmlns:a16="http://schemas.microsoft.com/office/drawing/2014/main" id="{D47C7E7A-1B80-6418-B7D5-1F8F39D860D1}"/>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15564135" y="4847067"/>
            <a:ext cx="757513" cy="116480"/>
          </a:xfrm>
          <a:prstGeom prst="rect">
            <a:avLst/>
          </a:prstGeom>
          <a:noFill/>
          <a:extLst>
            <a:ext uri="{909E8E84-426E-40DD-AFC4-6F175D3DCCD1}">
              <a14:hiddenFill xmlns:a14="http://schemas.microsoft.com/office/drawing/2010/main">
                <a:solidFill>
                  <a:srgbClr val="FFFFFF"/>
                </a:solidFill>
              </a14:hiddenFill>
            </a:ext>
          </a:extLst>
        </p:spPr>
      </p:pic>
      <p:pic>
        <p:nvPicPr>
          <p:cNvPr id="2064" name="Picture 16" descr="Veidekke – Connect">
            <a:extLst>
              <a:ext uri="{FF2B5EF4-FFF2-40B4-BE49-F238E27FC236}">
                <a16:creationId xmlns:a16="http://schemas.microsoft.com/office/drawing/2014/main" id="{C86FE8C9-362F-4B1B-8386-16A03D946AAF}"/>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16385796" y="4769336"/>
            <a:ext cx="955593" cy="279511"/>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2" descr="Royal BAM Group logo in PNG SVG Vector format - Free Download">
            <a:extLst>
              <a:ext uri="{FF2B5EF4-FFF2-40B4-BE49-F238E27FC236}">
                <a16:creationId xmlns:a16="http://schemas.microsoft.com/office/drawing/2014/main" id="{0DFF18C4-7A85-ADF0-7723-971F238B0DF1}"/>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13582" t="38124" r="11472" b="38181"/>
          <a:stretch>
            <a:fillRect/>
          </a:stretch>
        </p:blipFill>
        <p:spPr bwMode="auto">
          <a:xfrm>
            <a:off x="12317700" y="8284865"/>
            <a:ext cx="1158686" cy="366306"/>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6" descr="Logo of public company Hochtief displayed on a smartphone. Flag of ...">
            <a:extLst>
              <a:ext uri="{FF2B5EF4-FFF2-40B4-BE49-F238E27FC236}">
                <a16:creationId xmlns:a16="http://schemas.microsoft.com/office/drawing/2014/main" id="{CD6838C3-B1EA-DE32-68F0-EE4743FC3F0C}"/>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52824" t="38279" r="23632" b="50628"/>
          <a:stretch>
            <a:fillRect/>
          </a:stretch>
        </p:blipFill>
        <p:spPr bwMode="auto">
          <a:xfrm>
            <a:off x="13422082" y="8256853"/>
            <a:ext cx="987796" cy="343695"/>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10" descr="Balfour Beatty chief exec announces retirement of managing director of ...">
            <a:extLst>
              <a:ext uri="{FF2B5EF4-FFF2-40B4-BE49-F238E27FC236}">
                <a16:creationId xmlns:a16="http://schemas.microsoft.com/office/drawing/2014/main" id="{A672B402-266D-4817-355F-F2E73C6EB165}"/>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l="14596" t="36881" r="17483" b="39952"/>
          <a:stretch>
            <a:fillRect/>
          </a:stretch>
        </p:blipFill>
        <p:spPr bwMode="auto">
          <a:xfrm>
            <a:off x="14368014" y="8297732"/>
            <a:ext cx="1196121" cy="226651"/>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12" descr="New brand identity wins global design award | Skanska - Global ...">
            <a:extLst>
              <a:ext uri="{FF2B5EF4-FFF2-40B4-BE49-F238E27FC236}">
                <a16:creationId xmlns:a16="http://schemas.microsoft.com/office/drawing/2014/main" id="{BB818532-BBE6-E09B-7E62-3D2C01BDE0E6}"/>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15646543" y="8363207"/>
            <a:ext cx="757513" cy="116480"/>
          </a:xfrm>
          <a:prstGeom prst="rect">
            <a:avLst/>
          </a:prstGeom>
          <a:noFill/>
          <a:extLst>
            <a:ext uri="{909E8E84-426E-40DD-AFC4-6F175D3DCCD1}">
              <a14:hiddenFill xmlns:a14="http://schemas.microsoft.com/office/drawing/2010/main">
                <a:solidFill>
                  <a:srgbClr val="FFFFFF"/>
                </a:solidFill>
              </a14:hiddenFill>
            </a:ext>
          </a:extLst>
        </p:spPr>
      </p:pic>
      <p:pic>
        <p:nvPicPr>
          <p:cNvPr id="46" name="Picture 16" descr="Veidekke – Connect">
            <a:extLst>
              <a:ext uri="{FF2B5EF4-FFF2-40B4-BE49-F238E27FC236}">
                <a16:creationId xmlns:a16="http://schemas.microsoft.com/office/drawing/2014/main" id="{B0443BF1-41AA-B233-7255-C7BAA6C0C16C}"/>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16468204" y="8285476"/>
            <a:ext cx="955593" cy="279511"/>
          </a:xfrm>
          <a:prstGeom prst="rect">
            <a:avLst/>
          </a:prstGeom>
          <a:noFill/>
          <a:extLst>
            <a:ext uri="{909E8E84-426E-40DD-AFC4-6F175D3DCCD1}">
              <a14:hiddenFill xmlns:a14="http://schemas.microsoft.com/office/drawing/2010/main">
                <a:solidFill>
                  <a:srgbClr val="FFFFFF"/>
                </a:solidFill>
              </a14:hiddenFill>
            </a:ext>
          </a:extLst>
        </p:spPr>
      </p:pic>
      <p:sp>
        <p:nvSpPr>
          <p:cNvPr id="49" name="TextBox 48">
            <a:extLst>
              <a:ext uri="{FF2B5EF4-FFF2-40B4-BE49-F238E27FC236}">
                <a16:creationId xmlns:a16="http://schemas.microsoft.com/office/drawing/2014/main" id="{6E127562-9B4E-D3D9-3B0D-87B956D3DB16}"/>
              </a:ext>
            </a:extLst>
          </p:cNvPr>
          <p:cNvSpPr txBox="1"/>
          <p:nvPr/>
        </p:nvSpPr>
        <p:spPr>
          <a:xfrm>
            <a:off x="10951903" y="2891614"/>
            <a:ext cx="2076073" cy="276999"/>
          </a:xfrm>
          <a:prstGeom prst="rect">
            <a:avLst/>
          </a:prstGeom>
          <a:noFill/>
        </p:spPr>
        <p:txBody>
          <a:bodyPr wrap="square" rtlCol="0">
            <a:spAutoFit/>
          </a:bodyPr>
          <a:lstStyle/>
          <a:p>
            <a:r>
              <a:rPr lang="en-GB" sz="1200" i="1" dirty="0">
                <a:latin typeface="Times New Roman" panose="02020603050405020304" pitchFamily="18" charset="0"/>
                <a:cs typeface="Times New Roman" panose="02020603050405020304" pitchFamily="18" charset="0"/>
              </a:rPr>
              <a:t>7.3 Industry Median</a:t>
            </a:r>
          </a:p>
        </p:txBody>
      </p:sp>
      <p:graphicFrame>
        <p:nvGraphicFramePr>
          <p:cNvPr id="16" name="Diagram 15">
            <a:extLst>
              <a:ext uri="{FF2B5EF4-FFF2-40B4-BE49-F238E27FC236}">
                <a16:creationId xmlns:a16="http://schemas.microsoft.com/office/drawing/2014/main" id="{9E486963-CFD7-6811-84FB-8A0EBBB269DD}"/>
              </a:ext>
            </a:extLst>
          </p:cNvPr>
          <p:cNvGraphicFramePr/>
          <p:nvPr>
            <p:extLst>
              <p:ext uri="{D42A27DB-BD31-4B8C-83A1-F6EECF244321}">
                <p14:modId xmlns:p14="http://schemas.microsoft.com/office/powerpoint/2010/main" val="58458695"/>
              </p:ext>
            </p:extLst>
          </p:nvPr>
        </p:nvGraphicFramePr>
        <p:xfrm>
          <a:off x="689521" y="2775228"/>
          <a:ext cx="6311789" cy="3462486"/>
        </p:xfrm>
        <a:graphic>
          <a:graphicData uri="http://schemas.openxmlformats.org/drawingml/2006/diagram">
            <dgm:relIds xmlns:dgm="http://schemas.openxmlformats.org/drawingml/2006/diagram" xmlns:r="http://schemas.openxmlformats.org/officeDocument/2006/relationships" r:dm="rId11" r:lo="rId12" r:qs="rId13" r:cs="rId14"/>
          </a:graphicData>
        </a:graphic>
      </p:graphicFrame>
      <p:sp>
        <p:nvSpPr>
          <p:cNvPr id="30" name="TextBox 29">
            <a:extLst>
              <a:ext uri="{FF2B5EF4-FFF2-40B4-BE49-F238E27FC236}">
                <a16:creationId xmlns:a16="http://schemas.microsoft.com/office/drawing/2014/main" id="{23BC0B98-A398-2DE4-93D8-EC25FBF8083E}"/>
              </a:ext>
            </a:extLst>
          </p:cNvPr>
          <p:cNvSpPr txBox="1"/>
          <p:nvPr/>
        </p:nvSpPr>
        <p:spPr>
          <a:xfrm>
            <a:off x="7541940" y="4874937"/>
            <a:ext cx="3689121" cy="707886"/>
          </a:xfrm>
          <a:prstGeom prst="rect">
            <a:avLst/>
          </a:prstGeom>
          <a:noFill/>
        </p:spPr>
        <p:txBody>
          <a:bodyPr wrap="square" rtlCol="0">
            <a:spAutoFit/>
          </a:bodyPr>
          <a:lstStyle/>
          <a:p>
            <a:r>
              <a:rPr lang="en-GB" sz="1400" b="1" dirty="0">
                <a:latin typeface="Times New Roman" panose="02020603050405020304" pitchFamily="18" charset="0"/>
                <a:cs typeface="Times New Roman" panose="02020603050405020304" pitchFamily="18" charset="0"/>
              </a:rPr>
              <a:t>Valuation impact (€/share):</a:t>
            </a:r>
          </a:p>
          <a:p>
            <a:r>
              <a:rPr lang="en-GB" sz="1400" b="1" dirty="0">
                <a:latin typeface="Times New Roman" panose="02020603050405020304" pitchFamily="18" charset="0"/>
                <a:cs typeface="Times New Roman" panose="02020603050405020304" pitchFamily="18" charset="0"/>
              </a:rPr>
              <a:t>Bull: ~€11.5–12.0 | Base: €9.8 | Bear: €8.3–8.5</a:t>
            </a:r>
          </a:p>
          <a:p>
            <a:endParaRPr lang="en-GB" sz="1200" dirty="0">
              <a:latin typeface="Times New Roman" panose="02020603050405020304" pitchFamily="18" charset="0"/>
              <a:cs typeface="Times New Roman" panose="02020603050405020304" pitchFamily="18" charset="0"/>
            </a:endParaRPr>
          </a:p>
        </p:txBody>
      </p:sp>
      <p:sp>
        <p:nvSpPr>
          <p:cNvPr id="2" name="TextBox 11">
            <a:extLst>
              <a:ext uri="{FF2B5EF4-FFF2-40B4-BE49-F238E27FC236}">
                <a16:creationId xmlns:a16="http://schemas.microsoft.com/office/drawing/2014/main" id="{912C7D04-C97C-BC41-5053-F6A359B8DE68}"/>
              </a:ext>
            </a:extLst>
          </p:cNvPr>
          <p:cNvSpPr txBox="1"/>
          <p:nvPr/>
        </p:nvSpPr>
        <p:spPr>
          <a:xfrm>
            <a:off x="994809" y="717075"/>
            <a:ext cx="5237748" cy="615553"/>
          </a:xfrm>
          <a:prstGeom prst="rect">
            <a:avLst/>
          </a:prstGeom>
        </p:spPr>
        <p:txBody>
          <a:bodyPr wrap="square" lIns="0" tIns="0" rIns="0" bIns="0" rtlCol="0" anchor="t">
            <a:spAutoFit/>
          </a:bodyPr>
          <a:lstStyle/>
          <a:p>
            <a:pPr>
              <a:lnSpc>
                <a:spcPts val="4759"/>
              </a:lnSpc>
              <a:spcBef>
                <a:spcPct val="0"/>
              </a:spcBef>
            </a:pPr>
            <a:r>
              <a:rPr lang="en-US" sz="4400" dirty="0">
                <a:latin typeface="Times New Roman" panose="02020603050405020304" pitchFamily="18" charset="0"/>
                <a:ea typeface="Montserrat"/>
                <a:cs typeface="Times New Roman" panose="02020603050405020304" pitchFamily="18" charset="0"/>
                <a:sym typeface="Montserrat"/>
              </a:rPr>
              <a:t>Valuation</a:t>
            </a:r>
          </a:p>
        </p:txBody>
      </p:sp>
      <p:sp>
        <p:nvSpPr>
          <p:cNvPr id="3" name="AutoShape 10">
            <a:extLst>
              <a:ext uri="{FF2B5EF4-FFF2-40B4-BE49-F238E27FC236}">
                <a16:creationId xmlns:a16="http://schemas.microsoft.com/office/drawing/2014/main" id="{45F0E64F-23B7-66DB-FF19-5DFDF1E83B5F}"/>
              </a:ext>
            </a:extLst>
          </p:cNvPr>
          <p:cNvSpPr/>
          <p:nvPr/>
        </p:nvSpPr>
        <p:spPr>
          <a:xfrm>
            <a:off x="973240" y="1362172"/>
            <a:ext cx="13744971" cy="0"/>
          </a:xfrm>
          <a:prstGeom prst="line">
            <a:avLst/>
          </a:prstGeom>
          <a:ln w="38100" cap="flat">
            <a:solidFill>
              <a:srgbClr val="214779"/>
            </a:solidFill>
            <a:prstDash val="solid"/>
            <a:headEnd type="none" w="sm" len="sm"/>
            <a:tailEnd type="none" w="sm" len="sm"/>
          </a:ln>
        </p:spPr>
        <p:txBody>
          <a:bodyPr/>
          <a:lstStyle/>
          <a:p>
            <a:endParaRPr lang="en-GB">
              <a:latin typeface="Times New Roman" panose="02020603050405020304" pitchFamily="18" charset="0"/>
              <a:cs typeface="Times New Roman" panose="02020603050405020304" pitchFamily="18" charset="0"/>
            </a:endParaRPr>
          </a:p>
        </p:txBody>
      </p:sp>
      <p:sp>
        <p:nvSpPr>
          <p:cNvPr id="32" name="Rectangle 31">
            <a:extLst>
              <a:ext uri="{FF2B5EF4-FFF2-40B4-BE49-F238E27FC236}">
                <a16:creationId xmlns:a16="http://schemas.microsoft.com/office/drawing/2014/main" id="{8DB018B8-F3C1-5611-EC6A-A7D4082C5FB5}"/>
              </a:ext>
            </a:extLst>
          </p:cNvPr>
          <p:cNvSpPr/>
          <p:nvPr/>
        </p:nvSpPr>
        <p:spPr>
          <a:xfrm>
            <a:off x="1014600" y="6448587"/>
            <a:ext cx="151930" cy="369332"/>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Times New Roman" panose="02020603050405020304" pitchFamily="18" charset="0"/>
              <a:cs typeface="Times New Roman" panose="02020603050405020304" pitchFamily="18" charset="0"/>
            </a:endParaRPr>
          </a:p>
        </p:txBody>
      </p:sp>
      <p:sp>
        <p:nvSpPr>
          <p:cNvPr id="40" name="TextBox 39">
            <a:extLst>
              <a:ext uri="{FF2B5EF4-FFF2-40B4-BE49-F238E27FC236}">
                <a16:creationId xmlns:a16="http://schemas.microsoft.com/office/drawing/2014/main" id="{C5B4F986-D616-7588-57F7-361748C4687A}"/>
              </a:ext>
            </a:extLst>
          </p:cNvPr>
          <p:cNvSpPr txBox="1"/>
          <p:nvPr/>
        </p:nvSpPr>
        <p:spPr>
          <a:xfrm>
            <a:off x="1125170" y="6726003"/>
            <a:ext cx="5822576" cy="338554"/>
          </a:xfrm>
          <a:prstGeom prst="rect">
            <a:avLst/>
          </a:prstGeom>
          <a:noFill/>
        </p:spPr>
        <p:txBody>
          <a:bodyPr wrap="square" rtlCol="0">
            <a:spAutoFit/>
          </a:bodyPr>
          <a:lstStyle/>
          <a:p>
            <a:r>
              <a:rPr lang="en-GB" sz="1600" i="1" dirty="0">
                <a:latin typeface="Times New Roman" panose="02020603050405020304" pitchFamily="18" charset="0"/>
                <a:cs typeface="Times New Roman" panose="02020603050405020304" pitchFamily="18" charset="0"/>
              </a:rPr>
              <a:t>Conservatively weighted DCF shows strong upside potential</a:t>
            </a:r>
          </a:p>
        </p:txBody>
      </p:sp>
      <p:sp>
        <p:nvSpPr>
          <p:cNvPr id="41" name="TextBox 40">
            <a:extLst>
              <a:ext uri="{FF2B5EF4-FFF2-40B4-BE49-F238E27FC236}">
                <a16:creationId xmlns:a16="http://schemas.microsoft.com/office/drawing/2014/main" id="{8EFCF366-C02B-6A56-DA75-C92F2763382C}"/>
              </a:ext>
            </a:extLst>
          </p:cNvPr>
          <p:cNvSpPr txBox="1"/>
          <p:nvPr/>
        </p:nvSpPr>
        <p:spPr>
          <a:xfrm rot="16200000">
            <a:off x="662849" y="7826818"/>
            <a:ext cx="1329310" cy="338554"/>
          </a:xfrm>
          <a:prstGeom prst="rect">
            <a:avLst/>
          </a:prstGeom>
          <a:noFill/>
        </p:spPr>
        <p:txBody>
          <a:bodyPr wrap="square" rtlCol="0">
            <a:spAutoFit/>
          </a:bodyPr>
          <a:lstStyle/>
          <a:p>
            <a:r>
              <a:rPr lang="en-GB" sz="1600" b="1">
                <a:solidFill>
                  <a:schemeClr val="bg1"/>
                </a:solidFill>
                <a:latin typeface="Times New Roman" panose="02020603050405020304" pitchFamily="18" charset="0"/>
                <a:cs typeface="Times New Roman" panose="02020603050405020304" pitchFamily="18" charset="0"/>
              </a:rPr>
              <a:t>WACC</a:t>
            </a:r>
          </a:p>
        </p:txBody>
      </p:sp>
      <p:sp>
        <p:nvSpPr>
          <p:cNvPr id="47" name="TextBox 46">
            <a:extLst>
              <a:ext uri="{FF2B5EF4-FFF2-40B4-BE49-F238E27FC236}">
                <a16:creationId xmlns:a16="http://schemas.microsoft.com/office/drawing/2014/main" id="{E6A7FDC2-FDC1-712A-8C0C-F98E6269495C}"/>
              </a:ext>
            </a:extLst>
          </p:cNvPr>
          <p:cNvSpPr txBox="1"/>
          <p:nvPr/>
        </p:nvSpPr>
        <p:spPr>
          <a:xfrm>
            <a:off x="3655006" y="7106823"/>
            <a:ext cx="1992354" cy="338554"/>
          </a:xfrm>
          <a:prstGeom prst="rect">
            <a:avLst/>
          </a:prstGeom>
          <a:noFill/>
        </p:spPr>
        <p:txBody>
          <a:bodyPr wrap="square" rtlCol="0">
            <a:spAutoFit/>
          </a:bodyPr>
          <a:lstStyle/>
          <a:p>
            <a:r>
              <a:rPr lang="en-GB" sz="1600" b="1">
                <a:solidFill>
                  <a:schemeClr val="bg1"/>
                </a:solidFill>
                <a:latin typeface="Times New Roman" panose="02020603050405020304" pitchFamily="18" charset="0"/>
                <a:cs typeface="Times New Roman" panose="02020603050405020304" pitchFamily="18" charset="0"/>
              </a:rPr>
              <a:t>Growth rate (g)</a:t>
            </a:r>
          </a:p>
        </p:txBody>
      </p:sp>
      <p:sp>
        <p:nvSpPr>
          <p:cNvPr id="50" name="TextBox 49">
            <a:extLst>
              <a:ext uri="{FF2B5EF4-FFF2-40B4-BE49-F238E27FC236}">
                <a16:creationId xmlns:a16="http://schemas.microsoft.com/office/drawing/2014/main" id="{BBDFD3CE-873F-3A38-C20D-C87DDCA3B8AC}"/>
              </a:ext>
            </a:extLst>
          </p:cNvPr>
          <p:cNvSpPr txBox="1"/>
          <p:nvPr/>
        </p:nvSpPr>
        <p:spPr>
          <a:xfrm>
            <a:off x="2831787" y="7738266"/>
            <a:ext cx="623887" cy="276999"/>
          </a:xfrm>
          <a:prstGeom prst="rect">
            <a:avLst/>
          </a:prstGeom>
          <a:noFill/>
        </p:spPr>
        <p:txBody>
          <a:bodyPr wrap="square" rtlCol="0">
            <a:spAutoFit/>
          </a:bodyPr>
          <a:lstStyle/>
          <a:p>
            <a:r>
              <a:rPr lang="en-GB" sz="1200"/>
              <a:t>24.2%</a:t>
            </a:r>
          </a:p>
        </p:txBody>
      </p:sp>
      <p:sp>
        <p:nvSpPr>
          <p:cNvPr id="53" name="Arrow: Bent-Up 52">
            <a:extLst>
              <a:ext uri="{FF2B5EF4-FFF2-40B4-BE49-F238E27FC236}">
                <a16:creationId xmlns:a16="http://schemas.microsoft.com/office/drawing/2014/main" id="{26F08787-7FFC-E131-6DA6-907280425ED7}"/>
              </a:ext>
            </a:extLst>
          </p:cNvPr>
          <p:cNvSpPr/>
          <p:nvPr/>
        </p:nvSpPr>
        <p:spPr>
          <a:xfrm rot="10800000" flipH="1">
            <a:off x="7333170" y="3681553"/>
            <a:ext cx="1943148" cy="793282"/>
          </a:xfrm>
          <a:prstGeom prst="bentUpArrow">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1" name="Arrow: Bent-Up 60">
            <a:extLst>
              <a:ext uri="{FF2B5EF4-FFF2-40B4-BE49-F238E27FC236}">
                <a16:creationId xmlns:a16="http://schemas.microsoft.com/office/drawing/2014/main" id="{934F2D0A-5100-1915-A849-88536CEF6BD7}"/>
              </a:ext>
            </a:extLst>
          </p:cNvPr>
          <p:cNvSpPr/>
          <p:nvPr/>
        </p:nvSpPr>
        <p:spPr>
          <a:xfrm rot="10800000">
            <a:off x="9608178" y="3681553"/>
            <a:ext cx="1955698" cy="793282"/>
          </a:xfrm>
          <a:prstGeom prst="bentUpArrow">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2" name="Arrow: Bent-Up 61">
            <a:extLst>
              <a:ext uri="{FF2B5EF4-FFF2-40B4-BE49-F238E27FC236}">
                <a16:creationId xmlns:a16="http://schemas.microsoft.com/office/drawing/2014/main" id="{F673061C-DC36-A533-D660-B9744DAC0360}"/>
              </a:ext>
            </a:extLst>
          </p:cNvPr>
          <p:cNvSpPr/>
          <p:nvPr/>
        </p:nvSpPr>
        <p:spPr>
          <a:xfrm>
            <a:off x="7083340" y="6636359"/>
            <a:ext cx="2974605" cy="2031937"/>
          </a:xfrm>
          <a:prstGeom prst="bentUpArrow">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3">
            <a:extLst>
              <a:ext uri="{FF2B5EF4-FFF2-40B4-BE49-F238E27FC236}">
                <a16:creationId xmlns:a16="http://schemas.microsoft.com/office/drawing/2014/main" id="{3D03CEFA-172A-C7B6-C8E1-1315FF7B2117}"/>
              </a:ext>
            </a:extLst>
          </p:cNvPr>
          <p:cNvSpPr txBox="1"/>
          <p:nvPr/>
        </p:nvSpPr>
        <p:spPr>
          <a:xfrm>
            <a:off x="12710019" y="3314549"/>
            <a:ext cx="635914" cy="230832"/>
          </a:xfrm>
          <a:prstGeom prst="rect">
            <a:avLst/>
          </a:prstGeom>
          <a:noFill/>
        </p:spPr>
        <p:txBody>
          <a:bodyPr wrap="square" rtlCol="0">
            <a:spAutoFit/>
          </a:bodyPr>
          <a:lstStyle/>
          <a:p>
            <a:r>
              <a:rPr lang="en-US" sz="900" b="1" dirty="0">
                <a:solidFill>
                  <a:schemeClr val="bg1"/>
                </a:solidFill>
                <a:latin typeface="Times New Roman" panose="02020603050405020304" pitchFamily="18" charset="0"/>
                <a:cs typeface="Times New Roman" panose="02020603050405020304" pitchFamily="18" charset="0"/>
              </a:rPr>
              <a:t>6.2</a:t>
            </a:r>
          </a:p>
        </p:txBody>
      </p:sp>
      <p:sp>
        <p:nvSpPr>
          <p:cNvPr id="5" name="TextBox 4">
            <a:extLst>
              <a:ext uri="{FF2B5EF4-FFF2-40B4-BE49-F238E27FC236}">
                <a16:creationId xmlns:a16="http://schemas.microsoft.com/office/drawing/2014/main" id="{77F9ACE2-A08E-69A1-38CC-3EF3E52D7B10}"/>
              </a:ext>
            </a:extLst>
          </p:cNvPr>
          <p:cNvSpPr txBox="1"/>
          <p:nvPr/>
        </p:nvSpPr>
        <p:spPr>
          <a:xfrm>
            <a:off x="12784954" y="6217755"/>
            <a:ext cx="647446" cy="230832"/>
          </a:xfrm>
          <a:prstGeom prst="rect">
            <a:avLst/>
          </a:prstGeom>
          <a:noFill/>
        </p:spPr>
        <p:txBody>
          <a:bodyPr wrap="square" rtlCol="0">
            <a:spAutoFit/>
          </a:bodyPr>
          <a:lstStyle/>
          <a:p>
            <a:r>
              <a:rPr lang="en-US" sz="900" dirty="0">
                <a:solidFill>
                  <a:schemeClr val="bg1"/>
                </a:solidFill>
              </a:rPr>
              <a:t>10.2</a:t>
            </a:r>
          </a:p>
        </p:txBody>
      </p:sp>
      <p:sp>
        <p:nvSpPr>
          <p:cNvPr id="6" name="TextBox 49">
            <a:extLst>
              <a:ext uri="{FF2B5EF4-FFF2-40B4-BE49-F238E27FC236}">
                <a16:creationId xmlns:a16="http://schemas.microsoft.com/office/drawing/2014/main" id="{C7E21AA0-BE2F-5DDA-8FCD-810B5BCD86B2}"/>
              </a:ext>
            </a:extLst>
          </p:cNvPr>
          <p:cNvSpPr txBox="1"/>
          <p:nvPr/>
        </p:nvSpPr>
        <p:spPr>
          <a:xfrm>
            <a:off x="3233349" y="9250434"/>
            <a:ext cx="8782188" cy="466474"/>
          </a:xfrm>
          <a:prstGeom prst="rect">
            <a:avLst/>
          </a:prstGeom>
        </p:spPr>
        <p:txBody>
          <a:bodyPr wrap="square" lIns="0" tIns="0" rIns="0" bIns="0" rtlCol="0" anchor="t">
            <a:spAutoFit/>
          </a:bodyPr>
          <a:lstStyle/>
          <a:p>
            <a:pPr algn="ctr">
              <a:lnSpc>
                <a:spcPts val="4060"/>
              </a:lnSpc>
              <a:spcBef>
                <a:spcPct val="0"/>
              </a:spcBef>
            </a:pPr>
            <a:r>
              <a:rPr lang="en-US" sz="2400" dirty="0">
                <a:solidFill>
                  <a:schemeClr val="bg1">
                    <a:lumMod val="50000"/>
                  </a:schemeClr>
                </a:solidFill>
                <a:latin typeface="Times New Roman" panose="02020603050405020304" pitchFamily="18" charset="0"/>
                <a:ea typeface="Times New Roman"/>
                <a:cs typeface="Times New Roman" panose="02020603050405020304" pitchFamily="18" charset="0"/>
                <a:sym typeface="Times New Roman"/>
              </a:rPr>
              <a:t>29/10/25		      Royal Bam Group – (XAMS</a:t>
            </a:r>
            <a:r>
              <a:rPr lang="en-US" sz="2400" dirty="0">
                <a:solidFill>
                  <a:schemeClr val="bg1">
                    <a:lumMod val="50000"/>
                  </a:schemeClr>
                </a:solidFill>
                <a:latin typeface="Times New Roman" panose="02020603050405020304" pitchFamily="18" charset="0"/>
                <a:ea typeface="Times New Roman"/>
                <a:cs typeface="Times New Roman" panose="02020603050405020304" pitchFamily="18" charset="0"/>
                <a:sym typeface="Wingdings" pitchFamily="2" charset="2"/>
              </a:rPr>
              <a:t>:</a:t>
            </a:r>
            <a:r>
              <a:rPr lang="en-US" sz="2400" dirty="0">
                <a:solidFill>
                  <a:schemeClr val="bg1">
                    <a:lumMod val="50000"/>
                  </a:schemeClr>
                </a:solidFill>
                <a:latin typeface="Times New Roman" panose="02020603050405020304" pitchFamily="18" charset="0"/>
                <a:ea typeface="Times New Roman"/>
                <a:cs typeface="Times New Roman" panose="02020603050405020304" pitchFamily="18" charset="0"/>
                <a:sym typeface="Times New Roman"/>
              </a:rPr>
              <a:t> BAMNB)</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23487A"/>
        </a:solidFill>
        <a:effectLst/>
      </p:bgPr>
    </p:bg>
    <p:spTree>
      <p:nvGrpSpPr>
        <p:cNvPr id="1" name=""/>
        <p:cNvGrpSpPr/>
        <p:nvPr/>
      </p:nvGrpSpPr>
      <p:grpSpPr>
        <a:xfrm>
          <a:off x="0" y="0"/>
          <a:ext cx="0" cy="0"/>
          <a:chOff x="0" y="0"/>
          <a:chExt cx="0" cy="0"/>
        </a:xfrm>
      </p:grpSpPr>
      <p:sp>
        <p:nvSpPr>
          <p:cNvPr id="2" name="Freeform 2"/>
          <p:cNvSpPr/>
          <p:nvPr/>
        </p:nvSpPr>
        <p:spPr>
          <a:xfrm>
            <a:off x="7846503" y="6394025"/>
            <a:ext cx="2594994" cy="2153293"/>
          </a:xfrm>
          <a:custGeom>
            <a:avLst/>
            <a:gdLst/>
            <a:ahLst/>
            <a:cxnLst/>
            <a:rect l="l" t="t" r="r" b="b"/>
            <a:pathLst>
              <a:path w="2594994" h="2153293">
                <a:moveTo>
                  <a:pt x="0" y="0"/>
                </a:moveTo>
                <a:lnTo>
                  <a:pt x="2594994" y="0"/>
                </a:lnTo>
                <a:lnTo>
                  <a:pt x="2594994" y="2153293"/>
                </a:lnTo>
                <a:lnTo>
                  <a:pt x="0" y="2153293"/>
                </a:lnTo>
                <a:lnTo>
                  <a:pt x="0" y="0"/>
                </a:lnTo>
                <a:close/>
              </a:path>
            </a:pathLst>
          </a:custGeom>
          <a:blipFill>
            <a:blip r:embed="rId3"/>
            <a:stretch>
              <a:fillRect l="-83932" t="-92948" r="-86060" b="-132427"/>
            </a:stretch>
          </a:blipFill>
        </p:spPr>
        <p:txBody>
          <a:bodyPr/>
          <a:lstStyle/>
          <a:p>
            <a:endParaRPr lang="en-GB"/>
          </a:p>
        </p:txBody>
      </p:sp>
      <p:sp>
        <p:nvSpPr>
          <p:cNvPr id="3" name="TextBox 3"/>
          <p:cNvSpPr txBox="1"/>
          <p:nvPr/>
        </p:nvSpPr>
        <p:spPr>
          <a:xfrm>
            <a:off x="2663160" y="3407764"/>
            <a:ext cx="12988454" cy="563039"/>
          </a:xfrm>
          <a:prstGeom prst="rect">
            <a:avLst/>
          </a:prstGeom>
        </p:spPr>
        <p:txBody>
          <a:bodyPr lIns="0" tIns="0" rIns="0" bIns="0" rtlCol="0" anchor="t">
            <a:spAutoFit/>
          </a:bodyPr>
          <a:lstStyle/>
          <a:p>
            <a:pPr algn="ctr">
              <a:lnSpc>
                <a:spcPts val="4759"/>
              </a:lnSpc>
              <a:spcBef>
                <a:spcPct val="0"/>
              </a:spcBef>
            </a:pPr>
            <a:r>
              <a:rPr lang="en-US" sz="3200">
                <a:solidFill>
                  <a:srgbClr val="23487A"/>
                </a:solidFill>
                <a:latin typeface="Montserrat" panose="00000500000000000000" pitchFamily="2" charset="0"/>
                <a:ea typeface="Montserrat"/>
                <a:cs typeface="Montserrat"/>
                <a:sym typeface="Montserrat"/>
              </a:rPr>
              <a:t>Newcastle University Investment Fund Training Programme</a:t>
            </a:r>
          </a:p>
        </p:txBody>
      </p:sp>
      <p:sp>
        <p:nvSpPr>
          <p:cNvPr id="4" name="TextBox 4"/>
          <p:cNvSpPr txBox="1"/>
          <p:nvPr/>
        </p:nvSpPr>
        <p:spPr>
          <a:xfrm>
            <a:off x="5717486" y="4246908"/>
            <a:ext cx="6879803" cy="563039"/>
          </a:xfrm>
          <a:prstGeom prst="rect">
            <a:avLst/>
          </a:prstGeom>
        </p:spPr>
        <p:txBody>
          <a:bodyPr lIns="0" tIns="0" rIns="0" bIns="0" rtlCol="0" anchor="t">
            <a:spAutoFit/>
          </a:bodyPr>
          <a:lstStyle/>
          <a:p>
            <a:pPr algn="ctr">
              <a:lnSpc>
                <a:spcPts val="4759"/>
              </a:lnSpc>
              <a:spcBef>
                <a:spcPct val="0"/>
              </a:spcBef>
            </a:pPr>
            <a:r>
              <a:rPr lang="en-US" sz="3200">
                <a:solidFill>
                  <a:srgbClr val="23487A"/>
                </a:solidFill>
                <a:latin typeface="Montserrat" panose="00000500000000000000" pitchFamily="2" charset="0"/>
                <a:ea typeface="Montserrat"/>
                <a:cs typeface="Montserrat"/>
                <a:sym typeface="Montserrat"/>
              </a:rPr>
              <a:t>Session 1: What is a Stock Pitch?</a:t>
            </a:r>
          </a:p>
        </p:txBody>
      </p:sp>
      <p:sp>
        <p:nvSpPr>
          <p:cNvPr id="5" name="TextBox 5"/>
          <p:cNvSpPr txBox="1"/>
          <p:nvPr/>
        </p:nvSpPr>
        <p:spPr>
          <a:xfrm>
            <a:off x="2616726" y="5213560"/>
            <a:ext cx="13081322" cy="1180465"/>
          </a:xfrm>
          <a:prstGeom prst="rect">
            <a:avLst/>
          </a:prstGeom>
        </p:spPr>
        <p:txBody>
          <a:bodyPr lIns="0" tIns="0" rIns="0" bIns="0" rtlCol="0" anchor="t">
            <a:spAutoFit/>
          </a:bodyPr>
          <a:lstStyle/>
          <a:p>
            <a:pPr algn="ctr">
              <a:lnSpc>
                <a:spcPts val="4759"/>
              </a:lnSpc>
              <a:spcBef>
                <a:spcPct val="0"/>
              </a:spcBef>
            </a:pPr>
            <a:r>
              <a:rPr lang="en-US" sz="3200">
                <a:solidFill>
                  <a:srgbClr val="23487A"/>
                </a:solidFill>
                <a:latin typeface="Montserrat" panose="00000500000000000000" pitchFamily="2" charset="0"/>
                <a:ea typeface="Montserrat"/>
                <a:cs typeface="Montserrat"/>
                <a:sym typeface="Montserrat"/>
              </a:rPr>
              <a:t>Going from "It's a good company" to "It's a good investment"</a:t>
            </a:r>
          </a:p>
          <a:p>
            <a:pPr algn="ctr">
              <a:lnSpc>
                <a:spcPts val="4759"/>
              </a:lnSpc>
              <a:spcBef>
                <a:spcPct val="0"/>
              </a:spcBef>
            </a:pPr>
            <a:endParaRPr lang="en-US" sz="3200">
              <a:solidFill>
                <a:srgbClr val="23487A"/>
              </a:solidFill>
              <a:latin typeface="Montserrat" panose="00000500000000000000" pitchFamily="2" charset="0"/>
              <a:ea typeface="Montserrat"/>
              <a:cs typeface="Montserrat"/>
              <a:sym typeface="Montserrat"/>
            </a:endParaRPr>
          </a:p>
        </p:txBody>
      </p:sp>
      <p:grpSp>
        <p:nvGrpSpPr>
          <p:cNvPr id="6" name="Group 6"/>
          <p:cNvGrpSpPr>
            <a:grpSpLocks/>
          </p:cNvGrpSpPr>
          <p:nvPr/>
        </p:nvGrpSpPr>
        <p:grpSpPr>
          <a:xfrm>
            <a:off x="469446" y="275037"/>
            <a:ext cx="17349108" cy="9581340"/>
            <a:chOff x="0" y="-28575"/>
            <a:chExt cx="5293499" cy="2923425"/>
          </a:xfrm>
        </p:grpSpPr>
        <p:sp>
          <p:nvSpPr>
            <p:cNvPr id="7" name="Freeform 7"/>
            <p:cNvSpPr>
              <a:spLocks/>
            </p:cNvSpPr>
            <p:nvPr/>
          </p:nvSpPr>
          <p:spPr>
            <a:xfrm>
              <a:off x="0" y="0"/>
              <a:ext cx="5293499" cy="2894850"/>
            </a:xfrm>
            <a:custGeom>
              <a:avLst/>
              <a:gdLst/>
              <a:ahLst/>
              <a:cxnLst/>
              <a:rect l="l" t="t" r="r" b="b"/>
              <a:pathLst>
                <a:path w="5293499" h="2894850">
                  <a:moveTo>
                    <a:pt x="0" y="0"/>
                  </a:moveTo>
                  <a:lnTo>
                    <a:pt x="5293499" y="0"/>
                  </a:lnTo>
                  <a:lnTo>
                    <a:pt x="5293499" y="2894850"/>
                  </a:lnTo>
                  <a:lnTo>
                    <a:pt x="0" y="2894850"/>
                  </a:lnTo>
                  <a:close/>
                </a:path>
              </a:pathLst>
            </a:custGeom>
            <a:solidFill>
              <a:srgbClr val="FFFFFF"/>
            </a:solidFill>
          </p:spPr>
          <p:txBody>
            <a:bodyPr/>
            <a:lstStyle/>
            <a:p>
              <a:endParaRPr lang="en-GB"/>
            </a:p>
          </p:txBody>
        </p:sp>
        <p:sp>
          <p:nvSpPr>
            <p:cNvPr id="8" name="TextBox 8"/>
            <p:cNvSpPr txBox="1">
              <a:spLocks/>
            </p:cNvSpPr>
            <p:nvPr/>
          </p:nvSpPr>
          <p:spPr>
            <a:xfrm>
              <a:off x="0" y="-28575"/>
              <a:ext cx="5293499" cy="2923425"/>
            </a:xfrm>
            <a:prstGeom prst="rect">
              <a:avLst/>
            </a:prstGeom>
          </p:spPr>
          <p:txBody>
            <a:bodyPr lIns="43850" tIns="43850" rIns="43850" bIns="43850" rtlCol="0" anchor="ctr"/>
            <a:lstStyle/>
            <a:p>
              <a:pPr algn="ctr">
                <a:lnSpc>
                  <a:spcPts val="2296"/>
                </a:lnSpc>
                <a:spcBef>
                  <a:spcPct val="0"/>
                </a:spcBef>
              </a:pPr>
              <a:endParaRPr/>
            </a:p>
          </p:txBody>
        </p:sp>
      </p:grpSp>
      <p:sp>
        <p:nvSpPr>
          <p:cNvPr id="9" name="Freeform 9"/>
          <p:cNvSpPr>
            <a:spLocks noGrp="1" noRot="1" noMove="1" noResize="1" noEditPoints="1" noAdjustHandles="1" noChangeArrowheads="1" noChangeShapeType="1"/>
          </p:cNvSpPr>
          <p:nvPr/>
        </p:nvSpPr>
        <p:spPr>
          <a:xfrm>
            <a:off x="16305847" y="8621010"/>
            <a:ext cx="1526094" cy="1266333"/>
          </a:xfrm>
          <a:custGeom>
            <a:avLst/>
            <a:gdLst/>
            <a:ahLst/>
            <a:cxnLst/>
            <a:rect l="l" t="t" r="r" b="b"/>
            <a:pathLst>
              <a:path w="1526094" h="1266333">
                <a:moveTo>
                  <a:pt x="0" y="0"/>
                </a:moveTo>
                <a:lnTo>
                  <a:pt x="1526094" y="0"/>
                </a:lnTo>
                <a:lnTo>
                  <a:pt x="1526094" y="1266333"/>
                </a:lnTo>
                <a:lnTo>
                  <a:pt x="0" y="1266333"/>
                </a:lnTo>
                <a:lnTo>
                  <a:pt x="0" y="0"/>
                </a:lnTo>
                <a:close/>
              </a:path>
            </a:pathLst>
          </a:custGeom>
          <a:blipFill>
            <a:blip r:embed="rId3"/>
            <a:stretch>
              <a:fillRect l="-83932" t="-92948" r="-86060" b="-132427"/>
            </a:stretch>
          </a:blipFill>
        </p:spPr>
        <p:txBody>
          <a:bodyPr/>
          <a:lstStyle/>
          <a:p>
            <a:endParaRPr lang="en-GB"/>
          </a:p>
        </p:txBody>
      </p:sp>
      <p:sp>
        <p:nvSpPr>
          <p:cNvPr id="10" name="AutoShape 10"/>
          <p:cNvSpPr/>
          <p:nvPr/>
        </p:nvSpPr>
        <p:spPr>
          <a:xfrm>
            <a:off x="2209802" y="9254177"/>
            <a:ext cx="13744971" cy="0"/>
          </a:xfrm>
          <a:prstGeom prst="line">
            <a:avLst/>
          </a:prstGeom>
          <a:ln w="38100" cap="flat">
            <a:solidFill>
              <a:srgbClr val="214779"/>
            </a:solidFill>
            <a:prstDash val="solid"/>
            <a:headEnd type="none" w="sm" len="sm"/>
            <a:tailEnd type="none" w="sm" len="sm"/>
          </a:ln>
        </p:spPr>
        <p:txBody>
          <a:bodyPr/>
          <a:lstStyle/>
          <a:p>
            <a:endParaRPr lang="en-GB"/>
          </a:p>
        </p:txBody>
      </p:sp>
      <p:grpSp>
        <p:nvGrpSpPr>
          <p:cNvPr id="23" name="Group 22">
            <a:extLst>
              <a:ext uri="{FF2B5EF4-FFF2-40B4-BE49-F238E27FC236}">
                <a16:creationId xmlns:a16="http://schemas.microsoft.com/office/drawing/2014/main" id="{BF5B7E93-E630-E6CD-8D81-FAF65D7ED1CB}"/>
              </a:ext>
            </a:extLst>
          </p:cNvPr>
          <p:cNvGrpSpPr/>
          <p:nvPr/>
        </p:nvGrpSpPr>
        <p:grpSpPr>
          <a:xfrm>
            <a:off x="1401833" y="1850062"/>
            <a:ext cx="6806944" cy="5008607"/>
            <a:chOff x="762001" y="1653534"/>
            <a:chExt cx="7391399" cy="5186746"/>
          </a:xfrm>
        </p:grpSpPr>
        <p:sp>
          <p:nvSpPr>
            <p:cNvPr id="24" name="Freeform: Shape 23">
              <a:extLst>
                <a:ext uri="{FF2B5EF4-FFF2-40B4-BE49-F238E27FC236}">
                  <a16:creationId xmlns:a16="http://schemas.microsoft.com/office/drawing/2014/main" id="{B7913B5A-525F-C126-749D-7981D1936DCB}"/>
                </a:ext>
              </a:extLst>
            </p:cNvPr>
            <p:cNvSpPr/>
            <p:nvPr/>
          </p:nvSpPr>
          <p:spPr>
            <a:xfrm>
              <a:off x="762001" y="1653534"/>
              <a:ext cx="1299712" cy="1856732"/>
            </a:xfrm>
            <a:custGeom>
              <a:avLst/>
              <a:gdLst>
                <a:gd name="connsiteX0" fmla="*/ 0 w 1856732"/>
                <a:gd name="connsiteY0" fmla="*/ 0 h 1299712"/>
                <a:gd name="connsiteX1" fmla="*/ 1206876 w 1856732"/>
                <a:gd name="connsiteY1" fmla="*/ 0 h 1299712"/>
                <a:gd name="connsiteX2" fmla="*/ 1856732 w 1856732"/>
                <a:gd name="connsiteY2" fmla="*/ 649856 h 1299712"/>
                <a:gd name="connsiteX3" fmla="*/ 1206876 w 1856732"/>
                <a:gd name="connsiteY3" fmla="*/ 1299712 h 1299712"/>
                <a:gd name="connsiteX4" fmla="*/ 0 w 1856732"/>
                <a:gd name="connsiteY4" fmla="*/ 1299712 h 1299712"/>
                <a:gd name="connsiteX5" fmla="*/ 649856 w 1856732"/>
                <a:gd name="connsiteY5" fmla="*/ 649856 h 1299712"/>
                <a:gd name="connsiteX6" fmla="*/ 0 w 1856732"/>
                <a:gd name="connsiteY6" fmla="*/ 0 h 1299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56732" h="1299712">
                  <a:moveTo>
                    <a:pt x="1856732" y="0"/>
                  </a:moveTo>
                  <a:lnTo>
                    <a:pt x="1856732" y="844813"/>
                  </a:lnTo>
                  <a:lnTo>
                    <a:pt x="928366" y="1299712"/>
                  </a:lnTo>
                  <a:lnTo>
                    <a:pt x="0" y="844813"/>
                  </a:lnTo>
                  <a:lnTo>
                    <a:pt x="0" y="0"/>
                  </a:lnTo>
                  <a:lnTo>
                    <a:pt x="928366" y="454899"/>
                  </a:lnTo>
                  <a:lnTo>
                    <a:pt x="1856732" y="0"/>
                  </a:lnTo>
                  <a:close/>
                </a:path>
              </a:pathLst>
            </a:custGeom>
            <a:solidFill>
              <a:srgbClr val="C00000"/>
            </a:solidFill>
            <a:ln>
              <a:solidFill>
                <a:srgbClr val="C00000"/>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22860" tIns="672716" rIns="22860" bIns="672716" numCol="1" spcCol="1270" anchor="ctr" anchorCtr="0">
              <a:noAutofit/>
            </a:bodyPr>
            <a:lstStyle/>
            <a:p>
              <a:pPr marL="0" lvl="0" indent="0" algn="ctr" defTabSz="1600200">
                <a:lnSpc>
                  <a:spcPct val="90000"/>
                </a:lnSpc>
                <a:spcBef>
                  <a:spcPct val="0"/>
                </a:spcBef>
                <a:spcAft>
                  <a:spcPct val="35000"/>
                </a:spcAft>
                <a:buNone/>
              </a:pPr>
              <a:r>
                <a:rPr lang="en-GB" sz="3200" kern="1200">
                  <a:latin typeface="Times New Roman" panose="02020603050405020304" pitchFamily="18" charset="0"/>
                  <a:cs typeface="Times New Roman" panose="02020603050405020304" pitchFamily="18" charset="0"/>
                </a:rPr>
                <a:t> </a:t>
              </a:r>
            </a:p>
          </p:txBody>
        </p:sp>
        <p:sp>
          <p:nvSpPr>
            <p:cNvPr id="25" name="Freeform: Shape 24">
              <a:extLst>
                <a:ext uri="{FF2B5EF4-FFF2-40B4-BE49-F238E27FC236}">
                  <a16:creationId xmlns:a16="http://schemas.microsoft.com/office/drawing/2014/main" id="{FFC8FF3C-3D55-4266-44A1-ABC4D9B4EB04}"/>
                </a:ext>
              </a:extLst>
            </p:cNvPr>
            <p:cNvSpPr/>
            <p:nvPr/>
          </p:nvSpPr>
          <p:spPr>
            <a:xfrm>
              <a:off x="2061712" y="1653534"/>
              <a:ext cx="6091688" cy="1206877"/>
            </a:xfrm>
            <a:custGeom>
              <a:avLst/>
              <a:gdLst>
                <a:gd name="connsiteX0" fmla="*/ 201150 w 1206876"/>
                <a:gd name="connsiteY0" fmla="*/ 0 h 6091687"/>
                <a:gd name="connsiteX1" fmla="*/ 1005726 w 1206876"/>
                <a:gd name="connsiteY1" fmla="*/ 0 h 6091687"/>
                <a:gd name="connsiteX2" fmla="*/ 1206876 w 1206876"/>
                <a:gd name="connsiteY2" fmla="*/ 201150 h 6091687"/>
                <a:gd name="connsiteX3" fmla="*/ 1206876 w 1206876"/>
                <a:gd name="connsiteY3" fmla="*/ 6091687 h 6091687"/>
                <a:gd name="connsiteX4" fmla="*/ 1206876 w 1206876"/>
                <a:gd name="connsiteY4" fmla="*/ 6091687 h 6091687"/>
                <a:gd name="connsiteX5" fmla="*/ 0 w 1206876"/>
                <a:gd name="connsiteY5" fmla="*/ 6091687 h 6091687"/>
                <a:gd name="connsiteX6" fmla="*/ 0 w 1206876"/>
                <a:gd name="connsiteY6" fmla="*/ 6091687 h 6091687"/>
                <a:gd name="connsiteX7" fmla="*/ 0 w 1206876"/>
                <a:gd name="connsiteY7" fmla="*/ 201150 h 6091687"/>
                <a:gd name="connsiteX8" fmla="*/ 201150 w 1206876"/>
                <a:gd name="connsiteY8" fmla="*/ 0 h 6091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06876" h="6091687">
                  <a:moveTo>
                    <a:pt x="1206876" y="1015303"/>
                  </a:moveTo>
                  <a:lnTo>
                    <a:pt x="1206876" y="5076384"/>
                  </a:lnTo>
                  <a:cubicBezTo>
                    <a:pt x="1206876" y="5637119"/>
                    <a:pt x="1189034" y="6091684"/>
                    <a:pt x="1167024" y="6091684"/>
                  </a:cubicBezTo>
                  <a:lnTo>
                    <a:pt x="0" y="6091684"/>
                  </a:lnTo>
                  <a:lnTo>
                    <a:pt x="0" y="6091684"/>
                  </a:lnTo>
                  <a:lnTo>
                    <a:pt x="0" y="3"/>
                  </a:lnTo>
                  <a:lnTo>
                    <a:pt x="0" y="3"/>
                  </a:lnTo>
                  <a:lnTo>
                    <a:pt x="1167024" y="3"/>
                  </a:lnTo>
                  <a:cubicBezTo>
                    <a:pt x="1189034" y="3"/>
                    <a:pt x="1206876" y="454568"/>
                    <a:pt x="1206876" y="1015303"/>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28017" tIns="70345" rIns="70345" bIns="70346" numCol="1" spcCol="1270" anchor="ctr" anchorCtr="0">
              <a:noAutofit/>
            </a:bodyPr>
            <a:lstStyle/>
            <a:p>
              <a:pPr marL="171450" lvl="1" indent="-171450" algn="l" defTabSz="800100">
                <a:lnSpc>
                  <a:spcPct val="90000"/>
                </a:lnSpc>
                <a:spcBef>
                  <a:spcPct val="0"/>
                </a:spcBef>
                <a:spcAft>
                  <a:spcPct val="15000"/>
                </a:spcAft>
                <a:buChar char="•"/>
              </a:pPr>
              <a:r>
                <a:rPr lang="en-GB" sz="1400" kern="1200">
                  <a:latin typeface="Times New Roman" panose="02020603050405020304" pitchFamily="18" charset="0"/>
                  <a:cs typeface="Times New Roman" panose="02020603050405020304" pitchFamily="18" charset="0"/>
                </a:rPr>
                <a:t>Fixed price projects can quickly increase in cost (e.g. design changes, ground conditions, inputs)</a:t>
              </a:r>
            </a:p>
            <a:p>
              <a:pPr marL="171450" lvl="1" indent="-171450" algn="l" defTabSz="800100">
                <a:lnSpc>
                  <a:spcPct val="90000"/>
                </a:lnSpc>
                <a:spcBef>
                  <a:spcPct val="0"/>
                </a:spcBef>
                <a:spcAft>
                  <a:spcPct val="15000"/>
                </a:spcAft>
                <a:buChar char="•"/>
              </a:pPr>
              <a:r>
                <a:rPr lang="en-GB" sz="1400" kern="1200">
                  <a:latin typeface="Times New Roman" panose="02020603050405020304" pitchFamily="18" charset="0"/>
                  <a:cs typeface="Times New Roman" panose="02020603050405020304" pitchFamily="18" charset="0"/>
                </a:rPr>
                <a:t>Suffer from margin drop late in project, spike in variations/claims </a:t>
              </a:r>
            </a:p>
          </p:txBody>
        </p:sp>
        <p:sp>
          <p:nvSpPr>
            <p:cNvPr id="26" name="Freeform: Shape 25">
              <a:extLst>
                <a:ext uri="{FF2B5EF4-FFF2-40B4-BE49-F238E27FC236}">
                  <a16:creationId xmlns:a16="http://schemas.microsoft.com/office/drawing/2014/main" id="{EDD59D3F-7E52-607B-FFF3-823C01CE3FBD}"/>
                </a:ext>
              </a:extLst>
            </p:cNvPr>
            <p:cNvSpPr/>
            <p:nvPr/>
          </p:nvSpPr>
          <p:spPr>
            <a:xfrm>
              <a:off x="762001" y="3318541"/>
              <a:ext cx="1299712" cy="1856732"/>
            </a:xfrm>
            <a:custGeom>
              <a:avLst/>
              <a:gdLst>
                <a:gd name="connsiteX0" fmla="*/ 0 w 1856732"/>
                <a:gd name="connsiteY0" fmla="*/ 0 h 1299712"/>
                <a:gd name="connsiteX1" fmla="*/ 1206876 w 1856732"/>
                <a:gd name="connsiteY1" fmla="*/ 0 h 1299712"/>
                <a:gd name="connsiteX2" fmla="*/ 1856732 w 1856732"/>
                <a:gd name="connsiteY2" fmla="*/ 649856 h 1299712"/>
                <a:gd name="connsiteX3" fmla="*/ 1206876 w 1856732"/>
                <a:gd name="connsiteY3" fmla="*/ 1299712 h 1299712"/>
                <a:gd name="connsiteX4" fmla="*/ 0 w 1856732"/>
                <a:gd name="connsiteY4" fmla="*/ 1299712 h 1299712"/>
                <a:gd name="connsiteX5" fmla="*/ 649856 w 1856732"/>
                <a:gd name="connsiteY5" fmla="*/ 649856 h 1299712"/>
                <a:gd name="connsiteX6" fmla="*/ 0 w 1856732"/>
                <a:gd name="connsiteY6" fmla="*/ 0 h 1299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56732" h="1299712">
                  <a:moveTo>
                    <a:pt x="1856732" y="0"/>
                  </a:moveTo>
                  <a:lnTo>
                    <a:pt x="1856732" y="844813"/>
                  </a:lnTo>
                  <a:lnTo>
                    <a:pt x="928366" y="1299712"/>
                  </a:lnTo>
                  <a:lnTo>
                    <a:pt x="0" y="844813"/>
                  </a:lnTo>
                  <a:lnTo>
                    <a:pt x="0" y="0"/>
                  </a:lnTo>
                  <a:lnTo>
                    <a:pt x="928366" y="454899"/>
                  </a:lnTo>
                  <a:lnTo>
                    <a:pt x="1856732" y="0"/>
                  </a:lnTo>
                  <a:close/>
                </a:path>
              </a:pathLst>
            </a:custGeom>
            <a:solidFill>
              <a:srgbClr val="C00000"/>
            </a:solidFill>
            <a:ln>
              <a:solidFill>
                <a:srgbClr val="C00000"/>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22860" tIns="672716" rIns="22860" bIns="672716" numCol="1" spcCol="1270" anchor="ctr" anchorCtr="0">
              <a:noAutofit/>
            </a:bodyPr>
            <a:lstStyle/>
            <a:p>
              <a:pPr marL="0" lvl="0" indent="0" algn="ctr" defTabSz="1600200">
                <a:lnSpc>
                  <a:spcPct val="90000"/>
                </a:lnSpc>
                <a:spcBef>
                  <a:spcPct val="0"/>
                </a:spcBef>
                <a:spcAft>
                  <a:spcPct val="35000"/>
                </a:spcAft>
                <a:buNone/>
              </a:pPr>
              <a:r>
                <a:rPr lang="en-GB" sz="3200" kern="1200">
                  <a:latin typeface="Times New Roman" panose="02020603050405020304" pitchFamily="18" charset="0"/>
                  <a:cs typeface="Times New Roman" panose="02020603050405020304" pitchFamily="18" charset="0"/>
                </a:rPr>
                <a:t> </a:t>
              </a:r>
            </a:p>
          </p:txBody>
        </p:sp>
        <p:sp>
          <p:nvSpPr>
            <p:cNvPr id="27" name="Freeform: Shape 26">
              <a:extLst>
                <a:ext uri="{FF2B5EF4-FFF2-40B4-BE49-F238E27FC236}">
                  <a16:creationId xmlns:a16="http://schemas.microsoft.com/office/drawing/2014/main" id="{24B31F75-7F57-3219-259C-53EA83624511}"/>
                </a:ext>
              </a:extLst>
            </p:cNvPr>
            <p:cNvSpPr/>
            <p:nvPr/>
          </p:nvSpPr>
          <p:spPr>
            <a:xfrm>
              <a:off x="2061712" y="3318542"/>
              <a:ext cx="6091688" cy="1206877"/>
            </a:xfrm>
            <a:custGeom>
              <a:avLst/>
              <a:gdLst>
                <a:gd name="connsiteX0" fmla="*/ 201150 w 1206876"/>
                <a:gd name="connsiteY0" fmla="*/ 0 h 6091687"/>
                <a:gd name="connsiteX1" fmla="*/ 1005726 w 1206876"/>
                <a:gd name="connsiteY1" fmla="*/ 0 h 6091687"/>
                <a:gd name="connsiteX2" fmla="*/ 1206876 w 1206876"/>
                <a:gd name="connsiteY2" fmla="*/ 201150 h 6091687"/>
                <a:gd name="connsiteX3" fmla="*/ 1206876 w 1206876"/>
                <a:gd name="connsiteY3" fmla="*/ 6091687 h 6091687"/>
                <a:gd name="connsiteX4" fmla="*/ 1206876 w 1206876"/>
                <a:gd name="connsiteY4" fmla="*/ 6091687 h 6091687"/>
                <a:gd name="connsiteX5" fmla="*/ 0 w 1206876"/>
                <a:gd name="connsiteY5" fmla="*/ 6091687 h 6091687"/>
                <a:gd name="connsiteX6" fmla="*/ 0 w 1206876"/>
                <a:gd name="connsiteY6" fmla="*/ 6091687 h 6091687"/>
                <a:gd name="connsiteX7" fmla="*/ 0 w 1206876"/>
                <a:gd name="connsiteY7" fmla="*/ 201150 h 6091687"/>
                <a:gd name="connsiteX8" fmla="*/ 201150 w 1206876"/>
                <a:gd name="connsiteY8" fmla="*/ 0 h 6091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06876" h="6091687">
                  <a:moveTo>
                    <a:pt x="1206876" y="1015303"/>
                  </a:moveTo>
                  <a:lnTo>
                    <a:pt x="1206876" y="5076384"/>
                  </a:lnTo>
                  <a:cubicBezTo>
                    <a:pt x="1206876" y="5637119"/>
                    <a:pt x="1189034" y="6091684"/>
                    <a:pt x="1167024" y="6091684"/>
                  </a:cubicBezTo>
                  <a:lnTo>
                    <a:pt x="0" y="6091684"/>
                  </a:lnTo>
                  <a:lnTo>
                    <a:pt x="0" y="6091684"/>
                  </a:lnTo>
                  <a:lnTo>
                    <a:pt x="0" y="3"/>
                  </a:lnTo>
                  <a:lnTo>
                    <a:pt x="0" y="3"/>
                  </a:lnTo>
                  <a:lnTo>
                    <a:pt x="1167024" y="3"/>
                  </a:lnTo>
                  <a:cubicBezTo>
                    <a:pt x="1189034" y="3"/>
                    <a:pt x="1206876" y="454568"/>
                    <a:pt x="1206876" y="1015303"/>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28017" tIns="70345" rIns="70345" bIns="70346" numCol="1" spcCol="1270" anchor="ctr" anchorCtr="0">
              <a:noAutofit/>
            </a:bodyPr>
            <a:lstStyle/>
            <a:p>
              <a:pPr marL="171450" lvl="1" indent="-171450" algn="l" defTabSz="800100">
                <a:lnSpc>
                  <a:spcPct val="90000"/>
                </a:lnSpc>
                <a:spcBef>
                  <a:spcPct val="0"/>
                </a:spcBef>
                <a:spcAft>
                  <a:spcPct val="15000"/>
                </a:spcAft>
                <a:buChar char="•"/>
              </a:pPr>
              <a:r>
                <a:rPr lang="en-GB" sz="1400" kern="1200">
                  <a:latin typeface="Times New Roman" panose="02020603050405020304" pitchFamily="18" charset="0"/>
                  <a:cs typeface="Times New Roman" panose="02020603050405020304" pitchFamily="18" charset="0"/>
                </a:rPr>
                <a:t>Cash arrives in uneven milestones and clients hold retentions: profit can look fine while cash lags</a:t>
              </a:r>
            </a:p>
            <a:p>
              <a:pPr marL="171450" lvl="1" indent="-171450" algn="l" defTabSz="800100">
                <a:lnSpc>
                  <a:spcPct val="90000"/>
                </a:lnSpc>
                <a:spcBef>
                  <a:spcPct val="0"/>
                </a:spcBef>
                <a:spcAft>
                  <a:spcPct val="15000"/>
                </a:spcAft>
                <a:buChar char="•"/>
              </a:pPr>
              <a:r>
                <a:rPr lang="en-GB" sz="1400" kern="1200">
                  <a:latin typeface="Times New Roman" panose="02020603050405020304" pitchFamily="18" charset="0"/>
                  <a:cs typeface="Times New Roman" panose="02020603050405020304" pitchFamily="18" charset="0"/>
                </a:rPr>
                <a:t>Weak cash conversion leads to lower bidding capacity and capital returns via dividends/buybacks</a:t>
              </a:r>
            </a:p>
          </p:txBody>
        </p:sp>
        <p:sp>
          <p:nvSpPr>
            <p:cNvPr id="28" name="Freeform: Shape 27">
              <a:extLst>
                <a:ext uri="{FF2B5EF4-FFF2-40B4-BE49-F238E27FC236}">
                  <a16:creationId xmlns:a16="http://schemas.microsoft.com/office/drawing/2014/main" id="{99B1FBB7-0856-E9C5-22EB-CF576282DC18}"/>
                </a:ext>
              </a:extLst>
            </p:cNvPr>
            <p:cNvSpPr/>
            <p:nvPr/>
          </p:nvSpPr>
          <p:spPr>
            <a:xfrm>
              <a:off x="762001" y="4983548"/>
              <a:ext cx="1299712" cy="1856732"/>
            </a:xfrm>
            <a:custGeom>
              <a:avLst/>
              <a:gdLst>
                <a:gd name="connsiteX0" fmla="*/ 0 w 1856732"/>
                <a:gd name="connsiteY0" fmla="*/ 0 h 1299712"/>
                <a:gd name="connsiteX1" fmla="*/ 1206876 w 1856732"/>
                <a:gd name="connsiteY1" fmla="*/ 0 h 1299712"/>
                <a:gd name="connsiteX2" fmla="*/ 1856732 w 1856732"/>
                <a:gd name="connsiteY2" fmla="*/ 649856 h 1299712"/>
                <a:gd name="connsiteX3" fmla="*/ 1206876 w 1856732"/>
                <a:gd name="connsiteY3" fmla="*/ 1299712 h 1299712"/>
                <a:gd name="connsiteX4" fmla="*/ 0 w 1856732"/>
                <a:gd name="connsiteY4" fmla="*/ 1299712 h 1299712"/>
                <a:gd name="connsiteX5" fmla="*/ 649856 w 1856732"/>
                <a:gd name="connsiteY5" fmla="*/ 649856 h 1299712"/>
                <a:gd name="connsiteX6" fmla="*/ 0 w 1856732"/>
                <a:gd name="connsiteY6" fmla="*/ 0 h 1299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56732" h="1299712">
                  <a:moveTo>
                    <a:pt x="1856732" y="0"/>
                  </a:moveTo>
                  <a:lnTo>
                    <a:pt x="1856732" y="844813"/>
                  </a:lnTo>
                  <a:lnTo>
                    <a:pt x="928366" y="1299712"/>
                  </a:lnTo>
                  <a:lnTo>
                    <a:pt x="0" y="844813"/>
                  </a:lnTo>
                  <a:lnTo>
                    <a:pt x="0" y="0"/>
                  </a:lnTo>
                  <a:lnTo>
                    <a:pt x="928366" y="454899"/>
                  </a:lnTo>
                  <a:lnTo>
                    <a:pt x="1856732" y="0"/>
                  </a:lnTo>
                  <a:close/>
                </a:path>
              </a:pathLst>
            </a:custGeom>
            <a:solidFill>
              <a:srgbClr val="C00000"/>
            </a:solidFill>
            <a:ln>
              <a:solidFill>
                <a:srgbClr val="C00000"/>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22860" tIns="672716" rIns="22860" bIns="672716" numCol="1" spcCol="1270" anchor="ctr" anchorCtr="0">
              <a:noAutofit/>
            </a:bodyPr>
            <a:lstStyle/>
            <a:p>
              <a:pPr marL="0" lvl="0" indent="0" algn="ctr" defTabSz="1600200">
                <a:lnSpc>
                  <a:spcPct val="90000"/>
                </a:lnSpc>
                <a:spcBef>
                  <a:spcPct val="0"/>
                </a:spcBef>
                <a:spcAft>
                  <a:spcPct val="35000"/>
                </a:spcAft>
                <a:buNone/>
              </a:pPr>
              <a:r>
                <a:rPr lang="en-GB" sz="3200" kern="1200">
                  <a:latin typeface="Times New Roman" panose="02020603050405020304" pitchFamily="18" charset="0"/>
                  <a:cs typeface="Times New Roman" panose="02020603050405020304" pitchFamily="18" charset="0"/>
                </a:rPr>
                <a:t> </a:t>
              </a:r>
            </a:p>
          </p:txBody>
        </p:sp>
        <p:sp>
          <p:nvSpPr>
            <p:cNvPr id="29" name="Freeform: Shape 28">
              <a:extLst>
                <a:ext uri="{FF2B5EF4-FFF2-40B4-BE49-F238E27FC236}">
                  <a16:creationId xmlns:a16="http://schemas.microsoft.com/office/drawing/2014/main" id="{B427886C-0909-D8FF-AABE-7F3E30F0038E}"/>
                </a:ext>
              </a:extLst>
            </p:cNvPr>
            <p:cNvSpPr/>
            <p:nvPr/>
          </p:nvSpPr>
          <p:spPr>
            <a:xfrm>
              <a:off x="2061712" y="4983548"/>
              <a:ext cx="6091688" cy="1206877"/>
            </a:xfrm>
            <a:custGeom>
              <a:avLst/>
              <a:gdLst>
                <a:gd name="connsiteX0" fmla="*/ 201150 w 1206876"/>
                <a:gd name="connsiteY0" fmla="*/ 0 h 6091687"/>
                <a:gd name="connsiteX1" fmla="*/ 1005726 w 1206876"/>
                <a:gd name="connsiteY1" fmla="*/ 0 h 6091687"/>
                <a:gd name="connsiteX2" fmla="*/ 1206876 w 1206876"/>
                <a:gd name="connsiteY2" fmla="*/ 201150 h 6091687"/>
                <a:gd name="connsiteX3" fmla="*/ 1206876 w 1206876"/>
                <a:gd name="connsiteY3" fmla="*/ 6091687 h 6091687"/>
                <a:gd name="connsiteX4" fmla="*/ 1206876 w 1206876"/>
                <a:gd name="connsiteY4" fmla="*/ 6091687 h 6091687"/>
                <a:gd name="connsiteX5" fmla="*/ 0 w 1206876"/>
                <a:gd name="connsiteY5" fmla="*/ 6091687 h 6091687"/>
                <a:gd name="connsiteX6" fmla="*/ 0 w 1206876"/>
                <a:gd name="connsiteY6" fmla="*/ 6091687 h 6091687"/>
                <a:gd name="connsiteX7" fmla="*/ 0 w 1206876"/>
                <a:gd name="connsiteY7" fmla="*/ 201150 h 6091687"/>
                <a:gd name="connsiteX8" fmla="*/ 201150 w 1206876"/>
                <a:gd name="connsiteY8" fmla="*/ 0 h 6091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06876" h="6091687">
                  <a:moveTo>
                    <a:pt x="1206876" y="1015303"/>
                  </a:moveTo>
                  <a:lnTo>
                    <a:pt x="1206876" y="5076384"/>
                  </a:lnTo>
                  <a:cubicBezTo>
                    <a:pt x="1206876" y="5637119"/>
                    <a:pt x="1189034" y="6091684"/>
                    <a:pt x="1167024" y="6091684"/>
                  </a:cubicBezTo>
                  <a:lnTo>
                    <a:pt x="0" y="6091684"/>
                  </a:lnTo>
                  <a:lnTo>
                    <a:pt x="0" y="6091684"/>
                  </a:lnTo>
                  <a:lnTo>
                    <a:pt x="0" y="3"/>
                  </a:lnTo>
                  <a:lnTo>
                    <a:pt x="0" y="3"/>
                  </a:lnTo>
                  <a:lnTo>
                    <a:pt x="1167024" y="3"/>
                  </a:lnTo>
                  <a:cubicBezTo>
                    <a:pt x="1189034" y="3"/>
                    <a:pt x="1206876" y="454568"/>
                    <a:pt x="1206876" y="1015303"/>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28017" tIns="70346" rIns="70345" bIns="70345" numCol="1" spcCol="1270" anchor="ctr" anchorCtr="0">
              <a:noAutofit/>
            </a:bodyPr>
            <a:lstStyle/>
            <a:p>
              <a:pPr marL="171450" lvl="1" indent="-171450" algn="l" defTabSz="800100">
                <a:lnSpc>
                  <a:spcPct val="90000"/>
                </a:lnSpc>
                <a:spcBef>
                  <a:spcPct val="0"/>
                </a:spcBef>
                <a:spcAft>
                  <a:spcPct val="15000"/>
                </a:spcAft>
                <a:buChar char="•"/>
              </a:pPr>
              <a:r>
                <a:rPr lang="en-GB" sz="1400" kern="1200">
                  <a:latin typeface="Times New Roman" panose="02020603050405020304" pitchFamily="18" charset="0"/>
                  <a:cs typeface="Times New Roman" panose="02020603050405020304" pitchFamily="18" charset="0"/>
                </a:rPr>
                <a:t>Cyclical exposure via slowdown in public capex could lead to less bids and smaller margins</a:t>
              </a:r>
            </a:p>
          </p:txBody>
        </p:sp>
      </p:grpSp>
      <p:sp>
        <p:nvSpPr>
          <p:cNvPr id="30" name="Rectangle: Rounded Corners 29">
            <a:extLst>
              <a:ext uri="{FF2B5EF4-FFF2-40B4-BE49-F238E27FC236}">
                <a16:creationId xmlns:a16="http://schemas.microsoft.com/office/drawing/2014/main" id="{9EAA97C0-48FF-229F-637F-C69BB7DB6258}"/>
              </a:ext>
            </a:extLst>
          </p:cNvPr>
          <p:cNvSpPr/>
          <p:nvPr/>
        </p:nvSpPr>
        <p:spPr>
          <a:xfrm>
            <a:off x="3502768" y="4433826"/>
            <a:ext cx="4706010" cy="394511"/>
          </a:xfrm>
          <a:prstGeom prst="round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a:latin typeface="Times New Roman" panose="02020603050405020304" pitchFamily="18" charset="0"/>
                <a:cs typeface="Times New Roman" panose="02020603050405020304" pitchFamily="18" charset="0"/>
              </a:rPr>
              <a:t>Invoicing and payment cycle terms embedded in contracts, maintains high cash balance and solvency</a:t>
            </a:r>
          </a:p>
        </p:txBody>
      </p:sp>
      <p:sp>
        <p:nvSpPr>
          <p:cNvPr id="31" name="Rectangle: Rounded Corners 30">
            <a:extLst>
              <a:ext uri="{FF2B5EF4-FFF2-40B4-BE49-F238E27FC236}">
                <a16:creationId xmlns:a16="http://schemas.microsoft.com/office/drawing/2014/main" id="{2DB5D08B-D968-9226-85A3-C1A9D9D4468B}"/>
              </a:ext>
            </a:extLst>
          </p:cNvPr>
          <p:cNvSpPr/>
          <p:nvPr/>
        </p:nvSpPr>
        <p:spPr>
          <a:xfrm>
            <a:off x="3502768" y="2743160"/>
            <a:ext cx="4706010" cy="437630"/>
          </a:xfrm>
          <a:prstGeom prst="round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dirty="0">
                <a:latin typeface="Times New Roman" panose="02020603050405020304" pitchFamily="18" charset="0"/>
                <a:cs typeface="Times New Roman" panose="02020603050405020304" pitchFamily="18" charset="0"/>
              </a:rPr>
              <a:t>Stricter contract selection moving forward with a focus on target-cost + index linked contracts</a:t>
            </a:r>
          </a:p>
        </p:txBody>
      </p:sp>
      <p:sp>
        <p:nvSpPr>
          <p:cNvPr id="32" name="Rectangle: Rounded Corners 31">
            <a:extLst>
              <a:ext uri="{FF2B5EF4-FFF2-40B4-BE49-F238E27FC236}">
                <a16:creationId xmlns:a16="http://schemas.microsoft.com/office/drawing/2014/main" id="{7CDA0098-D96C-6829-35F5-1A271CE6108C}"/>
              </a:ext>
            </a:extLst>
          </p:cNvPr>
          <p:cNvSpPr/>
          <p:nvPr/>
        </p:nvSpPr>
        <p:spPr>
          <a:xfrm>
            <a:off x="3527908" y="6031337"/>
            <a:ext cx="4680869" cy="380838"/>
          </a:xfrm>
          <a:prstGeom prst="round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a:latin typeface="Times New Roman" panose="02020603050405020304" pitchFamily="18" charset="0"/>
                <a:cs typeface="Times New Roman" panose="02020603050405020304" pitchFamily="18" charset="0"/>
              </a:rPr>
              <a:t>Long term contracts (e.g. 12 years </a:t>
            </a:r>
            <a:r>
              <a:rPr lang="en-GB" sz="1400" err="1">
                <a:latin typeface="Times New Roman" panose="02020603050405020304" pitchFamily="18" charset="0"/>
                <a:cs typeface="Times New Roman" panose="02020603050405020304" pitchFamily="18" charset="0"/>
              </a:rPr>
              <a:t>Enexis</a:t>
            </a:r>
            <a:r>
              <a:rPr lang="en-GB" sz="1400">
                <a:latin typeface="Times New Roman" panose="02020603050405020304" pitchFamily="18" charset="0"/>
                <a:cs typeface="Times New Roman" panose="02020603050405020304" pitchFamily="18" charset="0"/>
              </a:rPr>
              <a:t> grid upgrades), breadth across countries and sectors</a:t>
            </a:r>
          </a:p>
        </p:txBody>
      </p:sp>
      <p:grpSp>
        <p:nvGrpSpPr>
          <p:cNvPr id="36" name="Group 35">
            <a:extLst>
              <a:ext uri="{FF2B5EF4-FFF2-40B4-BE49-F238E27FC236}">
                <a16:creationId xmlns:a16="http://schemas.microsoft.com/office/drawing/2014/main" id="{86D2C057-6BE9-97B9-6904-8F462DFCF8D5}"/>
              </a:ext>
            </a:extLst>
          </p:cNvPr>
          <p:cNvGrpSpPr/>
          <p:nvPr/>
        </p:nvGrpSpPr>
        <p:grpSpPr>
          <a:xfrm>
            <a:off x="9196245" y="1436083"/>
            <a:ext cx="6802087" cy="4957701"/>
            <a:chOff x="736859" y="1032822"/>
            <a:chExt cx="7416541" cy="5186746"/>
          </a:xfrm>
        </p:grpSpPr>
        <p:sp>
          <p:nvSpPr>
            <p:cNvPr id="37" name="Freeform: Shape 36">
              <a:extLst>
                <a:ext uri="{FF2B5EF4-FFF2-40B4-BE49-F238E27FC236}">
                  <a16:creationId xmlns:a16="http://schemas.microsoft.com/office/drawing/2014/main" id="{FB867F88-C0C8-FEE1-90EC-9AD5FD1CD43B}"/>
                </a:ext>
              </a:extLst>
            </p:cNvPr>
            <p:cNvSpPr/>
            <p:nvPr/>
          </p:nvSpPr>
          <p:spPr>
            <a:xfrm rot="10800000">
              <a:off x="736859" y="1032822"/>
              <a:ext cx="1299712" cy="1856732"/>
            </a:xfrm>
            <a:custGeom>
              <a:avLst/>
              <a:gdLst>
                <a:gd name="connsiteX0" fmla="*/ 0 w 1856732"/>
                <a:gd name="connsiteY0" fmla="*/ 0 h 1299712"/>
                <a:gd name="connsiteX1" fmla="*/ 1206876 w 1856732"/>
                <a:gd name="connsiteY1" fmla="*/ 0 h 1299712"/>
                <a:gd name="connsiteX2" fmla="*/ 1856732 w 1856732"/>
                <a:gd name="connsiteY2" fmla="*/ 649856 h 1299712"/>
                <a:gd name="connsiteX3" fmla="*/ 1206876 w 1856732"/>
                <a:gd name="connsiteY3" fmla="*/ 1299712 h 1299712"/>
                <a:gd name="connsiteX4" fmla="*/ 0 w 1856732"/>
                <a:gd name="connsiteY4" fmla="*/ 1299712 h 1299712"/>
                <a:gd name="connsiteX5" fmla="*/ 649856 w 1856732"/>
                <a:gd name="connsiteY5" fmla="*/ 649856 h 1299712"/>
                <a:gd name="connsiteX6" fmla="*/ 0 w 1856732"/>
                <a:gd name="connsiteY6" fmla="*/ 0 h 1299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56732" h="1299712">
                  <a:moveTo>
                    <a:pt x="1856732" y="0"/>
                  </a:moveTo>
                  <a:lnTo>
                    <a:pt x="1856732" y="844813"/>
                  </a:lnTo>
                  <a:lnTo>
                    <a:pt x="928366" y="1299712"/>
                  </a:lnTo>
                  <a:lnTo>
                    <a:pt x="0" y="844813"/>
                  </a:lnTo>
                  <a:lnTo>
                    <a:pt x="0" y="0"/>
                  </a:lnTo>
                  <a:lnTo>
                    <a:pt x="928366" y="454899"/>
                  </a:lnTo>
                  <a:lnTo>
                    <a:pt x="1856732" y="0"/>
                  </a:lnTo>
                  <a:close/>
                </a:path>
              </a:pathLst>
            </a:custGeom>
            <a:solidFill>
              <a:srgbClr val="00B050"/>
            </a:solidFill>
            <a:ln>
              <a:solidFill>
                <a:srgbClr val="00B050"/>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22860" tIns="672716" rIns="22860" bIns="672716" numCol="1" spcCol="1270" anchor="ctr" anchorCtr="0">
              <a:noAutofit/>
            </a:bodyPr>
            <a:lstStyle/>
            <a:p>
              <a:pPr marL="0" lvl="0" indent="0" algn="ctr" defTabSz="1600200">
                <a:lnSpc>
                  <a:spcPct val="90000"/>
                </a:lnSpc>
                <a:spcBef>
                  <a:spcPct val="0"/>
                </a:spcBef>
                <a:spcAft>
                  <a:spcPct val="35000"/>
                </a:spcAft>
                <a:buNone/>
              </a:pPr>
              <a:r>
                <a:rPr lang="en-GB" sz="3200" kern="1200">
                  <a:latin typeface="Times New Roman" panose="02020603050405020304" pitchFamily="18" charset="0"/>
                  <a:cs typeface="Times New Roman" panose="02020603050405020304" pitchFamily="18" charset="0"/>
                </a:rPr>
                <a:t> </a:t>
              </a:r>
            </a:p>
          </p:txBody>
        </p:sp>
        <p:sp>
          <p:nvSpPr>
            <p:cNvPr id="38" name="Freeform: Shape 37">
              <a:extLst>
                <a:ext uri="{FF2B5EF4-FFF2-40B4-BE49-F238E27FC236}">
                  <a16:creationId xmlns:a16="http://schemas.microsoft.com/office/drawing/2014/main" id="{C393539D-3236-4344-C091-F1A245B2F4AF}"/>
                </a:ext>
              </a:extLst>
            </p:cNvPr>
            <p:cNvSpPr/>
            <p:nvPr/>
          </p:nvSpPr>
          <p:spPr>
            <a:xfrm>
              <a:off x="2061712" y="1653534"/>
              <a:ext cx="6091688" cy="1206877"/>
            </a:xfrm>
            <a:custGeom>
              <a:avLst/>
              <a:gdLst>
                <a:gd name="connsiteX0" fmla="*/ 201150 w 1206876"/>
                <a:gd name="connsiteY0" fmla="*/ 0 h 6091687"/>
                <a:gd name="connsiteX1" fmla="*/ 1005726 w 1206876"/>
                <a:gd name="connsiteY1" fmla="*/ 0 h 6091687"/>
                <a:gd name="connsiteX2" fmla="*/ 1206876 w 1206876"/>
                <a:gd name="connsiteY2" fmla="*/ 201150 h 6091687"/>
                <a:gd name="connsiteX3" fmla="*/ 1206876 w 1206876"/>
                <a:gd name="connsiteY3" fmla="*/ 6091687 h 6091687"/>
                <a:gd name="connsiteX4" fmla="*/ 1206876 w 1206876"/>
                <a:gd name="connsiteY4" fmla="*/ 6091687 h 6091687"/>
                <a:gd name="connsiteX5" fmla="*/ 0 w 1206876"/>
                <a:gd name="connsiteY5" fmla="*/ 6091687 h 6091687"/>
                <a:gd name="connsiteX6" fmla="*/ 0 w 1206876"/>
                <a:gd name="connsiteY6" fmla="*/ 6091687 h 6091687"/>
                <a:gd name="connsiteX7" fmla="*/ 0 w 1206876"/>
                <a:gd name="connsiteY7" fmla="*/ 201150 h 6091687"/>
                <a:gd name="connsiteX8" fmla="*/ 201150 w 1206876"/>
                <a:gd name="connsiteY8" fmla="*/ 0 h 6091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06876" h="6091687">
                  <a:moveTo>
                    <a:pt x="1206876" y="1015303"/>
                  </a:moveTo>
                  <a:lnTo>
                    <a:pt x="1206876" y="5076384"/>
                  </a:lnTo>
                  <a:cubicBezTo>
                    <a:pt x="1206876" y="5637119"/>
                    <a:pt x="1189034" y="6091684"/>
                    <a:pt x="1167024" y="6091684"/>
                  </a:cubicBezTo>
                  <a:lnTo>
                    <a:pt x="0" y="6091684"/>
                  </a:lnTo>
                  <a:lnTo>
                    <a:pt x="0" y="6091684"/>
                  </a:lnTo>
                  <a:lnTo>
                    <a:pt x="0" y="3"/>
                  </a:lnTo>
                  <a:lnTo>
                    <a:pt x="0" y="3"/>
                  </a:lnTo>
                  <a:lnTo>
                    <a:pt x="1167024" y="3"/>
                  </a:lnTo>
                  <a:cubicBezTo>
                    <a:pt x="1189034" y="3"/>
                    <a:pt x="1206876" y="454568"/>
                    <a:pt x="1206876" y="1015303"/>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28017" tIns="70345" rIns="70345" bIns="70346" numCol="1" spcCol="1270" anchor="ctr" anchorCtr="0">
              <a:noAutofit/>
            </a:bodyPr>
            <a:lstStyle/>
            <a:p>
              <a:pPr marL="171450" lvl="1" indent="-171450" defTabSz="800100">
                <a:lnSpc>
                  <a:spcPct val="90000"/>
                </a:lnSpc>
                <a:spcBef>
                  <a:spcPct val="0"/>
                </a:spcBef>
                <a:spcAft>
                  <a:spcPct val="15000"/>
                </a:spcAft>
                <a:buChar char="•"/>
              </a:pPr>
              <a:endParaRPr lang="en-GB" sz="1400">
                <a:latin typeface="Times New Roman" panose="02020603050405020304" pitchFamily="18" charset="0"/>
                <a:cs typeface="Times New Roman" panose="02020603050405020304" pitchFamily="18" charset="0"/>
              </a:endParaRPr>
            </a:p>
            <a:p>
              <a:pPr marL="171450" lvl="1" indent="-171450" defTabSz="800100">
                <a:lnSpc>
                  <a:spcPct val="90000"/>
                </a:lnSpc>
                <a:spcBef>
                  <a:spcPct val="0"/>
                </a:spcBef>
                <a:spcAft>
                  <a:spcPct val="15000"/>
                </a:spcAft>
                <a:buChar char="•"/>
              </a:pPr>
              <a:r>
                <a:rPr lang="en-GB" sz="1400">
                  <a:latin typeface="Times New Roman" panose="02020603050405020304" pitchFamily="18" charset="0"/>
                  <a:cs typeface="Times New Roman" panose="02020603050405020304" pitchFamily="18" charset="0"/>
                </a:rPr>
                <a:t>Major contract wins in Netherlands and UK&amp;I (Cardiff Central Station, M40/42 Interchange, electricity grid Limburg)</a:t>
              </a:r>
            </a:p>
            <a:p>
              <a:pPr marL="171450" lvl="1" indent="-171450" defTabSz="800100">
                <a:lnSpc>
                  <a:spcPct val="90000"/>
                </a:lnSpc>
                <a:spcBef>
                  <a:spcPct val="0"/>
                </a:spcBef>
                <a:spcAft>
                  <a:spcPct val="15000"/>
                </a:spcAft>
                <a:buChar char="•"/>
              </a:pPr>
              <a:r>
                <a:rPr lang="en-GB" sz="1400">
                  <a:latin typeface="Times New Roman" panose="02020603050405020304" pitchFamily="18" charset="0"/>
                  <a:cs typeface="Times New Roman" panose="02020603050405020304" pitchFamily="18" charset="0"/>
                </a:rPr>
                <a:t>Margin confirmation / beat FY25 results (&gt;5% adjusted EBITDA target)</a:t>
              </a:r>
              <a:endParaRPr lang="en-GB" sz="1400" kern="1200">
                <a:latin typeface="Times New Roman" panose="02020603050405020304" pitchFamily="18" charset="0"/>
                <a:cs typeface="Times New Roman" panose="02020603050405020304" pitchFamily="18" charset="0"/>
              </a:endParaRPr>
            </a:p>
          </p:txBody>
        </p:sp>
        <p:sp>
          <p:nvSpPr>
            <p:cNvPr id="39" name="Freeform: Shape 38">
              <a:extLst>
                <a:ext uri="{FF2B5EF4-FFF2-40B4-BE49-F238E27FC236}">
                  <a16:creationId xmlns:a16="http://schemas.microsoft.com/office/drawing/2014/main" id="{88BA2DDD-E12A-93BE-FBDB-1D21BB6ABE60}"/>
                </a:ext>
              </a:extLst>
            </p:cNvPr>
            <p:cNvSpPr/>
            <p:nvPr/>
          </p:nvSpPr>
          <p:spPr>
            <a:xfrm rot="10800000">
              <a:off x="736859" y="2697829"/>
              <a:ext cx="1299712" cy="1856732"/>
            </a:xfrm>
            <a:custGeom>
              <a:avLst/>
              <a:gdLst>
                <a:gd name="connsiteX0" fmla="*/ 0 w 1856732"/>
                <a:gd name="connsiteY0" fmla="*/ 0 h 1299712"/>
                <a:gd name="connsiteX1" fmla="*/ 1206876 w 1856732"/>
                <a:gd name="connsiteY1" fmla="*/ 0 h 1299712"/>
                <a:gd name="connsiteX2" fmla="*/ 1856732 w 1856732"/>
                <a:gd name="connsiteY2" fmla="*/ 649856 h 1299712"/>
                <a:gd name="connsiteX3" fmla="*/ 1206876 w 1856732"/>
                <a:gd name="connsiteY3" fmla="*/ 1299712 h 1299712"/>
                <a:gd name="connsiteX4" fmla="*/ 0 w 1856732"/>
                <a:gd name="connsiteY4" fmla="*/ 1299712 h 1299712"/>
                <a:gd name="connsiteX5" fmla="*/ 649856 w 1856732"/>
                <a:gd name="connsiteY5" fmla="*/ 649856 h 1299712"/>
                <a:gd name="connsiteX6" fmla="*/ 0 w 1856732"/>
                <a:gd name="connsiteY6" fmla="*/ 0 h 1299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56732" h="1299712">
                  <a:moveTo>
                    <a:pt x="1856732" y="0"/>
                  </a:moveTo>
                  <a:lnTo>
                    <a:pt x="1856732" y="844813"/>
                  </a:lnTo>
                  <a:lnTo>
                    <a:pt x="928366" y="1299712"/>
                  </a:lnTo>
                  <a:lnTo>
                    <a:pt x="0" y="844813"/>
                  </a:lnTo>
                  <a:lnTo>
                    <a:pt x="0" y="0"/>
                  </a:lnTo>
                  <a:lnTo>
                    <a:pt x="928366" y="454899"/>
                  </a:lnTo>
                  <a:lnTo>
                    <a:pt x="1856732" y="0"/>
                  </a:lnTo>
                  <a:close/>
                </a:path>
              </a:pathLst>
            </a:custGeom>
            <a:solidFill>
              <a:srgbClr val="00B050"/>
            </a:solidFill>
            <a:ln>
              <a:solidFill>
                <a:srgbClr val="00B050"/>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22860" tIns="672716" rIns="22860" bIns="672716" numCol="1" spcCol="1270" anchor="ctr" anchorCtr="0">
              <a:noAutofit/>
            </a:bodyPr>
            <a:lstStyle/>
            <a:p>
              <a:pPr marL="0" lvl="0" indent="0" algn="ctr" defTabSz="1600200">
                <a:lnSpc>
                  <a:spcPct val="90000"/>
                </a:lnSpc>
                <a:spcBef>
                  <a:spcPct val="0"/>
                </a:spcBef>
                <a:spcAft>
                  <a:spcPct val="35000"/>
                </a:spcAft>
                <a:buNone/>
              </a:pPr>
              <a:r>
                <a:rPr lang="en-GB" sz="3200" kern="1200">
                  <a:latin typeface="Times New Roman" panose="02020603050405020304" pitchFamily="18" charset="0"/>
                  <a:cs typeface="Times New Roman" panose="02020603050405020304" pitchFamily="18" charset="0"/>
                </a:rPr>
                <a:t> </a:t>
              </a:r>
            </a:p>
          </p:txBody>
        </p:sp>
        <p:sp>
          <p:nvSpPr>
            <p:cNvPr id="40" name="Freeform: Shape 39">
              <a:extLst>
                <a:ext uri="{FF2B5EF4-FFF2-40B4-BE49-F238E27FC236}">
                  <a16:creationId xmlns:a16="http://schemas.microsoft.com/office/drawing/2014/main" id="{F8F0CB37-1652-9F5C-8BBD-D2B6A189C84B}"/>
                </a:ext>
              </a:extLst>
            </p:cNvPr>
            <p:cNvSpPr/>
            <p:nvPr/>
          </p:nvSpPr>
          <p:spPr>
            <a:xfrm>
              <a:off x="2061712" y="3318542"/>
              <a:ext cx="6091688" cy="1206877"/>
            </a:xfrm>
            <a:custGeom>
              <a:avLst/>
              <a:gdLst>
                <a:gd name="connsiteX0" fmla="*/ 201150 w 1206876"/>
                <a:gd name="connsiteY0" fmla="*/ 0 h 6091687"/>
                <a:gd name="connsiteX1" fmla="*/ 1005726 w 1206876"/>
                <a:gd name="connsiteY1" fmla="*/ 0 h 6091687"/>
                <a:gd name="connsiteX2" fmla="*/ 1206876 w 1206876"/>
                <a:gd name="connsiteY2" fmla="*/ 201150 h 6091687"/>
                <a:gd name="connsiteX3" fmla="*/ 1206876 w 1206876"/>
                <a:gd name="connsiteY3" fmla="*/ 6091687 h 6091687"/>
                <a:gd name="connsiteX4" fmla="*/ 1206876 w 1206876"/>
                <a:gd name="connsiteY4" fmla="*/ 6091687 h 6091687"/>
                <a:gd name="connsiteX5" fmla="*/ 0 w 1206876"/>
                <a:gd name="connsiteY5" fmla="*/ 6091687 h 6091687"/>
                <a:gd name="connsiteX6" fmla="*/ 0 w 1206876"/>
                <a:gd name="connsiteY6" fmla="*/ 6091687 h 6091687"/>
                <a:gd name="connsiteX7" fmla="*/ 0 w 1206876"/>
                <a:gd name="connsiteY7" fmla="*/ 201150 h 6091687"/>
                <a:gd name="connsiteX8" fmla="*/ 201150 w 1206876"/>
                <a:gd name="connsiteY8" fmla="*/ 0 h 6091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06876" h="6091687">
                  <a:moveTo>
                    <a:pt x="1206876" y="1015303"/>
                  </a:moveTo>
                  <a:lnTo>
                    <a:pt x="1206876" y="5076384"/>
                  </a:lnTo>
                  <a:cubicBezTo>
                    <a:pt x="1206876" y="5637119"/>
                    <a:pt x="1189034" y="6091684"/>
                    <a:pt x="1167024" y="6091684"/>
                  </a:cubicBezTo>
                  <a:lnTo>
                    <a:pt x="0" y="6091684"/>
                  </a:lnTo>
                  <a:lnTo>
                    <a:pt x="0" y="6091684"/>
                  </a:lnTo>
                  <a:lnTo>
                    <a:pt x="0" y="3"/>
                  </a:lnTo>
                  <a:lnTo>
                    <a:pt x="0" y="3"/>
                  </a:lnTo>
                  <a:lnTo>
                    <a:pt x="1167024" y="3"/>
                  </a:lnTo>
                  <a:cubicBezTo>
                    <a:pt x="1189034" y="3"/>
                    <a:pt x="1206876" y="454568"/>
                    <a:pt x="1206876" y="1015303"/>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28017" tIns="70345" rIns="70345" bIns="70346" numCol="1" spcCol="1270" anchor="ctr" anchorCtr="0">
              <a:noAutofit/>
            </a:bodyPr>
            <a:lstStyle/>
            <a:p>
              <a:pPr marL="171450" lvl="1" indent="-171450" defTabSz="800100">
                <a:lnSpc>
                  <a:spcPct val="90000"/>
                </a:lnSpc>
                <a:spcBef>
                  <a:spcPct val="0"/>
                </a:spcBef>
                <a:spcAft>
                  <a:spcPct val="15000"/>
                </a:spcAft>
                <a:buChar char="•"/>
              </a:pPr>
              <a:r>
                <a:rPr lang="en-GB" sz="1400">
                  <a:latin typeface="Times New Roman" panose="02020603050405020304" pitchFamily="18" charset="0"/>
                  <a:cs typeface="Times New Roman" panose="02020603050405020304" pitchFamily="18" charset="0"/>
                </a:rPr>
                <a:t>Dividend increase or buyback announcement as net-cash remains positive</a:t>
              </a:r>
            </a:p>
            <a:p>
              <a:pPr marL="171450" lvl="1" indent="-171450" defTabSz="800100">
                <a:lnSpc>
                  <a:spcPct val="90000"/>
                </a:lnSpc>
                <a:spcBef>
                  <a:spcPct val="0"/>
                </a:spcBef>
                <a:spcAft>
                  <a:spcPct val="15000"/>
                </a:spcAft>
                <a:buChar char="•"/>
              </a:pPr>
              <a:r>
                <a:rPr lang="en-GB" sz="1400">
                  <a:latin typeface="Times New Roman" panose="02020603050405020304" pitchFamily="18" charset="0"/>
                  <a:cs typeface="Times New Roman" panose="02020603050405020304" pitchFamily="18" charset="0"/>
                </a:rPr>
                <a:t>Continued strength in FCF (€218m LTM, highest since 2021), rerating from Oddo BHF</a:t>
              </a:r>
              <a:endParaRPr lang="en-GB" sz="1400" kern="1200">
                <a:latin typeface="Times New Roman" panose="02020603050405020304" pitchFamily="18" charset="0"/>
                <a:cs typeface="Times New Roman" panose="02020603050405020304" pitchFamily="18" charset="0"/>
              </a:endParaRPr>
            </a:p>
          </p:txBody>
        </p:sp>
        <p:sp>
          <p:nvSpPr>
            <p:cNvPr id="41" name="Freeform: Shape 40">
              <a:extLst>
                <a:ext uri="{FF2B5EF4-FFF2-40B4-BE49-F238E27FC236}">
                  <a16:creationId xmlns:a16="http://schemas.microsoft.com/office/drawing/2014/main" id="{FA552A10-3C58-766B-7076-B3BC1A506238}"/>
                </a:ext>
              </a:extLst>
            </p:cNvPr>
            <p:cNvSpPr/>
            <p:nvPr/>
          </p:nvSpPr>
          <p:spPr>
            <a:xfrm rot="10800000">
              <a:off x="736859" y="4362836"/>
              <a:ext cx="1299712" cy="1856732"/>
            </a:xfrm>
            <a:custGeom>
              <a:avLst/>
              <a:gdLst>
                <a:gd name="connsiteX0" fmla="*/ 0 w 1856732"/>
                <a:gd name="connsiteY0" fmla="*/ 0 h 1299712"/>
                <a:gd name="connsiteX1" fmla="*/ 1206876 w 1856732"/>
                <a:gd name="connsiteY1" fmla="*/ 0 h 1299712"/>
                <a:gd name="connsiteX2" fmla="*/ 1856732 w 1856732"/>
                <a:gd name="connsiteY2" fmla="*/ 649856 h 1299712"/>
                <a:gd name="connsiteX3" fmla="*/ 1206876 w 1856732"/>
                <a:gd name="connsiteY3" fmla="*/ 1299712 h 1299712"/>
                <a:gd name="connsiteX4" fmla="*/ 0 w 1856732"/>
                <a:gd name="connsiteY4" fmla="*/ 1299712 h 1299712"/>
                <a:gd name="connsiteX5" fmla="*/ 649856 w 1856732"/>
                <a:gd name="connsiteY5" fmla="*/ 649856 h 1299712"/>
                <a:gd name="connsiteX6" fmla="*/ 0 w 1856732"/>
                <a:gd name="connsiteY6" fmla="*/ 0 h 1299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56732" h="1299712">
                  <a:moveTo>
                    <a:pt x="1856732" y="0"/>
                  </a:moveTo>
                  <a:lnTo>
                    <a:pt x="1856732" y="844813"/>
                  </a:lnTo>
                  <a:lnTo>
                    <a:pt x="928366" y="1299712"/>
                  </a:lnTo>
                  <a:lnTo>
                    <a:pt x="0" y="844813"/>
                  </a:lnTo>
                  <a:lnTo>
                    <a:pt x="0" y="0"/>
                  </a:lnTo>
                  <a:lnTo>
                    <a:pt x="928366" y="454899"/>
                  </a:lnTo>
                  <a:lnTo>
                    <a:pt x="1856732" y="0"/>
                  </a:lnTo>
                  <a:close/>
                </a:path>
              </a:pathLst>
            </a:custGeom>
            <a:solidFill>
              <a:srgbClr val="00B050"/>
            </a:solidFill>
            <a:ln>
              <a:solidFill>
                <a:srgbClr val="00B050"/>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22860" tIns="672716" rIns="22860" bIns="672716" numCol="1" spcCol="1270" anchor="ctr" anchorCtr="0">
              <a:noAutofit/>
            </a:bodyPr>
            <a:lstStyle/>
            <a:p>
              <a:pPr marL="0" lvl="0" indent="0" algn="ctr" defTabSz="1600200">
                <a:lnSpc>
                  <a:spcPct val="90000"/>
                </a:lnSpc>
                <a:spcBef>
                  <a:spcPct val="0"/>
                </a:spcBef>
                <a:spcAft>
                  <a:spcPct val="35000"/>
                </a:spcAft>
                <a:buNone/>
              </a:pPr>
              <a:r>
                <a:rPr lang="en-GB" sz="3200" kern="1200">
                  <a:latin typeface="Times New Roman" panose="02020603050405020304" pitchFamily="18" charset="0"/>
                  <a:cs typeface="Times New Roman" panose="02020603050405020304" pitchFamily="18" charset="0"/>
                </a:rPr>
                <a:t> </a:t>
              </a:r>
            </a:p>
          </p:txBody>
        </p:sp>
        <p:sp>
          <p:nvSpPr>
            <p:cNvPr id="42" name="Freeform: Shape 41">
              <a:extLst>
                <a:ext uri="{FF2B5EF4-FFF2-40B4-BE49-F238E27FC236}">
                  <a16:creationId xmlns:a16="http://schemas.microsoft.com/office/drawing/2014/main" id="{CEA6F5F0-BA13-3150-E22A-8383589D908D}"/>
                </a:ext>
              </a:extLst>
            </p:cNvPr>
            <p:cNvSpPr/>
            <p:nvPr/>
          </p:nvSpPr>
          <p:spPr>
            <a:xfrm>
              <a:off x="2061712" y="4983548"/>
              <a:ext cx="6091688" cy="1206877"/>
            </a:xfrm>
            <a:custGeom>
              <a:avLst/>
              <a:gdLst>
                <a:gd name="connsiteX0" fmla="*/ 201150 w 1206876"/>
                <a:gd name="connsiteY0" fmla="*/ 0 h 6091687"/>
                <a:gd name="connsiteX1" fmla="*/ 1005726 w 1206876"/>
                <a:gd name="connsiteY1" fmla="*/ 0 h 6091687"/>
                <a:gd name="connsiteX2" fmla="*/ 1206876 w 1206876"/>
                <a:gd name="connsiteY2" fmla="*/ 201150 h 6091687"/>
                <a:gd name="connsiteX3" fmla="*/ 1206876 w 1206876"/>
                <a:gd name="connsiteY3" fmla="*/ 6091687 h 6091687"/>
                <a:gd name="connsiteX4" fmla="*/ 1206876 w 1206876"/>
                <a:gd name="connsiteY4" fmla="*/ 6091687 h 6091687"/>
                <a:gd name="connsiteX5" fmla="*/ 0 w 1206876"/>
                <a:gd name="connsiteY5" fmla="*/ 6091687 h 6091687"/>
                <a:gd name="connsiteX6" fmla="*/ 0 w 1206876"/>
                <a:gd name="connsiteY6" fmla="*/ 6091687 h 6091687"/>
                <a:gd name="connsiteX7" fmla="*/ 0 w 1206876"/>
                <a:gd name="connsiteY7" fmla="*/ 201150 h 6091687"/>
                <a:gd name="connsiteX8" fmla="*/ 201150 w 1206876"/>
                <a:gd name="connsiteY8" fmla="*/ 0 h 6091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06876" h="6091687">
                  <a:moveTo>
                    <a:pt x="1206876" y="1015303"/>
                  </a:moveTo>
                  <a:lnTo>
                    <a:pt x="1206876" y="5076384"/>
                  </a:lnTo>
                  <a:cubicBezTo>
                    <a:pt x="1206876" y="5637119"/>
                    <a:pt x="1189034" y="6091684"/>
                    <a:pt x="1167024" y="6091684"/>
                  </a:cubicBezTo>
                  <a:lnTo>
                    <a:pt x="0" y="6091684"/>
                  </a:lnTo>
                  <a:lnTo>
                    <a:pt x="0" y="6091684"/>
                  </a:lnTo>
                  <a:lnTo>
                    <a:pt x="0" y="3"/>
                  </a:lnTo>
                  <a:lnTo>
                    <a:pt x="0" y="3"/>
                  </a:lnTo>
                  <a:lnTo>
                    <a:pt x="1167024" y="3"/>
                  </a:lnTo>
                  <a:cubicBezTo>
                    <a:pt x="1189034" y="3"/>
                    <a:pt x="1206876" y="454568"/>
                    <a:pt x="1206876" y="1015303"/>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28017" tIns="70346" rIns="70345" bIns="70345" numCol="1" spcCol="1270" anchor="ctr" anchorCtr="0">
              <a:noAutofit/>
            </a:bodyPr>
            <a:lstStyle/>
            <a:p>
              <a:pPr marL="171450" lvl="1" indent="-171450" defTabSz="800100">
                <a:lnSpc>
                  <a:spcPct val="90000"/>
                </a:lnSpc>
                <a:spcBef>
                  <a:spcPct val="0"/>
                </a:spcBef>
                <a:spcAft>
                  <a:spcPct val="15000"/>
                </a:spcAft>
                <a:buChar char="•"/>
              </a:pPr>
              <a:r>
                <a:rPr lang="en-GB" sz="1400">
                  <a:latin typeface="Times New Roman" panose="02020603050405020304" pitchFamily="18" charset="0"/>
                  <a:cs typeface="Times New Roman" panose="02020603050405020304" pitchFamily="18" charset="0"/>
                </a:rPr>
                <a:t>ECB/BoE lowering interest rates lowers financing costs and stimulates public/private investment</a:t>
              </a:r>
            </a:p>
            <a:p>
              <a:pPr marL="171450" lvl="1" indent="-171450" defTabSz="800100">
                <a:lnSpc>
                  <a:spcPct val="90000"/>
                </a:lnSpc>
                <a:spcBef>
                  <a:spcPct val="0"/>
                </a:spcBef>
                <a:spcAft>
                  <a:spcPct val="15000"/>
                </a:spcAft>
                <a:buChar char="•"/>
              </a:pPr>
              <a:r>
                <a:rPr lang="en-GB" sz="1400">
                  <a:latin typeface="Times New Roman" panose="02020603050405020304" pitchFamily="18" charset="0"/>
                  <a:cs typeface="Times New Roman" panose="02020603050405020304" pitchFamily="18" charset="0"/>
                </a:rPr>
                <a:t>Strong policy tailwinds with EU Green Deal, Dutch housing and flood programmes, UK 10-Year Infrastructure plan</a:t>
              </a:r>
              <a:endParaRPr lang="en-GB" sz="1400" kern="1200">
                <a:latin typeface="Times New Roman" panose="02020603050405020304" pitchFamily="18" charset="0"/>
                <a:cs typeface="Times New Roman" panose="02020603050405020304" pitchFamily="18" charset="0"/>
              </a:endParaRPr>
            </a:p>
          </p:txBody>
        </p:sp>
      </p:grpSp>
      <p:sp>
        <p:nvSpPr>
          <p:cNvPr id="43" name="Rectangle: Rounded Corners 42">
            <a:extLst>
              <a:ext uri="{FF2B5EF4-FFF2-40B4-BE49-F238E27FC236}">
                <a16:creationId xmlns:a16="http://schemas.microsoft.com/office/drawing/2014/main" id="{7A949D38-8A28-77ED-1A0C-5ECD5DF97823}"/>
              </a:ext>
            </a:extLst>
          </p:cNvPr>
          <p:cNvSpPr/>
          <p:nvPr/>
        </p:nvSpPr>
        <p:spPr>
          <a:xfrm>
            <a:off x="2756530" y="6893993"/>
            <a:ext cx="12343758" cy="1727017"/>
          </a:xfrm>
          <a:prstGeom prst="round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latin typeface="Times New Roman" panose="02020603050405020304" pitchFamily="18" charset="0"/>
                <a:cs typeface="Times New Roman" panose="02020603050405020304" pitchFamily="18" charset="0"/>
              </a:rPr>
              <a:t>BAM’s key risks involve fixed-price execution, cash conversion, and public-capex cyclicality. A strategic pivot toward longer-term, early-involvement frameworks, focusing on and tighter billing discipline mitigates these exposures. Near-term catalysts are a sustained ≥5% adj. EBITDA margin, unlocking a rerate from Oddo BHF, and consistent bid wins. Strong macroeconomic tailwinds allow for sustained revenue and order book growth over the coming decade. </a:t>
            </a:r>
          </a:p>
        </p:txBody>
      </p:sp>
      <p:sp>
        <p:nvSpPr>
          <p:cNvPr id="12" name="TextBox 11">
            <a:extLst>
              <a:ext uri="{FF2B5EF4-FFF2-40B4-BE49-F238E27FC236}">
                <a16:creationId xmlns:a16="http://schemas.microsoft.com/office/drawing/2014/main" id="{40AADC75-7E4D-D523-005A-1A57EF82F54E}"/>
              </a:ext>
            </a:extLst>
          </p:cNvPr>
          <p:cNvSpPr txBox="1"/>
          <p:nvPr/>
        </p:nvSpPr>
        <p:spPr>
          <a:xfrm>
            <a:off x="967401" y="716152"/>
            <a:ext cx="5237748" cy="615553"/>
          </a:xfrm>
          <a:prstGeom prst="rect">
            <a:avLst/>
          </a:prstGeom>
        </p:spPr>
        <p:txBody>
          <a:bodyPr wrap="square" lIns="0" tIns="0" rIns="0" bIns="0" rtlCol="0" anchor="t">
            <a:spAutoFit/>
          </a:bodyPr>
          <a:lstStyle/>
          <a:p>
            <a:pPr>
              <a:lnSpc>
                <a:spcPts val="4759"/>
              </a:lnSpc>
              <a:spcBef>
                <a:spcPct val="0"/>
              </a:spcBef>
            </a:pPr>
            <a:r>
              <a:rPr lang="en-US" sz="4400" dirty="0">
                <a:latin typeface="Times New Roman" panose="02020603050405020304" pitchFamily="18" charset="0"/>
                <a:ea typeface="Montserrat"/>
                <a:cs typeface="Times New Roman" panose="02020603050405020304" pitchFamily="18" charset="0"/>
                <a:sym typeface="Montserrat"/>
              </a:rPr>
              <a:t>Risks and Catalysts</a:t>
            </a:r>
          </a:p>
        </p:txBody>
      </p:sp>
      <p:sp>
        <p:nvSpPr>
          <p:cNvPr id="13" name="AutoShape 10">
            <a:extLst>
              <a:ext uri="{FF2B5EF4-FFF2-40B4-BE49-F238E27FC236}">
                <a16:creationId xmlns:a16="http://schemas.microsoft.com/office/drawing/2014/main" id="{9A242FD4-713A-E1A9-74DB-CAB23F8D6FFE}"/>
              </a:ext>
            </a:extLst>
          </p:cNvPr>
          <p:cNvSpPr/>
          <p:nvPr/>
        </p:nvSpPr>
        <p:spPr>
          <a:xfrm>
            <a:off x="973240" y="1362172"/>
            <a:ext cx="13744971" cy="0"/>
          </a:xfrm>
          <a:prstGeom prst="line">
            <a:avLst/>
          </a:prstGeom>
          <a:ln w="38100" cap="flat">
            <a:solidFill>
              <a:srgbClr val="214779"/>
            </a:solidFill>
            <a:prstDash val="solid"/>
            <a:headEnd type="none" w="sm" len="sm"/>
            <a:tailEnd type="none" w="sm" len="sm"/>
          </a:ln>
        </p:spPr>
        <p:txBody>
          <a:bodyPr/>
          <a:lstStyle/>
          <a:p>
            <a:endParaRPr lang="en-GB">
              <a:latin typeface="Times New Roman" panose="02020603050405020304" pitchFamily="18" charset="0"/>
              <a:cs typeface="Times New Roman" panose="02020603050405020304" pitchFamily="18" charset="0"/>
            </a:endParaRPr>
          </a:p>
        </p:txBody>
      </p:sp>
      <p:sp>
        <p:nvSpPr>
          <p:cNvPr id="11" name="TextBox 49">
            <a:extLst>
              <a:ext uri="{FF2B5EF4-FFF2-40B4-BE49-F238E27FC236}">
                <a16:creationId xmlns:a16="http://schemas.microsoft.com/office/drawing/2014/main" id="{15726AD6-837C-F205-5357-2CFBE3B8B769}"/>
              </a:ext>
            </a:extLst>
          </p:cNvPr>
          <p:cNvSpPr txBox="1"/>
          <p:nvPr/>
        </p:nvSpPr>
        <p:spPr>
          <a:xfrm>
            <a:off x="3233349" y="9250434"/>
            <a:ext cx="8782188" cy="466474"/>
          </a:xfrm>
          <a:prstGeom prst="rect">
            <a:avLst/>
          </a:prstGeom>
        </p:spPr>
        <p:txBody>
          <a:bodyPr wrap="square" lIns="0" tIns="0" rIns="0" bIns="0" rtlCol="0" anchor="t">
            <a:spAutoFit/>
          </a:bodyPr>
          <a:lstStyle/>
          <a:p>
            <a:pPr algn="ctr">
              <a:lnSpc>
                <a:spcPts val="4060"/>
              </a:lnSpc>
              <a:spcBef>
                <a:spcPct val="0"/>
              </a:spcBef>
            </a:pPr>
            <a:r>
              <a:rPr lang="en-US" sz="2400" dirty="0">
                <a:solidFill>
                  <a:schemeClr val="bg1">
                    <a:lumMod val="50000"/>
                  </a:schemeClr>
                </a:solidFill>
                <a:latin typeface="Times New Roman" panose="02020603050405020304" pitchFamily="18" charset="0"/>
                <a:ea typeface="Times New Roman"/>
                <a:cs typeface="Times New Roman" panose="02020603050405020304" pitchFamily="18" charset="0"/>
                <a:sym typeface="Times New Roman"/>
              </a:rPr>
              <a:t>29/10/25		      Royal Bam Group – (XAMS</a:t>
            </a:r>
            <a:r>
              <a:rPr lang="en-US" sz="2400" dirty="0">
                <a:solidFill>
                  <a:schemeClr val="bg1">
                    <a:lumMod val="50000"/>
                  </a:schemeClr>
                </a:solidFill>
                <a:latin typeface="Times New Roman" panose="02020603050405020304" pitchFamily="18" charset="0"/>
                <a:ea typeface="Times New Roman"/>
                <a:cs typeface="Times New Roman" panose="02020603050405020304" pitchFamily="18" charset="0"/>
                <a:sym typeface="Wingdings" pitchFamily="2" charset="2"/>
              </a:rPr>
              <a:t>:</a:t>
            </a:r>
            <a:r>
              <a:rPr lang="en-US" sz="2400" dirty="0">
                <a:solidFill>
                  <a:schemeClr val="bg1">
                    <a:lumMod val="50000"/>
                  </a:schemeClr>
                </a:solidFill>
                <a:latin typeface="Times New Roman" panose="02020603050405020304" pitchFamily="18" charset="0"/>
                <a:ea typeface="Times New Roman"/>
                <a:cs typeface="Times New Roman" panose="02020603050405020304" pitchFamily="18" charset="0"/>
                <a:sym typeface="Times New Roman"/>
              </a:rPr>
              <a:t> BAMNB)</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23487A"/>
        </a:solidFill>
        <a:effectLst/>
      </p:bgPr>
    </p:bg>
    <p:spTree>
      <p:nvGrpSpPr>
        <p:cNvPr id="1" name="">
          <a:extLst>
            <a:ext uri="{FF2B5EF4-FFF2-40B4-BE49-F238E27FC236}">
              <a16:creationId xmlns:a16="http://schemas.microsoft.com/office/drawing/2014/main" id="{8089987F-6C71-93D7-9B76-15CC1F359CC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8126459-CAA1-6554-10F0-53C18424AE79}"/>
              </a:ext>
            </a:extLst>
          </p:cNvPr>
          <p:cNvSpPr/>
          <p:nvPr/>
        </p:nvSpPr>
        <p:spPr>
          <a:xfrm>
            <a:off x="7846503" y="6394025"/>
            <a:ext cx="2594994" cy="2153293"/>
          </a:xfrm>
          <a:custGeom>
            <a:avLst/>
            <a:gdLst/>
            <a:ahLst/>
            <a:cxnLst/>
            <a:rect l="l" t="t" r="r" b="b"/>
            <a:pathLst>
              <a:path w="2594994" h="2153293">
                <a:moveTo>
                  <a:pt x="0" y="0"/>
                </a:moveTo>
                <a:lnTo>
                  <a:pt x="2594994" y="0"/>
                </a:lnTo>
                <a:lnTo>
                  <a:pt x="2594994" y="2153293"/>
                </a:lnTo>
                <a:lnTo>
                  <a:pt x="0" y="2153293"/>
                </a:lnTo>
                <a:lnTo>
                  <a:pt x="0" y="0"/>
                </a:lnTo>
                <a:close/>
              </a:path>
            </a:pathLst>
          </a:custGeom>
          <a:blipFill>
            <a:blip r:embed="rId3"/>
            <a:stretch>
              <a:fillRect l="-83932" t="-92948" r="-86060" b="-132427"/>
            </a:stretch>
          </a:blipFill>
        </p:spPr>
        <p:txBody>
          <a:bodyPr/>
          <a:lstStyle/>
          <a:p>
            <a:endParaRPr lang="en-GB"/>
          </a:p>
        </p:txBody>
      </p:sp>
      <p:sp>
        <p:nvSpPr>
          <p:cNvPr id="3" name="TextBox 3">
            <a:extLst>
              <a:ext uri="{FF2B5EF4-FFF2-40B4-BE49-F238E27FC236}">
                <a16:creationId xmlns:a16="http://schemas.microsoft.com/office/drawing/2014/main" id="{C55B1F8C-677F-13C8-7A10-DC45035BDEBE}"/>
              </a:ext>
            </a:extLst>
          </p:cNvPr>
          <p:cNvSpPr txBox="1"/>
          <p:nvPr/>
        </p:nvSpPr>
        <p:spPr>
          <a:xfrm>
            <a:off x="2663160" y="3407764"/>
            <a:ext cx="12988454" cy="580390"/>
          </a:xfrm>
          <a:prstGeom prst="rect">
            <a:avLst/>
          </a:prstGeom>
        </p:spPr>
        <p:txBody>
          <a:bodyPr lIns="0" tIns="0" rIns="0" bIns="0" rtlCol="0" anchor="t">
            <a:spAutoFit/>
          </a:bodyPr>
          <a:lstStyle/>
          <a:p>
            <a:pPr algn="ctr">
              <a:lnSpc>
                <a:spcPts val="4759"/>
              </a:lnSpc>
              <a:spcBef>
                <a:spcPct val="0"/>
              </a:spcBef>
            </a:pPr>
            <a:r>
              <a:rPr lang="en-US" sz="3399">
                <a:solidFill>
                  <a:srgbClr val="23487A"/>
                </a:solidFill>
                <a:latin typeface="Montserrat"/>
                <a:ea typeface="Montserrat"/>
                <a:cs typeface="Montserrat"/>
                <a:sym typeface="Montserrat"/>
              </a:rPr>
              <a:t>Newcastle University Investment Fund Training Programme</a:t>
            </a:r>
          </a:p>
        </p:txBody>
      </p:sp>
      <p:sp>
        <p:nvSpPr>
          <p:cNvPr id="4" name="TextBox 4">
            <a:extLst>
              <a:ext uri="{FF2B5EF4-FFF2-40B4-BE49-F238E27FC236}">
                <a16:creationId xmlns:a16="http://schemas.microsoft.com/office/drawing/2014/main" id="{E5BC1BE2-1D43-2C6B-19D0-B22A6A108B83}"/>
              </a:ext>
            </a:extLst>
          </p:cNvPr>
          <p:cNvSpPr txBox="1"/>
          <p:nvPr/>
        </p:nvSpPr>
        <p:spPr>
          <a:xfrm>
            <a:off x="5717486" y="4246908"/>
            <a:ext cx="6879803" cy="580390"/>
          </a:xfrm>
          <a:prstGeom prst="rect">
            <a:avLst/>
          </a:prstGeom>
        </p:spPr>
        <p:txBody>
          <a:bodyPr lIns="0" tIns="0" rIns="0" bIns="0" rtlCol="0" anchor="t">
            <a:spAutoFit/>
          </a:bodyPr>
          <a:lstStyle/>
          <a:p>
            <a:pPr algn="ctr">
              <a:lnSpc>
                <a:spcPts val="4759"/>
              </a:lnSpc>
              <a:spcBef>
                <a:spcPct val="0"/>
              </a:spcBef>
            </a:pPr>
            <a:r>
              <a:rPr lang="en-US" sz="3399">
                <a:solidFill>
                  <a:srgbClr val="23487A"/>
                </a:solidFill>
                <a:latin typeface="Montserrat"/>
                <a:ea typeface="Montserrat"/>
                <a:cs typeface="Montserrat"/>
                <a:sym typeface="Montserrat"/>
              </a:rPr>
              <a:t>Session 1: What is a Stock Pitch?</a:t>
            </a:r>
          </a:p>
        </p:txBody>
      </p:sp>
      <p:sp>
        <p:nvSpPr>
          <p:cNvPr id="5" name="TextBox 5">
            <a:extLst>
              <a:ext uri="{FF2B5EF4-FFF2-40B4-BE49-F238E27FC236}">
                <a16:creationId xmlns:a16="http://schemas.microsoft.com/office/drawing/2014/main" id="{916924DC-3093-5123-4B81-8511D51A3770}"/>
              </a:ext>
            </a:extLst>
          </p:cNvPr>
          <p:cNvSpPr txBox="1"/>
          <p:nvPr/>
        </p:nvSpPr>
        <p:spPr>
          <a:xfrm>
            <a:off x="2616726" y="5213560"/>
            <a:ext cx="13081322" cy="1180465"/>
          </a:xfrm>
          <a:prstGeom prst="rect">
            <a:avLst/>
          </a:prstGeom>
        </p:spPr>
        <p:txBody>
          <a:bodyPr lIns="0" tIns="0" rIns="0" bIns="0" rtlCol="0" anchor="t">
            <a:spAutoFit/>
          </a:bodyPr>
          <a:lstStyle/>
          <a:p>
            <a:pPr algn="ctr">
              <a:lnSpc>
                <a:spcPts val="4759"/>
              </a:lnSpc>
              <a:spcBef>
                <a:spcPct val="0"/>
              </a:spcBef>
            </a:pPr>
            <a:r>
              <a:rPr lang="en-US" sz="3399">
                <a:solidFill>
                  <a:srgbClr val="23487A"/>
                </a:solidFill>
                <a:latin typeface="Montserrat"/>
                <a:ea typeface="Montserrat"/>
                <a:cs typeface="Montserrat"/>
                <a:sym typeface="Montserrat"/>
              </a:rPr>
              <a:t>Going from "It's a good company" to "It's a good investment"</a:t>
            </a:r>
          </a:p>
          <a:p>
            <a:pPr algn="ctr">
              <a:lnSpc>
                <a:spcPts val="4759"/>
              </a:lnSpc>
              <a:spcBef>
                <a:spcPct val="0"/>
              </a:spcBef>
            </a:pPr>
            <a:endParaRPr lang="en-US" sz="3399">
              <a:solidFill>
                <a:srgbClr val="23487A"/>
              </a:solidFill>
              <a:latin typeface="Montserrat"/>
              <a:ea typeface="Montserrat"/>
              <a:cs typeface="Montserrat"/>
              <a:sym typeface="Montserrat"/>
            </a:endParaRPr>
          </a:p>
        </p:txBody>
      </p:sp>
      <p:grpSp>
        <p:nvGrpSpPr>
          <p:cNvPr id="6" name="Group 6">
            <a:extLst>
              <a:ext uri="{FF2B5EF4-FFF2-40B4-BE49-F238E27FC236}">
                <a16:creationId xmlns:a16="http://schemas.microsoft.com/office/drawing/2014/main" id="{D27C6E2F-8F44-2E0B-F6F2-6CA7FDB4E274}"/>
              </a:ext>
            </a:extLst>
          </p:cNvPr>
          <p:cNvGrpSpPr/>
          <p:nvPr/>
        </p:nvGrpSpPr>
        <p:grpSpPr>
          <a:xfrm>
            <a:off x="456059" y="284282"/>
            <a:ext cx="17349108" cy="9581340"/>
            <a:chOff x="0" y="-28575"/>
            <a:chExt cx="5293499" cy="2923425"/>
          </a:xfrm>
        </p:grpSpPr>
        <p:sp>
          <p:nvSpPr>
            <p:cNvPr id="7" name="Freeform 7">
              <a:extLst>
                <a:ext uri="{FF2B5EF4-FFF2-40B4-BE49-F238E27FC236}">
                  <a16:creationId xmlns:a16="http://schemas.microsoft.com/office/drawing/2014/main" id="{8D81B59D-06B6-5272-B4EF-F6416CB7B450}"/>
                </a:ext>
              </a:extLst>
            </p:cNvPr>
            <p:cNvSpPr/>
            <p:nvPr/>
          </p:nvSpPr>
          <p:spPr>
            <a:xfrm>
              <a:off x="0" y="0"/>
              <a:ext cx="5293499" cy="2894850"/>
            </a:xfrm>
            <a:custGeom>
              <a:avLst/>
              <a:gdLst/>
              <a:ahLst/>
              <a:cxnLst/>
              <a:rect l="l" t="t" r="r" b="b"/>
              <a:pathLst>
                <a:path w="5293499" h="2894850">
                  <a:moveTo>
                    <a:pt x="0" y="0"/>
                  </a:moveTo>
                  <a:lnTo>
                    <a:pt x="5293499" y="0"/>
                  </a:lnTo>
                  <a:lnTo>
                    <a:pt x="5293499" y="2894850"/>
                  </a:lnTo>
                  <a:lnTo>
                    <a:pt x="0" y="2894850"/>
                  </a:lnTo>
                  <a:close/>
                </a:path>
              </a:pathLst>
            </a:custGeom>
            <a:solidFill>
              <a:srgbClr val="FFFFFF"/>
            </a:solidFill>
          </p:spPr>
          <p:txBody>
            <a:bodyPr/>
            <a:lstStyle/>
            <a:p>
              <a:endParaRPr lang="en-GB"/>
            </a:p>
          </p:txBody>
        </p:sp>
        <p:sp>
          <p:nvSpPr>
            <p:cNvPr id="8" name="TextBox 8">
              <a:extLst>
                <a:ext uri="{FF2B5EF4-FFF2-40B4-BE49-F238E27FC236}">
                  <a16:creationId xmlns:a16="http://schemas.microsoft.com/office/drawing/2014/main" id="{879CF4E1-80EC-B635-8B5F-CB3A8CA530C2}"/>
                </a:ext>
              </a:extLst>
            </p:cNvPr>
            <p:cNvSpPr txBox="1"/>
            <p:nvPr/>
          </p:nvSpPr>
          <p:spPr>
            <a:xfrm>
              <a:off x="0" y="-28575"/>
              <a:ext cx="5293499" cy="2923425"/>
            </a:xfrm>
            <a:prstGeom prst="rect">
              <a:avLst/>
            </a:prstGeom>
          </p:spPr>
          <p:txBody>
            <a:bodyPr lIns="43850" tIns="43850" rIns="43850" bIns="43850" rtlCol="0" anchor="ctr"/>
            <a:lstStyle/>
            <a:p>
              <a:pPr algn="ctr">
                <a:lnSpc>
                  <a:spcPts val="2296"/>
                </a:lnSpc>
                <a:spcBef>
                  <a:spcPct val="0"/>
                </a:spcBef>
              </a:pPr>
              <a:endParaRPr/>
            </a:p>
          </p:txBody>
        </p:sp>
      </p:grpSp>
      <p:sp>
        <p:nvSpPr>
          <p:cNvPr id="9" name="Freeform 9">
            <a:extLst>
              <a:ext uri="{FF2B5EF4-FFF2-40B4-BE49-F238E27FC236}">
                <a16:creationId xmlns:a16="http://schemas.microsoft.com/office/drawing/2014/main" id="{3C303C68-FC2B-F0BF-9706-8BD3EE33B3E4}"/>
              </a:ext>
            </a:extLst>
          </p:cNvPr>
          <p:cNvSpPr/>
          <p:nvPr/>
        </p:nvSpPr>
        <p:spPr>
          <a:xfrm>
            <a:off x="16305847" y="8621010"/>
            <a:ext cx="1526094" cy="1266333"/>
          </a:xfrm>
          <a:custGeom>
            <a:avLst/>
            <a:gdLst/>
            <a:ahLst/>
            <a:cxnLst/>
            <a:rect l="l" t="t" r="r" b="b"/>
            <a:pathLst>
              <a:path w="1526094" h="1266333">
                <a:moveTo>
                  <a:pt x="0" y="0"/>
                </a:moveTo>
                <a:lnTo>
                  <a:pt x="1526094" y="0"/>
                </a:lnTo>
                <a:lnTo>
                  <a:pt x="1526094" y="1266333"/>
                </a:lnTo>
                <a:lnTo>
                  <a:pt x="0" y="1266333"/>
                </a:lnTo>
                <a:lnTo>
                  <a:pt x="0" y="0"/>
                </a:lnTo>
                <a:close/>
              </a:path>
            </a:pathLst>
          </a:custGeom>
          <a:blipFill>
            <a:blip r:embed="rId3"/>
            <a:stretch>
              <a:fillRect l="-83932" t="-92948" r="-86060" b="-132427"/>
            </a:stretch>
          </a:blipFill>
        </p:spPr>
        <p:txBody>
          <a:bodyPr/>
          <a:lstStyle/>
          <a:p>
            <a:endParaRPr lang="en-GB"/>
          </a:p>
        </p:txBody>
      </p:sp>
      <p:sp>
        <p:nvSpPr>
          <p:cNvPr id="10" name="AutoShape 10">
            <a:extLst>
              <a:ext uri="{FF2B5EF4-FFF2-40B4-BE49-F238E27FC236}">
                <a16:creationId xmlns:a16="http://schemas.microsoft.com/office/drawing/2014/main" id="{192F16AA-DEC8-20A8-EEA9-99B6517BEF8F}"/>
              </a:ext>
            </a:extLst>
          </p:cNvPr>
          <p:cNvSpPr/>
          <p:nvPr/>
        </p:nvSpPr>
        <p:spPr>
          <a:xfrm>
            <a:off x="2209802" y="9254177"/>
            <a:ext cx="13744971" cy="0"/>
          </a:xfrm>
          <a:prstGeom prst="line">
            <a:avLst/>
          </a:prstGeom>
          <a:ln w="38100" cap="flat">
            <a:solidFill>
              <a:srgbClr val="214779"/>
            </a:solidFill>
            <a:prstDash val="solid"/>
            <a:headEnd type="none" w="sm" len="sm"/>
            <a:tailEnd type="none" w="sm" len="sm"/>
          </a:ln>
        </p:spPr>
        <p:txBody>
          <a:bodyPr/>
          <a:lstStyle/>
          <a:p>
            <a:endParaRPr lang="en-GB"/>
          </a:p>
        </p:txBody>
      </p:sp>
      <p:graphicFrame>
        <p:nvGraphicFramePr>
          <p:cNvPr id="14" name="Table 13">
            <a:extLst>
              <a:ext uri="{FF2B5EF4-FFF2-40B4-BE49-F238E27FC236}">
                <a16:creationId xmlns:a16="http://schemas.microsoft.com/office/drawing/2014/main" id="{86BB8D2B-E9E8-704B-6802-12A648E5FB79}"/>
              </a:ext>
            </a:extLst>
          </p:cNvPr>
          <p:cNvGraphicFramePr>
            <a:graphicFrameLocks noGrp="1"/>
          </p:cNvGraphicFramePr>
          <p:nvPr>
            <p:extLst>
              <p:ext uri="{D42A27DB-BD31-4B8C-83A1-F6EECF244321}">
                <p14:modId xmlns:p14="http://schemas.microsoft.com/office/powerpoint/2010/main" val="3395177810"/>
              </p:ext>
            </p:extLst>
          </p:nvPr>
        </p:nvGraphicFramePr>
        <p:xfrm>
          <a:off x="973240" y="1546825"/>
          <a:ext cx="9022034" cy="6728896"/>
        </p:xfrm>
        <a:graphic>
          <a:graphicData uri="http://schemas.openxmlformats.org/drawingml/2006/table">
            <a:tbl>
              <a:tblPr/>
              <a:tblGrid>
                <a:gridCol w="114503">
                  <a:extLst>
                    <a:ext uri="{9D8B030D-6E8A-4147-A177-3AD203B41FA5}">
                      <a16:colId xmlns:a16="http://schemas.microsoft.com/office/drawing/2014/main" val="3998108424"/>
                    </a:ext>
                  </a:extLst>
                </a:gridCol>
                <a:gridCol w="3792914">
                  <a:extLst>
                    <a:ext uri="{9D8B030D-6E8A-4147-A177-3AD203B41FA5}">
                      <a16:colId xmlns:a16="http://schemas.microsoft.com/office/drawing/2014/main" val="2397001668"/>
                    </a:ext>
                  </a:extLst>
                </a:gridCol>
                <a:gridCol w="787209">
                  <a:extLst>
                    <a:ext uri="{9D8B030D-6E8A-4147-A177-3AD203B41FA5}">
                      <a16:colId xmlns:a16="http://schemas.microsoft.com/office/drawing/2014/main" val="222752759"/>
                    </a:ext>
                  </a:extLst>
                </a:gridCol>
                <a:gridCol w="787209">
                  <a:extLst>
                    <a:ext uri="{9D8B030D-6E8A-4147-A177-3AD203B41FA5}">
                      <a16:colId xmlns:a16="http://schemas.microsoft.com/office/drawing/2014/main" val="1403727600"/>
                    </a:ext>
                  </a:extLst>
                </a:gridCol>
                <a:gridCol w="787209">
                  <a:extLst>
                    <a:ext uri="{9D8B030D-6E8A-4147-A177-3AD203B41FA5}">
                      <a16:colId xmlns:a16="http://schemas.microsoft.com/office/drawing/2014/main" val="2165975863"/>
                    </a:ext>
                  </a:extLst>
                </a:gridCol>
                <a:gridCol w="787209">
                  <a:extLst>
                    <a:ext uri="{9D8B030D-6E8A-4147-A177-3AD203B41FA5}">
                      <a16:colId xmlns:a16="http://schemas.microsoft.com/office/drawing/2014/main" val="3029994679"/>
                    </a:ext>
                  </a:extLst>
                </a:gridCol>
                <a:gridCol w="491553">
                  <a:extLst>
                    <a:ext uri="{9D8B030D-6E8A-4147-A177-3AD203B41FA5}">
                      <a16:colId xmlns:a16="http://schemas.microsoft.com/office/drawing/2014/main" val="2490057172"/>
                    </a:ext>
                  </a:extLst>
                </a:gridCol>
                <a:gridCol w="787209">
                  <a:extLst>
                    <a:ext uri="{9D8B030D-6E8A-4147-A177-3AD203B41FA5}">
                      <a16:colId xmlns:a16="http://schemas.microsoft.com/office/drawing/2014/main" val="3297615576"/>
                    </a:ext>
                  </a:extLst>
                </a:gridCol>
                <a:gridCol w="687019">
                  <a:extLst>
                    <a:ext uri="{9D8B030D-6E8A-4147-A177-3AD203B41FA5}">
                      <a16:colId xmlns:a16="http://schemas.microsoft.com/office/drawing/2014/main" val="3555002339"/>
                    </a:ext>
                  </a:extLst>
                </a:gridCol>
              </a:tblGrid>
              <a:tr h="386280">
                <a:tc>
                  <a:txBody>
                    <a:bodyPr/>
                    <a:lstStyle/>
                    <a:p>
                      <a:pPr algn="l" fontAlgn="b">
                        <a:buNone/>
                      </a:pPr>
                      <a:r>
                        <a:rPr lang="en-GB" sz="2800" b="0" i="0" u="none" strike="noStrike">
                          <a:solidFill>
                            <a:srgbClr val="FFFFFF"/>
                          </a:solidFill>
                          <a:effectLst/>
                          <a:latin typeface="Calibri Light" panose="020F0302020204030204" pitchFamily="34" charset="0"/>
                        </a:rPr>
                        <a:t> </a:t>
                      </a:r>
                    </a:p>
                  </a:txBody>
                  <a:tcPr marL="6064" marR="6064" marT="6064" marB="0" anchor="b">
                    <a:lnL>
                      <a:noFill/>
                    </a:lnL>
                    <a:lnR>
                      <a:noFill/>
                    </a:lnR>
                    <a:lnT>
                      <a:noFill/>
                    </a:lnT>
                    <a:lnB>
                      <a:noFill/>
                    </a:lnB>
                    <a:solidFill>
                      <a:srgbClr val="163260"/>
                    </a:solidFill>
                  </a:tcPr>
                </a:tc>
                <a:tc>
                  <a:txBody>
                    <a:bodyPr/>
                    <a:lstStyle/>
                    <a:p>
                      <a:pPr algn="l" fontAlgn="ctr">
                        <a:buNone/>
                      </a:pPr>
                      <a:r>
                        <a:rPr lang="en-GB" sz="2000" b="0" i="0" u="none" strike="noStrike">
                          <a:solidFill>
                            <a:srgbClr val="FFFFFF"/>
                          </a:solidFill>
                          <a:effectLst/>
                          <a:latin typeface="Calibri" panose="020F0502020204030204" pitchFamily="34" charset="0"/>
                        </a:rPr>
                        <a:t> </a:t>
                      </a:r>
                    </a:p>
                  </a:txBody>
                  <a:tcPr marL="6064" marR="6064" marT="6064" marB="0" anchor="ctr">
                    <a:lnL>
                      <a:noFill/>
                    </a:lnL>
                    <a:lnR>
                      <a:noFill/>
                    </a:lnR>
                    <a:lnT>
                      <a:noFill/>
                    </a:lnT>
                    <a:lnB>
                      <a:noFill/>
                    </a:lnB>
                    <a:solidFill>
                      <a:srgbClr val="163260"/>
                    </a:solidFill>
                  </a:tcPr>
                </a:tc>
                <a:tc>
                  <a:txBody>
                    <a:bodyPr/>
                    <a:lstStyle/>
                    <a:p>
                      <a:pPr algn="ctr" fontAlgn="b">
                        <a:buNone/>
                      </a:pPr>
                      <a:r>
                        <a:rPr lang="en-GB" sz="1100" b="0" i="0" u="none" strike="noStrike">
                          <a:solidFill>
                            <a:srgbClr val="FFFFFF"/>
                          </a:solidFill>
                          <a:effectLst/>
                          <a:latin typeface="Calibri" panose="020F0502020204030204" pitchFamily="34" charset="0"/>
                        </a:rPr>
                        <a:t>Hist. </a:t>
                      </a:r>
                    </a:p>
                  </a:txBody>
                  <a:tcPr marL="6064" marR="6064" marT="6064" marB="0" anchor="b">
                    <a:lnL>
                      <a:noFill/>
                    </a:lnL>
                    <a:lnR>
                      <a:noFill/>
                    </a:lnR>
                    <a:lnT>
                      <a:noFill/>
                    </a:lnT>
                    <a:lnB>
                      <a:noFill/>
                    </a:lnB>
                    <a:solidFill>
                      <a:srgbClr val="163260"/>
                    </a:solidFill>
                  </a:tcPr>
                </a:tc>
                <a:tc>
                  <a:txBody>
                    <a:bodyPr/>
                    <a:lstStyle/>
                    <a:p>
                      <a:pPr algn="ctr" fontAlgn="b">
                        <a:buNone/>
                      </a:pPr>
                      <a:r>
                        <a:rPr lang="en-GB" sz="1100" b="0" i="0" u="none" strike="noStrike">
                          <a:solidFill>
                            <a:srgbClr val="FFFFFF"/>
                          </a:solidFill>
                          <a:effectLst/>
                          <a:latin typeface="Calibri" panose="020F0502020204030204" pitchFamily="34" charset="0"/>
                        </a:rPr>
                        <a:t>Proj. </a:t>
                      </a:r>
                    </a:p>
                  </a:txBody>
                  <a:tcPr marL="6064" marR="6064" marT="6064" marB="0" anchor="b">
                    <a:lnL>
                      <a:noFill/>
                    </a:lnL>
                    <a:lnR>
                      <a:noFill/>
                    </a:lnR>
                    <a:lnT>
                      <a:noFill/>
                    </a:lnT>
                    <a:lnB>
                      <a:noFill/>
                    </a:lnB>
                    <a:solidFill>
                      <a:srgbClr val="163260"/>
                    </a:solidFill>
                  </a:tcPr>
                </a:tc>
                <a:tc>
                  <a:txBody>
                    <a:bodyPr/>
                    <a:lstStyle/>
                    <a:p>
                      <a:pPr algn="ctr" fontAlgn="b">
                        <a:buNone/>
                      </a:pPr>
                      <a:r>
                        <a:rPr lang="en-GB" sz="1100" b="0" i="0" u="none" strike="noStrike">
                          <a:solidFill>
                            <a:srgbClr val="FFFFFF"/>
                          </a:solidFill>
                          <a:effectLst/>
                          <a:latin typeface="Calibri" panose="020F0502020204030204" pitchFamily="34" charset="0"/>
                        </a:rPr>
                        <a:t>Proj. </a:t>
                      </a:r>
                    </a:p>
                  </a:txBody>
                  <a:tcPr marL="6064" marR="6064" marT="6064" marB="0" anchor="b">
                    <a:lnL>
                      <a:noFill/>
                    </a:lnL>
                    <a:lnR>
                      <a:noFill/>
                    </a:lnR>
                    <a:lnT>
                      <a:noFill/>
                    </a:lnT>
                    <a:lnB>
                      <a:noFill/>
                    </a:lnB>
                    <a:solidFill>
                      <a:srgbClr val="163260"/>
                    </a:solidFill>
                  </a:tcPr>
                </a:tc>
                <a:tc>
                  <a:txBody>
                    <a:bodyPr/>
                    <a:lstStyle/>
                    <a:p>
                      <a:pPr algn="ctr" fontAlgn="b">
                        <a:buNone/>
                      </a:pPr>
                      <a:r>
                        <a:rPr lang="en-GB" sz="1100" b="0" i="0" u="none" strike="noStrike">
                          <a:solidFill>
                            <a:srgbClr val="FFFFFF"/>
                          </a:solidFill>
                          <a:effectLst/>
                          <a:latin typeface="Calibri" panose="020F0502020204030204" pitchFamily="34" charset="0"/>
                        </a:rPr>
                        <a:t>Proj. </a:t>
                      </a:r>
                    </a:p>
                  </a:txBody>
                  <a:tcPr marL="6064" marR="6064" marT="6064" marB="0" anchor="b">
                    <a:lnL>
                      <a:noFill/>
                    </a:lnL>
                    <a:lnR>
                      <a:noFill/>
                    </a:lnR>
                    <a:lnT>
                      <a:noFill/>
                    </a:lnT>
                    <a:lnB>
                      <a:noFill/>
                    </a:lnB>
                    <a:solidFill>
                      <a:srgbClr val="163260"/>
                    </a:solidFill>
                  </a:tcPr>
                </a:tc>
                <a:tc>
                  <a:txBody>
                    <a:bodyPr/>
                    <a:lstStyle/>
                    <a:p>
                      <a:pPr algn="ctr" fontAlgn="b">
                        <a:buNone/>
                      </a:pPr>
                      <a:r>
                        <a:rPr lang="en-GB" sz="1100" b="0" i="0" u="none" strike="noStrike">
                          <a:solidFill>
                            <a:srgbClr val="FFFFFF"/>
                          </a:solidFill>
                          <a:effectLst/>
                          <a:latin typeface="Calibri" panose="020F0502020204030204" pitchFamily="34" charset="0"/>
                        </a:rPr>
                        <a:t>Proj. </a:t>
                      </a:r>
                    </a:p>
                  </a:txBody>
                  <a:tcPr marL="6064" marR="6064" marT="6064" marB="0" anchor="b">
                    <a:lnL>
                      <a:noFill/>
                    </a:lnL>
                    <a:lnR>
                      <a:noFill/>
                    </a:lnR>
                    <a:lnT>
                      <a:noFill/>
                    </a:lnT>
                    <a:lnB>
                      <a:noFill/>
                    </a:lnB>
                    <a:solidFill>
                      <a:srgbClr val="163260"/>
                    </a:solidFill>
                  </a:tcPr>
                </a:tc>
                <a:tc>
                  <a:txBody>
                    <a:bodyPr/>
                    <a:lstStyle/>
                    <a:p>
                      <a:pPr algn="ctr" fontAlgn="b">
                        <a:buNone/>
                      </a:pPr>
                      <a:r>
                        <a:rPr lang="en-GB" sz="1100" b="0" i="0" u="none" strike="noStrike">
                          <a:solidFill>
                            <a:srgbClr val="FFFFFF"/>
                          </a:solidFill>
                          <a:effectLst/>
                          <a:latin typeface="Calibri" panose="020F0502020204030204" pitchFamily="34" charset="0"/>
                        </a:rPr>
                        <a:t>Proj. </a:t>
                      </a:r>
                    </a:p>
                  </a:txBody>
                  <a:tcPr marL="6064" marR="6064" marT="6064" marB="0" anchor="b">
                    <a:lnL>
                      <a:noFill/>
                    </a:lnL>
                    <a:lnR>
                      <a:noFill/>
                    </a:lnR>
                    <a:lnT>
                      <a:noFill/>
                    </a:lnT>
                    <a:lnB>
                      <a:noFill/>
                    </a:lnB>
                    <a:solidFill>
                      <a:srgbClr val="163260"/>
                    </a:solidFill>
                  </a:tcPr>
                </a:tc>
                <a:tc>
                  <a:txBody>
                    <a:bodyPr/>
                    <a:lstStyle/>
                    <a:p>
                      <a:pPr algn="ctr" fontAlgn="b">
                        <a:buNone/>
                      </a:pPr>
                      <a:r>
                        <a:rPr lang="en-GB" sz="1100" b="0" i="0" u="none" strike="noStrike">
                          <a:solidFill>
                            <a:srgbClr val="FFFFFF"/>
                          </a:solidFill>
                          <a:effectLst/>
                          <a:latin typeface="Calibri" panose="020F0502020204030204" pitchFamily="34" charset="0"/>
                        </a:rPr>
                        <a:t> </a:t>
                      </a:r>
                    </a:p>
                  </a:txBody>
                  <a:tcPr marL="6064" marR="6064" marT="6064" marB="0" anchor="b">
                    <a:lnL>
                      <a:noFill/>
                    </a:lnL>
                    <a:lnR>
                      <a:noFill/>
                    </a:lnR>
                    <a:lnT>
                      <a:noFill/>
                    </a:lnT>
                    <a:lnB>
                      <a:noFill/>
                    </a:lnB>
                    <a:solidFill>
                      <a:srgbClr val="163260"/>
                    </a:solidFill>
                  </a:tcPr>
                </a:tc>
                <a:extLst>
                  <a:ext uri="{0D108BD9-81ED-4DB2-BD59-A6C34878D82A}">
                    <a16:rowId xmlns:a16="http://schemas.microsoft.com/office/drawing/2014/main" val="2409457111"/>
                  </a:ext>
                </a:extLst>
              </a:tr>
              <a:tr h="223051">
                <a:tc>
                  <a:txBody>
                    <a:bodyPr/>
                    <a:lstStyle/>
                    <a:p>
                      <a:pPr algn="l" fontAlgn="b">
                        <a:buNone/>
                      </a:pPr>
                      <a:r>
                        <a:rPr lang="en-GB" sz="1600" b="0" i="0" u="none" strike="noStrike">
                          <a:solidFill>
                            <a:srgbClr val="FFFFFF"/>
                          </a:solidFill>
                          <a:effectLst/>
                          <a:latin typeface="Calibri Light" panose="020F0302020204030204" pitchFamily="34" charset="0"/>
                        </a:rPr>
                        <a:t> </a:t>
                      </a:r>
                    </a:p>
                  </a:txBody>
                  <a:tcPr marL="6064" marR="6064" marT="6064" marB="0" anchor="b">
                    <a:lnL>
                      <a:noFill/>
                    </a:lnL>
                    <a:lnR>
                      <a:noFill/>
                    </a:lnR>
                    <a:lnT>
                      <a:noFill/>
                    </a:lnT>
                    <a:lnB>
                      <a:noFill/>
                    </a:lnB>
                    <a:solidFill>
                      <a:srgbClr val="085393"/>
                    </a:solidFill>
                  </a:tcPr>
                </a:tc>
                <a:tc>
                  <a:txBody>
                    <a:bodyPr/>
                    <a:lstStyle/>
                    <a:p>
                      <a:pPr algn="l" fontAlgn="b">
                        <a:buNone/>
                      </a:pPr>
                      <a:r>
                        <a:rPr lang="en-GB" sz="1400" b="0" i="0" u="none" strike="noStrike">
                          <a:solidFill>
                            <a:srgbClr val="FFFFFF"/>
                          </a:solidFill>
                          <a:effectLst/>
                          <a:latin typeface="Calibri" panose="020F0502020204030204" pitchFamily="34" charset="0"/>
                        </a:rPr>
                        <a:t> </a:t>
                      </a:r>
                    </a:p>
                  </a:txBody>
                  <a:tcPr marL="6064" marR="6064" marT="6064" marB="0" anchor="b">
                    <a:lnL>
                      <a:noFill/>
                    </a:lnL>
                    <a:lnR>
                      <a:noFill/>
                    </a:lnR>
                    <a:lnT>
                      <a:noFill/>
                    </a:lnT>
                    <a:lnB>
                      <a:noFill/>
                    </a:lnB>
                    <a:solidFill>
                      <a:srgbClr val="085393"/>
                    </a:solidFill>
                  </a:tcPr>
                </a:tc>
                <a:tc>
                  <a:txBody>
                    <a:bodyPr/>
                    <a:lstStyle/>
                    <a:p>
                      <a:pPr algn="ctr" fontAlgn="b">
                        <a:buNone/>
                      </a:pPr>
                      <a:r>
                        <a:rPr lang="en-GB" sz="1050" b="0" i="0" u="none" strike="noStrike">
                          <a:solidFill>
                            <a:srgbClr val="FFFFFF"/>
                          </a:solidFill>
                          <a:effectLst/>
                          <a:latin typeface="Calibri" panose="020F0502020204030204" pitchFamily="34" charset="0"/>
                        </a:rPr>
                        <a:t>Period 0</a:t>
                      </a:r>
                    </a:p>
                  </a:txBody>
                  <a:tcPr marL="6064" marR="6064" marT="6064" marB="0" anchor="b">
                    <a:lnL>
                      <a:noFill/>
                    </a:lnL>
                    <a:lnR>
                      <a:noFill/>
                    </a:lnR>
                    <a:lnT>
                      <a:noFill/>
                    </a:lnT>
                    <a:lnB>
                      <a:noFill/>
                    </a:lnB>
                    <a:solidFill>
                      <a:srgbClr val="085393"/>
                    </a:solidFill>
                  </a:tcPr>
                </a:tc>
                <a:tc>
                  <a:txBody>
                    <a:bodyPr/>
                    <a:lstStyle/>
                    <a:p>
                      <a:pPr algn="ctr" fontAlgn="b">
                        <a:buNone/>
                      </a:pPr>
                      <a:r>
                        <a:rPr lang="en-GB" sz="1050" b="0" i="0" u="none" strike="noStrike">
                          <a:solidFill>
                            <a:srgbClr val="FFFFFF"/>
                          </a:solidFill>
                          <a:effectLst/>
                          <a:latin typeface="Calibri" panose="020F0502020204030204" pitchFamily="34" charset="0"/>
                        </a:rPr>
                        <a:t>Period 1</a:t>
                      </a:r>
                    </a:p>
                  </a:txBody>
                  <a:tcPr marL="6064" marR="6064" marT="6064" marB="0" anchor="b">
                    <a:lnL>
                      <a:noFill/>
                    </a:lnL>
                    <a:lnR>
                      <a:noFill/>
                    </a:lnR>
                    <a:lnT>
                      <a:noFill/>
                    </a:lnT>
                    <a:lnB>
                      <a:noFill/>
                    </a:lnB>
                    <a:solidFill>
                      <a:srgbClr val="085393"/>
                    </a:solidFill>
                  </a:tcPr>
                </a:tc>
                <a:tc>
                  <a:txBody>
                    <a:bodyPr/>
                    <a:lstStyle/>
                    <a:p>
                      <a:pPr algn="ctr" fontAlgn="b">
                        <a:buNone/>
                      </a:pPr>
                      <a:r>
                        <a:rPr lang="en-GB" sz="1050" b="0" i="0" u="none" strike="noStrike">
                          <a:solidFill>
                            <a:srgbClr val="FFFFFF"/>
                          </a:solidFill>
                          <a:effectLst/>
                          <a:latin typeface="Calibri" panose="020F0502020204030204" pitchFamily="34" charset="0"/>
                        </a:rPr>
                        <a:t>Period 2</a:t>
                      </a:r>
                    </a:p>
                  </a:txBody>
                  <a:tcPr marL="6064" marR="6064" marT="6064" marB="0" anchor="b">
                    <a:lnL>
                      <a:noFill/>
                    </a:lnL>
                    <a:lnR>
                      <a:noFill/>
                    </a:lnR>
                    <a:lnT>
                      <a:noFill/>
                    </a:lnT>
                    <a:lnB>
                      <a:noFill/>
                    </a:lnB>
                    <a:solidFill>
                      <a:srgbClr val="085393"/>
                    </a:solidFill>
                  </a:tcPr>
                </a:tc>
                <a:tc>
                  <a:txBody>
                    <a:bodyPr/>
                    <a:lstStyle/>
                    <a:p>
                      <a:pPr algn="ctr" fontAlgn="b">
                        <a:buNone/>
                      </a:pPr>
                      <a:r>
                        <a:rPr lang="en-GB" sz="1050" b="0" i="0" u="none" strike="noStrike">
                          <a:solidFill>
                            <a:srgbClr val="FFFFFF"/>
                          </a:solidFill>
                          <a:effectLst/>
                          <a:latin typeface="Calibri" panose="020F0502020204030204" pitchFamily="34" charset="0"/>
                        </a:rPr>
                        <a:t>Period 3</a:t>
                      </a:r>
                    </a:p>
                  </a:txBody>
                  <a:tcPr marL="6064" marR="6064" marT="6064" marB="0" anchor="b">
                    <a:lnL>
                      <a:noFill/>
                    </a:lnL>
                    <a:lnR>
                      <a:noFill/>
                    </a:lnR>
                    <a:lnT>
                      <a:noFill/>
                    </a:lnT>
                    <a:lnB>
                      <a:noFill/>
                    </a:lnB>
                    <a:solidFill>
                      <a:srgbClr val="085393"/>
                    </a:solidFill>
                  </a:tcPr>
                </a:tc>
                <a:tc>
                  <a:txBody>
                    <a:bodyPr/>
                    <a:lstStyle/>
                    <a:p>
                      <a:pPr algn="ctr" fontAlgn="b">
                        <a:buNone/>
                      </a:pPr>
                      <a:r>
                        <a:rPr lang="en-GB" sz="1050" b="0" i="0" u="none" strike="noStrike">
                          <a:solidFill>
                            <a:srgbClr val="FFFFFF"/>
                          </a:solidFill>
                          <a:effectLst/>
                          <a:latin typeface="Calibri" panose="020F0502020204030204" pitchFamily="34" charset="0"/>
                        </a:rPr>
                        <a:t>Period 4</a:t>
                      </a:r>
                    </a:p>
                  </a:txBody>
                  <a:tcPr marL="6064" marR="6064" marT="6064" marB="0" anchor="b">
                    <a:lnL>
                      <a:noFill/>
                    </a:lnL>
                    <a:lnR>
                      <a:noFill/>
                    </a:lnR>
                    <a:lnT>
                      <a:noFill/>
                    </a:lnT>
                    <a:lnB>
                      <a:noFill/>
                    </a:lnB>
                    <a:solidFill>
                      <a:srgbClr val="085393"/>
                    </a:solidFill>
                  </a:tcPr>
                </a:tc>
                <a:tc>
                  <a:txBody>
                    <a:bodyPr/>
                    <a:lstStyle/>
                    <a:p>
                      <a:pPr algn="ctr" fontAlgn="b">
                        <a:buNone/>
                      </a:pPr>
                      <a:r>
                        <a:rPr lang="en-GB" sz="1050" b="0" i="0" u="none" strike="noStrike">
                          <a:solidFill>
                            <a:srgbClr val="FFFFFF"/>
                          </a:solidFill>
                          <a:effectLst/>
                          <a:latin typeface="Calibri" panose="020F0502020204030204" pitchFamily="34" charset="0"/>
                        </a:rPr>
                        <a:t>Period 5</a:t>
                      </a:r>
                    </a:p>
                  </a:txBody>
                  <a:tcPr marL="6064" marR="6064" marT="6064" marB="0" anchor="b">
                    <a:lnL>
                      <a:noFill/>
                    </a:lnL>
                    <a:lnR>
                      <a:noFill/>
                    </a:lnR>
                    <a:lnT>
                      <a:noFill/>
                    </a:lnT>
                    <a:lnB>
                      <a:noFill/>
                    </a:lnB>
                    <a:solidFill>
                      <a:srgbClr val="085393"/>
                    </a:solidFill>
                  </a:tcPr>
                </a:tc>
                <a:tc>
                  <a:txBody>
                    <a:bodyPr/>
                    <a:lstStyle/>
                    <a:p>
                      <a:pPr algn="ctr" fontAlgn="b">
                        <a:buNone/>
                      </a:pPr>
                      <a:r>
                        <a:rPr lang="en-GB" sz="1050" b="0" i="0" u="none" strike="noStrike">
                          <a:solidFill>
                            <a:srgbClr val="FFFFFF"/>
                          </a:solidFill>
                          <a:effectLst/>
                          <a:latin typeface="Calibri" panose="020F0502020204030204" pitchFamily="34" charset="0"/>
                        </a:rPr>
                        <a:t> </a:t>
                      </a:r>
                    </a:p>
                  </a:txBody>
                  <a:tcPr marL="6064" marR="6064" marT="6064" marB="0" anchor="b">
                    <a:lnL>
                      <a:noFill/>
                    </a:lnL>
                    <a:lnR>
                      <a:noFill/>
                    </a:lnR>
                    <a:lnT>
                      <a:noFill/>
                    </a:lnT>
                    <a:lnB>
                      <a:noFill/>
                    </a:lnB>
                    <a:solidFill>
                      <a:srgbClr val="085393"/>
                    </a:solidFill>
                  </a:tcPr>
                </a:tc>
                <a:extLst>
                  <a:ext uri="{0D108BD9-81ED-4DB2-BD59-A6C34878D82A}">
                    <a16:rowId xmlns:a16="http://schemas.microsoft.com/office/drawing/2014/main" val="2195264530"/>
                  </a:ext>
                </a:extLst>
              </a:tr>
              <a:tr h="168641">
                <a:tc>
                  <a:txBody>
                    <a:bodyPr/>
                    <a:lstStyle/>
                    <a:p>
                      <a:pPr algn="l" fontAlgn="ctr">
                        <a:buNone/>
                      </a:pPr>
                      <a:endParaRPr lang="en-GB" sz="1200" b="1" i="0" u="none" strike="noStrike">
                        <a:solidFill>
                          <a:srgbClr val="163260"/>
                        </a:solidFill>
                        <a:effectLst/>
                        <a:latin typeface="Calibri" panose="020F0502020204030204" pitchFamily="34" charset="0"/>
                      </a:endParaRPr>
                    </a:p>
                  </a:txBody>
                  <a:tcPr marL="6064" marR="6064" marT="6064" marB="0" anchor="ctr">
                    <a:lnL>
                      <a:noFill/>
                    </a:lnL>
                    <a:lnR>
                      <a:noFill/>
                    </a:lnR>
                    <a:lnT>
                      <a:noFill/>
                    </a:lnT>
                    <a:lnB>
                      <a:noFill/>
                    </a:lnB>
                    <a:noFill/>
                  </a:tcPr>
                </a:tc>
                <a:tc>
                  <a:txBody>
                    <a:bodyPr/>
                    <a:lstStyle/>
                    <a:p>
                      <a:pPr algn="l" fontAlgn="b">
                        <a:buNone/>
                      </a:pPr>
                      <a:r>
                        <a:rPr lang="en-GB" sz="1100" b="0" i="1" u="none" strike="noStrike">
                          <a:effectLst/>
                          <a:latin typeface="Calibri" panose="020F0502020204030204" pitchFamily="34" charset="0"/>
                        </a:rPr>
                        <a:t>All figures in millions unless otherwise stated </a:t>
                      </a:r>
                    </a:p>
                  </a:txBody>
                  <a:tcPr marL="6064" marR="6064" marT="6064" marB="0" anchor="b">
                    <a:lnL>
                      <a:noFill/>
                    </a:lnL>
                    <a:lnR>
                      <a:noFill/>
                    </a:lnR>
                    <a:lnT>
                      <a:noFill/>
                    </a:lnT>
                    <a:lnB>
                      <a:noFill/>
                    </a:lnB>
                    <a:noFill/>
                  </a:tcPr>
                </a:tc>
                <a:tc>
                  <a:txBody>
                    <a:bodyPr/>
                    <a:lstStyle/>
                    <a:p>
                      <a:pPr algn="l" fontAlgn="b">
                        <a:buNone/>
                      </a:pPr>
                      <a:endParaRPr lang="en-GB" sz="1100" b="0" i="1"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extLst>
                  <a:ext uri="{0D108BD9-81ED-4DB2-BD59-A6C34878D82A}">
                    <a16:rowId xmlns:a16="http://schemas.microsoft.com/office/drawing/2014/main" val="272482242"/>
                  </a:ext>
                </a:extLst>
              </a:tr>
              <a:tr h="168641">
                <a:tc>
                  <a:txBody>
                    <a:bodyPr/>
                    <a:lstStyle/>
                    <a:p>
                      <a:pPr algn="l" fontAlgn="ctr">
                        <a:buNone/>
                      </a:pPr>
                      <a:endParaRPr lang="en-GB" sz="1200" b="1" i="0" u="none" strike="noStrike">
                        <a:solidFill>
                          <a:srgbClr val="163260"/>
                        </a:solidFill>
                        <a:effectLst/>
                        <a:latin typeface="Calibri" panose="020F0502020204030204" pitchFamily="34" charset="0"/>
                      </a:endParaRPr>
                    </a:p>
                  </a:txBody>
                  <a:tcPr marL="6064" marR="6064" marT="6064" marB="0" anchor="ctr">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extLst>
                  <a:ext uri="{0D108BD9-81ED-4DB2-BD59-A6C34878D82A}">
                    <a16:rowId xmlns:a16="http://schemas.microsoft.com/office/drawing/2014/main" val="2530365125"/>
                  </a:ext>
                </a:extLst>
              </a:tr>
              <a:tr h="168641">
                <a:tc gridSpan="2">
                  <a:txBody>
                    <a:bodyPr/>
                    <a:lstStyle/>
                    <a:p>
                      <a:pPr algn="l" fontAlgn="ctr">
                        <a:buNone/>
                      </a:pPr>
                      <a:r>
                        <a:rPr lang="en-GB" sz="1200" b="1" i="0" u="none" strike="noStrike">
                          <a:solidFill>
                            <a:srgbClr val="163260"/>
                          </a:solidFill>
                          <a:effectLst/>
                          <a:latin typeface="Calibri" panose="020F0502020204030204" pitchFamily="34" charset="0"/>
                        </a:rPr>
                        <a:t>Discounted Cash Flow </a:t>
                      </a:r>
                    </a:p>
                  </a:txBody>
                  <a:tcPr marL="6064" marR="6064" marT="6064" marB="0" anchor="ctr">
                    <a:lnL>
                      <a:noFill/>
                    </a:lnL>
                    <a:lnR>
                      <a:noFill/>
                    </a:lnR>
                    <a:lnT>
                      <a:noFill/>
                    </a:lnT>
                    <a:lnB>
                      <a:noFill/>
                    </a:lnB>
                    <a:noFill/>
                  </a:tcPr>
                </a:tc>
                <a:tc hMerge="1">
                  <a:txBody>
                    <a:bodyPr/>
                    <a:lstStyle/>
                    <a:p>
                      <a:endParaRPr lang="en-GB"/>
                    </a:p>
                  </a:txBody>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w="6350" cap="flat" cmpd="sng" algn="ctr">
                      <a:solidFill>
                        <a:srgbClr val="BBDEFB"/>
                      </a:solidFill>
                      <a:prstDash val="solid"/>
                      <a:round/>
                      <a:headEnd type="none" w="med" len="med"/>
                      <a:tailEnd type="none" w="med" len="med"/>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extLst>
                  <a:ext uri="{0D108BD9-81ED-4DB2-BD59-A6C34878D82A}">
                    <a16:rowId xmlns:a16="http://schemas.microsoft.com/office/drawing/2014/main" val="971231217"/>
                  </a:ext>
                </a:extLst>
              </a:tr>
              <a:tr h="168641">
                <a:tc>
                  <a:txBody>
                    <a:bodyPr/>
                    <a:lstStyle/>
                    <a:p>
                      <a:pPr algn="l" fontAlgn="ctr">
                        <a:buNone/>
                      </a:pPr>
                      <a:endParaRPr lang="en-GB" sz="1200" b="1" i="0" u="none" strike="noStrike">
                        <a:solidFill>
                          <a:srgbClr val="163260"/>
                        </a:solidFill>
                        <a:effectLst/>
                        <a:latin typeface="Calibri" panose="020F0502020204030204" pitchFamily="34" charset="0"/>
                      </a:endParaRPr>
                    </a:p>
                  </a:txBody>
                  <a:tcPr marL="6064" marR="6064" marT="6064" marB="0" anchor="ctr">
                    <a:lnL>
                      <a:noFill/>
                    </a:lnL>
                    <a:lnR>
                      <a:noFill/>
                    </a:lnR>
                    <a:lnT>
                      <a:noFill/>
                    </a:lnT>
                    <a:lnB>
                      <a:noFill/>
                    </a:lnB>
                    <a:noFill/>
                  </a:tcPr>
                </a:tc>
                <a:tc>
                  <a:txBody>
                    <a:bodyPr/>
                    <a:lstStyle/>
                    <a:p>
                      <a:pPr algn="l" fontAlgn="b">
                        <a:buNone/>
                      </a:pPr>
                      <a:r>
                        <a:rPr lang="en-GB" sz="1100" b="0" i="0" u="none" strike="noStrike">
                          <a:effectLst/>
                          <a:latin typeface="Calibri" panose="020F0502020204030204" pitchFamily="34" charset="0"/>
                        </a:rPr>
                        <a:t>Tax rate </a:t>
                      </a:r>
                    </a:p>
                  </a:txBody>
                  <a:tcPr marL="6064" marR="6064" marT="6064" marB="0" anchor="b">
                    <a:lnL>
                      <a:noFill/>
                    </a:lnL>
                    <a:lnR w="6350" cap="flat" cmpd="sng" algn="ctr">
                      <a:solidFill>
                        <a:srgbClr val="BBDEFB"/>
                      </a:solidFill>
                      <a:prstDash val="solid"/>
                      <a:round/>
                      <a:headEnd type="none" w="med" len="med"/>
                      <a:tailEnd type="none" w="med" len="med"/>
                    </a:lnR>
                    <a:lnT>
                      <a:noFill/>
                    </a:lnT>
                    <a:lnB>
                      <a:noFill/>
                    </a:lnB>
                    <a:noFill/>
                  </a:tcPr>
                </a:tc>
                <a:tc>
                  <a:txBody>
                    <a:bodyPr/>
                    <a:lstStyle/>
                    <a:p>
                      <a:pPr algn="r" fontAlgn="b">
                        <a:buNone/>
                      </a:pPr>
                      <a:r>
                        <a:rPr lang="en-GB" sz="1100" b="0" i="0" u="none" strike="noStrike" dirty="0">
                          <a:solidFill>
                            <a:srgbClr val="0000FF"/>
                          </a:solidFill>
                          <a:effectLst/>
                          <a:latin typeface="Calibri" panose="020F0502020204030204" pitchFamily="34" charset="0"/>
                        </a:rPr>
                        <a:t>18.0% </a:t>
                      </a:r>
                    </a:p>
                  </a:txBody>
                  <a:tcPr marL="6064" marR="6064" marT="6064" marB="0" anchor="b">
                    <a:lnL w="6350" cap="flat" cmpd="sng" algn="ctr">
                      <a:solidFill>
                        <a:srgbClr val="BBDEFB"/>
                      </a:solidFill>
                      <a:prstDash val="solid"/>
                      <a:round/>
                      <a:headEnd type="none" w="med" len="med"/>
                      <a:tailEnd type="none" w="med" len="med"/>
                    </a:lnL>
                    <a:lnR w="6350" cap="flat" cmpd="sng" algn="ctr">
                      <a:solidFill>
                        <a:srgbClr val="BBDEFB"/>
                      </a:solidFill>
                      <a:prstDash val="solid"/>
                      <a:round/>
                      <a:headEnd type="none" w="med" len="med"/>
                      <a:tailEnd type="none" w="med" len="med"/>
                    </a:lnR>
                    <a:lnT w="6350" cap="flat" cmpd="sng" algn="ctr">
                      <a:solidFill>
                        <a:srgbClr val="BBDEFB"/>
                      </a:solidFill>
                      <a:prstDash val="solid"/>
                      <a:round/>
                      <a:headEnd type="none" w="med" len="med"/>
                      <a:tailEnd type="none" w="med" len="med"/>
                    </a:lnT>
                    <a:lnB w="6350" cap="flat" cmpd="sng" algn="ctr">
                      <a:solidFill>
                        <a:srgbClr val="BBDEFB"/>
                      </a:solidFill>
                      <a:prstDash val="solid"/>
                      <a:round/>
                      <a:headEnd type="none" w="med" len="med"/>
                      <a:tailEnd type="none" w="med" len="med"/>
                    </a:lnB>
                    <a:solidFill>
                      <a:srgbClr val="F0F8FE"/>
                    </a:solid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w="6350" cap="flat" cmpd="sng" algn="ctr">
                      <a:solidFill>
                        <a:srgbClr val="BBDEFB"/>
                      </a:solidFill>
                      <a:prstDash val="solid"/>
                      <a:round/>
                      <a:headEnd type="none" w="med" len="med"/>
                      <a:tailEnd type="none" w="med" len="med"/>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extLst>
                  <a:ext uri="{0D108BD9-81ED-4DB2-BD59-A6C34878D82A}">
                    <a16:rowId xmlns:a16="http://schemas.microsoft.com/office/drawing/2014/main" val="239031623"/>
                  </a:ext>
                </a:extLst>
              </a:tr>
              <a:tr h="168641">
                <a:tc>
                  <a:txBody>
                    <a:bodyPr/>
                    <a:lstStyle/>
                    <a:p>
                      <a:pPr algn="l" fontAlgn="ctr">
                        <a:buNone/>
                      </a:pPr>
                      <a:endParaRPr lang="en-GB" sz="1200" b="1" i="0" u="none" strike="noStrike">
                        <a:solidFill>
                          <a:srgbClr val="163260"/>
                        </a:solidFill>
                        <a:effectLst/>
                        <a:latin typeface="Calibri" panose="020F0502020204030204" pitchFamily="34" charset="0"/>
                      </a:endParaRPr>
                    </a:p>
                  </a:txBody>
                  <a:tcPr marL="6064" marR="6064" marT="6064" marB="0" anchor="ctr">
                    <a:lnL>
                      <a:noFill/>
                    </a:lnL>
                    <a:lnR>
                      <a:noFill/>
                    </a:lnR>
                    <a:lnT>
                      <a:noFill/>
                    </a:lnT>
                    <a:lnB>
                      <a:noFill/>
                    </a:lnB>
                    <a:noFill/>
                  </a:tcPr>
                </a:tc>
                <a:tc>
                  <a:txBody>
                    <a:bodyPr/>
                    <a:lstStyle/>
                    <a:p>
                      <a:pPr algn="l" fontAlgn="b">
                        <a:buNone/>
                      </a:pPr>
                      <a:r>
                        <a:rPr lang="en-GB" sz="1100" b="0" i="0" u="none" strike="noStrike">
                          <a:effectLst/>
                          <a:latin typeface="Calibri" panose="020F0502020204030204" pitchFamily="34" charset="0"/>
                        </a:rPr>
                        <a:t>Long term growth rate </a:t>
                      </a:r>
                    </a:p>
                  </a:txBody>
                  <a:tcPr marL="6064" marR="6064" marT="6064" marB="0" anchor="b">
                    <a:lnL>
                      <a:noFill/>
                    </a:lnL>
                    <a:lnR w="6350" cap="flat" cmpd="sng" algn="ctr">
                      <a:solidFill>
                        <a:srgbClr val="BBDEFB"/>
                      </a:solidFill>
                      <a:prstDash val="solid"/>
                      <a:round/>
                      <a:headEnd type="none" w="med" len="med"/>
                      <a:tailEnd type="none" w="med" len="med"/>
                    </a:lnR>
                    <a:lnT>
                      <a:noFill/>
                    </a:lnT>
                    <a:lnB>
                      <a:noFill/>
                    </a:lnB>
                    <a:noFill/>
                  </a:tcPr>
                </a:tc>
                <a:tc>
                  <a:txBody>
                    <a:bodyPr/>
                    <a:lstStyle/>
                    <a:p>
                      <a:pPr algn="r" fontAlgn="b">
                        <a:buNone/>
                      </a:pPr>
                      <a:r>
                        <a:rPr lang="en-GB" sz="1100" b="0" i="0" u="none" strike="noStrike">
                          <a:solidFill>
                            <a:srgbClr val="0000FF"/>
                          </a:solidFill>
                          <a:effectLst/>
                          <a:latin typeface="Calibri" panose="020F0502020204030204" pitchFamily="34" charset="0"/>
                        </a:rPr>
                        <a:t>2.0% </a:t>
                      </a:r>
                    </a:p>
                  </a:txBody>
                  <a:tcPr marL="6064" marR="6064" marT="6064" marB="0" anchor="b">
                    <a:lnL w="6350" cap="flat" cmpd="sng" algn="ctr">
                      <a:solidFill>
                        <a:srgbClr val="BBDEFB"/>
                      </a:solidFill>
                      <a:prstDash val="solid"/>
                      <a:round/>
                      <a:headEnd type="none" w="med" len="med"/>
                      <a:tailEnd type="none" w="med" len="med"/>
                    </a:lnL>
                    <a:lnR w="6350" cap="flat" cmpd="sng" algn="ctr">
                      <a:solidFill>
                        <a:srgbClr val="BBDEFB"/>
                      </a:solidFill>
                      <a:prstDash val="solid"/>
                      <a:round/>
                      <a:headEnd type="none" w="med" len="med"/>
                      <a:tailEnd type="none" w="med" len="med"/>
                    </a:lnR>
                    <a:lnT w="6350" cap="flat" cmpd="sng" algn="ctr">
                      <a:solidFill>
                        <a:srgbClr val="BBDEFB"/>
                      </a:solidFill>
                      <a:prstDash val="solid"/>
                      <a:round/>
                      <a:headEnd type="none" w="med" len="med"/>
                      <a:tailEnd type="none" w="med" len="med"/>
                    </a:lnT>
                    <a:lnB w="6350" cap="flat" cmpd="sng" algn="ctr">
                      <a:solidFill>
                        <a:srgbClr val="BBDEFB"/>
                      </a:solidFill>
                      <a:prstDash val="solid"/>
                      <a:round/>
                      <a:headEnd type="none" w="med" len="med"/>
                      <a:tailEnd type="none" w="med" len="med"/>
                    </a:lnB>
                    <a:solidFill>
                      <a:srgbClr val="F0F8FE"/>
                    </a:solid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w="6350" cap="flat" cmpd="sng" algn="ctr">
                      <a:solidFill>
                        <a:srgbClr val="BBDEFB"/>
                      </a:solidFill>
                      <a:prstDash val="solid"/>
                      <a:round/>
                      <a:headEnd type="none" w="med" len="med"/>
                      <a:tailEnd type="none" w="med" len="med"/>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extLst>
                  <a:ext uri="{0D108BD9-81ED-4DB2-BD59-A6C34878D82A}">
                    <a16:rowId xmlns:a16="http://schemas.microsoft.com/office/drawing/2014/main" val="3907857728"/>
                  </a:ext>
                </a:extLst>
              </a:tr>
              <a:tr h="168641">
                <a:tc>
                  <a:txBody>
                    <a:bodyPr/>
                    <a:lstStyle/>
                    <a:p>
                      <a:pPr algn="l" fontAlgn="ctr">
                        <a:buNone/>
                      </a:pPr>
                      <a:endParaRPr lang="en-GB" sz="1200" b="1" i="0" u="none" strike="noStrike">
                        <a:solidFill>
                          <a:srgbClr val="163260"/>
                        </a:solidFill>
                        <a:effectLst/>
                        <a:latin typeface="Calibri" panose="020F0502020204030204" pitchFamily="34" charset="0"/>
                      </a:endParaRPr>
                    </a:p>
                  </a:txBody>
                  <a:tcPr marL="6064" marR="6064" marT="6064" marB="0" anchor="ctr">
                    <a:lnL>
                      <a:noFill/>
                    </a:lnL>
                    <a:lnR>
                      <a:noFill/>
                    </a:lnR>
                    <a:lnT>
                      <a:noFill/>
                    </a:lnT>
                    <a:lnB>
                      <a:noFill/>
                    </a:lnB>
                    <a:noFill/>
                  </a:tcPr>
                </a:tc>
                <a:tc>
                  <a:txBody>
                    <a:bodyPr/>
                    <a:lstStyle/>
                    <a:p>
                      <a:pPr algn="l" fontAlgn="b">
                        <a:buNone/>
                      </a:pPr>
                      <a:r>
                        <a:rPr lang="en-GB" sz="1100" b="0" i="0" u="none" strike="noStrike">
                          <a:effectLst/>
                          <a:latin typeface="Calibri" panose="020F0502020204030204" pitchFamily="34" charset="0"/>
                        </a:rPr>
                        <a:t>WACC </a:t>
                      </a:r>
                    </a:p>
                  </a:txBody>
                  <a:tcPr marL="6064" marR="6064" marT="6064" marB="0" anchor="b">
                    <a:lnL>
                      <a:noFill/>
                    </a:lnL>
                    <a:lnR w="6350" cap="flat" cmpd="sng" algn="ctr">
                      <a:solidFill>
                        <a:srgbClr val="BBDEFB"/>
                      </a:solidFill>
                      <a:prstDash val="solid"/>
                      <a:round/>
                      <a:headEnd type="none" w="med" len="med"/>
                      <a:tailEnd type="none" w="med" len="med"/>
                    </a:lnR>
                    <a:lnT>
                      <a:noFill/>
                    </a:lnT>
                    <a:lnB>
                      <a:noFill/>
                    </a:lnB>
                    <a:noFill/>
                  </a:tcPr>
                </a:tc>
                <a:tc>
                  <a:txBody>
                    <a:bodyPr/>
                    <a:lstStyle/>
                    <a:p>
                      <a:pPr algn="r" fontAlgn="b">
                        <a:buNone/>
                      </a:pPr>
                      <a:r>
                        <a:rPr lang="en-GB" sz="1100" b="0" i="0" u="none" strike="noStrike">
                          <a:solidFill>
                            <a:srgbClr val="0000FF"/>
                          </a:solidFill>
                          <a:effectLst/>
                          <a:latin typeface="Calibri" panose="020F0502020204030204" pitchFamily="34" charset="0"/>
                        </a:rPr>
                        <a:t>10.5% </a:t>
                      </a:r>
                    </a:p>
                  </a:txBody>
                  <a:tcPr marL="6064" marR="6064" marT="6064" marB="0" anchor="b">
                    <a:lnL w="6350" cap="flat" cmpd="sng" algn="ctr">
                      <a:solidFill>
                        <a:srgbClr val="BBDEFB"/>
                      </a:solidFill>
                      <a:prstDash val="solid"/>
                      <a:round/>
                      <a:headEnd type="none" w="med" len="med"/>
                      <a:tailEnd type="none" w="med" len="med"/>
                    </a:lnL>
                    <a:lnR w="6350" cap="flat" cmpd="sng" algn="ctr">
                      <a:solidFill>
                        <a:srgbClr val="BBDEFB"/>
                      </a:solidFill>
                      <a:prstDash val="solid"/>
                      <a:round/>
                      <a:headEnd type="none" w="med" len="med"/>
                      <a:tailEnd type="none" w="med" len="med"/>
                    </a:lnR>
                    <a:lnT w="6350" cap="flat" cmpd="sng" algn="ctr">
                      <a:solidFill>
                        <a:srgbClr val="BBDEFB"/>
                      </a:solidFill>
                      <a:prstDash val="solid"/>
                      <a:round/>
                      <a:headEnd type="none" w="med" len="med"/>
                      <a:tailEnd type="none" w="med" len="med"/>
                    </a:lnT>
                    <a:lnB w="6350" cap="flat" cmpd="sng" algn="ctr">
                      <a:solidFill>
                        <a:srgbClr val="BBDEFB"/>
                      </a:solidFill>
                      <a:prstDash val="solid"/>
                      <a:round/>
                      <a:headEnd type="none" w="med" len="med"/>
                      <a:tailEnd type="none" w="med" len="med"/>
                    </a:lnB>
                    <a:solidFill>
                      <a:srgbClr val="F0F8FE"/>
                    </a:solid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w="6350" cap="flat" cmpd="sng" algn="ctr">
                      <a:solidFill>
                        <a:srgbClr val="BBDEFB"/>
                      </a:solidFill>
                      <a:prstDash val="solid"/>
                      <a:round/>
                      <a:headEnd type="none" w="med" len="med"/>
                      <a:tailEnd type="none" w="med" len="med"/>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extLst>
                  <a:ext uri="{0D108BD9-81ED-4DB2-BD59-A6C34878D82A}">
                    <a16:rowId xmlns:a16="http://schemas.microsoft.com/office/drawing/2014/main" val="1297720954"/>
                  </a:ext>
                </a:extLst>
              </a:tr>
              <a:tr h="168641">
                <a:tc>
                  <a:txBody>
                    <a:bodyPr/>
                    <a:lstStyle/>
                    <a:p>
                      <a:pPr algn="l" fontAlgn="ctr">
                        <a:buNone/>
                      </a:pPr>
                      <a:endParaRPr lang="en-GB" sz="1200" b="1" i="0" u="none" strike="noStrike">
                        <a:solidFill>
                          <a:srgbClr val="163260"/>
                        </a:solidFill>
                        <a:effectLst/>
                        <a:latin typeface="Calibri" panose="020F0502020204030204" pitchFamily="34" charset="0"/>
                      </a:endParaRPr>
                    </a:p>
                  </a:txBody>
                  <a:tcPr marL="6064" marR="6064" marT="6064" marB="0" anchor="ctr">
                    <a:lnL>
                      <a:noFill/>
                    </a:lnL>
                    <a:lnR>
                      <a:noFill/>
                    </a:lnR>
                    <a:lnT>
                      <a:noFill/>
                    </a:lnT>
                    <a:lnB>
                      <a:noFill/>
                    </a:lnB>
                    <a:noFill/>
                  </a:tcPr>
                </a:tc>
                <a:tc>
                  <a:txBody>
                    <a:bodyPr/>
                    <a:lstStyle/>
                    <a:p>
                      <a:pPr algn="l" fontAlgn="b">
                        <a:buNone/>
                      </a:pPr>
                      <a:r>
                        <a:rPr lang="en-GB" sz="1100" b="0" i="0" u="none" strike="noStrike">
                          <a:effectLst/>
                          <a:latin typeface="Calibri" panose="020F0502020204030204" pitchFamily="34" charset="0"/>
                        </a:rPr>
                        <a:t>Share price </a:t>
                      </a:r>
                    </a:p>
                  </a:txBody>
                  <a:tcPr marL="6064" marR="6064" marT="6064" marB="0" anchor="b">
                    <a:lnL>
                      <a:noFill/>
                    </a:lnL>
                    <a:lnR w="6350" cap="flat" cmpd="sng" algn="ctr">
                      <a:solidFill>
                        <a:srgbClr val="BBDEFB"/>
                      </a:solidFill>
                      <a:prstDash val="solid"/>
                      <a:round/>
                      <a:headEnd type="none" w="med" len="med"/>
                      <a:tailEnd type="none" w="med" len="med"/>
                    </a:lnR>
                    <a:lnT>
                      <a:noFill/>
                    </a:lnT>
                    <a:lnB>
                      <a:noFill/>
                    </a:lnB>
                    <a:noFill/>
                  </a:tcPr>
                </a:tc>
                <a:tc>
                  <a:txBody>
                    <a:bodyPr/>
                    <a:lstStyle/>
                    <a:p>
                      <a:pPr algn="r" fontAlgn="b">
                        <a:buNone/>
                      </a:pPr>
                      <a:r>
                        <a:rPr lang="en-GB" sz="1100" b="0" i="0" u="none" strike="noStrike">
                          <a:solidFill>
                            <a:srgbClr val="0000FF"/>
                          </a:solidFill>
                          <a:effectLst/>
                          <a:latin typeface="Calibri" panose="020F0502020204030204" pitchFamily="34" charset="0"/>
                        </a:rPr>
                        <a:t>8.29</a:t>
                      </a:r>
                    </a:p>
                  </a:txBody>
                  <a:tcPr marL="6064" marR="6064" marT="6064" marB="0" anchor="b">
                    <a:lnL w="6350" cap="flat" cmpd="sng" algn="ctr">
                      <a:solidFill>
                        <a:srgbClr val="BBDEFB"/>
                      </a:solidFill>
                      <a:prstDash val="solid"/>
                      <a:round/>
                      <a:headEnd type="none" w="med" len="med"/>
                      <a:tailEnd type="none" w="med" len="med"/>
                    </a:lnL>
                    <a:lnR w="6350" cap="flat" cmpd="sng" algn="ctr">
                      <a:solidFill>
                        <a:srgbClr val="BBDEFB"/>
                      </a:solidFill>
                      <a:prstDash val="solid"/>
                      <a:round/>
                      <a:headEnd type="none" w="med" len="med"/>
                      <a:tailEnd type="none" w="med" len="med"/>
                    </a:lnR>
                    <a:lnT w="6350" cap="flat" cmpd="sng" algn="ctr">
                      <a:solidFill>
                        <a:srgbClr val="BBDEFB"/>
                      </a:solidFill>
                      <a:prstDash val="solid"/>
                      <a:round/>
                      <a:headEnd type="none" w="med" len="med"/>
                      <a:tailEnd type="none" w="med" len="med"/>
                    </a:lnT>
                    <a:lnB w="6350" cap="flat" cmpd="sng" algn="ctr">
                      <a:solidFill>
                        <a:srgbClr val="BBDEFB"/>
                      </a:solidFill>
                      <a:prstDash val="solid"/>
                      <a:round/>
                      <a:headEnd type="none" w="med" len="med"/>
                      <a:tailEnd type="none" w="med" len="med"/>
                    </a:lnB>
                    <a:solidFill>
                      <a:srgbClr val="F0F8FE"/>
                    </a:solid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w="6350" cap="flat" cmpd="sng" algn="ctr">
                      <a:solidFill>
                        <a:srgbClr val="BBDEFB"/>
                      </a:solidFill>
                      <a:prstDash val="solid"/>
                      <a:round/>
                      <a:headEnd type="none" w="med" len="med"/>
                      <a:tailEnd type="none" w="med" len="med"/>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extLst>
                  <a:ext uri="{0D108BD9-81ED-4DB2-BD59-A6C34878D82A}">
                    <a16:rowId xmlns:a16="http://schemas.microsoft.com/office/drawing/2014/main" val="1927721338"/>
                  </a:ext>
                </a:extLst>
              </a:tr>
              <a:tr h="168641">
                <a:tc>
                  <a:txBody>
                    <a:bodyPr/>
                    <a:lstStyle/>
                    <a:p>
                      <a:pPr algn="l" fontAlgn="ctr">
                        <a:buNone/>
                      </a:pPr>
                      <a:endParaRPr lang="en-GB" sz="1200" b="1" i="0" u="none" strike="noStrike">
                        <a:solidFill>
                          <a:srgbClr val="163260"/>
                        </a:solidFill>
                        <a:effectLst/>
                        <a:latin typeface="Calibri" panose="020F0502020204030204" pitchFamily="34" charset="0"/>
                      </a:endParaRPr>
                    </a:p>
                  </a:txBody>
                  <a:tcPr marL="6064" marR="6064" marT="6064" marB="0" anchor="ctr">
                    <a:lnL>
                      <a:noFill/>
                    </a:lnL>
                    <a:lnR>
                      <a:noFill/>
                    </a:lnR>
                    <a:lnT>
                      <a:noFill/>
                    </a:lnT>
                    <a:lnB>
                      <a:noFill/>
                    </a:lnB>
                    <a:noFill/>
                  </a:tcPr>
                </a:tc>
                <a:tc>
                  <a:txBody>
                    <a:bodyPr/>
                    <a:lstStyle/>
                    <a:p>
                      <a:pPr algn="l" fontAlgn="b">
                        <a:buNone/>
                      </a:pPr>
                      <a:r>
                        <a:rPr lang="en-GB" sz="1100" b="0" i="0" u="none" strike="noStrike">
                          <a:effectLst/>
                          <a:latin typeface="Calibri" panose="020F0502020204030204" pitchFamily="34" charset="0"/>
                        </a:rPr>
                        <a:t>Shares outstanding </a:t>
                      </a:r>
                    </a:p>
                  </a:txBody>
                  <a:tcPr marL="6064" marR="6064" marT="6064" marB="0" anchor="b">
                    <a:lnL>
                      <a:noFill/>
                    </a:lnL>
                    <a:lnR w="6350" cap="flat" cmpd="sng" algn="ctr">
                      <a:solidFill>
                        <a:srgbClr val="BBDEFB"/>
                      </a:solidFill>
                      <a:prstDash val="solid"/>
                      <a:round/>
                      <a:headEnd type="none" w="med" len="med"/>
                      <a:tailEnd type="none" w="med" len="med"/>
                    </a:lnR>
                    <a:lnT>
                      <a:noFill/>
                    </a:lnT>
                    <a:lnB>
                      <a:noFill/>
                    </a:lnB>
                    <a:noFill/>
                  </a:tcPr>
                </a:tc>
                <a:tc>
                  <a:txBody>
                    <a:bodyPr/>
                    <a:lstStyle/>
                    <a:p>
                      <a:pPr algn="r" fontAlgn="b">
                        <a:buNone/>
                      </a:pPr>
                      <a:r>
                        <a:rPr lang="en-GB" sz="1100" b="0" i="0" u="none" strike="noStrike">
                          <a:solidFill>
                            <a:srgbClr val="0000FF"/>
                          </a:solidFill>
                          <a:effectLst/>
                          <a:latin typeface="Calibri" panose="020F0502020204030204" pitchFamily="34" charset="0"/>
                        </a:rPr>
                        <a:t>272.0 </a:t>
                      </a:r>
                    </a:p>
                  </a:txBody>
                  <a:tcPr marL="6064" marR="6064" marT="6064" marB="0" anchor="b">
                    <a:lnL w="6350" cap="flat" cmpd="sng" algn="ctr">
                      <a:solidFill>
                        <a:srgbClr val="BBDEFB"/>
                      </a:solidFill>
                      <a:prstDash val="solid"/>
                      <a:round/>
                      <a:headEnd type="none" w="med" len="med"/>
                      <a:tailEnd type="none" w="med" len="med"/>
                    </a:lnL>
                    <a:lnR w="6350" cap="flat" cmpd="sng" algn="ctr">
                      <a:solidFill>
                        <a:srgbClr val="BBDEFB"/>
                      </a:solidFill>
                      <a:prstDash val="solid"/>
                      <a:round/>
                      <a:headEnd type="none" w="med" len="med"/>
                      <a:tailEnd type="none" w="med" len="med"/>
                    </a:lnR>
                    <a:lnT w="6350" cap="flat" cmpd="sng" algn="ctr">
                      <a:solidFill>
                        <a:srgbClr val="BBDEFB"/>
                      </a:solidFill>
                      <a:prstDash val="solid"/>
                      <a:round/>
                      <a:headEnd type="none" w="med" len="med"/>
                      <a:tailEnd type="none" w="med" len="med"/>
                    </a:lnT>
                    <a:lnB w="6350" cap="flat" cmpd="sng" algn="ctr">
                      <a:solidFill>
                        <a:srgbClr val="BBDEFB"/>
                      </a:solidFill>
                      <a:prstDash val="solid"/>
                      <a:round/>
                      <a:headEnd type="none" w="med" len="med"/>
                      <a:tailEnd type="none" w="med" len="med"/>
                    </a:lnB>
                    <a:solidFill>
                      <a:srgbClr val="F0F8FE"/>
                    </a:solid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w="6350" cap="flat" cmpd="sng" algn="ctr">
                      <a:solidFill>
                        <a:srgbClr val="BBDEFB"/>
                      </a:solidFill>
                      <a:prstDash val="solid"/>
                      <a:round/>
                      <a:headEnd type="none" w="med" len="med"/>
                      <a:tailEnd type="none" w="med" len="med"/>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extLst>
                  <a:ext uri="{0D108BD9-81ED-4DB2-BD59-A6C34878D82A}">
                    <a16:rowId xmlns:a16="http://schemas.microsoft.com/office/drawing/2014/main" val="1053570656"/>
                  </a:ext>
                </a:extLst>
              </a:tr>
              <a:tr h="168641">
                <a:tc>
                  <a:txBody>
                    <a:bodyPr/>
                    <a:lstStyle/>
                    <a:p>
                      <a:pPr algn="l" fontAlgn="ctr">
                        <a:buNone/>
                      </a:pPr>
                      <a:endParaRPr lang="en-GB" sz="1200" b="1" i="0" u="none" strike="noStrike">
                        <a:solidFill>
                          <a:srgbClr val="163260"/>
                        </a:solidFill>
                        <a:effectLst/>
                        <a:latin typeface="Calibri" panose="020F0502020204030204" pitchFamily="34" charset="0"/>
                      </a:endParaRPr>
                    </a:p>
                  </a:txBody>
                  <a:tcPr marL="6064" marR="6064" marT="6064" marB="0" anchor="ctr">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w="6350" cap="flat" cmpd="sng" algn="ctr">
                      <a:solidFill>
                        <a:srgbClr val="BBDEFB"/>
                      </a:solidFill>
                      <a:prstDash val="solid"/>
                      <a:round/>
                      <a:headEnd type="none" w="med" len="med"/>
                      <a:tailEnd type="none" w="med" len="med"/>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extLst>
                  <a:ext uri="{0D108BD9-81ED-4DB2-BD59-A6C34878D82A}">
                    <a16:rowId xmlns:a16="http://schemas.microsoft.com/office/drawing/2014/main" val="1909174154"/>
                  </a:ext>
                </a:extLst>
              </a:tr>
              <a:tr h="168641">
                <a:tc>
                  <a:txBody>
                    <a:bodyPr/>
                    <a:lstStyle/>
                    <a:p>
                      <a:pPr algn="l" fontAlgn="ctr">
                        <a:buNone/>
                      </a:pPr>
                      <a:endParaRPr lang="en-GB" sz="1200" b="1" i="0" u="none" strike="noStrike">
                        <a:solidFill>
                          <a:srgbClr val="163260"/>
                        </a:solidFill>
                        <a:effectLst/>
                        <a:latin typeface="Calibri" panose="020F0502020204030204" pitchFamily="34" charset="0"/>
                      </a:endParaRPr>
                    </a:p>
                  </a:txBody>
                  <a:tcPr marL="6064" marR="6064" marT="6064" marB="0" anchor="ctr">
                    <a:lnL>
                      <a:noFill/>
                    </a:lnL>
                    <a:lnR>
                      <a:noFill/>
                    </a:lnR>
                    <a:lnT>
                      <a:noFill/>
                    </a:lnT>
                    <a:lnB>
                      <a:noFill/>
                    </a:lnB>
                    <a:noFill/>
                  </a:tcPr>
                </a:tc>
                <a:tc>
                  <a:txBody>
                    <a:bodyPr/>
                    <a:lstStyle/>
                    <a:p>
                      <a:pPr algn="l" fontAlgn="b">
                        <a:buNone/>
                      </a:pPr>
                      <a:r>
                        <a:rPr lang="en-GB" sz="1100" b="0" i="0" u="none" strike="noStrike">
                          <a:effectLst/>
                          <a:latin typeface="Calibri" panose="020F0502020204030204" pitchFamily="34" charset="0"/>
                        </a:rPr>
                        <a:t>Year count </a:t>
                      </a: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r" fontAlgn="b">
                        <a:buNone/>
                      </a:pPr>
                      <a:r>
                        <a:rPr lang="en-GB" sz="1100" b="0" i="0" u="none" strike="noStrike">
                          <a:effectLst/>
                          <a:latin typeface="Calibri" panose="020F0502020204030204" pitchFamily="34" charset="0"/>
                        </a:rPr>
                        <a:t>1.0 </a:t>
                      </a:r>
                    </a:p>
                  </a:txBody>
                  <a:tcPr marL="6064" marR="6064" marT="6064" marB="0" anchor="b">
                    <a:lnL>
                      <a:noFill/>
                    </a:lnL>
                    <a:lnR>
                      <a:noFill/>
                    </a:lnR>
                    <a:lnT>
                      <a:noFill/>
                    </a:lnT>
                    <a:lnB>
                      <a:noFill/>
                    </a:lnB>
                    <a:noFill/>
                  </a:tcPr>
                </a:tc>
                <a:tc>
                  <a:txBody>
                    <a:bodyPr/>
                    <a:lstStyle/>
                    <a:p>
                      <a:pPr algn="r" fontAlgn="b">
                        <a:buNone/>
                      </a:pPr>
                      <a:r>
                        <a:rPr lang="en-GB" sz="1100" b="0" i="0" u="none" strike="noStrike">
                          <a:effectLst/>
                          <a:latin typeface="Calibri" panose="020F0502020204030204" pitchFamily="34" charset="0"/>
                        </a:rPr>
                        <a:t>2.0 </a:t>
                      </a:r>
                    </a:p>
                  </a:txBody>
                  <a:tcPr marL="6064" marR="6064" marT="6064" marB="0" anchor="b">
                    <a:lnL>
                      <a:noFill/>
                    </a:lnL>
                    <a:lnR>
                      <a:noFill/>
                    </a:lnR>
                    <a:lnT>
                      <a:noFill/>
                    </a:lnT>
                    <a:lnB>
                      <a:noFill/>
                    </a:lnB>
                    <a:noFill/>
                  </a:tcPr>
                </a:tc>
                <a:tc>
                  <a:txBody>
                    <a:bodyPr/>
                    <a:lstStyle/>
                    <a:p>
                      <a:pPr algn="r" fontAlgn="b">
                        <a:buNone/>
                      </a:pPr>
                      <a:r>
                        <a:rPr lang="en-GB" sz="1100" b="0" i="0" u="none" strike="noStrike">
                          <a:effectLst/>
                          <a:latin typeface="Calibri" panose="020F0502020204030204" pitchFamily="34" charset="0"/>
                        </a:rPr>
                        <a:t>3.0 </a:t>
                      </a:r>
                    </a:p>
                  </a:txBody>
                  <a:tcPr marL="6064" marR="6064" marT="6064" marB="0" anchor="b">
                    <a:lnL>
                      <a:noFill/>
                    </a:lnL>
                    <a:lnR>
                      <a:noFill/>
                    </a:lnR>
                    <a:lnT>
                      <a:noFill/>
                    </a:lnT>
                    <a:lnB>
                      <a:noFill/>
                    </a:lnB>
                    <a:noFill/>
                  </a:tcPr>
                </a:tc>
                <a:tc>
                  <a:txBody>
                    <a:bodyPr/>
                    <a:lstStyle/>
                    <a:p>
                      <a:pPr algn="r" fontAlgn="b">
                        <a:buNone/>
                      </a:pPr>
                      <a:r>
                        <a:rPr lang="en-GB" sz="1100" b="0" i="0" u="none" strike="noStrike">
                          <a:effectLst/>
                          <a:latin typeface="Calibri" panose="020F0502020204030204" pitchFamily="34" charset="0"/>
                        </a:rPr>
                        <a:t>4.0 </a:t>
                      </a:r>
                    </a:p>
                  </a:txBody>
                  <a:tcPr marL="6064" marR="6064" marT="6064" marB="0" anchor="b">
                    <a:lnL>
                      <a:noFill/>
                    </a:lnL>
                    <a:lnR>
                      <a:noFill/>
                    </a:lnR>
                    <a:lnT>
                      <a:noFill/>
                    </a:lnT>
                    <a:lnB>
                      <a:noFill/>
                    </a:lnB>
                    <a:noFill/>
                  </a:tcPr>
                </a:tc>
                <a:tc>
                  <a:txBody>
                    <a:bodyPr/>
                    <a:lstStyle/>
                    <a:p>
                      <a:pPr algn="r" fontAlgn="b">
                        <a:buNone/>
                      </a:pPr>
                      <a:r>
                        <a:rPr lang="en-GB" sz="1100" b="0" i="0" u="none" strike="noStrike">
                          <a:effectLst/>
                          <a:latin typeface="Calibri" panose="020F0502020204030204" pitchFamily="34" charset="0"/>
                        </a:rPr>
                        <a:t>5.0 </a:t>
                      </a: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extLst>
                  <a:ext uri="{0D108BD9-81ED-4DB2-BD59-A6C34878D82A}">
                    <a16:rowId xmlns:a16="http://schemas.microsoft.com/office/drawing/2014/main" val="3859401594"/>
                  </a:ext>
                </a:extLst>
              </a:tr>
              <a:tr h="168641">
                <a:tc>
                  <a:txBody>
                    <a:bodyPr/>
                    <a:lstStyle/>
                    <a:p>
                      <a:pPr algn="l" fontAlgn="ctr">
                        <a:buNone/>
                      </a:pPr>
                      <a:endParaRPr lang="en-GB" sz="1200" b="1" i="0" u="none" strike="noStrike">
                        <a:solidFill>
                          <a:srgbClr val="163260"/>
                        </a:solidFill>
                        <a:effectLst/>
                        <a:latin typeface="Calibri" panose="020F0502020204030204" pitchFamily="34" charset="0"/>
                      </a:endParaRPr>
                    </a:p>
                  </a:txBody>
                  <a:tcPr marL="6064" marR="6064" marT="6064" marB="0" anchor="ctr">
                    <a:lnL>
                      <a:noFill/>
                    </a:lnL>
                    <a:lnR>
                      <a:noFill/>
                    </a:lnR>
                    <a:lnT>
                      <a:noFill/>
                    </a:lnT>
                    <a:lnB>
                      <a:noFill/>
                    </a:lnB>
                    <a:noFill/>
                  </a:tcPr>
                </a:tc>
                <a:tc>
                  <a:txBody>
                    <a:bodyPr/>
                    <a:lstStyle/>
                    <a:p>
                      <a:pPr algn="l" fontAlgn="b">
                        <a:buNone/>
                      </a:pPr>
                      <a:r>
                        <a:rPr lang="en-GB" sz="1100" b="0" i="0" u="none" strike="noStrike">
                          <a:effectLst/>
                          <a:latin typeface="Calibri" panose="020F0502020204030204" pitchFamily="34" charset="0"/>
                        </a:rPr>
                        <a:t>EBIT </a:t>
                      </a: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r" fontAlgn="b">
                        <a:buNone/>
                      </a:pPr>
                      <a:r>
                        <a:rPr lang="en-GB" sz="1100" b="0" i="0" u="none" strike="noStrike">
                          <a:solidFill>
                            <a:srgbClr val="0000FF"/>
                          </a:solidFill>
                          <a:effectLst/>
                          <a:latin typeface="Calibri" panose="020F0502020204030204" pitchFamily="34" charset="0"/>
                        </a:rPr>
                        <a:t>227.8 </a:t>
                      </a:r>
                    </a:p>
                  </a:txBody>
                  <a:tcPr marL="6064" marR="6064" marT="6064" marB="0" anchor="b">
                    <a:lnL>
                      <a:noFill/>
                    </a:lnL>
                    <a:lnR>
                      <a:noFill/>
                    </a:lnR>
                    <a:lnT>
                      <a:noFill/>
                    </a:lnT>
                    <a:lnB>
                      <a:noFill/>
                    </a:lnB>
                    <a:noFill/>
                  </a:tcPr>
                </a:tc>
                <a:tc>
                  <a:txBody>
                    <a:bodyPr/>
                    <a:lstStyle/>
                    <a:p>
                      <a:pPr algn="r" fontAlgn="b">
                        <a:buNone/>
                      </a:pPr>
                      <a:r>
                        <a:rPr lang="en-GB" sz="1100" b="0" i="0" u="none" strike="noStrike">
                          <a:solidFill>
                            <a:srgbClr val="0000FF"/>
                          </a:solidFill>
                          <a:effectLst/>
                          <a:latin typeface="Calibri" panose="020F0502020204030204" pitchFamily="34" charset="0"/>
                        </a:rPr>
                        <a:t>250.5 </a:t>
                      </a:r>
                    </a:p>
                  </a:txBody>
                  <a:tcPr marL="6064" marR="6064" marT="6064" marB="0" anchor="b">
                    <a:lnL>
                      <a:noFill/>
                    </a:lnL>
                    <a:lnR>
                      <a:noFill/>
                    </a:lnR>
                    <a:lnT>
                      <a:noFill/>
                    </a:lnT>
                    <a:lnB>
                      <a:noFill/>
                    </a:lnB>
                    <a:noFill/>
                  </a:tcPr>
                </a:tc>
                <a:tc>
                  <a:txBody>
                    <a:bodyPr/>
                    <a:lstStyle/>
                    <a:p>
                      <a:pPr algn="r" fontAlgn="b">
                        <a:buNone/>
                      </a:pPr>
                      <a:r>
                        <a:rPr lang="en-GB" sz="1100" b="0" i="0" u="none" strike="noStrike">
                          <a:solidFill>
                            <a:srgbClr val="0000FF"/>
                          </a:solidFill>
                          <a:effectLst/>
                          <a:latin typeface="Calibri" panose="020F0502020204030204" pitchFamily="34" charset="0"/>
                        </a:rPr>
                        <a:t>250.4 </a:t>
                      </a:r>
                    </a:p>
                  </a:txBody>
                  <a:tcPr marL="6064" marR="6064" marT="6064" marB="0" anchor="b">
                    <a:lnL>
                      <a:noFill/>
                    </a:lnL>
                    <a:lnR>
                      <a:noFill/>
                    </a:lnR>
                    <a:lnT>
                      <a:noFill/>
                    </a:lnT>
                    <a:lnB>
                      <a:noFill/>
                    </a:lnB>
                    <a:noFill/>
                  </a:tcPr>
                </a:tc>
                <a:tc>
                  <a:txBody>
                    <a:bodyPr/>
                    <a:lstStyle/>
                    <a:p>
                      <a:pPr algn="r" fontAlgn="b">
                        <a:buNone/>
                      </a:pPr>
                      <a:r>
                        <a:rPr lang="en-GB" sz="1100" b="0" i="0" u="none" strike="noStrike">
                          <a:solidFill>
                            <a:srgbClr val="0000FF"/>
                          </a:solidFill>
                          <a:effectLst/>
                          <a:latin typeface="Calibri" panose="020F0502020204030204" pitchFamily="34" charset="0"/>
                        </a:rPr>
                        <a:t>248.8 </a:t>
                      </a:r>
                    </a:p>
                  </a:txBody>
                  <a:tcPr marL="6064" marR="6064" marT="6064" marB="0" anchor="b">
                    <a:lnL>
                      <a:noFill/>
                    </a:lnL>
                    <a:lnR>
                      <a:noFill/>
                    </a:lnR>
                    <a:lnT>
                      <a:noFill/>
                    </a:lnT>
                    <a:lnB>
                      <a:noFill/>
                    </a:lnB>
                    <a:noFill/>
                  </a:tcPr>
                </a:tc>
                <a:tc>
                  <a:txBody>
                    <a:bodyPr/>
                    <a:lstStyle/>
                    <a:p>
                      <a:pPr algn="r" fontAlgn="b">
                        <a:buNone/>
                      </a:pPr>
                      <a:r>
                        <a:rPr lang="en-GB" sz="1100" b="0" i="0" u="none" strike="noStrike">
                          <a:solidFill>
                            <a:srgbClr val="0000FF"/>
                          </a:solidFill>
                          <a:effectLst/>
                          <a:latin typeface="Calibri" panose="020F0502020204030204" pitchFamily="34" charset="0"/>
                        </a:rPr>
                        <a:t>241.5 </a:t>
                      </a: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extLst>
                  <a:ext uri="{0D108BD9-81ED-4DB2-BD59-A6C34878D82A}">
                    <a16:rowId xmlns:a16="http://schemas.microsoft.com/office/drawing/2014/main" val="1412114973"/>
                  </a:ext>
                </a:extLst>
              </a:tr>
              <a:tr h="168641">
                <a:tc>
                  <a:txBody>
                    <a:bodyPr/>
                    <a:lstStyle/>
                    <a:p>
                      <a:pPr algn="l" fontAlgn="ctr">
                        <a:buNone/>
                      </a:pPr>
                      <a:endParaRPr lang="en-GB" sz="1200" b="1" i="0" u="none" strike="noStrike">
                        <a:solidFill>
                          <a:srgbClr val="163260"/>
                        </a:solidFill>
                        <a:effectLst/>
                        <a:latin typeface="Calibri" panose="020F0502020204030204" pitchFamily="34" charset="0"/>
                      </a:endParaRPr>
                    </a:p>
                  </a:txBody>
                  <a:tcPr marL="6064" marR="6064" marT="6064" marB="0" anchor="ctr">
                    <a:lnL>
                      <a:noFill/>
                    </a:lnL>
                    <a:lnR>
                      <a:noFill/>
                    </a:lnR>
                    <a:lnT>
                      <a:noFill/>
                    </a:lnT>
                    <a:lnB>
                      <a:noFill/>
                    </a:lnB>
                    <a:noFill/>
                  </a:tcPr>
                </a:tc>
                <a:tc>
                  <a:txBody>
                    <a:bodyPr/>
                    <a:lstStyle/>
                    <a:p>
                      <a:pPr algn="l" fontAlgn="b">
                        <a:buNone/>
                      </a:pPr>
                      <a:r>
                        <a:rPr lang="en-GB" sz="1100" b="0" i="0" u="none" strike="noStrike">
                          <a:effectLst/>
                          <a:latin typeface="Calibri" panose="020F0502020204030204" pitchFamily="34" charset="0"/>
                        </a:rPr>
                        <a:t>Tax on EBIT </a:t>
                      </a: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r" fontAlgn="b">
                        <a:buNone/>
                      </a:pPr>
                      <a:r>
                        <a:rPr lang="en-GB" sz="1100" b="0" i="0" u="none" strike="noStrike">
                          <a:effectLst/>
                          <a:latin typeface="Calibri" panose="020F0502020204030204" pitchFamily="34" charset="0"/>
                        </a:rPr>
                        <a:t>(41.0)</a:t>
                      </a:r>
                    </a:p>
                  </a:txBody>
                  <a:tcPr marL="6064" marR="6064" marT="6064" marB="0" anchor="b">
                    <a:lnL>
                      <a:noFill/>
                    </a:lnL>
                    <a:lnR>
                      <a:noFill/>
                    </a:lnR>
                    <a:lnT>
                      <a:noFill/>
                    </a:lnT>
                    <a:lnB>
                      <a:noFill/>
                    </a:lnB>
                    <a:noFill/>
                  </a:tcPr>
                </a:tc>
                <a:tc>
                  <a:txBody>
                    <a:bodyPr/>
                    <a:lstStyle/>
                    <a:p>
                      <a:pPr algn="r" fontAlgn="b">
                        <a:buNone/>
                      </a:pPr>
                      <a:r>
                        <a:rPr lang="en-GB" sz="1100" b="0" i="0" u="none" strike="noStrike">
                          <a:effectLst/>
                          <a:latin typeface="Calibri" panose="020F0502020204030204" pitchFamily="34" charset="0"/>
                        </a:rPr>
                        <a:t>(45.1)</a:t>
                      </a:r>
                    </a:p>
                  </a:txBody>
                  <a:tcPr marL="6064" marR="6064" marT="6064" marB="0" anchor="b">
                    <a:lnL>
                      <a:noFill/>
                    </a:lnL>
                    <a:lnR>
                      <a:noFill/>
                    </a:lnR>
                    <a:lnT>
                      <a:noFill/>
                    </a:lnT>
                    <a:lnB>
                      <a:noFill/>
                    </a:lnB>
                    <a:noFill/>
                  </a:tcPr>
                </a:tc>
                <a:tc>
                  <a:txBody>
                    <a:bodyPr/>
                    <a:lstStyle/>
                    <a:p>
                      <a:pPr algn="r" fontAlgn="b">
                        <a:buNone/>
                      </a:pPr>
                      <a:r>
                        <a:rPr lang="en-GB" sz="1100" b="0" i="0" u="none" strike="noStrike">
                          <a:effectLst/>
                          <a:latin typeface="Calibri" panose="020F0502020204030204" pitchFamily="34" charset="0"/>
                        </a:rPr>
                        <a:t>(45.1)</a:t>
                      </a:r>
                    </a:p>
                  </a:txBody>
                  <a:tcPr marL="6064" marR="6064" marT="6064" marB="0" anchor="b">
                    <a:lnL>
                      <a:noFill/>
                    </a:lnL>
                    <a:lnR>
                      <a:noFill/>
                    </a:lnR>
                    <a:lnT>
                      <a:noFill/>
                    </a:lnT>
                    <a:lnB>
                      <a:noFill/>
                    </a:lnB>
                    <a:noFill/>
                  </a:tcPr>
                </a:tc>
                <a:tc>
                  <a:txBody>
                    <a:bodyPr/>
                    <a:lstStyle/>
                    <a:p>
                      <a:pPr algn="r" fontAlgn="b">
                        <a:buNone/>
                      </a:pPr>
                      <a:r>
                        <a:rPr lang="en-GB" sz="1100" b="0" i="0" u="none" strike="noStrike">
                          <a:effectLst/>
                          <a:latin typeface="Calibri" panose="020F0502020204030204" pitchFamily="34" charset="0"/>
                        </a:rPr>
                        <a:t>(44.8)</a:t>
                      </a:r>
                    </a:p>
                  </a:txBody>
                  <a:tcPr marL="6064" marR="6064" marT="6064" marB="0" anchor="b">
                    <a:lnL>
                      <a:noFill/>
                    </a:lnL>
                    <a:lnR>
                      <a:noFill/>
                    </a:lnR>
                    <a:lnT>
                      <a:noFill/>
                    </a:lnT>
                    <a:lnB>
                      <a:noFill/>
                    </a:lnB>
                    <a:noFill/>
                  </a:tcPr>
                </a:tc>
                <a:tc>
                  <a:txBody>
                    <a:bodyPr/>
                    <a:lstStyle/>
                    <a:p>
                      <a:pPr algn="r" fontAlgn="b">
                        <a:buNone/>
                      </a:pPr>
                      <a:r>
                        <a:rPr lang="en-GB" sz="1100" b="0" i="0" u="none" strike="noStrike">
                          <a:effectLst/>
                          <a:latin typeface="Calibri" panose="020F0502020204030204" pitchFamily="34" charset="0"/>
                        </a:rPr>
                        <a:t>(43.5)</a:t>
                      </a: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extLst>
                  <a:ext uri="{0D108BD9-81ED-4DB2-BD59-A6C34878D82A}">
                    <a16:rowId xmlns:a16="http://schemas.microsoft.com/office/drawing/2014/main" val="3847892732"/>
                  </a:ext>
                </a:extLst>
              </a:tr>
              <a:tr h="168641">
                <a:tc>
                  <a:txBody>
                    <a:bodyPr/>
                    <a:lstStyle/>
                    <a:p>
                      <a:pPr algn="l" fontAlgn="ctr">
                        <a:buNone/>
                      </a:pPr>
                      <a:endParaRPr lang="en-GB" sz="1200" b="1" i="0" u="none" strike="noStrike">
                        <a:solidFill>
                          <a:srgbClr val="163260"/>
                        </a:solidFill>
                        <a:effectLst/>
                        <a:latin typeface="Calibri" panose="020F0502020204030204" pitchFamily="34" charset="0"/>
                      </a:endParaRPr>
                    </a:p>
                  </a:txBody>
                  <a:tcPr marL="6064" marR="6064" marT="6064" marB="0" anchor="ctr">
                    <a:lnL>
                      <a:noFill/>
                    </a:lnL>
                    <a:lnR>
                      <a:noFill/>
                    </a:lnR>
                    <a:lnT>
                      <a:noFill/>
                    </a:lnT>
                    <a:lnB>
                      <a:noFill/>
                    </a:lnB>
                    <a:noFill/>
                  </a:tcPr>
                </a:tc>
                <a:tc>
                  <a:txBody>
                    <a:bodyPr/>
                    <a:lstStyle/>
                    <a:p>
                      <a:pPr algn="l" fontAlgn="b">
                        <a:buNone/>
                      </a:pPr>
                      <a:r>
                        <a:rPr lang="en-GB" sz="1100" b="0" i="0" u="none" strike="noStrike">
                          <a:effectLst/>
                          <a:latin typeface="Calibri" panose="020F0502020204030204" pitchFamily="34" charset="0"/>
                        </a:rPr>
                        <a:t>+ Depreciation and amortization </a:t>
                      </a: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r" fontAlgn="b">
                        <a:buNone/>
                      </a:pPr>
                      <a:r>
                        <a:rPr lang="en-GB" sz="1100" b="0" i="0" u="none" strike="noStrike">
                          <a:solidFill>
                            <a:srgbClr val="0000FF"/>
                          </a:solidFill>
                          <a:effectLst/>
                          <a:latin typeface="Calibri" panose="020F0502020204030204" pitchFamily="34" charset="0"/>
                        </a:rPr>
                        <a:t>145.3 </a:t>
                      </a:r>
                    </a:p>
                  </a:txBody>
                  <a:tcPr marL="6064" marR="6064" marT="6064" marB="0" anchor="b">
                    <a:lnL>
                      <a:noFill/>
                    </a:lnL>
                    <a:lnR>
                      <a:noFill/>
                    </a:lnR>
                    <a:lnT>
                      <a:noFill/>
                    </a:lnT>
                    <a:lnB>
                      <a:noFill/>
                    </a:lnB>
                    <a:noFill/>
                  </a:tcPr>
                </a:tc>
                <a:tc>
                  <a:txBody>
                    <a:bodyPr/>
                    <a:lstStyle/>
                    <a:p>
                      <a:pPr algn="r" fontAlgn="b">
                        <a:buNone/>
                      </a:pPr>
                      <a:r>
                        <a:rPr lang="en-GB" sz="1100" b="0" i="0" u="none" strike="noStrike">
                          <a:solidFill>
                            <a:srgbClr val="0000FF"/>
                          </a:solidFill>
                          <a:effectLst/>
                          <a:latin typeface="Calibri" panose="020F0502020204030204" pitchFamily="34" charset="0"/>
                        </a:rPr>
                        <a:t>163.7 </a:t>
                      </a:r>
                    </a:p>
                  </a:txBody>
                  <a:tcPr marL="6064" marR="6064" marT="6064" marB="0" anchor="b">
                    <a:lnL>
                      <a:noFill/>
                    </a:lnL>
                    <a:lnR>
                      <a:noFill/>
                    </a:lnR>
                    <a:lnT>
                      <a:noFill/>
                    </a:lnT>
                    <a:lnB>
                      <a:noFill/>
                    </a:lnB>
                    <a:noFill/>
                  </a:tcPr>
                </a:tc>
                <a:tc>
                  <a:txBody>
                    <a:bodyPr/>
                    <a:lstStyle/>
                    <a:p>
                      <a:pPr algn="r" fontAlgn="b">
                        <a:buNone/>
                      </a:pPr>
                      <a:r>
                        <a:rPr lang="en-GB" sz="1100" b="0" i="0" u="none" strike="noStrike">
                          <a:solidFill>
                            <a:srgbClr val="0000FF"/>
                          </a:solidFill>
                          <a:effectLst/>
                          <a:latin typeface="Calibri" panose="020F0502020204030204" pitchFamily="34" charset="0"/>
                        </a:rPr>
                        <a:t>176.2 </a:t>
                      </a:r>
                    </a:p>
                  </a:txBody>
                  <a:tcPr marL="6064" marR="6064" marT="6064" marB="0" anchor="b">
                    <a:lnL>
                      <a:noFill/>
                    </a:lnL>
                    <a:lnR>
                      <a:noFill/>
                    </a:lnR>
                    <a:lnT>
                      <a:noFill/>
                    </a:lnT>
                    <a:lnB>
                      <a:noFill/>
                    </a:lnB>
                    <a:noFill/>
                  </a:tcPr>
                </a:tc>
                <a:tc>
                  <a:txBody>
                    <a:bodyPr/>
                    <a:lstStyle/>
                    <a:p>
                      <a:pPr algn="r" fontAlgn="b">
                        <a:buNone/>
                      </a:pPr>
                      <a:r>
                        <a:rPr lang="en-GB" sz="1100" b="0" i="0" u="none" strike="noStrike">
                          <a:solidFill>
                            <a:srgbClr val="0000FF"/>
                          </a:solidFill>
                          <a:effectLst/>
                          <a:latin typeface="Calibri" panose="020F0502020204030204" pitchFamily="34" charset="0"/>
                        </a:rPr>
                        <a:t>190.2 </a:t>
                      </a:r>
                    </a:p>
                  </a:txBody>
                  <a:tcPr marL="6064" marR="6064" marT="6064" marB="0" anchor="b">
                    <a:lnL>
                      <a:noFill/>
                    </a:lnL>
                    <a:lnR>
                      <a:noFill/>
                    </a:lnR>
                    <a:lnT>
                      <a:noFill/>
                    </a:lnT>
                    <a:lnB>
                      <a:noFill/>
                    </a:lnB>
                    <a:noFill/>
                  </a:tcPr>
                </a:tc>
                <a:tc>
                  <a:txBody>
                    <a:bodyPr/>
                    <a:lstStyle/>
                    <a:p>
                      <a:pPr algn="r" fontAlgn="b">
                        <a:buNone/>
                      </a:pPr>
                      <a:r>
                        <a:rPr lang="en-GB" sz="1100" b="0" i="0" u="none" strike="noStrike">
                          <a:solidFill>
                            <a:srgbClr val="0000FF"/>
                          </a:solidFill>
                          <a:effectLst/>
                          <a:latin typeface="Calibri" panose="020F0502020204030204" pitchFamily="34" charset="0"/>
                        </a:rPr>
                        <a:t>201.2 </a:t>
                      </a: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extLst>
                  <a:ext uri="{0D108BD9-81ED-4DB2-BD59-A6C34878D82A}">
                    <a16:rowId xmlns:a16="http://schemas.microsoft.com/office/drawing/2014/main" val="243439745"/>
                  </a:ext>
                </a:extLst>
              </a:tr>
              <a:tr h="168641">
                <a:tc>
                  <a:txBody>
                    <a:bodyPr/>
                    <a:lstStyle/>
                    <a:p>
                      <a:pPr algn="l" fontAlgn="ctr">
                        <a:buNone/>
                      </a:pPr>
                      <a:endParaRPr lang="en-GB" sz="1200" b="1" i="0" u="none" strike="noStrike">
                        <a:solidFill>
                          <a:srgbClr val="163260"/>
                        </a:solidFill>
                        <a:effectLst/>
                        <a:latin typeface="Calibri" panose="020F0502020204030204" pitchFamily="34" charset="0"/>
                      </a:endParaRPr>
                    </a:p>
                  </a:txBody>
                  <a:tcPr marL="6064" marR="6064" marT="6064" marB="0" anchor="ctr">
                    <a:lnL>
                      <a:noFill/>
                    </a:lnL>
                    <a:lnR>
                      <a:noFill/>
                    </a:lnR>
                    <a:lnT>
                      <a:noFill/>
                    </a:lnT>
                    <a:lnB>
                      <a:noFill/>
                    </a:lnB>
                    <a:noFill/>
                  </a:tcPr>
                </a:tc>
                <a:tc>
                  <a:txBody>
                    <a:bodyPr/>
                    <a:lstStyle/>
                    <a:p>
                      <a:pPr algn="l" fontAlgn="b">
                        <a:buNone/>
                      </a:pPr>
                      <a:r>
                        <a:rPr lang="en-GB" sz="1100" b="0" i="0" u="none" strike="noStrike">
                          <a:effectLst/>
                          <a:latin typeface="Calibri" panose="020F0502020204030204" pitchFamily="34" charset="0"/>
                        </a:rPr>
                        <a:t>- Capital expenditure </a:t>
                      </a: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r" fontAlgn="b">
                        <a:buNone/>
                      </a:pPr>
                      <a:r>
                        <a:rPr lang="en-GB" sz="1100" b="0" i="0" u="none" strike="noStrike">
                          <a:solidFill>
                            <a:srgbClr val="0000FF"/>
                          </a:solidFill>
                          <a:effectLst/>
                          <a:latin typeface="Calibri" panose="020F0502020204030204" pitchFamily="34" charset="0"/>
                        </a:rPr>
                        <a:t>(101.7)</a:t>
                      </a:r>
                    </a:p>
                  </a:txBody>
                  <a:tcPr marL="6064" marR="6064" marT="6064" marB="0" anchor="b">
                    <a:lnL>
                      <a:noFill/>
                    </a:lnL>
                    <a:lnR>
                      <a:noFill/>
                    </a:lnR>
                    <a:lnT>
                      <a:noFill/>
                    </a:lnT>
                    <a:lnB>
                      <a:noFill/>
                    </a:lnB>
                    <a:noFill/>
                  </a:tcPr>
                </a:tc>
                <a:tc>
                  <a:txBody>
                    <a:bodyPr/>
                    <a:lstStyle/>
                    <a:p>
                      <a:pPr algn="r" fontAlgn="b">
                        <a:buNone/>
                      </a:pPr>
                      <a:r>
                        <a:rPr lang="en-GB" sz="1100" b="0" i="0" u="none" strike="noStrike">
                          <a:solidFill>
                            <a:srgbClr val="0000FF"/>
                          </a:solidFill>
                          <a:effectLst/>
                          <a:latin typeface="Calibri" panose="020F0502020204030204" pitchFamily="34" charset="0"/>
                        </a:rPr>
                        <a:t>(122.8)</a:t>
                      </a:r>
                    </a:p>
                  </a:txBody>
                  <a:tcPr marL="6064" marR="6064" marT="6064" marB="0" anchor="b">
                    <a:lnL>
                      <a:noFill/>
                    </a:lnL>
                    <a:lnR>
                      <a:noFill/>
                    </a:lnR>
                    <a:lnT>
                      <a:noFill/>
                    </a:lnT>
                    <a:lnB>
                      <a:noFill/>
                    </a:lnB>
                    <a:noFill/>
                  </a:tcPr>
                </a:tc>
                <a:tc>
                  <a:txBody>
                    <a:bodyPr/>
                    <a:lstStyle/>
                    <a:p>
                      <a:pPr algn="r" fontAlgn="b">
                        <a:buNone/>
                      </a:pPr>
                      <a:r>
                        <a:rPr lang="en-GB" sz="1100" b="0" i="0" u="none" strike="noStrike">
                          <a:solidFill>
                            <a:srgbClr val="0000FF"/>
                          </a:solidFill>
                          <a:effectLst/>
                          <a:latin typeface="Calibri" panose="020F0502020204030204" pitchFamily="34" charset="0"/>
                        </a:rPr>
                        <a:t>(141.0)</a:t>
                      </a:r>
                    </a:p>
                  </a:txBody>
                  <a:tcPr marL="6064" marR="6064" marT="6064" marB="0" anchor="b">
                    <a:lnL>
                      <a:noFill/>
                    </a:lnL>
                    <a:lnR>
                      <a:noFill/>
                    </a:lnR>
                    <a:lnT>
                      <a:noFill/>
                    </a:lnT>
                    <a:lnB>
                      <a:noFill/>
                    </a:lnB>
                    <a:noFill/>
                  </a:tcPr>
                </a:tc>
                <a:tc>
                  <a:txBody>
                    <a:bodyPr/>
                    <a:lstStyle/>
                    <a:p>
                      <a:pPr algn="r" fontAlgn="b">
                        <a:buNone/>
                      </a:pPr>
                      <a:r>
                        <a:rPr lang="en-GB" sz="1100" b="0" i="0" u="none" strike="noStrike">
                          <a:solidFill>
                            <a:srgbClr val="0000FF"/>
                          </a:solidFill>
                          <a:effectLst/>
                          <a:latin typeface="Calibri" panose="020F0502020204030204" pitchFamily="34" charset="0"/>
                        </a:rPr>
                        <a:t>(161.7)</a:t>
                      </a:r>
                    </a:p>
                  </a:txBody>
                  <a:tcPr marL="6064" marR="6064" marT="6064" marB="0" anchor="b">
                    <a:lnL>
                      <a:noFill/>
                    </a:lnL>
                    <a:lnR>
                      <a:noFill/>
                    </a:lnR>
                    <a:lnT>
                      <a:noFill/>
                    </a:lnT>
                    <a:lnB>
                      <a:noFill/>
                    </a:lnB>
                    <a:noFill/>
                  </a:tcPr>
                </a:tc>
                <a:tc>
                  <a:txBody>
                    <a:bodyPr/>
                    <a:lstStyle/>
                    <a:p>
                      <a:pPr algn="r" fontAlgn="b">
                        <a:buNone/>
                      </a:pPr>
                      <a:r>
                        <a:rPr lang="en-GB" sz="1100" b="0" i="0" u="none" strike="noStrike">
                          <a:solidFill>
                            <a:srgbClr val="0000FF"/>
                          </a:solidFill>
                          <a:effectLst/>
                          <a:latin typeface="Calibri" panose="020F0502020204030204" pitchFamily="34" charset="0"/>
                        </a:rPr>
                        <a:t>(181.1)</a:t>
                      </a: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extLst>
                  <a:ext uri="{0D108BD9-81ED-4DB2-BD59-A6C34878D82A}">
                    <a16:rowId xmlns:a16="http://schemas.microsoft.com/office/drawing/2014/main" val="4221767994"/>
                  </a:ext>
                </a:extLst>
              </a:tr>
              <a:tr h="168641">
                <a:tc>
                  <a:txBody>
                    <a:bodyPr/>
                    <a:lstStyle/>
                    <a:p>
                      <a:pPr algn="l" fontAlgn="ctr">
                        <a:buNone/>
                      </a:pPr>
                      <a:endParaRPr lang="en-GB" sz="1200" b="1" i="0" u="none" strike="noStrike">
                        <a:solidFill>
                          <a:srgbClr val="163260"/>
                        </a:solidFill>
                        <a:effectLst/>
                        <a:latin typeface="Calibri" panose="020F0502020204030204" pitchFamily="34" charset="0"/>
                      </a:endParaRPr>
                    </a:p>
                  </a:txBody>
                  <a:tcPr marL="6064" marR="6064" marT="6064" marB="0" anchor="ctr">
                    <a:lnL>
                      <a:noFill/>
                    </a:lnL>
                    <a:lnR>
                      <a:noFill/>
                    </a:lnR>
                    <a:lnT>
                      <a:noFill/>
                    </a:lnT>
                    <a:lnB>
                      <a:noFill/>
                    </a:lnB>
                    <a:noFill/>
                  </a:tcPr>
                </a:tc>
                <a:tc>
                  <a:txBody>
                    <a:bodyPr/>
                    <a:lstStyle/>
                    <a:p>
                      <a:pPr algn="l" fontAlgn="b">
                        <a:buNone/>
                      </a:pPr>
                      <a:r>
                        <a:rPr lang="en-GB" sz="1100" b="0" i="0" u="none" strike="noStrike">
                          <a:effectLst/>
                          <a:latin typeface="Calibri" panose="020F0502020204030204" pitchFamily="34" charset="0"/>
                        </a:rPr>
                        <a:t>Change in operating working capital </a:t>
                      </a:r>
                    </a:p>
                  </a:txBody>
                  <a:tcPr marL="6064" marR="6064" marT="6064"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GB" sz="1100" b="0" i="0" u="none" strike="noStrike">
                          <a:effectLst/>
                          <a:latin typeface="Calibri" panose="020F0502020204030204" pitchFamily="34" charset="0"/>
                        </a:rPr>
                        <a:t> </a:t>
                      </a:r>
                    </a:p>
                  </a:txBody>
                  <a:tcPr marL="6064" marR="6064" marT="6064"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r" fontAlgn="b">
                        <a:buNone/>
                      </a:pPr>
                      <a:r>
                        <a:rPr lang="en-GB" sz="1100" b="0" i="0" u="none" strike="noStrike">
                          <a:solidFill>
                            <a:srgbClr val="0000FF"/>
                          </a:solidFill>
                          <a:effectLst/>
                          <a:latin typeface="Calibri" panose="020F0502020204030204" pitchFamily="34" charset="0"/>
                        </a:rPr>
                        <a:t>(16.0)</a:t>
                      </a:r>
                    </a:p>
                  </a:txBody>
                  <a:tcPr marL="6064" marR="6064" marT="6064"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r" fontAlgn="b">
                        <a:buNone/>
                      </a:pPr>
                      <a:r>
                        <a:rPr lang="en-GB" sz="1100" b="0" i="0" u="none" strike="noStrike">
                          <a:solidFill>
                            <a:srgbClr val="0000FF"/>
                          </a:solidFill>
                          <a:effectLst/>
                          <a:latin typeface="Calibri" panose="020F0502020204030204" pitchFamily="34" charset="0"/>
                        </a:rPr>
                        <a:t>(11.0)</a:t>
                      </a:r>
                    </a:p>
                  </a:txBody>
                  <a:tcPr marL="6064" marR="6064" marT="6064"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r" fontAlgn="b">
                        <a:buNone/>
                      </a:pPr>
                      <a:r>
                        <a:rPr lang="en-GB" sz="1100" b="0" i="0" u="none" strike="noStrike">
                          <a:solidFill>
                            <a:srgbClr val="0000FF"/>
                          </a:solidFill>
                          <a:effectLst/>
                          <a:latin typeface="Calibri" panose="020F0502020204030204" pitchFamily="34" charset="0"/>
                        </a:rPr>
                        <a:t>(11.0)</a:t>
                      </a:r>
                    </a:p>
                  </a:txBody>
                  <a:tcPr marL="6064" marR="6064" marT="6064"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r" fontAlgn="b">
                        <a:buNone/>
                      </a:pPr>
                      <a:r>
                        <a:rPr lang="en-GB" sz="1100" b="0" i="0" u="none" strike="noStrike">
                          <a:solidFill>
                            <a:srgbClr val="0000FF"/>
                          </a:solidFill>
                          <a:effectLst/>
                          <a:latin typeface="Calibri" panose="020F0502020204030204" pitchFamily="34" charset="0"/>
                        </a:rPr>
                        <a:t>(4.0)</a:t>
                      </a:r>
                    </a:p>
                  </a:txBody>
                  <a:tcPr marL="6064" marR="6064" marT="6064"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r" fontAlgn="b">
                        <a:buNone/>
                      </a:pPr>
                      <a:r>
                        <a:rPr lang="en-GB" sz="1100" b="0" i="0" u="none" strike="noStrike">
                          <a:solidFill>
                            <a:srgbClr val="0000FF"/>
                          </a:solidFill>
                          <a:effectLst/>
                          <a:latin typeface="Calibri" panose="020F0502020204030204" pitchFamily="34" charset="0"/>
                        </a:rPr>
                        <a:t>(12.0)</a:t>
                      </a:r>
                    </a:p>
                  </a:txBody>
                  <a:tcPr marL="6064" marR="6064" marT="6064"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extLst>
                  <a:ext uri="{0D108BD9-81ED-4DB2-BD59-A6C34878D82A}">
                    <a16:rowId xmlns:a16="http://schemas.microsoft.com/office/drawing/2014/main" val="380946410"/>
                  </a:ext>
                </a:extLst>
              </a:tr>
              <a:tr h="168641">
                <a:tc>
                  <a:txBody>
                    <a:bodyPr/>
                    <a:lstStyle/>
                    <a:p>
                      <a:pPr algn="l" fontAlgn="ctr">
                        <a:buNone/>
                      </a:pPr>
                      <a:endParaRPr lang="en-GB" sz="1200" b="1" i="0" u="none" strike="noStrike">
                        <a:solidFill>
                          <a:srgbClr val="163260"/>
                        </a:solidFill>
                        <a:effectLst/>
                        <a:latin typeface="Calibri" panose="020F0502020204030204" pitchFamily="34" charset="0"/>
                      </a:endParaRPr>
                    </a:p>
                  </a:txBody>
                  <a:tcPr marL="6064" marR="6064" marT="6064" marB="0" anchor="ctr">
                    <a:lnL>
                      <a:noFill/>
                    </a:lnL>
                    <a:lnR>
                      <a:noFill/>
                    </a:lnR>
                    <a:lnT>
                      <a:noFill/>
                    </a:lnT>
                    <a:lnB>
                      <a:noFill/>
                    </a:lnB>
                    <a:noFill/>
                  </a:tcPr>
                </a:tc>
                <a:tc>
                  <a:txBody>
                    <a:bodyPr/>
                    <a:lstStyle/>
                    <a:p>
                      <a:pPr algn="l" fontAlgn="b">
                        <a:buNone/>
                      </a:pPr>
                      <a:r>
                        <a:rPr lang="en-GB" sz="1100" b="1" i="0" u="none" strike="noStrike">
                          <a:effectLst/>
                          <a:latin typeface="Calibri" panose="020F0502020204030204" pitchFamily="34" charset="0"/>
                        </a:rPr>
                        <a:t>Free cash flow </a:t>
                      </a:r>
                    </a:p>
                  </a:txBody>
                  <a:tcPr marL="6064" marR="6064" marT="6064"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GB" sz="1100" b="1" i="0" u="none" strike="noStrike">
                        <a:effectLst/>
                        <a:latin typeface="Calibri" panose="020F0502020204030204" pitchFamily="34" charset="0"/>
                      </a:endParaRPr>
                    </a:p>
                  </a:txBody>
                  <a:tcPr marL="6064" marR="6064" marT="6064"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r" fontAlgn="b">
                        <a:buNone/>
                      </a:pPr>
                      <a:r>
                        <a:rPr lang="en-GB" sz="1100" b="1" i="0" u="none" strike="noStrike">
                          <a:effectLst/>
                          <a:latin typeface="Calibri" panose="020F0502020204030204" pitchFamily="34" charset="0"/>
                        </a:rPr>
                        <a:t>214.4 </a:t>
                      </a:r>
                    </a:p>
                  </a:txBody>
                  <a:tcPr marL="6064" marR="6064" marT="6064"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r" fontAlgn="b">
                        <a:buNone/>
                      </a:pPr>
                      <a:r>
                        <a:rPr lang="en-GB" sz="1100" b="1" i="0" u="none" strike="noStrike">
                          <a:effectLst/>
                          <a:latin typeface="Calibri" panose="020F0502020204030204" pitchFamily="34" charset="0"/>
                        </a:rPr>
                        <a:t>235.3 </a:t>
                      </a:r>
                    </a:p>
                  </a:txBody>
                  <a:tcPr marL="6064" marR="6064" marT="6064"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r" fontAlgn="b">
                        <a:buNone/>
                      </a:pPr>
                      <a:r>
                        <a:rPr lang="en-GB" sz="1100" b="1" i="0" u="none" strike="noStrike">
                          <a:effectLst/>
                          <a:latin typeface="Calibri" panose="020F0502020204030204" pitchFamily="34" charset="0"/>
                        </a:rPr>
                        <a:t>229.5 </a:t>
                      </a:r>
                    </a:p>
                  </a:txBody>
                  <a:tcPr marL="6064" marR="6064" marT="6064"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r" fontAlgn="b">
                        <a:buNone/>
                      </a:pPr>
                      <a:r>
                        <a:rPr lang="en-GB" sz="1100" b="1" i="0" u="none" strike="noStrike">
                          <a:effectLst/>
                          <a:latin typeface="Calibri" panose="020F0502020204030204" pitchFamily="34" charset="0"/>
                        </a:rPr>
                        <a:t>228.5 </a:t>
                      </a:r>
                    </a:p>
                  </a:txBody>
                  <a:tcPr marL="6064" marR="6064" marT="6064"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r" fontAlgn="b">
                        <a:buNone/>
                      </a:pPr>
                      <a:r>
                        <a:rPr lang="en-GB" sz="1100" b="1" i="0" u="none" strike="noStrike">
                          <a:effectLst/>
                          <a:latin typeface="Calibri" panose="020F0502020204030204" pitchFamily="34" charset="0"/>
                        </a:rPr>
                        <a:t>206.1 </a:t>
                      </a:r>
                    </a:p>
                  </a:txBody>
                  <a:tcPr marL="6064" marR="6064" marT="6064"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extLst>
                  <a:ext uri="{0D108BD9-81ED-4DB2-BD59-A6C34878D82A}">
                    <a16:rowId xmlns:a16="http://schemas.microsoft.com/office/drawing/2014/main" val="3461938948"/>
                  </a:ext>
                </a:extLst>
              </a:tr>
              <a:tr h="168641">
                <a:tc>
                  <a:txBody>
                    <a:bodyPr/>
                    <a:lstStyle/>
                    <a:p>
                      <a:pPr algn="l" fontAlgn="ctr">
                        <a:buNone/>
                      </a:pPr>
                      <a:endParaRPr lang="en-GB" sz="1200" b="1" i="0" u="none" strike="noStrike">
                        <a:solidFill>
                          <a:srgbClr val="163260"/>
                        </a:solidFill>
                        <a:effectLst/>
                        <a:latin typeface="Calibri" panose="020F0502020204030204" pitchFamily="34" charset="0"/>
                      </a:endParaRPr>
                    </a:p>
                  </a:txBody>
                  <a:tcPr marL="6064" marR="6064" marT="6064" marB="0" anchor="ctr">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extLst>
                  <a:ext uri="{0D108BD9-81ED-4DB2-BD59-A6C34878D82A}">
                    <a16:rowId xmlns:a16="http://schemas.microsoft.com/office/drawing/2014/main" val="1904275886"/>
                  </a:ext>
                </a:extLst>
              </a:tr>
              <a:tr h="168641">
                <a:tc>
                  <a:txBody>
                    <a:bodyPr/>
                    <a:lstStyle/>
                    <a:p>
                      <a:pPr algn="l" fontAlgn="ctr">
                        <a:buNone/>
                      </a:pPr>
                      <a:endParaRPr lang="en-GB" sz="1200" b="1" i="0" u="none" strike="noStrike">
                        <a:solidFill>
                          <a:srgbClr val="163260"/>
                        </a:solidFill>
                        <a:effectLst/>
                        <a:latin typeface="Calibri" panose="020F0502020204030204" pitchFamily="34" charset="0"/>
                      </a:endParaRPr>
                    </a:p>
                  </a:txBody>
                  <a:tcPr marL="6064" marR="6064" marT="6064" marB="0" anchor="ctr">
                    <a:lnL>
                      <a:noFill/>
                    </a:lnL>
                    <a:lnR>
                      <a:noFill/>
                    </a:lnR>
                    <a:lnT>
                      <a:noFill/>
                    </a:lnT>
                    <a:lnB>
                      <a:noFill/>
                    </a:lnB>
                    <a:noFill/>
                  </a:tcPr>
                </a:tc>
                <a:tc>
                  <a:txBody>
                    <a:bodyPr/>
                    <a:lstStyle/>
                    <a:p>
                      <a:pPr algn="l" fontAlgn="b">
                        <a:buNone/>
                      </a:pPr>
                      <a:r>
                        <a:rPr lang="en-GB" sz="1100" b="0" i="0" u="none" strike="noStrike">
                          <a:effectLst/>
                          <a:latin typeface="Calibri" panose="020F0502020204030204" pitchFamily="34" charset="0"/>
                        </a:rPr>
                        <a:t>Terminal value </a:t>
                      </a: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r" fontAlgn="b">
                        <a:buNone/>
                      </a:pPr>
                      <a:r>
                        <a:rPr lang="en-GB" sz="1100" b="0" i="0" u="none" strike="noStrike">
                          <a:effectLst/>
                          <a:latin typeface="Calibri" panose="020F0502020204030204" pitchFamily="34" charset="0"/>
                        </a:rPr>
                        <a:t>2,473.3 </a:t>
                      </a: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extLst>
                  <a:ext uri="{0D108BD9-81ED-4DB2-BD59-A6C34878D82A}">
                    <a16:rowId xmlns:a16="http://schemas.microsoft.com/office/drawing/2014/main" val="2352158874"/>
                  </a:ext>
                </a:extLst>
              </a:tr>
              <a:tr h="168641">
                <a:tc>
                  <a:txBody>
                    <a:bodyPr/>
                    <a:lstStyle/>
                    <a:p>
                      <a:pPr algn="l" fontAlgn="ctr">
                        <a:buNone/>
                      </a:pPr>
                      <a:endParaRPr lang="en-GB" sz="1200" b="1" i="0" u="none" strike="noStrike">
                        <a:solidFill>
                          <a:srgbClr val="163260"/>
                        </a:solidFill>
                        <a:effectLst/>
                        <a:latin typeface="Calibri" panose="020F0502020204030204" pitchFamily="34" charset="0"/>
                      </a:endParaRPr>
                    </a:p>
                  </a:txBody>
                  <a:tcPr marL="6064" marR="6064" marT="6064" marB="0" anchor="ctr">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extLst>
                  <a:ext uri="{0D108BD9-81ED-4DB2-BD59-A6C34878D82A}">
                    <a16:rowId xmlns:a16="http://schemas.microsoft.com/office/drawing/2014/main" val="2125160878"/>
                  </a:ext>
                </a:extLst>
              </a:tr>
              <a:tr h="168641">
                <a:tc>
                  <a:txBody>
                    <a:bodyPr/>
                    <a:lstStyle/>
                    <a:p>
                      <a:pPr algn="l" fontAlgn="ctr">
                        <a:buNone/>
                      </a:pPr>
                      <a:endParaRPr lang="en-GB" sz="1200" b="1" i="0" u="none" strike="noStrike">
                        <a:solidFill>
                          <a:srgbClr val="163260"/>
                        </a:solidFill>
                        <a:effectLst/>
                        <a:latin typeface="Calibri" panose="020F0502020204030204" pitchFamily="34" charset="0"/>
                      </a:endParaRPr>
                    </a:p>
                  </a:txBody>
                  <a:tcPr marL="6064" marR="6064" marT="6064" marB="0" anchor="ctr">
                    <a:lnL>
                      <a:noFill/>
                    </a:lnL>
                    <a:lnR>
                      <a:noFill/>
                    </a:lnR>
                    <a:lnT>
                      <a:noFill/>
                    </a:lnT>
                    <a:lnB>
                      <a:noFill/>
                    </a:lnB>
                    <a:noFill/>
                  </a:tcPr>
                </a:tc>
                <a:tc>
                  <a:txBody>
                    <a:bodyPr/>
                    <a:lstStyle/>
                    <a:p>
                      <a:pPr algn="l" fontAlgn="b">
                        <a:buNone/>
                      </a:pPr>
                      <a:r>
                        <a:rPr lang="en-GB" sz="1100" b="0" i="0" u="none" strike="noStrike">
                          <a:effectLst/>
                          <a:latin typeface="Calibri" panose="020F0502020204030204" pitchFamily="34" charset="0"/>
                        </a:rPr>
                        <a:t>Discount factor </a:t>
                      </a:r>
                    </a:p>
                  </a:txBody>
                  <a:tcPr marL="6064" marR="6064" marT="6064"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GB" sz="1100" b="0" i="0" u="none" strike="noStrike">
                          <a:effectLst/>
                          <a:latin typeface="Calibri" panose="020F0502020204030204" pitchFamily="34" charset="0"/>
                        </a:rPr>
                        <a:t> </a:t>
                      </a:r>
                    </a:p>
                  </a:txBody>
                  <a:tcPr marL="6064" marR="6064" marT="6064"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r" fontAlgn="b">
                        <a:buNone/>
                      </a:pPr>
                      <a:r>
                        <a:rPr lang="en-GB" sz="1100" b="0" i="0" u="none" strike="noStrike">
                          <a:effectLst/>
                          <a:latin typeface="Calibri" panose="020F0502020204030204" pitchFamily="34" charset="0"/>
                        </a:rPr>
                        <a:t>90.5% </a:t>
                      </a:r>
                    </a:p>
                  </a:txBody>
                  <a:tcPr marL="6064" marR="6064" marT="6064"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r" fontAlgn="b">
                        <a:buNone/>
                      </a:pPr>
                      <a:r>
                        <a:rPr lang="en-GB" sz="1100" b="0" i="0" u="none" strike="noStrike">
                          <a:effectLst/>
                          <a:latin typeface="Calibri" panose="020F0502020204030204" pitchFamily="34" charset="0"/>
                        </a:rPr>
                        <a:t>81.9% </a:t>
                      </a:r>
                    </a:p>
                  </a:txBody>
                  <a:tcPr marL="6064" marR="6064" marT="6064"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r" fontAlgn="b">
                        <a:buNone/>
                      </a:pPr>
                      <a:r>
                        <a:rPr lang="en-GB" sz="1100" b="0" i="0" u="none" strike="noStrike">
                          <a:effectLst/>
                          <a:latin typeface="Calibri" panose="020F0502020204030204" pitchFamily="34" charset="0"/>
                        </a:rPr>
                        <a:t>74.1% </a:t>
                      </a:r>
                    </a:p>
                  </a:txBody>
                  <a:tcPr marL="6064" marR="6064" marT="6064"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r" fontAlgn="b">
                        <a:buNone/>
                      </a:pPr>
                      <a:r>
                        <a:rPr lang="en-GB" sz="1100" b="0" i="0" u="none" strike="noStrike">
                          <a:effectLst/>
                          <a:latin typeface="Calibri" panose="020F0502020204030204" pitchFamily="34" charset="0"/>
                        </a:rPr>
                        <a:t>67.1% </a:t>
                      </a:r>
                    </a:p>
                  </a:txBody>
                  <a:tcPr marL="6064" marR="6064" marT="6064"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r" fontAlgn="b">
                        <a:buNone/>
                      </a:pPr>
                      <a:r>
                        <a:rPr lang="en-GB" sz="1100" b="0" i="0" u="none" strike="noStrike">
                          <a:effectLst/>
                          <a:latin typeface="Calibri" panose="020F0502020204030204" pitchFamily="34" charset="0"/>
                        </a:rPr>
                        <a:t>60.7% </a:t>
                      </a:r>
                    </a:p>
                  </a:txBody>
                  <a:tcPr marL="6064" marR="6064" marT="6064"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extLst>
                  <a:ext uri="{0D108BD9-81ED-4DB2-BD59-A6C34878D82A}">
                    <a16:rowId xmlns:a16="http://schemas.microsoft.com/office/drawing/2014/main" val="2128933674"/>
                  </a:ext>
                </a:extLst>
              </a:tr>
              <a:tr h="168641">
                <a:tc>
                  <a:txBody>
                    <a:bodyPr/>
                    <a:lstStyle/>
                    <a:p>
                      <a:pPr algn="l" fontAlgn="ctr">
                        <a:buNone/>
                      </a:pPr>
                      <a:endParaRPr lang="en-GB" sz="1200" b="1" i="0" u="none" strike="noStrike">
                        <a:solidFill>
                          <a:srgbClr val="163260"/>
                        </a:solidFill>
                        <a:effectLst/>
                        <a:latin typeface="Calibri" panose="020F0502020204030204" pitchFamily="34" charset="0"/>
                      </a:endParaRPr>
                    </a:p>
                  </a:txBody>
                  <a:tcPr marL="6064" marR="6064" marT="6064" marB="0" anchor="ctr">
                    <a:lnL>
                      <a:noFill/>
                    </a:lnL>
                    <a:lnR>
                      <a:noFill/>
                    </a:lnR>
                    <a:lnT>
                      <a:noFill/>
                    </a:lnT>
                    <a:lnB>
                      <a:noFill/>
                    </a:lnB>
                    <a:noFill/>
                  </a:tcPr>
                </a:tc>
                <a:tc>
                  <a:txBody>
                    <a:bodyPr/>
                    <a:lstStyle/>
                    <a:p>
                      <a:pPr algn="l" fontAlgn="b">
                        <a:buNone/>
                      </a:pPr>
                      <a:r>
                        <a:rPr lang="en-GB" sz="1100" b="1" i="0" u="none" strike="noStrike">
                          <a:effectLst/>
                          <a:latin typeface="Calibri" panose="020F0502020204030204" pitchFamily="34" charset="0"/>
                        </a:rPr>
                        <a:t>Present value of free cash flows </a:t>
                      </a:r>
                    </a:p>
                  </a:txBody>
                  <a:tcPr marL="6064" marR="6064" marT="6064"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GB" sz="1100" b="1" i="0" u="none" strike="noStrike">
                        <a:effectLst/>
                        <a:latin typeface="Calibri" panose="020F0502020204030204" pitchFamily="34" charset="0"/>
                      </a:endParaRPr>
                    </a:p>
                  </a:txBody>
                  <a:tcPr marL="6064" marR="6064" marT="6064"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r" fontAlgn="b">
                        <a:buNone/>
                      </a:pPr>
                      <a:r>
                        <a:rPr lang="en-GB" sz="1100" b="1" i="0" u="none" strike="noStrike">
                          <a:effectLst/>
                          <a:latin typeface="Calibri" panose="020F0502020204030204" pitchFamily="34" charset="0"/>
                        </a:rPr>
                        <a:t>194.0 </a:t>
                      </a:r>
                    </a:p>
                  </a:txBody>
                  <a:tcPr marL="6064" marR="6064" marT="6064"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r" fontAlgn="b">
                        <a:buNone/>
                      </a:pPr>
                      <a:r>
                        <a:rPr lang="en-GB" sz="1100" b="1" i="0" u="none" strike="noStrike">
                          <a:effectLst/>
                          <a:latin typeface="Calibri" panose="020F0502020204030204" pitchFamily="34" charset="0"/>
                        </a:rPr>
                        <a:t>192.7 </a:t>
                      </a:r>
                    </a:p>
                  </a:txBody>
                  <a:tcPr marL="6064" marR="6064" marT="6064"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r" fontAlgn="b">
                        <a:buNone/>
                      </a:pPr>
                      <a:r>
                        <a:rPr lang="en-GB" sz="1100" b="1" i="0" u="none" strike="noStrike">
                          <a:effectLst/>
                          <a:latin typeface="Calibri" panose="020F0502020204030204" pitchFamily="34" charset="0"/>
                        </a:rPr>
                        <a:t>170.1 </a:t>
                      </a:r>
                    </a:p>
                  </a:txBody>
                  <a:tcPr marL="6064" marR="6064" marT="6064"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r" fontAlgn="b">
                        <a:buNone/>
                      </a:pPr>
                      <a:r>
                        <a:rPr lang="en-GB" sz="1100" b="1" i="0" u="none" strike="noStrike">
                          <a:effectLst/>
                          <a:latin typeface="Calibri" panose="020F0502020204030204" pitchFamily="34" charset="0"/>
                        </a:rPr>
                        <a:t>153.3 </a:t>
                      </a:r>
                    </a:p>
                  </a:txBody>
                  <a:tcPr marL="6064" marR="6064" marT="6064"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r" fontAlgn="b">
                        <a:buNone/>
                      </a:pPr>
                      <a:r>
                        <a:rPr lang="en-GB" sz="1100" b="1" i="0" u="none" strike="noStrike">
                          <a:effectLst/>
                          <a:latin typeface="Calibri" panose="020F0502020204030204" pitchFamily="34" charset="0"/>
                        </a:rPr>
                        <a:t>125.1 </a:t>
                      </a:r>
                    </a:p>
                  </a:txBody>
                  <a:tcPr marL="6064" marR="6064" marT="6064"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extLst>
                  <a:ext uri="{0D108BD9-81ED-4DB2-BD59-A6C34878D82A}">
                    <a16:rowId xmlns:a16="http://schemas.microsoft.com/office/drawing/2014/main" val="2701871820"/>
                  </a:ext>
                </a:extLst>
              </a:tr>
              <a:tr h="168641">
                <a:tc>
                  <a:txBody>
                    <a:bodyPr/>
                    <a:lstStyle/>
                    <a:p>
                      <a:pPr algn="l" fontAlgn="ctr">
                        <a:buNone/>
                      </a:pPr>
                      <a:endParaRPr lang="en-GB" sz="1200" b="1" i="0" u="none" strike="noStrike">
                        <a:solidFill>
                          <a:srgbClr val="163260"/>
                        </a:solidFill>
                        <a:effectLst/>
                        <a:latin typeface="Calibri" panose="020F0502020204030204" pitchFamily="34" charset="0"/>
                      </a:endParaRPr>
                    </a:p>
                  </a:txBody>
                  <a:tcPr marL="6064" marR="6064" marT="6064" marB="0" anchor="ctr">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extLst>
                  <a:ext uri="{0D108BD9-81ED-4DB2-BD59-A6C34878D82A}">
                    <a16:rowId xmlns:a16="http://schemas.microsoft.com/office/drawing/2014/main" val="3404516960"/>
                  </a:ext>
                </a:extLst>
              </a:tr>
              <a:tr h="168641">
                <a:tc>
                  <a:txBody>
                    <a:bodyPr/>
                    <a:lstStyle/>
                    <a:p>
                      <a:pPr algn="l" fontAlgn="ctr">
                        <a:buNone/>
                      </a:pPr>
                      <a:endParaRPr lang="en-GB" sz="1200" b="1" i="0" u="none" strike="noStrike">
                        <a:solidFill>
                          <a:srgbClr val="163260"/>
                        </a:solidFill>
                        <a:effectLst/>
                        <a:latin typeface="Calibri" panose="020F0502020204030204" pitchFamily="34" charset="0"/>
                      </a:endParaRPr>
                    </a:p>
                  </a:txBody>
                  <a:tcPr marL="6064" marR="6064" marT="6064" marB="0" anchor="ctr">
                    <a:lnL>
                      <a:noFill/>
                    </a:lnL>
                    <a:lnR>
                      <a:noFill/>
                    </a:lnR>
                    <a:lnT>
                      <a:noFill/>
                    </a:lnT>
                    <a:lnB>
                      <a:noFill/>
                    </a:lnB>
                    <a:noFill/>
                  </a:tcPr>
                </a:tc>
                <a:tc>
                  <a:txBody>
                    <a:bodyPr/>
                    <a:lstStyle/>
                    <a:p>
                      <a:pPr algn="l" fontAlgn="b">
                        <a:buNone/>
                      </a:pPr>
                      <a:r>
                        <a:rPr lang="en-GB" sz="1100" b="0" i="0" u="none" strike="noStrike">
                          <a:effectLst/>
                          <a:latin typeface="Calibri" panose="020F0502020204030204" pitchFamily="34" charset="0"/>
                        </a:rPr>
                        <a:t>Sum of present value of free cash flows </a:t>
                      </a:r>
                    </a:p>
                  </a:txBody>
                  <a:tcPr marL="6064" marR="6064" marT="6064" marB="0" anchor="b">
                    <a:lnL>
                      <a:noFill/>
                    </a:lnL>
                    <a:lnR>
                      <a:noFill/>
                    </a:lnR>
                    <a:lnT>
                      <a:noFill/>
                    </a:lnT>
                    <a:lnB>
                      <a:noFill/>
                    </a:lnB>
                    <a:noFill/>
                  </a:tcPr>
                </a:tc>
                <a:tc>
                  <a:txBody>
                    <a:bodyPr/>
                    <a:lstStyle/>
                    <a:p>
                      <a:pPr algn="r" fontAlgn="b">
                        <a:buNone/>
                      </a:pPr>
                      <a:r>
                        <a:rPr lang="en-GB" sz="1100" b="0" i="0" u="none" strike="noStrike">
                          <a:effectLst/>
                          <a:latin typeface="Calibri" panose="020F0502020204030204" pitchFamily="34" charset="0"/>
                        </a:rPr>
                        <a:t>835.3 </a:t>
                      </a: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extLst>
                  <a:ext uri="{0D108BD9-81ED-4DB2-BD59-A6C34878D82A}">
                    <a16:rowId xmlns:a16="http://schemas.microsoft.com/office/drawing/2014/main" val="572292434"/>
                  </a:ext>
                </a:extLst>
              </a:tr>
              <a:tr h="168641">
                <a:tc>
                  <a:txBody>
                    <a:bodyPr/>
                    <a:lstStyle/>
                    <a:p>
                      <a:pPr algn="l" fontAlgn="ctr">
                        <a:buNone/>
                      </a:pPr>
                      <a:endParaRPr lang="en-GB" sz="1200" b="1" i="0" u="none" strike="noStrike">
                        <a:solidFill>
                          <a:srgbClr val="163260"/>
                        </a:solidFill>
                        <a:effectLst/>
                        <a:latin typeface="Calibri" panose="020F0502020204030204" pitchFamily="34" charset="0"/>
                      </a:endParaRPr>
                    </a:p>
                  </a:txBody>
                  <a:tcPr marL="6064" marR="6064" marT="6064" marB="0" anchor="ctr">
                    <a:lnL>
                      <a:noFill/>
                    </a:lnL>
                    <a:lnR>
                      <a:noFill/>
                    </a:lnR>
                    <a:lnT>
                      <a:noFill/>
                    </a:lnT>
                    <a:lnB>
                      <a:noFill/>
                    </a:lnB>
                    <a:noFill/>
                  </a:tcPr>
                </a:tc>
                <a:tc>
                  <a:txBody>
                    <a:bodyPr/>
                    <a:lstStyle/>
                    <a:p>
                      <a:pPr algn="l" fontAlgn="b">
                        <a:buNone/>
                      </a:pPr>
                      <a:r>
                        <a:rPr lang="en-GB" sz="1100" b="0" i="0" u="none" strike="noStrike">
                          <a:effectLst/>
                          <a:latin typeface="Calibri" panose="020F0502020204030204" pitchFamily="34" charset="0"/>
                        </a:rPr>
                        <a:t>Present value of terminal value </a:t>
                      </a:r>
                    </a:p>
                  </a:txBody>
                  <a:tcPr marL="6064" marR="6064" marT="6064"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r" fontAlgn="b">
                        <a:buNone/>
                      </a:pPr>
                      <a:r>
                        <a:rPr lang="en-GB" sz="1100" b="0" i="0" u="none" strike="noStrike">
                          <a:effectLst/>
                          <a:latin typeface="Calibri" panose="020F0502020204030204" pitchFamily="34" charset="0"/>
                        </a:rPr>
                        <a:t>1,501.3 </a:t>
                      </a:r>
                    </a:p>
                  </a:txBody>
                  <a:tcPr marL="6064" marR="6064" marT="6064"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extLst>
                  <a:ext uri="{0D108BD9-81ED-4DB2-BD59-A6C34878D82A}">
                    <a16:rowId xmlns:a16="http://schemas.microsoft.com/office/drawing/2014/main" val="1833656328"/>
                  </a:ext>
                </a:extLst>
              </a:tr>
              <a:tr h="168641">
                <a:tc>
                  <a:txBody>
                    <a:bodyPr/>
                    <a:lstStyle/>
                    <a:p>
                      <a:pPr algn="l" fontAlgn="ctr">
                        <a:buNone/>
                      </a:pPr>
                      <a:endParaRPr lang="en-GB" sz="1200" b="1" i="0" u="none" strike="noStrike">
                        <a:solidFill>
                          <a:srgbClr val="163260"/>
                        </a:solidFill>
                        <a:effectLst/>
                        <a:latin typeface="Calibri" panose="020F0502020204030204" pitchFamily="34" charset="0"/>
                      </a:endParaRPr>
                    </a:p>
                  </a:txBody>
                  <a:tcPr marL="6064" marR="6064" marT="6064" marB="0" anchor="ctr">
                    <a:lnL>
                      <a:noFill/>
                    </a:lnL>
                    <a:lnR>
                      <a:noFill/>
                    </a:lnR>
                    <a:lnT>
                      <a:noFill/>
                    </a:lnT>
                    <a:lnB>
                      <a:noFill/>
                    </a:lnB>
                    <a:noFill/>
                  </a:tcPr>
                </a:tc>
                <a:tc>
                  <a:txBody>
                    <a:bodyPr/>
                    <a:lstStyle/>
                    <a:p>
                      <a:pPr algn="l" fontAlgn="b">
                        <a:buNone/>
                      </a:pPr>
                      <a:r>
                        <a:rPr lang="en-GB" sz="1100" b="1" i="0" u="none" strike="noStrike">
                          <a:effectLst/>
                          <a:latin typeface="Calibri" panose="020F0502020204030204" pitchFamily="34" charset="0"/>
                        </a:rPr>
                        <a:t>Enterprise value </a:t>
                      </a:r>
                    </a:p>
                  </a:txBody>
                  <a:tcPr marL="6064" marR="6064" marT="6064"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r" fontAlgn="b">
                        <a:buNone/>
                      </a:pPr>
                      <a:r>
                        <a:rPr lang="en-GB" sz="1100" b="1" i="0" u="none" strike="noStrike">
                          <a:effectLst/>
                          <a:latin typeface="Calibri" panose="020F0502020204030204" pitchFamily="34" charset="0"/>
                        </a:rPr>
                        <a:t>2,336.6 </a:t>
                      </a:r>
                    </a:p>
                  </a:txBody>
                  <a:tcPr marL="6064" marR="6064" marT="6064"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extLst>
                  <a:ext uri="{0D108BD9-81ED-4DB2-BD59-A6C34878D82A}">
                    <a16:rowId xmlns:a16="http://schemas.microsoft.com/office/drawing/2014/main" val="3830207630"/>
                  </a:ext>
                </a:extLst>
              </a:tr>
              <a:tr h="168641">
                <a:tc>
                  <a:txBody>
                    <a:bodyPr/>
                    <a:lstStyle/>
                    <a:p>
                      <a:pPr algn="l" fontAlgn="ctr">
                        <a:buNone/>
                      </a:pPr>
                      <a:endParaRPr lang="en-GB" sz="1200" b="1" i="0" u="none" strike="noStrike">
                        <a:solidFill>
                          <a:srgbClr val="163260"/>
                        </a:solidFill>
                        <a:effectLst/>
                        <a:latin typeface="Calibri" panose="020F0502020204030204" pitchFamily="34" charset="0"/>
                      </a:endParaRPr>
                    </a:p>
                  </a:txBody>
                  <a:tcPr marL="6064" marR="6064" marT="6064" marB="0" anchor="ctr">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extLst>
                  <a:ext uri="{0D108BD9-81ED-4DB2-BD59-A6C34878D82A}">
                    <a16:rowId xmlns:a16="http://schemas.microsoft.com/office/drawing/2014/main" val="1905172747"/>
                  </a:ext>
                </a:extLst>
              </a:tr>
              <a:tr h="168641">
                <a:tc>
                  <a:txBody>
                    <a:bodyPr/>
                    <a:lstStyle/>
                    <a:p>
                      <a:pPr algn="l" fontAlgn="ctr">
                        <a:buNone/>
                      </a:pPr>
                      <a:endParaRPr lang="en-GB" sz="1200" b="1" i="0" u="none" strike="noStrike">
                        <a:solidFill>
                          <a:srgbClr val="163260"/>
                        </a:solidFill>
                        <a:effectLst/>
                        <a:latin typeface="Calibri" panose="020F0502020204030204" pitchFamily="34" charset="0"/>
                      </a:endParaRPr>
                    </a:p>
                  </a:txBody>
                  <a:tcPr marL="6064" marR="6064" marT="6064" marB="0" anchor="ctr">
                    <a:lnL>
                      <a:noFill/>
                    </a:lnL>
                    <a:lnR>
                      <a:noFill/>
                    </a:lnR>
                    <a:lnT>
                      <a:noFill/>
                    </a:lnT>
                    <a:lnB>
                      <a:noFill/>
                    </a:lnB>
                    <a:noFill/>
                  </a:tcPr>
                </a:tc>
                <a:tc>
                  <a:txBody>
                    <a:bodyPr/>
                    <a:lstStyle/>
                    <a:p>
                      <a:pPr algn="l" fontAlgn="b">
                        <a:buNone/>
                      </a:pPr>
                      <a:r>
                        <a:rPr lang="en-GB" sz="1100" b="0" i="0" u="none" strike="noStrike">
                          <a:effectLst/>
                          <a:latin typeface="Calibri" panose="020F0502020204030204" pitchFamily="34" charset="0"/>
                        </a:rPr>
                        <a:t>+ Cash </a:t>
                      </a:r>
                    </a:p>
                  </a:txBody>
                  <a:tcPr marL="6064" marR="6064" marT="6064" marB="0" anchor="b">
                    <a:lnL>
                      <a:noFill/>
                    </a:lnL>
                    <a:lnR>
                      <a:noFill/>
                    </a:lnR>
                    <a:lnT>
                      <a:noFill/>
                    </a:lnT>
                    <a:lnB>
                      <a:noFill/>
                    </a:lnB>
                    <a:noFill/>
                  </a:tcPr>
                </a:tc>
                <a:tc>
                  <a:txBody>
                    <a:bodyPr/>
                    <a:lstStyle/>
                    <a:p>
                      <a:pPr algn="r" fontAlgn="b">
                        <a:buNone/>
                      </a:pPr>
                      <a:r>
                        <a:rPr lang="en-GB" sz="1100" b="0" i="0" u="none" strike="noStrike">
                          <a:solidFill>
                            <a:srgbClr val="0000FF"/>
                          </a:solidFill>
                          <a:effectLst/>
                          <a:latin typeface="Calibri" panose="020F0502020204030204" pitchFamily="34" charset="0"/>
                        </a:rPr>
                        <a:t>763.0 </a:t>
                      </a: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extLst>
                  <a:ext uri="{0D108BD9-81ED-4DB2-BD59-A6C34878D82A}">
                    <a16:rowId xmlns:a16="http://schemas.microsoft.com/office/drawing/2014/main" val="1477780986"/>
                  </a:ext>
                </a:extLst>
              </a:tr>
              <a:tr h="168641">
                <a:tc>
                  <a:txBody>
                    <a:bodyPr/>
                    <a:lstStyle/>
                    <a:p>
                      <a:pPr algn="l" fontAlgn="ctr">
                        <a:buNone/>
                      </a:pPr>
                      <a:endParaRPr lang="en-GB" sz="1200" b="1" i="0" u="none" strike="noStrike">
                        <a:solidFill>
                          <a:srgbClr val="163260"/>
                        </a:solidFill>
                        <a:effectLst/>
                        <a:latin typeface="Calibri" panose="020F0502020204030204" pitchFamily="34" charset="0"/>
                      </a:endParaRPr>
                    </a:p>
                  </a:txBody>
                  <a:tcPr marL="6064" marR="6064" marT="6064" marB="0" anchor="ctr">
                    <a:lnL>
                      <a:noFill/>
                    </a:lnL>
                    <a:lnR>
                      <a:noFill/>
                    </a:lnR>
                    <a:lnT>
                      <a:noFill/>
                    </a:lnT>
                    <a:lnB>
                      <a:noFill/>
                    </a:lnB>
                    <a:noFill/>
                  </a:tcPr>
                </a:tc>
                <a:tc>
                  <a:txBody>
                    <a:bodyPr/>
                    <a:lstStyle/>
                    <a:p>
                      <a:pPr algn="l" fontAlgn="b">
                        <a:buNone/>
                      </a:pPr>
                      <a:r>
                        <a:rPr lang="en-GB" sz="1100" b="0" i="0" u="none" strike="noStrike">
                          <a:effectLst/>
                          <a:latin typeface="Calibri" panose="020F0502020204030204" pitchFamily="34" charset="0"/>
                        </a:rPr>
                        <a:t>- Debt </a:t>
                      </a:r>
                    </a:p>
                  </a:txBody>
                  <a:tcPr marL="6064" marR="6064" marT="6064"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r" fontAlgn="b">
                        <a:buNone/>
                      </a:pPr>
                      <a:r>
                        <a:rPr lang="en-GB" sz="1100" b="0" i="0" u="none" strike="noStrike">
                          <a:solidFill>
                            <a:srgbClr val="0000FF"/>
                          </a:solidFill>
                          <a:effectLst/>
                          <a:latin typeface="Calibri" panose="020F0502020204030204" pitchFamily="34" charset="0"/>
                        </a:rPr>
                        <a:t>(440.0)</a:t>
                      </a:r>
                    </a:p>
                  </a:txBody>
                  <a:tcPr marL="6064" marR="6064" marT="6064"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extLst>
                  <a:ext uri="{0D108BD9-81ED-4DB2-BD59-A6C34878D82A}">
                    <a16:rowId xmlns:a16="http://schemas.microsoft.com/office/drawing/2014/main" val="3941344037"/>
                  </a:ext>
                </a:extLst>
              </a:tr>
              <a:tr h="168641">
                <a:tc>
                  <a:txBody>
                    <a:bodyPr/>
                    <a:lstStyle/>
                    <a:p>
                      <a:pPr algn="l" fontAlgn="ctr">
                        <a:buNone/>
                      </a:pPr>
                      <a:endParaRPr lang="en-GB" sz="1200" b="1" i="0" u="none" strike="noStrike">
                        <a:solidFill>
                          <a:srgbClr val="163260"/>
                        </a:solidFill>
                        <a:effectLst/>
                        <a:latin typeface="Calibri" panose="020F0502020204030204" pitchFamily="34" charset="0"/>
                      </a:endParaRPr>
                    </a:p>
                  </a:txBody>
                  <a:tcPr marL="6064" marR="6064" marT="6064" marB="0" anchor="ctr">
                    <a:lnL>
                      <a:noFill/>
                    </a:lnL>
                    <a:lnR>
                      <a:noFill/>
                    </a:lnR>
                    <a:lnT>
                      <a:noFill/>
                    </a:lnT>
                    <a:lnB>
                      <a:noFill/>
                    </a:lnB>
                    <a:noFill/>
                  </a:tcPr>
                </a:tc>
                <a:tc>
                  <a:txBody>
                    <a:bodyPr/>
                    <a:lstStyle/>
                    <a:p>
                      <a:pPr algn="l" fontAlgn="b">
                        <a:buNone/>
                      </a:pPr>
                      <a:r>
                        <a:rPr lang="en-GB" sz="1100" b="1" i="0" u="none" strike="noStrike">
                          <a:effectLst/>
                          <a:latin typeface="Calibri" panose="020F0502020204030204" pitchFamily="34" charset="0"/>
                        </a:rPr>
                        <a:t>Implied equity value (intrinsic value) </a:t>
                      </a:r>
                    </a:p>
                  </a:txBody>
                  <a:tcPr marL="6064" marR="6064" marT="6064"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r" fontAlgn="b">
                        <a:buNone/>
                      </a:pPr>
                      <a:r>
                        <a:rPr lang="en-GB" sz="1100" b="1" i="0" u="none" strike="noStrike">
                          <a:effectLst/>
                          <a:latin typeface="Calibri" panose="020F0502020204030204" pitchFamily="34" charset="0"/>
                        </a:rPr>
                        <a:t>2,659.6 </a:t>
                      </a:r>
                    </a:p>
                  </a:txBody>
                  <a:tcPr marL="6064" marR="6064" marT="6064"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extLst>
                  <a:ext uri="{0D108BD9-81ED-4DB2-BD59-A6C34878D82A}">
                    <a16:rowId xmlns:a16="http://schemas.microsoft.com/office/drawing/2014/main" val="1770291367"/>
                  </a:ext>
                </a:extLst>
              </a:tr>
              <a:tr h="168641">
                <a:tc>
                  <a:txBody>
                    <a:bodyPr/>
                    <a:lstStyle/>
                    <a:p>
                      <a:pPr algn="l" fontAlgn="ctr">
                        <a:buNone/>
                      </a:pPr>
                      <a:endParaRPr lang="en-GB" sz="1200" b="1" i="0" u="none" strike="noStrike">
                        <a:solidFill>
                          <a:srgbClr val="163260"/>
                        </a:solidFill>
                        <a:effectLst/>
                        <a:latin typeface="Calibri" panose="020F0502020204030204" pitchFamily="34" charset="0"/>
                      </a:endParaRPr>
                    </a:p>
                  </a:txBody>
                  <a:tcPr marL="6064" marR="6064" marT="6064" marB="0" anchor="ctr">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extLst>
                  <a:ext uri="{0D108BD9-81ED-4DB2-BD59-A6C34878D82A}">
                    <a16:rowId xmlns:a16="http://schemas.microsoft.com/office/drawing/2014/main" val="554404494"/>
                  </a:ext>
                </a:extLst>
              </a:tr>
              <a:tr h="168641">
                <a:tc>
                  <a:txBody>
                    <a:bodyPr/>
                    <a:lstStyle/>
                    <a:p>
                      <a:pPr algn="l" fontAlgn="ctr">
                        <a:buNone/>
                      </a:pPr>
                      <a:endParaRPr lang="en-GB" sz="1200" b="1" i="0" u="none" strike="noStrike">
                        <a:solidFill>
                          <a:srgbClr val="163260"/>
                        </a:solidFill>
                        <a:effectLst/>
                        <a:latin typeface="Calibri" panose="020F0502020204030204" pitchFamily="34" charset="0"/>
                      </a:endParaRPr>
                    </a:p>
                  </a:txBody>
                  <a:tcPr marL="6064" marR="6064" marT="6064" marB="0" anchor="ctr">
                    <a:lnL>
                      <a:noFill/>
                    </a:lnL>
                    <a:lnR>
                      <a:noFill/>
                    </a:lnR>
                    <a:lnT>
                      <a:noFill/>
                    </a:lnT>
                    <a:lnB>
                      <a:noFill/>
                    </a:lnB>
                    <a:noFill/>
                  </a:tcPr>
                </a:tc>
                <a:tc>
                  <a:txBody>
                    <a:bodyPr/>
                    <a:lstStyle/>
                    <a:p>
                      <a:pPr algn="l" fontAlgn="b">
                        <a:buNone/>
                      </a:pPr>
                      <a:r>
                        <a:rPr lang="en-GB" sz="1100" b="0" i="0" u="none" strike="noStrike">
                          <a:effectLst/>
                          <a:latin typeface="Calibri" panose="020F0502020204030204" pitchFamily="34" charset="0"/>
                        </a:rPr>
                        <a:t>Market capitalization </a:t>
                      </a:r>
                    </a:p>
                  </a:txBody>
                  <a:tcPr marL="6064" marR="6064" marT="6064"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r" fontAlgn="b">
                        <a:buNone/>
                      </a:pPr>
                      <a:r>
                        <a:rPr lang="en-GB" sz="1100" b="0" i="0" u="none" strike="noStrike">
                          <a:effectLst/>
                          <a:latin typeface="Calibri" panose="020F0502020204030204" pitchFamily="34" charset="0"/>
                        </a:rPr>
                        <a:t>2,254.9 </a:t>
                      </a:r>
                    </a:p>
                  </a:txBody>
                  <a:tcPr marL="6064" marR="6064" marT="6064"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GB" sz="1100" b="0" i="0" u="none" strike="noStrike">
                          <a:effectLst/>
                          <a:latin typeface="Calibri" panose="020F0502020204030204" pitchFamily="34" charset="0"/>
                        </a:rPr>
                        <a:t> </a:t>
                      </a:r>
                    </a:p>
                  </a:txBody>
                  <a:tcPr marL="6064" marR="6064" marT="6064"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extLst>
                  <a:ext uri="{0D108BD9-81ED-4DB2-BD59-A6C34878D82A}">
                    <a16:rowId xmlns:a16="http://schemas.microsoft.com/office/drawing/2014/main" val="426611599"/>
                  </a:ext>
                </a:extLst>
              </a:tr>
              <a:tr h="168641">
                <a:tc>
                  <a:txBody>
                    <a:bodyPr/>
                    <a:lstStyle/>
                    <a:p>
                      <a:pPr algn="l" fontAlgn="ctr">
                        <a:buNone/>
                      </a:pPr>
                      <a:endParaRPr lang="en-GB" sz="1200" b="1" i="0" u="none" strike="noStrike">
                        <a:solidFill>
                          <a:srgbClr val="163260"/>
                        </a:solidFill>
                        <a:effectLst/>
                        <a:latin typeface="Calibri" panose="020F0502020204030204" pitchFamily="34" charset="0"/>
                      </a:endParaRPr>
                    </a:p>
                  </a:txBody>
                  <a:tcPr marL="6064" marR="6064" marT="6064" marB="0" anchor="ctr">
                    <a:lnL>
                      <a:noFill/>
                    </a:lnL>
                    <a:lnR>
                      <a:noFill/>
                    </a:lnR>
                    <a:lnT>
                      <a:noFill/>
                    </a:lnT>
                    <a:lnB>
                      <a:noFill/>
                    </a:lnB>
                    <a:noFill/>
                  </a:tcPr>
                </a:tc>
                <a:tc>
                  <a:txBody>
                    <a:bodyPr/>
                    <a:lstStyle/>
                    <a:p>
                      <a:pPr algn="l" fontAlgn="b">
                        <a:buNone/>
                      </a:pPr>
                      <a:r>
                        <a:rPr lang="en-GB" sz="1100" b="1" i="0" u="none" strike="noStrike">
                          <a:effectLst/>
                          <a:latin typeface="Calibri" panose="020F0502020204030204" pitchFamily="34" charset="0"/>
                        </a:rPr>
                        <a:t>Intrinsic value premium to market capitalization </a:t>
                      </a:r>
                    </a:p>
                  </a:txBody>
                  <a:tcPr marL="6064" marR="6064" marT="6064"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r" fontAlgn="b">
                        <a:buNone/>
                      </a:pPr>
                      <a:r>
                        <a:rPr lang="en-GB" sz="1100" b="1" i="0" u="none" strike="noStrike">
                          <a:effectLst/>
                          <a:latin typeface="Calibri" panose="020F0502020204030204" pitchFamily="34" charset="0"/>
                        </a:rPr>
                        <a:t>404.7 </a:t>
                      </a:r>
                    </a:p>
                  </a:txBody>
                  <a:tcPr marL="6064" marR="6064" marT="6064"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r" fontAlgn="b">
                        <a:buNone/>
                      </a:pPr>
                      <a:r>
                        <a:rPr lang="en-GB" sz="1100" b="1" i="0" u="none" strike="noStrike">
                          <a:effectLst/>
                          <a:latin typeface="Calibri" panose="020F0502020204030204" pitchFamily="34" charset="0"/>
                        </a:rPr>
                        <a:t>17.9% </a:t>
                      </a:r>
                    </a:p>
                  </a:txBody>
                  <a:tcPr marL="6064" marR="6064" marT="6064"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a:effectLst/>
                        <a:latin typeface="Calibri" panose="020F0502020204030204" pitchFamily="34" charset="0"/>
                      </a:endParaRPr>
                    </a:p>
                  </a:txBody>
                  <a:tcPr marL="6064" marR="6064" marT="6064" marB="0" anchor="b">
                    <a:lnL>
                      <a:noFill/>
                    </a:lnL>
                    <a:lnR>
                      <a:noFill/>
                    </a:lnR>
                    <a:lnT>
                      <a:noFill/>
                    </a:lnT>
                    <a:lnB>
                      <a:noFill/>
                    </a:lnB>
                    <a:noFill/>
                  </a:tcPr>
                </a:tc>
                <a:tc>
                  <a:txBody>
                    <a:bodyPr/>
                    <a:lstStyle/>
                    <a:p>
                      <a:pPr algn="l" fontAlgn="b">
                        <a:buNone/>
                      </a:pPr>
                      <a:endParaRPr lang="en-GB" sz="1100" b="0" i="0" u="none" strike="noStrike" dirty="0">
                        <a:effectLst/>
                        <a:latin typeface="Calibri" panose="020F0502020204030204" pitchFamily="34" charset="0"/>
                      </a:endParaRPr>
                    </a:p>
                  </a:txBody>
                  <a:tcPr marL="6064" marR="6064" marT="6064" marB="0" anchor="b">
                    <a:lnL>
                      <a:noFill/>
                    </a:lnL>
                    <a:lnR>
                      <a:noFill/>
                    </a:lnR>
                    <a:lnT>
                      <a:noFill/>
                    </a:lnT>
                    <a:lnB>
                      <a:noFill/>
                    </a:lnB>
                    <a:noFill/>
                  </a:tcPr>
                </a:tc>
                <a:extLst>
                  <a:ext uri="{0D108BD9-81ED-4DB2-BD59-A6C34878D82A}">
                    <a16:rowId xmlns:a16="http://schemas.microsoft.com/office/drawing/2014/main" val="4225057445"/>
                  </a:ext>
                </a:extLst>
              </a:tr>
            </a:tbl>
          </a:graphicData>
        </a:graphic>
      </p:graphicFrame>
      <p:sp>
        <p:nvSpPr>
          <p:cNvPr id="17" name="TextBox 11">
            <a:extLst>
              <a:ext uri="{FF2B5EF4-FFF2-40B4-BE49-F238E27FC236}">
                <a16:creationId xmlns:a16="http://schemas.microsoft.com/office/drawing/2014/main" id="{4A06A330-0B5B-52D9-1EE5-8AFB1EE5CE8A}"/>
              </a:ext>
            </a:extLst>
          </p:cNvPr>
          <p:cNvSpPr txBox="1"/>
          <p:nvPr/>
        </p:nvSpPr>
        <p:spPr>
          <a:xfrm>
            <a:off x="966286" y="706402"/>
            <a:ext cx="5237748" cy="615553"/>
          </a:xfrm>
          <a:prstGeom prst="rect">
            <a:avLst/>
          </a:prstGeom>
        </p:spPr>
        <p:txBody>
          <a:bodyPr wrap="square" lIns="0" tIns="0" rIns="0" bIns="0" rtlCol="0" anchor="t">
            <a:spAutoFit/>
          </a:bodyPr>
          <a:lstStyle/>
          <a:p>
            <a:pPr>
              <a:lnSpc>
                <a:spcPts val="4759"/>
              </a:lnSpc>
              <a:spcBef>
                <a:spcPct val="0"/>
              </a:spcBef>
            </a:pPr>
            <a:r>
              <a:rPr lang="en-US" sz="4400" dirty="0">
                <a:latin typeface="Times New Roman" panose="02020603050405020304" pitchFamily="18" charset="0"/>
                <a:ea typeface="Montserrat"/>
                <a:cs typeface="Times New Roman" panose="02020603050405020304" pitchFamily="18" charset="0"/>
                <a:sym typeface="Montserrat"/>
              </a:rPr>
              <a:t>Appendix</a:t>
            </a:r>
          </a:p>
        </p:txBody>
      </p:sp>
      <p:sp>
        <p:nvSpPr>
          <p:cNvPr id="19" name="AutoShape 10">
            <a:extLst>
              <a:ext uri="{FF2B5EF4-FFF2-40B4-BE49-F238E27FC236}">
                <a16:creationId xmlns:a16="http://schemas.microsoft.com/office/drawing/2014/main" id="{2EB5B6B5-3B3C-6BC8-34B5-C110FBABAED5}"/>
              </a:ext>
            </a:extLst>
          </p:cNvPr>
          <p:cNvSpPr/>
          <p:nvPr/>
        </p:nvSpPr>
        <p:spPr>
          <a:xfrm>
            <a:off x="973240" y="1362172"/>
            <a:ext cx="13744971" cy="0"/>
          </a:xfrm>
          <a:prstGeom prst="line">
            <a:avLst/>
          </a:prstGeom>
          <a:ln w="38100" cap="flat">
            <a:solidFill>
              <a:srgbClr val="214779"/>
            </a:solidFill>
            <a:prstDash val="solid"/>
            <a:headEnd type="none" w="sm" len="sm"/>
            <a:tailEnd type="none" w="sm" len="sm"/>
          </a:ln>
        </p:spPr>
        <p:txBody>
          <a:bodyPr/>
          <a:lstStyle/>
          <a:p>
            <a:endParaRPr lang="en-GB">
              <a:latin typeface="Times New Roman" panose="02020603050405020304" pitchFamily="18" charset="0"/>
              <a:cs typeface="Times New Roman" panose="02020603050405020304" pitchFamily="18" charset="0"/>
            </a:endParaRPr>
          </a:p>
        </p:txBody>
      </p:sp>
      <p:graphicFrame>
        <p:nvGraphicFramePr>
          <p:cNvPr id="21" name="Table 20">
            <a:extLst>
              <a:ext uri="{FF2B5EF4-FFF2-40B4-BE49-F238E27FC236}">
                <a16:creationId xmlns:a16="http://schemas.microsoft.com/office/drawing/2014/main" id="{ED6E4B3F-045B-9693-651A-C37BDC99F79E}"/>
              </a:ext>
            </a:extLst>
          </p:cNvPr>
          <p:cNvGraphicFramePr>
            <a:graphicFrameLocks noGrp="1"/>
          </p:cNvGraphicFramePr>
          <p:nvPr>
            <p:extLst>
              <p:ext uri="{D42A27DB-BD31-4B8C-83A1-F6EECF244321}">
                <p14:modId xmlns:p14="http://schemas.microsoft.com/office/powerpoint/2010/main" val="865772219"/>
              </p:ext>
            </p:extLst>
          </p:nvPr>
        </p:nvGraphicFramePr>
        <p:xfrm>
          <a:off x="10189549" y="1528896"/>
          <a:ext cx="7039413" cy="7092112"/>
        </p:xfrm>
        <a:graphic>
          <a:graphicData uri="http://schemas.openxmlformats.org/drawingml/2006/table">
            <a:tbl>
              <a:tblPr firstRow="1" firstCol="1">
                <a:tableStyleId>{5C22544A-7EE6-4342-B048-85BDC9FD1C3A}</a:tableStyleId>
              </a:tblPr>
              <a:tblGrid>
                <a:gridCol w="1119631">
                  <a:extLst>
                    <a:ext uri="{9D8B030D-6E8A-4147-A177-3AD203B41FA5}">
                      <a16:colId xmlns:a16="http://schemas.microsoft.com/office/drawing/2014/main" val="210614410"/>
                    </a:ext>
                  </a:extLst>
                </a:gridCol>
                <a:gridCol w="646291">
                  <a:extLst>
                    <a:ext uri="{9D8B030D-6E8A-4147-A177-3AD203B41FA5}">
                      <a16:colId xmlns:a16="http://schemas.microsoft.com/office/drawing/2014/main" val="677256020"/>
                    </a:ext>
                  </a:extLst>
                </a:gridCol>
                <a:gridCol w="752489">
                  <a:extLst>
                    <a:ext uri="{9D8B030D-6E8A-4147-A177-3AD203B41FA5}">
                      <a16:colId xmlns:a16="http://schemas.microsoft.com/office/drawing/2014/main" val="1285023007"/>
                    </a:ext>
                  </a:extLst>
                </a:gridCol>
                <a:gridCol w="752489">
                  <a:extLst>
                    <a:ext uri="{9D8B030D-6E8A-4147-A177-3AD203B41FA5}">
                      <a16:colId xmlns:a16="http://schemas.microsoft.com/office/drawing/2014/main" val="2616452732"/>
                    </a:ext>
                  </a:extLst>
                </a:gridCol>
                <a:gridCol w="755523">
                  <a:extLst>
                    <a:ext uri="{9D8B030D-6E8A-4147-A177-3AD203B41FA5}">
                      <a16:colId xmlns:a16="http://schemas.microsoft.com/office/drawing/2014/main" val="1329792777"/>
                    </a:ext>
                  </a:extLst>
                </a:gridCol>
                <a:gridCol w="752489">
                  <a:extLst>
                    <a:ext uri="{9D8B030D-6E8A-4147-A177-3AD203B41FA5}">
                      <a16:colId xmlns:a16="http://schemas.microsoft.com/office/drawing/2014/main" val="2489002003"/>
                    </a:ext>
                  </a:extLst>
                </a:gridCol>
                <a:gridCol w="755523">
                  <a:extLst>
                    <a:ext uri="{9D8B030D-6E8A-4147-A177-3AD203B41FA5}">
                      <a16:colId xmlns:a16="http://schemas.microsoft.com/office/drawing/2014/main" val="2336817263"/>
                    </a:ext>
                  </a:extLst>
                </a:gridCol>
                <a:gridCol w="752489">
                  <a:extLst>
                    <a:ext uri="{9D8B030D-6E8A-4147-A177-3AD203B41FA5}">
                      <a16:colId xmlns:a16="http://schemas.microsoft.com/office/drawing/2014/main" val="1065200529"/>
                    </a:ext>
                  </a:extLst>
                </a:gridCol>
                <a:gridCol w="752489">
                  <a:extLst>
                    <a:ext uri="{9D8B030D-6E8A-4147-A177-3AD203B41FA5}">
                      <a16:colId xmlns:a16="http://schemas.microsoft.com/office/drawing/2014/main" val="1373957020"/>
                    </a:ext>
                  </a:extLst>
                </a:gridCol>
              </a:tblGrid>
              <a:tr h="222697">
                <a:tc>
                  <a:txBody>
                    <a:bodyPr/>
                    <a:lstStyle/>
                    <a:p>
                      <a:pPr algn="ctr" fontAlgn="ctr">
                        <a:buNone/>
                      </a:pPr>
                      <a:r>
                        <a:rPr lang="en-GB" sz="1200" u="none" strike="noStrike">
                          <a:effectLst/>
                          <a:latin typeface="Times New Roman" panose="02020603050405020304" pitchFamily="18" charset="0"/>
                          <a:cs typeface="Times New Roman" panose="02020603050405020304" pitchFamily="18" charset="0"/>
                        </a:rPr>
                        <a:t>(€ millions) </a:t>
                      </a:r>
                      <a:endParaRPr lang="en-GB" sz="1200" b="1"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solidFill>
                      <a:schemeClr val="tx2"/>
                    </a:solidFill>
                  </a:tcPr>
                </a:tc>
                <a:tc>
                  <a:txBody>
                    <a:bodyPr/>
                    <a:lstStyle/>
                    <a:p>
                      <a:pPr algn="ctr" fontAlgn="ctr">
                        <a:buNone/>
                      </a:pPr>
                      <a:r>
                        <a:rPr lang="en-GB" sz="1200" u="none" strike="noStrike">
                          <a:effectLst/>
                          <a:latin typeface="Times New Roman" panose="02020603050405020304" pitchFamily="18" charset="0"/>
                          <a:cs typeface="Times New Roman" panose="02020603050405020304" pitchFamily="18" charset="0"/>
                        </a:rPr>
                        <a:t>2022</a:t>
                      </a:r>
                      <a:endParaRPr lang="en-GB" sz="1200" b="1"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solidFill>
                      <a:schemeClr val="tx2"/>
                    </a:solidFill>
                  </a:tcPr>
                </a:tc>
                <a:tc>
                  <a:txBody>
                    <a:bodyPr/>
                    <a:lstStyle/>
                    <a:p>
                      <a:pPr algn="ctr" fontAlgn="ctr">
                        <a:buNone/>
                      </a:pPr>
                      <a:r>
                        <a:rPr lang="en-GB" sz="1200" u="none" strike="noStrike">
                          <a:effectLst/>
                          <a:latin typeface="Times New Roman" panose="02020603050405020304" pitchFamily="18" charset="0"/>
                          <a:cs typeface="Times New Roman" panose="02020603050405020304" pitchFamily="18" charset="0"/>
                        </a:rPr>
                        <a:t>2023</a:t>
                      </a:r>
                      <a:endParaRPr lang="en-GB" sz="1200" b="1"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solidFill>
                      <a:schemeClr val="tx2"/>
                    </a:solidFill>
                  </a:tcPr>
                </a:tc>
                <a:tc>
                  <a:txBody>
                    <a:bodyPr/>
                    <a:lstStyle/>
                    <a:p>
                      <a:pPr algn="ctr" fontAlgn="ctr">
                        <a:buNone/>
                      </a:pPr>
                      <a:r>
                        <a:rPr lang="en-GB" sz="1200" u="none" strike="noStrike">
                          <a:effectLst/>
                          <a:latin typeface="Times New Roman" panose="02020603050405020304" pitchFamily="18" charset="0"/>
                          <a:cs typeface="Times New Roman" panose="02020603050405020304" pitchFamily="18" charset="0"/>
                        </a:rPr>
                        <a:t>2024</a:t>
                      </a:r>
                      <a:endParaRPr lang="en-GB" sz="1200" b="1"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solidFill>
                      <a:schemeClr val="tx2"/>
                    </a:solidFill>
                  </a:tcPr>
                </a:tc>
                <a:tc>
                  <a:txBody>
                    <a:bodyPr/>
                    <a:lstStyle/>
                    <a:p>
                      <a:pPr algn="ctr" fontAlgn="ctr">
                        <a:buNone/>
                      </a:pPr>
                      <a:r>
                        <a:rPr lang="en-GB" sz="1200" u="none" strike="noStrike">
                          <a:effectLst/>
                          <a:latin typeface="Times New Roman" panose="02020603050405020304" pitchFamily="18" charset="0"/>
                          <a:cs typeface="Times New Roman" panose="02020603050405020304" pitchFamily="18" charset="0"/>
                        </a:rPr>
                        <a:t>2025</a:t>
                      </a:r>
                      <a:endParaRPr lang="en-GB" sz="1200" b="1"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solidFill>
                      <a:schemeClr val="tx2"/>
                    </a:solidFill>
                  </a:tcPr>
                </a:tc>
                <a:tc>
                  <a:txBody>
                    <a:bodyPr/>
                    <a:lstStyle/>
                    <a:p>
                      <a:pPr algn="ctr" fontAlgn="ctr">
                        <a:buNone/>
                      </a:pPr>
                      <a:r>
                        <a:rPr lang="en-GB" sz="1200" u="none" strike="noStrike">
                          <a:effectLst/>
                          <a:latin typeface="Times New Roman" panose="02020603050405020304" pitchFamily="18" charset="0"/>
                          <a:cs typeface="Times New Roman" panose="02020603050405020304" pitchFamily="18" charset="0"/>
                        </a:rPr>
                        <a:t>2026</a:t>
                      </a:r>
                      <a:endParaRPr lang="en-GB" sz="1200" b="1"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solidFill>
                      <a:schemeClr val="tx2"/>
                    </a:solidFill>
                  </a:tcPr>
                </a:tc>
                <a:tc>
                  <a:txBody>
                    <a:bodyPr/>
                    <a:lstStyle/>
                    <a:p>
                      <a:pPr algn="ctr" fontAlgn="ctr">
                        <a:buNone/>
                      </a:pPr>
                      <a:r>
                        <a:rPr lang="en-GB" sz="1200" u="none" strike="noStrike">
                          <a:effectLst/>
                          <a:latin typeface="Times New Roman" panose="02020603050405020304" pitchFamily="18" charset="0"/>
                          <a:cs typeface="Times New Roman" panose="02020603050405020304" pitchFamily="18" charset="0"/>
                        </a:rPr>
                        <a:t>2027</a:t>
                      </a:r>
                      <a:endParaRPr lang="en-GB" sz="1200" b="1"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solidFill>
                      <a:schemeClr val="tx2"/>
                    </a:solidFill>
                  </a:tcPr>
                </a:tc>
                <a:tc>
                  <a:txBody>
                    <a:bodyPr/>
                    <a:lstStyle/>
                    <a:p>
                      <a:pPr algn="ctr" fontAlgn="ctr">
                        <a:buNone/>
                      </a:pPr>
                      <a:r>
                        <a:rPr lang="en-GB" sz="1200" u="none" strike="noStrike">
                          <a:effectLst/>
                          <a:latin typeface="Times New Roman" panose="02020603050405020304" pitchFamily="18" charset="0"/>
                          <a:cs typeface="Times New Roman" panose="02020603050405020304" pitchFamily="18" charset="0"/>
                        </a:rPr>
                        <a:t>2028</a:t>
                      </a:r>
                      <a:endParaRPr lang="en-GB" sz="1200" b="1"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solidFill>
                      <a:schemeClr val="tx2"/>
                    </a:solidFill>
                  </a:tcPr>
                </a:tc>
                <a:tc>
                  <a:txBody>
                    <a:bodyPr/>
                    <a:lstStyle/>
                    <a:p>
                      <a:pPr algn="ctr" fontAlgn="ctr">
                        <a:buNone/>
                      </a:pPr>
                      <a:r>
                        <a:rPr lang="en-GB" sz="1200" u="none" strike="noStrike">
                          <a:effectLst/>
                          <a:latin typeface="Times New Roman" panose="02020603050405020304" pitchFamily="18" charset="0"/>
                          <a:cs typeface="Times New Roman" panose="02020603050405020304" pitchFamily="18" charset="0"/>
                        </a:rPr>
                        <a:t>2029</a:t>
                      </a:r>
                      <a:endParaRPr lang="en-GB" sz="1200" b="1"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solidFill>
                      <a:schemeClr val="tx2"/>
                    </a:solidFill>
                  </a:tcPr>
                </a:tc>
                <a:extLst>
                  <a:ext uri="{0D108BD9-81ED-4DB2-BD59-A6C34878D82A}">
                    <a16:rowId xmlns:a16="http://schemas.microsoft.com/office/drawing/2014/main" val="4196889516"/>
                  </a:ext>
                </a:extLst>
              </a:tr>
              <a:tr h="436846">
                <a:tc>
                  <a:txBody>
                    <a:bodyPr/>
                    <a:lstStyle/>
                    <a:p>
                      <a:pPr algn="l" fontAlgn="ctr">
                        <a:buNone/>
                      </a:pPr>
                      <a:r>
                        <a:rPr lang="en-GB" sz="1200" u="none" strike="noStrike">
                          <a:effectLst/>
                          <a:latin typeface="Times New Roman" panose="02020603050405020304" pitchFamily="18" charset="0"/>
                          <a:cs typeface="Times New Roman" panose="02020603050405020304" pitchFamily="18" charset="0"/>
                        </a:rPr>
                        <a:t>Division Netherlands </a:t>
                      </a:r>
                      <a:endParaRPr lang="en-GB" sz="1200" b="1"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solidFill>
                      <a:schemeClr val="tx2"/>
                    </a:solidFill>
                  </a:tcPr>
                </a:tc>
                <a:tc>
                  <a:txBody>
                    <a:bodyPr/>
                    <a:lstStyle/>
                    <a:p>
                      <a:pPr algn="l" fontAlgn="ctr">
                        <a:buNone/>
                      </a:pPr>
                      <a:r>
                        <a:rPr lang="en-GB" sz="1200" u="none" strike="noStrike">
                          <a:effectLst/>
                          <a:latin typeface="Times New Roman" panose="02020603050405020304" pitchFamily="18" charset="0"/>
                          <a:cs typeface="Times New Roman" panose="02020603050405020304" pitchFamily="18" charset="0"/>
                        </a:rPr>
                        <a:t>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l" fontAlgn="ctr">
                        <a:buNone/>
                      </a:pPr>
                      <a:r>
                        <a:rPr lang="en-GB" sz="1200" u="none" strike="noStrike">
                          <a:effectLst/>
                          <a:latin typeface="Times New Roman" panose="02020603050405020304" pitchFamily="18" charset="0"/>
                          <a:cs typeface="Times New Roman" panose="02020603050405020304" pitchFamily="18" charset="0"/>
                        </a:rPr>
                        <a:t>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l" fontAlgn="ctr">
                        <a:buNone/>
                      </a:pPr>
                      <a:r>
                        <a:rPr lang="en-GB" sz="1200" u="none" strike="noStrike">
                          <a:effectLst/>
                          <a:latin typeface="Times New Roman" panose="02020603050405020304" pitchFamily="18" charset="0"/>
                          <a:cs typeface="Times New Roman" panose="02020603050405020304" pitchFamily="18" charset="0"/>
                        </a:rPr>
                        <a:t>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l" fontAlgn="ctr">
                        <a:buNone/>
                      </a:pPr>
                      <a:r>
                        <a:rPr lang="en-GB" sz="1200" u="none" strike="noStrike">
                          <a:effectLst/>
                          <a:latin typeface="Times New Roman" panose="02020603050405020304" pitchFamily="18" charset="0"/>
                          <a:cs typeface="Times New Roman" panose="02020603050405020304" pitchFamily="18" charset="0"/>
                        </a:rPr>
                        <a:t>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l" fontAlgn="ctr">
                        <a:buNone/>
                      </a:pPr>
                      <a:r>
                        <a:rPr lang="en-GB" sz="1200" u="none" strike="noStrike">
                          <a:effectLst/>
                          <a:latin typeface="Times New Roman" panose="02020603050405020304" pitchFamily="18" charset="0"/>
                          <a:cs typeface="Times New Roman" panose="02020603050405020304" pitchFamily="18" charset="0"/>
                        </a:rPr>
                        <a:t>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l" fontAlgn="ctr">
                        <a:buNone/>
                      </a:pPr>
                      <a:r>
                        <a:rPr lang="en-GB" sz="1200" u="none" strike="noStrike">
                          <a:effectLst/>
                          <a:latin typeface="Times New Roman" panose="02020603050405020304" pitchFamily="18" charset="0"/>
                          <a:cs typeface="Times New Roman" panose="02020603050405020304" pitchFamily="18" charset="0"/>
                        </a:rPr>
                        <a:t>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l" fontAlgn="ctr">
                        <a:buNone/>
                      </a:pPr>
                      <a:r>
                        <a:rPr lang="en-GB" sz="1200" u="none" strike="noStrike">
                          <a:effectLst/>
                          <a:latin typeface="Times New Roman" panose="02020603050405020304" pitchFamily="18" charset="0"/>
                          <a:cs typeface="Times New Roman" panose="02020603050405020304" pitchFamily="18" charset="0"/>
                        </a:rPr>
                        <a:t>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l" fontAlgn="ctr">
                        <a:buNone/>
                      </a:pPr>
                      <a:r>
                        <a:rPr lang="en-GB" sz="1200" u="none" strike="noStrike">
                          <a:effectLst/>
                          <a:latin typeface="Times New Roman" panose="02020603050405020304" pitchFamily="18" charset="0"/>
                          <a:cs typeface="Times New Roman" panose="02020603050405020304" pitchFamily="18" charset="0"/>
                        </a:rPr>
                        <a:t>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extLst>
                  <a:ext uri="{0D108BD9-81ED-4DB2-BD59-A6C34878D82A}">
                    <a16:rowId xmlns:a16="http://schemas.microsoft.com/office/drawing/2014/main" val="2715900549"/>
                  </a:ext>
                </a:extLst>
              </a:tr>
              <a:tr h="222697">
                <a:tc>
                  <a:txBody>
                    <a:bodyPr/>
                    <a:lstStyle/>
                    <a:p>
                      <a:pPr algn="l" fontAlgn="ctr">
                        <a:buNone/>
                      </a:pPr>
                      <a:r>
                        <a:rPr lang="en-GB" sz="1200" u="none" strike="noStrike">
                          <a:effectLst/>
                          <a:latin typeface="Times New Roman" panose="02020603050405020304" pitchFamily="18" charset="0"/>
                          <a:cs typeface="Times New Roman" panose="02020603050405020304" pitchFamily="18" charset="0"/>
                        </a:rPr>
                        <a:t>Revenue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solidFill>
                      <a:schemeClr val="tx2"/>
                    </a:solidFill>
                  </a:tcPr>
                </a:tc>
                <a:tc>
                  <a:txBody>
                    <a:bodyPr/>
                    <a:lstStyle/>
                    <a:p>
                      <a:pPr algn="r" fontAlgn="ctr">
                        <a:buNone/>
                      </a:pPr>
                      <a:r>
                        <a:rPr lang="en-GB" sz="1200" u="none" strike="noStrike">
                          <a:effectLst/>
                          <a:latin typeface="Times New Roman" panose="02020603050405020304" pitchFamily="18" charset="0"/>
                          <a:cs typeface="Times New Roman" panose="02020603050405020304" pitchFamily="18" charset="0"/>
                        </a:rPr>
                        <a:t>2,917.0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r" fontAlgn="ctr">
                        <a:buNone/>
                      </a:pPr>
                      <a:r>
                        <a:rPr lang="en-GB" sz="1200" u="none" strike="noStrike">
                          <a:effectLst/>
                          <a:latin typeface="Times New Roman" panose="02020603050405020304" pitchFamily="18" charset="0"/>
                          <a:cs typeface="Times New Roman" panose="02020603050405020304" pitchFamily="18" charset="0"/>
                        </a:rPr>
                        <a:t>3,007.0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r" fontAlgn="ctr">
                        <a:buNone/>
                      </a:pPr>
                      <a:r>
                        <a:rPr lang="en-GB" sz="1200" u="none" strike="noStrike">
                          <a:effectLst/>
                          <a:latin typeface="Times New Roman" panose="02020603050405020304" pitchFamily="18" charset="0"/>
                          <a:cs typeface="Times New Roman" panose="02020603050405020304" pitchFamily="18" charset="0"/>
                        </a:rPr>
                        <a:t>3,231.0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r" fontAlgn="ctr">
                        <a:buNone/>
                      </a:pPr>
                      <a:r>
                        <a:rPr lang="en-GB" sz="1200" u="none" strike="noStrike">
                          <a:effectLst/>
                          <a:latin typeface="Times New Roman" panose="02020603050405020304" pitchFamily="18" charset="0"/>
                          <a:cs typeface="Times New Roman" panose="02020603050405020304" pitchFamily="18" charset="0"/>
                        </a:rPr>
                        <a:t>3,412.0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r" fontAlgn="ctr">
                        <a:buNone/>
                      </a:pPr>
                      <a:r>
                        <a:rPr lang="en-GB" sz="1200" u="none" strike="noStrike">
                          <a:effectLst/>
                          <a:latin typeface="Times New Roman" panose="02020603050405020304" pitchFamily="18" charset="0"/>
                          <a:cs typeface="Times New Roman" panose="02020603050405020304" pitchFamily="18" charset="0"/>
                        </a:rPr>
                        <a:t>3,583.0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r" fontAlgn="ctr">
                        <a:buNone/>
                      </a:pPr>
                      <a:r>
                        <a:rPr lang="en-GB" sz="1200" u="none" strike="noStrike">
                          <a:effectLst/>
                          <a:latin typeface="Times New Roman" panose="02020603050405020304" pitchFamily="18" charset="0"/>
                          <a:cs typeface="Times New Roman" panose="02020603050405020304" pitchFamily="18" charset="0"/>
                        </a:rPr>
                        <a:t>3,744.0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r" fontAlgn="ctr">
                        <a:buNone/>
                      </a:pPr>
                      <a:r>
                        <a:rPr lang="en-GB" sz="1200" u="none" strike="noStrike">
                          <a:effectLst/>
                          <a:latin typeface="Times New Roman" panose="02020603050405020304" pitchFamily="18" charset="0"/>
                          <a:cs typeface="Times New Roman" panose="02020603050405020304" pitchFamily="18" charset="0"/>
                        </a:rPr>
                        <a:t>3,894.0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r" fontAlgn="ctr">
                        <a:buNone/>
                      </a:pPr>
                      <a:r>
                        <a:rPr lang="en-GB" sz="1200" u="none" strike="noStrike">
                          <a:effectLst/>
                          <a:latin typeface="Times New Roman" panose="02020603050405020304" pitchFamily="18" charset="0"/>
                          <a:cs typeface="Times New Roman" panose="02020603050405020304" pitchFamily="18" charset="0"/>
                        </a:rPr>
                        <a:t>4,030.0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extLst>
                  <a:ext uri="{0D108BD9-81ED-4DB2-BD59-A6C34878D82A}">
                    <a16:rowId xmlns:a16="http://schemas.microsoft.com/office/drawing/2014/main" val="2246670748"/>
                  </a:ext>
                </a:extLst>
              </a:tr>
              <a:tr h="222697">
                <a:tc>
                  <a:txBody>
                    <a:bodyPr/>
                    <a:lstStyle/>
                    <a:p>
                      <a:pPr algn="l" fontAlgn="ctr">
                        <a:buNone/>
                      </a:pPr>
                      <a:r>
                        <a:rPr lang="en-GB" sz="1200" u="none" strike="noStrike">
                          <a:effectLst/>
                          <a:latin typeface="Times New Roman" panose="02020603050405020304" pitchFamily="18" charset="0"/>
                          <a:cs typeface="Times New Roman" panose="02020603050405020304" pitchFamily="18" charset="0"/>
                        </a:rPr>
                        <a:t>YoY Growth %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solidFill>
                      <a:schemeClr val="tx2"/>
                    </a:solidFill>
                  </a:tcPr>
                </a:tc>
                <a:tc>
                  <a:txBody>
                    <a:bodyPr/>
                    <a:lstStyle/>
                    <a:p>
                      <a:pPr algn="r" fontAlgn="ctr">
                        <a:buNone/>
                      </a:pPr>
                      <a:r>
                        <a:rPr lang="en-GB" sz="1200" u="none" strike="noStrike">
                          <a:effectLst/>
                          <a:latin typeface="Times New Roman" panose="02020603050405020304" pitchFamily="18" charset="0"/>
                          <a:cs typeface="Times New Roman" panose="02020603050405020304" pitchFamily="18" charset="0"/>
                        </a:rPr>
                        <a:t>3.29%</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r" fontAlgn="ctr">
                        <a:buNone/>
                      </a:pPr>
                      <a:r>
                        <a:rPr lang="en-GB" sz="1200" u="none" strike="noStrike">
                          <a:effectLst/>
                          <a:latin typeface="Times New Roman" panose="02020603050405020304" pitchFamily="18" charset="0"/>
                          <a:cs typeface="Times New Roman" panose="02020603050405020304" pitchFamily="18" charset="0"/>
                        </a:rPr>
                        <a:t>3.09%</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r" fontAlgn="ctr">
                        <a:buNone/>
                      </a:pPr>
                      <a:r>
                        <a:rPr lang="en-GB" sz="1200" u="none" strike="noStrike">
                          <a:effectLst/>
                          <a:latin typeface="Times New Roman" panose="02020603050405020304" pitchFamily="18" charset="0"/>
                          <a:cs typeface="Times New Roman" panose="02020603050405020304" pitchFamily="18" charset="0"/>
                        </a:rPr>
                        <a:t>7.45%</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r" fontAlgn="ctr">
                        <a:buNone/>
                      </a:pPr>
                      <a:r>
                        <a:rPr lang="en-GB" sz="1200" u="none" strike="noStrike">
                          <a:effectLst/>
                          <a:latin typeface="Times New Roman" panose="02020603050405020304" pitchFamily="18" charset="0"/>
                          <a:cs typeface="Times New Roman" panose="02020603050405020304" pitchFamily="18" charset="0"/>
                        </a:rPr>
                        <a:t>5.60%</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r" fontAlgn="ctr">
                        <a:buNone/>
                      </a:pPr>
                      <a:r>
                        <a:rPr lang="en-GB" sz="1200" u="none" strike="noStrike">
                          <a:effectLst/>
                          <a:latin typeface="Times New Roman" panose="02020603050405020304" pitchFamily="18" charset="0"/>
                          <a:cs typeface="Times New Roman" panose="02020603050405020304" pitchFamily="18" charset="0"/>
                        </a:rPr>
                        <a:t>5.01%</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r" fontAlgn="ctr">
                        <a:buNone/>
                      </a:pPr>
                      <a:r>
                        <a:rPr lang="en-GB" sz="1200" u="none" strike="noStrike">
                          <a:effectLst/>
                          <a:latin typeface="Times New Roman" panose="02020603050405020304" pitchFamily="18" charset="0"/>
                          <a:cs typeface="Times New Roman" panose="02020603050405020304" pitchFamily="18" charset="0"/>
                        </a:rPr>
                        <a:t>4.49%</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r" fontAlgn="ctr">
                        <a:buNone/>
                      </a:pPr>
                      <a:r>
                        <a:rPr lang="en-GB" sz="1200" u="none" strike="noStrike">
                          <a:effectLst/>
                          <a:latin typeface="Times New Roman" panose="02020603050405020304" pitchFamily="18" charset="0"/>
                          <a:cs typeface="Times New Roman" panose="02020603050405020304" pitchFamily="18" charset="0"/>
                        </a:rPr>
                        <a:t>4.01%</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r" fontAlgn="ctr">
                        <a:buNone/>
                      </a:pPr>
                      <a:r>
                        <a:rPr lang="en-GB" sz="1200" u="none" strike="noStrike">
                          <a:effectLst/>
                          <a:latin typeface="Times New Roman" panose="02020603050405020304" pitchFamily="18" charset="0"/>
                          <a:cs typeface="Times New Roman" panose="02020603050405020304" pitchFamily="18" charset="0"/>
                        </a:rPr>
                        <a:t>3.49%</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extLst>
                  <a:ext uri="{0D108BD9-81ED-4DB2-BD59-A6C34878D82A}">
                    <a16:rowId xmlns:a16="http://schemas.microsoft.com/office/drawing/2014/main" val="2388693792"/>
                  </a:ext>
                </a:extLst>
              </a:tr>
              <a:tr h="222697">
                <a:tc>
                  <a:txBody>
                    <a:bodyPr/>
                    <a:lstStyle/>
                    <a:p>
                      <a:pPr algn="l" fontAlgn="ctr">
                        <a:buNone/>
                      </a:pPr>
                      <a:r>
                        <a:rPr lang="en-GB" sz="1200" u="none" strike="noStrike">
                          <a:effectLst/>
                          <a:latin typeface="Times New Roman" panose="02020603050405020304" pitchFamily="18" charset="0"/>
                          <a:cs typeface="Times New Roman" panose="02020603050405020304" pitchFamily="18" charset="0"/>
                        </a:rPr>
                        <a:t>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solidFill>
                      <a:schemeClr val="tx2"/>
                    </a:solidFill>
                  </a:tcPr>
                </a:tc>
                <a:tc>
                  <a:txBody>
                    <a:bodyPr/>
                    <a:lstStyle/>
                    <a:p>
                      <a:pPr algn="l" fontAlgn="ctr">
                        <a:buNone/>
                      </a:pPr>
                      <a:r>
                        <a:rPr lang="en-GB" sz="1200" u="none" strike="noStrike">
                          <a:effectLst/>
                          <a:latin typeface="Times New Roman" panose="02020603050405020304" pitchFamily="18" charset="0"/>
                          <a:cs typeface="Times New Roman" panose="02020603050405020304" pitchFamily="18" charset="0"/>
                        </a:rPr>
                        <a:t>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l" fontAlgn="ctr">
                        <a:buNone/>
                      </a:pPr>
                      <a:r>
                        <a:rPr lang="en-GB" sz="1200" u="none" strike="noStrike">
                          <a:effectLst/>
                          <a:latin typeface="Times New Roman" panose="02020603050405020304" pitchFamily="18" charset="0"/>
                          <a:cs typeface="Times New Roman" panose="02020603050405020304" pitchFamily="18" charset="0"/>
                        </a:rPr>
                        <a:t>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l" fontAlgn="ctr">
                        <a:buNone/>
                      </a:pPr>
                      <a:r>
                        <a:rPr lang="en-GB" sz="1200" u="none" strike="noStrike">
                          <a:effectLst/>
                          <a:latin typeface="Times New Roman" panose="02020603050405020304" pitchFamily="18" charset="0"/>
                          <a:cs typeface="Times New Roman" panose="02020603050405020304" pitchFamily="18" charset="0"/>
                        </a:rPr>
                        <a:t>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l" fontAlgn="ctr">
                        <a:buNone/>
                      </a:pPr>
                      <a:r>
                        <a:rPr lang="en-GB" sz="1200" u="none" strike="noStrike">
                          <a:effectLst/>
                          <a:latin typeface="Times New Roman" panose="02020603050405020304" pitchFamily="18" charset="0"/>
                          <a:cs typeface="Times New Roman" panose="02020603050405020304" pitchFamily="18" charset="0"/>
                        </a:rPr>
                        <a:t>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l" fontAlgn="ctr">
                        <a:buNone/>
                      </a:pPr>
                      <a:r>
                        <a:rPr lang="en-GB" sz="1200" u="none" strike="noStrike">
                          <a:effectLst/>
                          <a:latin typeface="Times New Roman" panose="02020603050405020304" pitchFamily="18" charset="0"/>
                          <a:cs typeface="Times New Roman" panose="02020603050405020304" pitchFamily="18" charset="0"/>
                        </a:rPr>
                        <a:t>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l" fontAlgn="ctr">
                        <a:buNone/>
                      </a:pPr>
                      <a:r>
                        <a:rPr lang="en-GB" sz="1200" u="none" strike="noStrike">
                          <a:effectLst/>
                          <a:latin typeface="Times New Roman" panose="02020603050405020304" pitchFamily="18" charset="0"/>
                          <a:cs typeface="Times New Roman" panose="02020603050405020304" pitchFamily="18" charset="0"/>
                        </a:rPr>
                        <a:t>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l" fontAlgn="ctr">
                        <a:buNone/>
                      </a:pPr>
                      <a:r>
                        <a:rPr lang="en-GB" sz="1200" u="none" strike="noStrike">
                          <a:effectLst/>
                          <a:latin typeface="Times New Roman" panose="02020603050405020304" pitchFamily="18" charset="0"/>
                          <a:cs typeface="Times New Roman" panose="02020603050405020304" pitchFamily="18" charset="0"/>
                        </a:rPr>
                        <a:t>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l" fontAlgn="ctr">
                        <a:buNone/>
                      </a:pPr>
                      <a:r>
                        <a:rPr lang="en-GB" sz="1200" u="none" strike="noStrike">
                          <a:effectLst/>
                          <a:latin typeface="Times New Roman" panose="02020603050405020304" pitchFamily="18" charset="0"/>
                          <a:cs typeface="Times New Roman" panose="02020603050405020304" pitchFamily="18" charset="0"/>
                        </a:rPr>
                        <a:t>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extLst>
                  <a:ext uri="{0D108BD9-81ED-4DB2-BD59-A6C34878D82A}">
                    <a16:rowId xmlns:a16="http://schemas.microsoft.com/office/drawing/2014/main" val="3994474512"/>
                  </a:ext>
                </a:extLst>
              </a:tr>
              <a:tr h="222697">
                <a:tc>
                  <a:txBody>
                    <a:bodyPr/>
                    <a:lstStyle/>
                    <a:p>
                      <a:pPr algn="l" fontAlgn="ctr">
                        <a:buNone/>
                      </a:pPr>
                      <a:r>
                        <a:rPr lang="en-GB" sz="1200" u="none" strike="noStrike">
                          <a:effectLst/>
                          <a:latin typeface="Times New Roman" panose="02020603050405020304" pitchFamily="18" charset="0"/>
                          <a:cs typeface="Times New Roman" panose="02020603050405020304" pitchFamily="18" charset="0"/>
                        </a:rPr>
                        <a:t> </a:t>
                      </a:r>
                      <a:endParaRPr lang="en-GB" sz="1200" b="1"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solidFill>
                      <a:schemeClr val="tx2"/>
                    </a:solidFill>
                  </a:tcPr>
                </a:tc>
                <a:tc>
                  <a:txBody>
                    <a:bodyPr/>
                    <a:lstStyle/>
                    <a:p>
                      <a:pPr algn="l" fontAlgn="ctr">
                        <a:buNone/>
                      </a:pPr>
                      <a:r>
                        <a:rPr lang="en-GB" sz="1200" u="none" strike="noStrike">
                          <a:effectLst/>
                          <a:latin typeface="Times New Roman" panose="02020603050405020304" pitchFamily="18" charset="0"/>
                          <a:cs typeface="Times New Roman" panose="02020603050405020304" pitchFamily="18" charset="0"/>
                        </a:rPr>
                        <a:t>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l" fontAlgn="ctr">
                        <a:buNone/>
                      </a:pPr>
                      <a:r>
                        <a:rPr lang="en-GB" sz="1200" u="none" strike="noStrike">
                          <a:effectLst/>
                          <a:latin typeface="Times New Roman" panose="02020603050405020304" pitchFamily="18" charset="0"/>
                          <a:cs typeface="Times New Roman" panose="02020603050405020304" pitchFamily="18" charset="0"/>
                        </a:rPr>
                        <a:t>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l" fontAlgn="ctr">
                        <a:buNone/>
                      </a:pPr>
                      <a:r>
                        <a:rPr lang="en-GB" sz="1200" u="none" strike="noStrike">
                          <a:effectLst/>
                          <a:latin typeface="Times New Roman" panose="02020603050405020304" pitchFamily="18" charset="0"/>
                          <a:cs typeface="Times New Roman" panose="02020603050405020304" pitchFamily="18" charset="0"/>
                        </a:rPr>
                        <a:t>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l" fontAlgn="ctr">
                        <a:buNone/>
                      </a:pPr>
                      <a:r>
                        <a:rPr lang="en-GB" sz="1200" u="none" strike="noStrike">
                          <a:effectLst/>
                          <a:latin typeface="Times New Roman" panose="02020603050405020304" pitchFamily="18" charset="0"/>
                          <a:cs typeface="Times New Roman" panose="02020603050405020304" pitchFamily="18" charset="0"/>
                        </a:rPr>
                        <a:t>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l" fontAlgn="ctr">
                        <a:buNone/>
                      </a:pPr>
                      <a:r>
                        <a:rPr lang="en-GB" sz="1200" u="none" strike="noStrike">
                          <a:effectLst/>
                          <a:latin typeface="Times New Roman" panose="02020603050405020304" pitchFamily="18" charset="0"/>
                          <a:cs typeface="Times New Roman" panose="02020603050405020304" pitchFamily="18" charset="0"/>
                        </a:rPr>
                        <a:t>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l" fontAlgn="ctr">
                        <a:buNone/>
                      </a:pPr>
                      <a:r>
                        <a:rPr lang="en-GB" sz="1200" u="none" strike="noStrike">
                          <a:effectLst/>
                          <a:latin typeface="Times New Roman" panose="02020603050405020304" pitchFamily="18" charset="0"/>
                          <a:cs typeface="Times New Roman" panose="02020603050405020304" pitchFamily="18" charset="0"/>
                        </a:rPr>
                        <a:t>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l" fontAlgn="ctr">
                        <a:buNone/>
                      </a:pPr>
                      <a:r>
                        <a:rPr lang="en-GB" sz="1200" u="none" strike="noStrike">
                          <a:effectLst/>
                          <a:latin typeface="Times New Roman" panose="02020603050405020304" pitchFamily="18" charset="0"/>
                          <a:cs typeface="Times New Roman" panose="02020603050405020304" pitchFamily="18" charset="0"/>
                        </a:rPr>
                        <a:t>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l" fontAlgn="ctr">
                        <a:buNone/>
                      </a:pPr>
                      <a:r>
                        <a:rPr lang="en-GB" sz="1200" u="none" strike="noStrike">
                          <a:effectLst/>
                          <a:latin typeface="Times New Roman" panose="02020603050405020304" pitchFamily="18" charset="0"/>
                          <a:cs typeface="Times New Roman" panose="02020603050405020304" pitchFamily="18" charset="0"/>
                        </a:rPr>
                        <a:t>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extLst>
                  <a:ext uri="{0D108BD9-81ED-4DB2-BD59-A6C34878D82A}">
                    <a16:rowId xmlns:a16="http://schemas.microsoft.com/office/drawing/2014/main" val="3755417818"/>
                  </a:ext>
                </a:extLst>
              </a:tr>
              <a:tr h="222697">
                <a:tc>
                  <a:txBody>
                    <a:bodyPr/>
                    <a:lstStyle/>
                    <a:p>
                      <a:pPr algn="l" fontAlgn="b">
                        <a:buNone/>
                      </a:pPr>
                      <a:r>
                        <a:rPr lang="en-GB" sz="1200" u="none" strike="noStrike">
                          <a:effectLst/>
                          <a:latin typeface="Times New Roman" panose="02020603050405020304" pitchFamily="18" charset="0"/>
                          <a:cs typeface="Times New Roman" panose="02020603050405020304" pitchFamily="18" charset="0"/>
                        </a:rPr>
                        <a:t>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b">
                    <a:solidFill>
                      <a:schemeClr val="tx2"/>
                    </a:solidFill>
                  </a:tcPr>
                </a:tc>
                <a:tc>
                  <a:txBody>
                    <a:bodyPr/>
                    <a:lstStyle/>
                    <a:p>
                      <a:pPr algn="l" fontAlgn="b">
                        <a:buNone/>
                      </a:pPr>
                      <a:r>
                        <a:rPr lang="en-GB" sz="1200" u="none" strike="noStrike">
                          <a:effectLst/>
                          <a:latin typeface="Times New Roman" panose="02020603050405020304" pitchFamily="18" charset="0"/>
                          <a:cs typeface="Times New Roman" panose="02020603050405020304" pitchFamily="18" charset="0"/>
                        </a:rPr>
                        <a:t>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b"/>
                </a:tc>
                <a:tc>
                  <a:txBody>
                    <a:bodyPr/>
                    <a:lstStyle/>
                    <a:p>
                      <a:pPr algn="l" fontAlgn="b">
                        <a:buNone/>
                      </a:pPr>
                      <a:r>
                        <a:rPr lang="en-GB" sz="1200" u="none" strike="noStrike">
                          <a:effectLst/>
                          <a:latin typeface="Times New Roman" panose="02020603050405020304" pitchFamily="18" charset="0"/>
                          <a:cs typeface="Times New Roman" panose="02020603050405020304" pitchFamily="18" charset="0"/>
                        </a:rPr>
                        <a:t>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b"/>
                </a:tc>
                <a:tc>
                  <a:txBody>
                    <a:bodyPr/>
                    <a:lstStyle/>
                    <a:p>
                      <a:pPr algn="l" fontAlgn="b">
                        <a:buNone/>
                      </a:pPr>
                      <a:r>
                        <a:rPr lang="en-GB" sz="1200" u="none" strike="noStrike">
                          <a:effectLst/>
                          <a:latin typeface="Times New Roman" panose="02020603050405020304" pitchFamily="18" charset="0"/>
                          <a:cs typeface="Times New Roman" panose="02020603050405020304" pitchFamily="18" charset="0"/>
                        </a:rPr>
                        <a:t>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b"/>
                </a:tc>
                <a:tc>
                  <a:txBody>
                    <a:bodyPr/>
                    <a:lstStyle/>
                    <a:p>
                      <a:pPr algn="l" fontAlgn="b">
                        <a:buNone/>
                      </a:pPr>
                      <a:r>
                        <a:rPr lang="en-GB" sz="1200" u="none" strike="noStrike">
                          <a:effectLst/>
                          <a:latin typeface="Times New Roman" panose="02020603050405020304" pitchFamily="18" charset="0"/>
                          <a:cs typeface="Times New Roman" panose="02020603050405020304" pitchFamily="18" charset="0"/>
                        </a:rPr>
                        <a:t>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b"/>
                </a:tc>
                <a:tc>
                  <a:txBody>
                    <a:bodyPr/>
                    <a:lstStyle/>
                    <a:p>
                      <a:pPr algn="l" fontAlgn="b">
                        <a:buNone/>
                      </a:pPr>
                      <a:r>
                        <a:rPr lang="en-GB" sz="1200" u="none" strike="noStrike">
                          <a:effectLst/>
                          <a:latin typeface="Times New Roman" panose="02020603050405020304" pitchFamily="18" charset="0"/>
                          <a:cs typeface="Times New Roman" panose="02020603050405020304" pitchFamily="18" charset="0"/>
                        </a:rPr>
                        <a:t>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b"/>
                </a:tc>
                <a:tc>
                  <a:txBody>
                    <a:bodyPr/>
                    <a:lstStyle/>
                    <a:p>
                      <a:pPr algn="l" fontAlgn="b">
                        <a:buNone/>
                      </a:pPr>
                      <a:r>
                        <a:rPr lang="en-GB" sz="1200" u="none" strike="noStrike">
                          <a:effectLst/>
                          <a:latin typeface="Times New Roman" panose="02020603050405020304" pitchFamily="18" charset="0"/>
                          <a:cs typeface="Times New Roman" panose="02020603050405020304" pitchFamily="18" charset="0"/>
                        </a:rPr>
                        <a:t>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b"/>
                </a:tc>
                <a:tc>
                  <a:txBody>
                    <a:bodyPr/>
                    <a:lstStyle/>
                    <a:p>
                      <a:pPr algn="l" fontAlgn="b">
                        <a:buNone/>
                      </a:pPr>
                      <a:r>
                        <a:rPr lang="en-GB" sz="1200" u="none" strike="noStrike">
                          <a:effectLst/>
                          <a:latin typeface="Times New Roman" panose="02020603050405020304" pitchFamily="18" charset="0"/>
                          <a:cs typeface="Times New Roman" panose="02020603050405020304" pitchFamily="18" charset="0"/>
                        </a:rPr>
                        <a:t>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b"/>
                </a:tc>
                <a:tc>
                  <a:txBody>
                    <a:bodyPr/>
                    <a:lstStyle/>
                    <a:p>
                      <a:pPr algn="l" fontAlgn="b">
                        <a:buNone/>
                      </a:pPr>
                      <a:r>
                        <a:rPr lang="en-GB" sz="1200" u="none" strike="noStrike">
                          <a:effectLst/>
                          <a:latin typeface="Times New Roman" panose="02020603050405020304" pitchFamily="18" charset="0"/>
                          <a:cs typeface="Times New Roman" panose="02020603050405020304" pitchFamily="18" charset="0"/>
                        </a:rPr>
                        <a:t>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b"/>
                </a:tc>
                <a:extLst>
                  <a:ext uri="{0D108BD9-81ED-4DB2-BD59-A6C34878D82A}">
                    <a16:rowId xmlns:a16="http://schemas.microsoft.com/office/drawing/2014/main" val="1470931045"/>
                  </a:ext>
                </a:extLst>
              </a:tr>
              <a:tr h="222697">
                <a:tc>
                  <a:txBody>
                    <a:bodyPr/>
                    <a:lstStyle/>
                    <a:p>
                      <a:pPr algn="ctr" fontAlgn="ctr">
                        <a:buNone/>
                      </a:pPr>
                      <a:r>
                        <a:rPr lang="en-GB" sz="1200" u="none" strike="noStrike">
                          <a:effectLst/>
                          <a:latin typeface="Times New Roman" panose="02020603050405020304" pitchFamily="18" charset="0"/>
                          <a:cs typeface="Times New Roman" panose="02020603050405020304" pitchFamily="18" charset="0"/>
                        </a:rPr>
                        <a:t>(€ millions) </a:t>
                      </a:r>
                      <a:endParaRPr lang="en-GB" sz="1200" b="1"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solidFill>
                      <a:schemeClr val="tx2"/>
                    </a:solidFill>
                  </a:tcPr>
                </a:tc>
                <a:tc>
                  <a:txBody>
                    <a:bodyPr/>
                    <a:lstStyle/>
                    <a:p>
                      <a:pPr algn="ctr" fontAlgn="ctr">
                        <a:buNone/>
                      </a:pPr>
                      <a:r>
                        <a:rPr lang="en-GB" sz="1200" u="none" strike="noStrike">
                          <a:effectLst/>
                          <a:latin typeface="Times New Roman" panose="02020603050405020304" pitchFamily="18" charset="0"/>
                          <a:cs typeface="Times New Roman" panose="02020603050405020304" pitchFamily="18" charset="0"/>
                        </a:rPr>
                        <a:t>2022</a:t>
                      </a:r>
                      <a:endParaRPr lang="en-GB" sz="1200" b="1"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ctr" fontAlgn="ctr">
                        <a:buNone/>
                      </a:pPr>
                      <a:r>
                        <a:rPr lang="en-GB" sz="1200" u="none" strike="noStrike">
                          <a:effectLst/>
                          <a:latin typeface="Times New Roman" panose="02020603050405020304" pitchFamily="18" charset="0"/>
                          <a:cs typeface="Times New Roman" panose="02020603050405020304" pitchFamily="18" charset="0"/>
                        </a:rPr>
                        <a:t>2023</a:t>
                      </a:r>
                      <a:endParaRPr lang="en-GB" sz="1200" b="1"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ctr" fontAlgn="ctr">
                        <a:buNone/>
                      </a:pPr>
                      <a:r>
                        <a:rPr lang="en-GB" sz="1200" u="none" strike="noStrike">
                          <a:effectLst/>
                          <a:latin typeface="Times New Roman" panose="02020603050405020304" pitchFamily="18" charset="0"/>
                          <a:cs typeface="Times New Roman" panose="02020603050405020304" pitchFamily="18" charset="0"/>
                        </a:rPr>
                        <a:t>2024</a:t>
                      </a:r>
                      <a:endParaRPr lang="en-GB" sz="1200" b="1"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ctr" fontAlgn="ctr">
                        <a:buNone/>
                      </a:pPr>
                      <a:r>
                        <a:rPr lang="en-GB" sz="1200" u="none" strike="noStrike">
                          <a:effectLst/>
                          <a:latin typeface="Times New Roman" panose="02020603050405020304" pitchFamily="18" charset="0"/>
                          <a:cs typeface="Times New Roman" panose="02020603050405020304" pitchFamily="18" charset="0"/>
                        </a:rPr>
                        <a:t>2025</a:t>
                      </a:r>
                      <a:endParaRPr lang="en-GB" sz="1200" b="1"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ctr" fontAlgn="ctr">
                        <a:buNone/>
                      </a:pPr>
                      <a:r>
                        <a:rPr lang="en-GB" sz="1200" u="none" strike="noStrike">
                          <a:effectLst/>
                          <a:latin typeface="Times New Roman" panose="02020603050405020304" pitchFamily="18" charset="0"/>
                          <a:cs typeface="Times New Roman" panose="02020603050405020304" pitchFamily="18" charset="0"/>
                        </a:rPr>
                        <a:t>2026</a:t>
                      </a:r>
                      <a:endParaRPr lang="en-GB" sz="1200" b="1"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ctr" fontAlgn="ctr">
                        <a:buNone/>
                      </a:pPr>
                      <a:r>
                        <a:rPr lang="en-GB" sz="1200" u="none" strike="noStrike">
                          <a:effectLst/>
                          <a:latin typeface="Times New Roman" panose="02020603050405020304" pitchFamily="18" charset="0"/>
                          <a:cs typeface="Times New Roman" panose="02020603050405020304" pitchFamily="18" charset="0"/>
                        </a:rPr>
                        <a:t>2027</a:t>
                      </a:r>
                      <a:endParaRPr lang="en-GB" sz="1200" b="1"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ctr" fontAlgn="ctr">
                        <a:buNone/>
                      </a:pPr>
                      <a:r>
                        <a:rPr lang="en-GB" sz="1200" u="none" strike="noStrike">
                          <a:effectLst/>
                          <a:latin typeface="Times New Roman" panose="02020603050405020304" pitchFamily="18" charset="0"/>
                          <a:cs typeface="Times New Roman" panose="02020603050405020304" pitchFamily="18" charset="0"/>
                        </a:rPr>
                        <a:t>2028</a:t>
                      </a:r>
                      <a:endParaRPr lang="en-GB" sz="1200" b="1"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ctr" fontAlgn="ctr">
                        <a:buNone/>
                      </a:pPr>
                      <a:r>
                        <a:rPr lang="en-GB" sz="1200" u="none" strike="noStrike">
                          <a:effectLst/>
                          <a:latin typeface="Times New Roman" panose="02020603050405020304" pitchFamily="18" charset="0"/>
                          <a:cs typeface="Times New Roman" panose="02020603050405020304" pitchFamily="18" charset="0"/>
                        </a:rPr>
                        <a:t>2029</a:t>
                      </a:r>
                      <a:endParaRPr lang="en-GB" sz="1200" b="1"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extLst>
                  <a:ext uri="{0D108BD9-81ED-4DB2-BD59-A6C34878D82A}">
                    <a16:rowId xmlns:a16="http://schemas.microsoft.com/office/drawing/2014/main" val="1798290974"/>
                  </a:ext>
                </a:extLst>
              </a:tr>
              <a:tr h="436846">
                <a:tc>
                  <a:txBody>
                    <a:bodyPr/>
                    <a:lstStyle/>
                    <a:p>
                      <a:pPr algn="l" fontAlgn="ctr">
                        <a:buNone/>
                      </a:pPr>
                      <a:r>
                        <a:rPr lang="en-GB" sz="1200" u="none" strike="noStrike">
                          <a:effectLst/>
                          <a:latin typeface="Times New Roman" panose="02020603050405020304" pitchFamily="18" charset="0"/>
                          <a:cs typeface="Times New Roman" panose="02020603050405020304" pitchFamily="18" charset="0"/>
                        </a:rPr>
                        <a:t>Division UK + Ireland </a:t>
                      </a:r>
                      <a:endParaRPr lang="en-GB" sz="1200" b="1"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solidFill>
                      <a:schemeClr val="tx2"/>
                    </a:solidFill>
                  </a:tcPr>
                </a:tc>
                <a:tc>
                  <a:txBody>
                    <a:bodyPr/>
                    <a:lstStyle/>
                    <a:p>
                      <a:pPr algn="l" fontAlgn="ctr">
                        <a:buNone/>
                      </a:pPr>
                      <a:r>
                        <a:rPr lang="en-GB" sz="1200" u="none" strike="noStrike">
                          <a:effectLst/>
                          <a:latin typeface="Times New Roman" panose="02020603050405020304" pitchFamily="18" charset="0"/>
                          <a:cs typeface="Times New Roman" panose="02020603050405020304" pitchFamily="18" charset="0"/>
                        </a:rPr>
                        <a:t>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l" fontAlgn="ctr">
                        <a:buNone/>
                      </a:pPr>
                      <a:r>
                        <a:rPr lang="en-GB" sz="1200" u="none" strike="noStrike">
                          <a:effectLst/>
                          <a:latin typeface="Times New Roman" panose="02020603050405020304" pitchFamily="18" charset="0"/>
                          <a:cs typeface="Times New Roman" panose="02020603050405020304" pitchFamily="18" charset="0"/>
                        </a:rPr>
                        <a:t>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l" fontAlgn="ctr">
                        <a:buNone/>
                      </a:pPr>
                      <a:r>
                        <a:rPr lang="en-GB" sz="1200" u="none" strike="noStrike">
                          <a:effectLst/>
                          <a:latin typeface="Times New Roman" panose="02020603050405020304" pitchFamily="18" charset="0"/>
                          <a:cs typeface="Times New Roman" panose="02020603050405020304" pitchFamily="18" charset="0"/>
                        </a:rPr>
                        <a:t>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l" fontAlgn="ctr">
                        <a:buNone/>
                      </a:pPr>
                      <a:r>
                        <a:rPr lang="en-GB" sz="1200" u="none" strike="noStrike">
                          <a:effectLst/>
                          <a:latin typeface="Times New Roman" panose="02020603050405020304" pitchFamily="18" charset="0"/>
                          <a:cs typeface="Times New Roman" panose="02020603050405020304" pitchFamily="18" charset="0"/>
                        </a:rPr>
                        <a:t>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l" fontAlgn="ctr">
                        <a:buNone/>
                      </a:pPr>
                      <a:r>
                        <a:rPr lang="en-GB" sz="1200" u="none" strike="noStrike">
                          <a:effectLst/>
                          <a:latin typeface="Times New Roman" panose="02020603050405020304" pitchFamily="18" charset="0"/>
                          <a:cs typeface="Times New Roman" panose="02020603050405020304" pitchFamily="18" charset="0"/>
                        </a:rPr>
                        <a:t>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l" fontAlgn="ctr">
                        <a:buNone/>
                      </a:pPr>
                      <a:r>
                        <a:rPr lang="en-GB" sz="1200" u="none" strike="noStrike">
                          <a:effectLst/>
                          <a:latin typeface="Times New Roman" panose="02020603050405020304" pitchFamily="18" charset="0"/>
                          <a:cs typeface="Times New Roman" panose="02020603050405020304" pitchFamily="18" charset="0"/>
                        </a:rPr>
                        <a:t>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l" fontAlgn="ctr">
                        <a:buNone/>
                      </a:pPr>
                      <a:r>
                        <a:rPr lang="en-GB" sz="1200" u="none" strike="noStrike">
                          <a:effectLst/>
                          <a:latin typeface="Times New Roman" panose="02020603050405020304" pitchFamily="18" charset="0"/>
                          <a:cs typeface="Times New Roman" panose="02020603050405020304" pitchFamily="18" charset="0"/>
                        </a:rPr>
                        <a:t>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l" fontAlgn="ctr">
                        <a:buNone/>
                      </a:pPr>
                      <a:r>
                        <a:rPr lang="en-GB" sz="1200" u="none" strike="noStrike">
                          <a:effectLst/>
                          <a:latin typeface="Times New Roman" panose="02020603050405020304" pitchFamily="18" charset="0"/>
                          <a:cs typeface="Times New Roman" panose="02020603050405020304" pitchFamily="18" charset="0"/>
                        </a:rPr>
                        <a:t>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extLst>
                  <a:ext uri="{0D108BD9-81ED-4DB2-BD59-A6C34878D82A}">
                    <a16:rowId xmlns:a16="http://schemas.microsoft.com/office/drawing/2014/main" val="2615192907"/>
                  </a:ext>
                </a:extLst>
              </a:tr>
              <a:tr h="222697">
                <a:tc>
                  <a:txBody>
                    <a:bodyPr/>
                    <a:lstStyle/>
                    <a:p>
                      <a:pPr algn="l" fontAlgn="ctr">
                        <a:buNone/>
                      </a:pPr>
                      <a:r>
                        <a:rPr lang="en-GB" sz="1200" u="none" strike="noStrike">
                          <a:effectLst/>
                          <a:latin typeface="Times New Roman" panose="02020603050405020304" pitchFamily="18" charset="0"/>
                          <a:cs typeface="Times New Roman" panose="02020603050405020304" pitchFamily="18" charset="0"/>
                        </a:rPr>
                        <a:t>Revenue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solidFill>
                      <a:schemeClr val="tx2"/>
                    </a:solidFill>
                  </a:tcPr>
                </a:tc>
                <a:tc>
                  <a:txBody>
                    <a:bodyPr/>
                    <a:lstStyle/>
                    <a:p>
                      <a:pPr algn="r" fontAlgn="ctr">
                        <a:buNone/>
                      </a:pPr>
                      <a:r>
                        <a:rPr lang="en-GB" sz="1200" u="none" strike="noStrike">
                          <a:effectLst/>
                          <a:latin typeface="Times New Roman" panose="02020603050405020304" pitchFamily="18" charset="0"/>
                          <a:cs typeface="Times New Roman" panose="02020603050405020304" pitchFamily="18" charset="0"/>
                        </a:rPr>
                        <a:t>3,134.0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r" fontAlgn="ctr">
                        <a:buNone/>
                      </a:pPr>
                      <a:r>
                        <a:rPr lang="en-GB" sz="1200" u="none" strike="noStrike">
                          <a:effectLst/>
                          <a:latin typeface="Times New Roman" panose="02020603050405020304" pitchFamily="18" charset="0"/>
                          <a:cs typeface="Times New Roman" panose="02020603050405020304" pitchFamily="18" charset="0"/>
                        </a:rPr>
                        <a:t>3,139.0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r" fontAlgn="ctr">
                        <a:buNone/>
                      </a:pPr>
                      <a:r>
                        <a:rPr lang="en-GB" sz="1200" u="none" strike="noStrike">
                          <a:effectLst/>
                          <a:latin typeface="Times New Roman" panose="02020603050405020304" pitchFamily="18" charset="0"/>
                          <a:cs typeface="Times New Roman" panose="02020603050405020304" pitchFamily="18" charset="0"/>
                        </a:rPr>
                        <a:t>3,111.0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r" fontAlgn="ctr">
                        <a:buNone/>
                      </a:pPr>
                      <a:r>
                        <a:rPr lang="en-GB" sz="1200" u="none" strike="noStrike">
                          <a:effectLst/>
                          <a:latin typeface="Times New Roman" panose="02020603050405020304" pitchFamily="18" charset="0"/>
                          <a:cs typeface="Times New Roman" panose="02020603050405020304" pitchFamily="18" charset="0"/>
                        </a:rPr>
                        <a:t>3,305.9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r" fontAlgn="ctr">
                        <a:buNone/>
                      </a:pPr>
                      <a:r>
                        <a:rPr lang="en-GB" sz="1200" u="none" strike="noStrike">
                          <a:effectLst/>
                          <a:latin typeface="Times New Roman" panose="02020603050405020304" pitchFamily="18" charset="0"/>
                          <a:cs typeface="Times New Roman" panose="02020603050405020304" pitchFamily="18" charset="0"/>
                        </a:rPr>
                        <a:t>3,496.3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r" fontAlgn="ctr">
                        <a:buNone/>
                      </a:pPr>
                      <a:r>
                        <a:rPr lang="en-GB" sz="1200" u="none" strike="noStrike">
                          <a:effectLst/>
                          <a:latin typeface="Times New Roman" panose="02020603050405020304" pitchFamily="18" charset="0"/>
                          <a:cs typeface="Times New Roman" panose="02020603050405020304" pitchFamily="18" charset="0"/>
                        </a:rPr>
                        <a:t>3,680.0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r" fontAlgn="ctr">
                        <a:buNone/>
                      </a:pPr>
                      <a:r>
                        <a:rPr lang="en-GB" sz="1200" u="none" strike="noStrike">
                          <a:effectLst/>
                          <a:latin typeface="Times New Roman" panose="02020603050405020304" pitchFamily="18" charset="0"/>
                          <a:cs typeface="Times New Roman" panose="02020603050405020304" pitchFamily="18" charset="0"/>
                        </a:rPr>
                        <a:t>3,854.8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r" fontAlgn="ctr">
                        <a:buNone/>
                      </a:pPr>
                      <a:r>
                        <a:rPr lang="en-GB" sz="1200" u="none" strike="noStrike">
                          <a:effectLst/>
                          <a:latin typeface="Times New Roman" panose="02020603050405020304" pitchFamily="18" charset="0"/>
                          <a:cs typeface="Times New Roman" panose="02020603050405020304" pitchFamily="18" charset="0"/>
                        </a:rPr>
                        <a:t>4,018.6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extLst>
                  <a:ext uri="{0D108BD9-81ED-4DB2-BD59-A6C34878D82A}">
                    <a16:rowId xmlns:a16="http://schemas.microsoft.com/office/drawing/2014/main" val="1555511149"/>
                  </a:ext>
                </a:extLst>
              </a:tr>
              <a:tr h="222697">
                <a:tc>
                  <a:txBody>
                    <a:bodyPr/>
                    <a:lstStyle/>
                    <a:p>
                      <a:pPr algn="l" fontAlgn="ctr">
                        <a:buNone/>
                      </a:pPr>
                      <a:r>
                        <a:rPr lang="en-GB" sz="1200" u="none" strike="noStrike">
                          <a:effectLst/>
                          <a:latin typeface="Times New Roman" panose="02020603050405020304" pitchFamily="18" charset="0"/>
                          <a:cs typeface="Times New Roman" panose="02020603050405020304" pitchFamily="18" charset="0"/>
                        </a:rPr>
                        <a:t>YoY Growth %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solidFill>
                      <a:schemeClr val="tx2"/>
                    </a:solidFill>
                  </a:tcPr>
                </a:tc>
                <a:tc>
                  <a:txBody>
                    <a:bodyPr/>
                    <a:lstStyle/>
                    <a:p>
                      <a:pPr algn="r" fontAlgn="ctr">
                        <a:buNone/>
                      </a:pPr>
                      <a:r>
                        <a:rPr lang="en-GB" sz="1200" u="none" strike="noStrike">
                          <a:effectLst/>
                          <a:latin typeface="Times New Roman" panose="02020603050405020304" pitchFamily="18" charset="0"/>
                          <a:cs typeface="Times New Roman" panose="02020603050405020304" pitchFamily="18" charset="0"/>
                        </a:rPr>
                        <a:t>10.30%</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r" fontAlgn="ctr">
                        <a:buNone/>
                      </a:pPr>
                      <a:r>
                        <a:rPr lang="en-GB" sz="1200" u="none" strike="noStrike">
                          <a:effectLst/>
                          <a:latin typeface="Times New Roman" panose="02020603050405020304" pitchFamily="18" charset="0"/>
                          <a:cs typeface="Times New Roman" panose="02020603050405020304" pitchFamily="18" charset="0"/>
                        </a:rPr>
                        <a:t>0.16%</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r" fontAlgn="ctr">
                        <a:buNone/>
                      </a:pPr>
                      <a:r>
                        <a:rPr lang="en-GB" sz="1200" u="none" strike="noStrike">
                          <a:effectLst/>
                          <a:latin typeface="Times New Roman" panose="02020603050405020304" pitchFamily="18" charset="0"/>
                          <a:cs typeface="Times New Roman" panose="02020603050405020304" pitchFamily="18" charset="0"/>
                        </a:rPr>
                        <a:t>-0.89%</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r" fontAlgn="ctr">
                        <a:buNone/>
                      </a:pPr>
                      <a:r>
                        <a:rPr lang="en-GB" sz="1200" u="none" strike="noStrike">
                          <a:effectLst/>
                          <a:latin typeface="Times New Roman" panose="02020603050405020304" pitchFamily="18" charset="0"/>
                          <a:cs typeface="Times New Roman" panose="02020603050405020304" pitchFamily="18" charset="0"/>
                        </a:rPr>
                        <a:t>6.26%</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r" fontAlgn="ctr">
                        <a:buNone/>
                      </a:pPr>
                      <a:r>
                        <a:rPr lang="en-GB" sz="1200" u="none" strike="noStrike">
                          <a:effectLst/>
                          <a:latin typeface="Times New Roman" panose="02020603050405020304" pitchFamily="18" charset="0"/>
                          <a:cs typeface="Times New Roman" panose="02020603050405020304" pitchFamily="18" charset="0"/>
                        </a:rPr>
                        <a:t>5.76%</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r" fontAlgn="ctr">
                        <a:buNone/>
                      </a:pPr>
                      <a:r>
                        <a:rPr lang="en-GB" sz="1200" u="none" strike="noStrike">
                          <a:effectLst/>
                          <a:latin typeface="Times New Roman" panose="02020603050405020304" pitchFamily="18" charset="0"/>
                          <a:cs typeface="Times New Roman" panose="02020603050405020304" pitchFamily="18" charset="0"/>
                        </a:rPr>
                        <a:t>5.25%</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r" fontAlgn="ctr">
                        <a:buNone/>
                      </a:pPr>
                      <a:r>
                        <a:rPr lang="en-GB" sz="1200" u="none" strike="noStrike">
                          <a:effectLst/>
                          <a:latin typeface="Times New Roman" panose="02020603050405020304" pitchFamily="18" charset="0"/>
                          <a:cs typeface="Times New Roman" panose="02020603050405020304" pitchFamily="18" charset="0"/>
                        </a:rPr>
                        <a:t>4.75%</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r" fontAlgn="ctr">
                        <a:buNone/>
                      </a:pPr>
                      <a:r>
                        <a:rPr lang="en-GB" sz="1200" u="none" strike="noStrike">
                          <a:effectLst/>
                          <a:latin typeface="Times New Roman" panose="02020603050405020304" pitchFamily="18" charset="0"/>
                          <a:cs typeface="Times New Roman" panose="02020603050405020304" pitchFamily="18" charset="0"/>
                        </a:rPr>
                        <a:t>4.25%</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extLst>
                  <a:ext uri="{0D108BD9-81ED-4DB2-BD59-A6C34878D82A}">
                    <a16:rowId xmlns:a16="http://schemas.microsoft.com/office/drawing/2014/main" val="1164130689"/>
                  </a:ext>
                </a:extLst>
              </a:tr>
              <a:tr h="222697">
                <a:tc>
                  <a:txBody>
                    <a:bodyPr/>
                    <a:lstStyle/>
                    <a:p>
                      <a:pPr algn="l" fontAlgn="ctr">
                        <a:buNone/>
                      </a:pPr>
                      <a:r>
                        <a:rPr lang="en-GB" sz="1200" u="none" strike="noStrike">
                          <a:effectLst/>
                          <a:latin typeface="Times New Roman" panose="02020603050405020304" pitchFamily="18" charset="0"/>
                          <a:cs typeface="Times New Roman" panose="02020603050405020304" pitchFamily="18" charset="0"/>
                        </a:rPr>
                        <a:t>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solidFill>
                      <a:schemeClr val="tx2"/>
                    </a:solidFill>
                  </a:tcPr>
                </a:tc>
                <a:tc>
                  <a:txBody>
                    <a:bodyPr/>
                    <a:lstStyle/>
                    <a:p>
                      <a:pPr algn="l" fontAlgn="ctr">
                        <a:buNone/>
                      </a:pPr>
                      <a:r>
                        <a:rPr lang="en-GB" sz="1200" u="none" strike="noStrike">
                          <a:effectLst/>
                          <a:latin typeface="Times New Roman" panose="02020603050405020304" pitchFamily="18" charset="0"/>
                          <a:cs typeface="Times New Roman" panose="02020603050405020304" pitchFamily="18" charset="0"/>
                        </a:rPr>
                        <a:t>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l" fontAlgn="ctr">
                        <a:buNone/>
                      </a:pPr>
                      <a:r>
                        <a:rPr lang="en-GB" sz="1200" u="none" strike="noStrike">
                          <a:effectLst/>
                          <a:latin typeface="Times New Roman" panose="02020603050405020304" pitchFamily="18" charset="0"/>
                          <a:cs typeface="Times New Roman" panose="02020603050405020304" pitchFamily="18" charset="0"/>
                        </a:rPr>
                        <a:t>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l" fontAlgn="ctr">
                        <a:buNone/>
                      </a:pPr>
                      <a:r>
                        <a:rPr lang="en-GB" sz="1200" u="none" strike="noStrike">
                          <a:effectLst/>
                          <a:latin typeface="Times New Roman" panose="02020603050405020304" pitchFamily="18" charset="0"/>
                          <a:cs typeface="Times New Roman" panose="02020603050405020304" pitchFamily="18" charset="0"/>
                        </a:rPr>
                        <a:t>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l" fontAlgn="ctr">
                        <a:buNone/>
                      </a:pPr>
                      <a:r>
                        <a:rPr lang="en-GB" sz="1200" u="none" strike="noStrike">
                          <a:effectLst/>
                          <a:latin typeface="Times New Roman" panose="02020603050405020304" pitchFamily="18" charset="0"/>
                          <a:cs typeface="Times New Roman" panose="02020603050405020304" pitchFamily="18" charset="0"/>
                        </a:rPr>
                        <a:t>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l" fontAlgn="ctr">
                        <a:buNone/>
                      </a:pPr>
                      <a:r>
                        <a:rPr lang="en-GB" sz="1200" u="none" strike="noStrike">
                          <a:effectLst/>
                          <a:latin typeface="Times New Roman" panose="02020603050405020304" pitchFamily="18" charset="0"/>
                          <a:cs typeface="Times New Roman" panose="02020603050405020304" pitchFamily="18" charset="0"/>
                        </a:rPr>
                        <a:t>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l" fontAlgn="ctr">
                        <a:buNone/>
                      </a:pPr>
                      <a:r>
                        <a:rPr lang="en-GB" sz="1200" u="none" strike="noStrike">
                          <a:effectLst/>
                          <a:latin typeface="Times New Roman" panose="02020603050405020304" pitchFamily="18" charset="0"/>
                          <a:cs typeface="Times New Roman" panose="02020603050405020304" pitchFamily="18" charset="0"/>
                        </a:rPr>
                        <a:t>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l" fontAlgn="ctr">
                        <a:buNone/>
                      </a:pPr>
                      <a:r>
                        <a:rPr lang="en-GB" sz="1200" u="none" strike="noStrike">
                          <a:effectLst/>
                          <a:latin typeface="Times New Roman" panose="02020603050405020304" pitchFamily="18" charset="0"/>
                          <a:cs typeface="Times New Roman" panose="02020603050405020304" pitchFamily="18" charset="0"/>
                        </a:rPr>
                        <a:t>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l" fontAlgn="ctr">
                        <a:buNone/>
                      </a:pPr>
                      <a:r>
                        <a:rPr lang="en-GB" sz="1200" u="none" strike="noStrike">
                          <a:effectLst/>
                          <a:latin typeface="Times New Roman" panose="02020603050405020304" pitchFamily="18" charset="0"/>
                          <a:cs typeface="Times New Roman" panose="02020603050405020304" pitchFamily="18" charset="0"/>
                        </a:rPr>
                        <a:t>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extLst>
                  <a:ext uri="{0D108BD9-81ED-4DB2-BD59-A6C34878D82A}">
                    <a16:rowId xmlns:a16="http://schemas.microsoft.com/office/drawing/2014/main" val="1391102027"/>
                  </a:ext>
                </a:extLst>
              </a:tr>
              <a:tr h="222697">
                <a:tc>
                  <a:txBody>
                    <a:bodyPr/>
                    <a:lstStyle/>
                    <a:p>
                      <a:pPr algn="l" fontAlgn="ctr">
                        <a:buNone/>
                      </a:pPr>
                      <a:r>
                        <a:rPr lang="en-GB" sz="1200" u="none" strike="noStrike">
                          <a:effectLst/>
                          <a:latin typeface="Times New Roman" panose="02020603050405020304" pitchFamily="18" charset="0"/>
                          <a:cs typeface="Times New Roman" panose="02020603050405020304" pitchFamily="18" charset="0"/>
                        </a:rPr>
                        <a:t> </a:t>
                      </a:r>
                      <a:endParaRPr lang="en-GB" sz="1200" b="1"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solidFill>
                      <a:schemeClr val="tx2"/>
                    </a:solidFill>
                  </a:tcPr>
                </a:tc>
                <a:tc>
                  <a:txBody>
                    <a:bodyPr/>
                    <a:lstStyle/>
                    <a:p>
                      <a:pPr algn="l" fontAlgn="ctr">
                        <a:buNone/>
                      </a:pPr>
                      <a:r>
                        <a:rPr lang="en-GB" sz="1200" u="none" strike="noStrike">
                          <a:effectLst/>
                          <a:latin typeface="Times New Roman" panose="02020603050405020304" pitchFamily="18" charset="0"/>
                          <a:cs typeface="Times New Roman" panose="02020603050405020304" pitchFamily="18" charset="0"/>
                        </a:rPr>
                        <a:t>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l" fontAlgn="ctr">
                        <a:buNone/>
                      </a:pPr>
                      <a:r>
                        <a:rPr lang="en-GB" sz="1200" u="none" strike="noStrike">
                          <a:effectLst/>
                          <a:latin typeface="Times New Roman" panose="02020603050405020304" pitchFamily="18" charset="0"/>
                          <a:cs typeface="Times New Roman" panose="02020603050405020304" pitchFamily="18" charset="0"/>
                        </a:rPr>
                        <a:t>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l" fontAlgn="ctr">
                        <a:buNone/>
                      </a:pPr>
                      <a:r>
                        <a:rPr lang="en-GB" sz="1200" u="none" strike="noStrike">
                          <a:effectLst/>
                          <a:latin typeface="Times New Roman" panose="02020603050405020304" pitchFamily="18" charset="0"/>
                          <a:cs typeface="Times New Roman" panose="02020603050405020304" pitchFamily="18" charset="0"/>
                        </a:rPr>
                        <a:t>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l" fontAlgn="ctr">
                        <a:buNone/>
                      </a:pPr>
                      <a:r>
                        <a:rPr lang="en-GB" sz="1200" u="none" strike="noStrike">
                          <a:effectLst/>
                          <a:latin typeface="Times New Roman" panose="02020603050405020304" pitchFamily="18" charset="0"/>
                          <a:cs typeface="Times New Roman" panose="02020603050405020304" pitchFamily="18" charset="0"/>
                        </a:rPr>
                        <a:t>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l" fontAlgn="ctr">
                        <a:buNone/>
                      </a:pPr>
                      <a:r>
                        <a:rPr lang="en-GB" sz="1200" u="none" strike="noStrike">
                          <a:effectLst/>
                          <a:latin typeface="Times New Roman" panose="02020603050405020304" pitchFamily="18" charset="0"/>
                          <a:cs typeface="Times New Roman" panose="02020603050405020304" pitchFamily="18" charset="0"/>
                        </a:rPr>
                        <a:t>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l" fontAlgn="ctr">
                        <a:buNone/>
                      </a:pPr>
                      <a:r>
                        <a:rPr lang="en-GB" sz="1200" u="none" strike="noStrike">
                          <a:effectLst/>
                          <a:latin typeface="Times New Roman" panose="02020603050405020304" pitchFamily="18" charset="0"/>
                          <a:cs typeface="Times New Roman" panose="02020603050405020304" pitchFamily="18" charset="0"/>
                        </a:rPr>
                        <a:t>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l" fontAlgn="ctr">
                        <a:buNone/>
                      </a:pPr>
                      <a:r>
                        <a:rPr lang="en-GB" sz="1200" u="none" strike="noStrike">
                          <a:effectLst/>
                          <a:latin typeface="Times New Roman" panose="02020603050405020304" pitchFamily="18" charset="0"/>
                          <a:cs typeface="Times New Roman" panose="02020603050405020304" pitchFamily="18" charset="0"/>
                        </a:rPr>
                        <a:t>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l" fontAlgn="ctr">
                        <a:buNone/>
                      </a:pPr>
                      <a:r>
                        <a:rPr lang="en-GB" sz="1200" u="none" strike="noStrike">
                          <a:effectLst/>
                          <a:latin typeface="Times New Roman" panose="02020603050405020304" pitchFamily="18" charset="0"/>
                          <a:cs typeface="Times New Roman" panose="02020603050405020304" pitchFamily="18" charset="0"/>
                        </a:rPr>
                        <a:t>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extLst>
                  <a:ext uri="{0D108BD9-81ED-4DB2-BD59-A6C34878D82A}">
                    <a16:rowId xmlns:a16="http://schemas.microsoft.com/office/drawing/2014/main" val="2883202404"/>
                  </a:ext>
                </a:extLst>
              </a:tr>
              <a:tr h="222697">
                <a:tc>
                  <a:txBody>
                    <a:bodyPr/>
                    <a:lstStyle/>
                    <a:p>
                      <a:pPr algn="l" fontAlgn="b">
                        <a:buNone/>
                      </a:pPr>
                      <a:r>
                        <a:rPr lang="en-GB" sz="1200" u="none" strike="noStrike">
                          <a:effectLst/>
                          <a:latin typeface="Times New Roman" panose="02020603050405020304" pitchFamily="18" charset="0"/>
                          <a:cs typeface="Times New Roman" panose="02020603050405020304" pitchFamily="18" charset="0"/>
                        </a:rPr>
                        <a:t>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b">
                    <a:solidFill>
                      <a:schemeClr val="tx2"/>
                    </a:solidFill>
                  </a:tcPr>
                </a:tc>
                <a:tc>
                  <a:txBody>
                    <a:bodyPr/>
                    <a:lstStyle/>
                    <a:p>
                      <a:pPr algn="l" fontAlgn="b">
                        <a:buNone/>
                      </a:pPr>
                      <a:r>
                        <a:rPr lang="en-GB" sz="1200" u="none" strike="noStrike">
                          <a:effectLst/>
                          <a:latin typeface="Times New Roman" panose="02020603050405020304" pitchFamily="18" charset="0"/>
                          <a:cs typeface="Times New Roman" panose="02020603050405020304" pitchFamily="18" charset="0"/>
                        </a:rPr>
                        <a:t>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b"/>
                </a:tc>
                <a:tc>
                  <a:txBody>
                    <a:bodyPr/>
                    <a:lstStyle/>
                    <a:p>
                      <a:pPr algn="l" fontAlgn="b">
                        <a:buNone/>
                      </a:pPr>
                      <a:r>
                        <a:rPr lang="en-GB" sz="1200" u="none" strike="noStrike">
                          <a:effectLst/>
                          <a:latin typeface="Times New Roman" panose="02020603050405020304" pitchFamily="18" charset="0"/>
                          <a:cs typeface="Times New Roman" panose="02020603050405020304" pitchFamily="18" charset="0"/>
                        </a:rPr>
                        <a:t>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b"/>
                </a:tc>
                <a:tc>
                  <a:txBody>
                    <a:bodyPr/>
                    <a:lstStyle/>
                    <a:p>
                      <a:pPr algn="l" fontAlgn="b">
                        <a:buNone/>
                      </a:pPr>
                      <a:r>
                        <a:rPr lang="en-GB" sz="1200" u="none" strike="noStrike">
                          <a:effectLst/>
                          <a:latin typeface="Times New Roman" panose="02020603050405020304" pitchFamily="18" charset="0"/>
                          <a:cs typeface="Times New Roman" panose="02020603050405020304" pitchFamily="18" charset="0"/>
                        </a:rPr>
                        <a:t>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b"/>
                </a:tc>
                <a:tc>
                  <a:txBody>
                    <a:bodyPr/>
                    <a:lstStyle/>
                    <a:p>
                      <a:pPr algn="l" fontAlgn="b">
                        <a:buNone/>
                      </a:pPr>
                      <a:r>
                        <a:rPr lang="en-GB" sz="1200" u="none" strike="noStrike">
                          <a:effectLst/>
                          <a:latin typeface="Times New Roman" panose="02020603050405020304" pitchFamily="18" charset="0"/>
                          <a:cs typeface="Times New Roman" panose="02020603050405020304" pitchFamily="18" charset="0"/>
                        </a:rPr>
                        <a:t>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b"/>
                </a:tc>
                <a:tc>
                  <a:txBody>
                    <a:bodyPr/>
                    <a:lstStyle/>
                    <a:p>
                      <a:pPr algn="l" fontAlgn="b">
                        <a:buNone/>
                      </a:pPr>
                      <a:r>
                        <a:rPr lang="en-GB" sz="1200" u="none" strike="noStrike">
                          <a:effectLst/>
                          <a:latin typeface="Times New Roman" panose="02020603050405020304" pitchFamily="18" charset="0"/>
                          <a:cs typeface="Times New Roman" panose="02020603050405020304" pitchFamily="18" charset="0"/>
                        </a:rPr>
                        <a:t>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b"/>
                </a:tc>
                <a:tc>
                  <a:txBody>
                    <a:bodyPr/>
                    <a:lstStyle/>
                    <a:p>
                      <a:pPr algn="l" fontAlgn="b">
                        <a:buNone/>
                      </a:pPr>
                      <a:r>
                        <a:rPr lang="en-GB" sz="1200" u="none" strike="noStrike">
                          <a:effectLst/>
                          <a:latin typeface="Times New Roman" panose="02020603050405020304" pitchFamily="18" charset="0"/>
                          <a:cs typeface="Times New Roman" panose="02020603050405020304" pitchFamily="18" charset="0"/>
                        </a:rPr>
                        <a:t>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b"/>
                </a:tc>
                <a:tc>
                  <a:txBody>
                    <a:bodyPr/>
                    <a:lstStyle/>
                    <a:p>
                      <a:pPr algn="l" fontAlgn="b">
                        <a:buNone/>
                      </a:pPr>
                      <a:r>
                        <a:rPr lang="en-GB" sz="1200" u="none" strike="noStrike">
                          <a:effectLst/>
                          <a:latin typeface="Times New Roman" panose="02020603050405020304" pitchFamily="18" charset="0"/>
                          <a:cs typeface="Times New Roman" panose="02020603050405020304" pitchFamily="18" charset="0"/>
                        </a:rPr>
                        <a:t>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b"/>
                </a:tc>
                <a:tc>
                  <a:txBody>
                    <a:bodyPr/>
                    <a:lstStyle/>
                    <a:p>
                      <a:pPr algn="l" fontAlgn="b">
                        <a:buNone/>
                      </a:pPr>
                      <a:r>
                        <a:rPr lang="en-GB" sz="1200" u="none" strike="noStrike">
                          <a:effectLst/>
                          <a:latin typeface="Times New Roman" panose="02020603050405020304" pitchFamily="18" charset="0"/>
                          <a:cs typeface="Times New Roman" panose="02020603050405020304" pitchFamily="18" charset="0"/>
                        </a:rPr>
                        <a:t>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b"/>
                </a:tc>
                <a:extLst>
                  <a:ext uri="{0D108BD9-81ED-4DB2-BD59-A6C34878D82A}">
                    <a16:rowId xmlns:a16="http://schemas.microsoft.com/office/drawing/2014/main" val="54853449"/>
                  </a:ext>
                </a:extLst>
              </a:tr>
              <a:tr h="222697">
                <a:tc>
                  <a:txBody>
                    <a:bodyPr/>
                    <a:lstStyle/>
                    <a:p>
                      <a:pPr algn="ctr" fontAlgn="ctr">
                        <a:buNone/>
                      </a:pPr>
                      <a:r>
                        <a:rPr lang="en-GB" sz="1200" u="none" strike="noStrike">
                          <a:effectLst/>
                          <a:latin typeface="Times New Roman" panose="02020603050405020304" pitchFamily="18" charset="0"/>
                          <a:cs typeface="Times New Roman" panose="02020603050405020304" pitchFamily="18" charset="0"/>
                        </a:rPr>
                        <a:t>(€ millions) </a:t>
                      </a:r>
                      <a:endParaRPr lang="en-GB" sz="1200" b="1"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solidFill>
                      <a:schemeClr val="tx2"/>
                    </a:solidFill>
                  </a:tcPr>
                </a:tc>
                <a:tc>
                  <a:txBody>
                    <a:bodyPr/>
                    <a:lstStyle/>
                    <a:p>
                      <a:pPr algn="ctr" fontAlgn="ctr">
                        <a:buNone/>
                      </a:pPr>
                      <a:r>
                        <a:rPr lang="en-GB" sz="1200" u="none" strike="noStrike">
                          <a:effectLst/>
                          <a:latin typeface="Times New Roman" panose="02020603050405020304" pitchFamily="18" charset="0"/>
                          <a:cs typeface="Times New Roman" panose="02020603050405020304" pitchFamily="18" charset="0"/>
                        </a:rPr>
                        <a:t>2022</a:t>
                      </a:r>
                      <a:endParaRPr lang="en-GB" sz="1200" b="1"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ctr" fontAlgn="ctr">
                        <a:buNone/>
                      </a:pPr>
                      <a:r>
                        <a:rPr lang="en-GB" sz="1200" u="none" strike="noStrike">
                          <a:effectLst/>
                          <a:latin typeface="Times New Roman" panose="02020603050405020304" pitchFamily="18" charset="0"/>
                          <a:cs typeface="Times New Roman" panose="02020603050405020304" pitchFamily="18" charset="0"/>
                        </a:rPr>
                        <a:t>2023</a:t>
                      </a:r>
                      <a:endParaRPr lang="en-GB" sz="1200" b="1"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ctr" fontAlgn="ctr">
                        <a:buNone/>
                      </a:pPr>
                      <a:r>
                        <a:rPr lang="en-GB" sz="1200" u="none" strike="noStrike">
                          <a:effectLst/>
                          <a:latin typeface="Times New Roman" panose="02020603050405020304" pitchFamily="18" charset="0"/>
                          <a:cs typeface="Times New Roman" panose="02020603050405020304" pitchFamily="18" charset="0"/>
                        </a:rPr>
                        <a:t>2024</a:t>
                      </a:r>
                      <a:endParaRPr lang="en-GB" sz="1200" b="1"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ctr" fontAlgn="ctr">
                        <a:buNone/>
                      </a:pPr>
                      <a:r>
                        <a:rPr lang="en-GB" sz="1200" u="none" strike="noStrike">
                          <a:effectLst/>
                          <a:latin typeface="Times New Roman" panose="02020603050405020304" pitchFamily="18" charset="0"/>
                          <a:cs typeface="Times New Roman" panose="02020603050405020304" pitchFamily="18" charset="0"/>
                        </a:rPr>
                        <a:t>2025</a:t>
                      </a:r>
                      <a:endParaRPr lang="en-GB" sz="1200" b="1"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ctr" fontAlgn="ctr">
                        <a:buNone/>
                      </a:pPr>
                      <a:r>
                        <a:rPr lang="en-GB" sz="1200" u="none" strike="noStrike">
                          <a:effectLst/>
                          <a:latin typeface="Times New Roman" panose="02020603050405020304" pitchFamily="18" charset="0"/>
                          <a:cs typeface="Times New Roman" panose="02020603050405020304" pitchFamily="18" charset="0"/>
                        </a:rPr>
                        <a:t>2026</a:t>
                      </a:r>
                      <a:endParaRPr lang="en-GB" sz="1200" b="1"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ctr" fontAlgn="ctr">
                        <a:buNone/>
                      </a:pPr>
                      <a:r>
                        <a:rPr lang="en-GB" sz="1200" u="none" strike="noStrike">
                          <a:effectLst/>
                          <a:latin typeface="Times New Roman" panose="02020603050405020304" pitchFamily="18" charset="0"/>
                          <a:cs typeface="Times New Roman" panose="02020603050405020304" pitchFamily="18" charset="0"/>
                        </a:rPr>
                        <a:t>2027</a:t>
                      </a:r>
                      <a:endParaRPr lang="en-GB" sz="1200" b="1"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ctr" fontAlgn="ctr">
                        <a:buNone/>
                      </a:pPr>
                      <a:r>
                        <a:rPr lang="en-GB" sz="1200" u="none" strike="noStrike">
                          <a:effectLst/>
                          <a:latin typeface="Times New Roman" panose="02020603050405020304" pitchFamily="18" charset="0"/>
                          <a:cs typeface="Times New Roman" panose="02020603050405020304" pitchFamily="18" charset="0"/>
                        </a:rPr>
                        <a:t>2028</a:t>
                      </a:r>
                      <a:endParaRPr lang="en-GB" sz="1200" b="1"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ctr" fontAlgn="ctr">
                        <a:buNone/>
                      </a:pPr>
                      <a:r>
                        <a:rPr lang="en-GB" sz="1200" u="none" strike="noStrike">
                          <a:effectLst/>
                          <a:latin typeface="Times New Roman" panose="02020603050405020304" pitchFamily="18" charset="0"/>
                          <a:cs typeface="Times New Roman" panose="02020603050405020304" pitchFamily="18" charset="0"/>
                        </a:rPr>
                        <a:t>2029</a:t>
                      </a:r>
                      <a:endParaRPr lang="en-GB" sz="1200" b="1"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extLst>
                  <a:ext uri="{0D108BD9-81ED-4DB2-BD59-A6C34878D82A}">
                    <a16:rowId xmlns:a16="http://schemas.microsoft.com/office/drawing/2014/main" val="2402421683"/>
                  </a:ext>
                </a:extLst>
              </a:tr>
              <a:tr h="650995">
                <a:tc>
                  <a:txBody>
                    <a:bodyPr/>
                    <a:lstStyle/>
                    <a:p>
                      <a:pPr algn="l" fontAlgn="ctr">
                        <a:buNone/>
                      </a:pPr>
                      <a:r>
                        <a:rPr lang="en-GB" sz="1200" u="none" strike="noStrike">
                          <a:effectLst/>
                          <a:latin typeface="Times New Roman" panose="02020603050405020304" pitchFamily="18" charset="0"/>
                          <a:cs typeface="Times New Roman" panose="02020603050405020304" pitchFamily="18" charset="0"/>
                        </a:rPr>
                        <a:t>Division Germany, Belgium, Etc </a:t>
                      </a:r>
                      <a:endParaRPr lang="en-GB" sz="1200" b="1"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solidFill>
                      <a:schemeClr val="tx2"/>
                    </a:solidFill>
                  </a:tcPr>
                </a:tc>
                <a:tc>
                  <a:txBody>
                    <a:bodyPr/>
                    <a:lstStyle/>
                    <a:p>
                      <a:pPr algn="l" fontAlgn="ctr">
                        <a:buNone/>
                      </a:pPr>
                      <a:r>
                        <a:rPr lang="en-GB" sz="1200" u="none" strike="noStrike">
                          <a:effectLst/>
                          <a:latin typeface="Times New Roman" panose="02020603050405020304" pitchFamily="18" charset="0"/>
                          <a:cs typeface="Times New Roman" panose="02020603050405020304" pitchFamily="18" charset="0"/>
                        </a:rPr>
                        <a:t>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l" fontAlgn="ctr">
                        <a:buNone/>
                      </a:pPr>
                      <a:r>
                        <a:rPr lang="en-GB" sz="1200" u="none" strike="noStrike">
                          <a:effectLst/>
                          <a:latin typeface="Times New Roman" panose="02020603050405020304" pitchFamily="18" charset="0"/>
                          <a:cs typeface="Times New Roman" panose="02020603050405020304" pitchFamily="18" charset="0"/>
                        </a:rPr>
                        <a:t>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l" fontAlgn="ctr">
                        <a:buNone/>
                      </a:pPr>
                      <a:r>
                        <a:rPr lang="en-GB" sz="1200" u="none" strike="noStrike">
                          <a:effectLst/>
                          <a:latin typeface="Times New Roman" panose="02020603050405020304" pitchFamily="18" charset="0"/>
                          <a:cs typeface="Times New Roman" panose="02020603050405020304" pitchFamily="18" charset="0"/>
                        </a:rPr>
                        <a:t>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l" fontAlgn="ctr">
                        <a:buNone/>
                      </a:pPr>
                      <a:r>
                        <a:rPr lang="en-GB" sz="1200" u="none" strike="noStrike">
                          <a:effectLst/>
                          <a:latin typeface="Times New Roman" panose="02020603050405020304" pitchFamily="18" charset="0"/>
                          <a:cs typeface="Times New Roman" panose="02020603050405020304" pitchFamily="18" charset="0"/>
                        </a:rPr>
                        <a:t>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l" fontAlgn="ctr">
                        <a:buNone/>
                      </a:pPr>
                      <a:r>
                        <a:rPr lang="en-GB" sz="1200" u="none" strike="noStrike">
                          <a:effectLst/>
                          <a:latin typeface="Times New Roman" panose="02020603050405020304" pitchFamily="18" charset="0"/>
                          <a:cs typeface="Times New Roman" panose="02020603050405020304" pitchFamily="18" charset="0"/>
                        </a:rPr>
                        <a:t>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l" fontAlgn="ctr">
                        <a:buNone/>
                      </a:pPr>
                      <a:r>
                        <a:rPr lang="en-GB" sz="1200" u="none" strike="noStrike">
                          <a:effectLst/>
                          <a:latin typeface="Times New Roman" panose="02020603050405020304" pitchFamily="18" charset="0"/>
                          <a:cs typeface="Times New Roman" panose="02020603050405020304" pitchFamily="18" charset="0"/>
                        </a:rPr>
                        <a:t>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l" fontAlgn="ctr">
                        <a:buNone/>
                      </a:pPr>
                      <a:r>
                        <a:rPr lang="en-GB" sz="1200" u="none" strike="noStrike">
                          <a:effectLst/>
                          <a:latin typeface="Times New Roman" panose="02020603050405020304" pitchFamily="18" charset="0"/>
                          <a:cs typeface="Times New Roman" panose="02020603050405020304" pitchFamily="18" charset="0"/>
                        </a:rPr>
                        <a:t>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l" fontAlgn="ctr">
                        <a:buNone/>
                      </a:pPr>
                      <a:r>
                        <a:rPr lang="en-GB" sz="1200" u="none" strike="noStrike">
                          <a:effectLst/>
                          <a:latin typeface="Times New Roman" panose="02020603050405020304" pitchFamily="18" charset="0"/>
                          <a:cs typeface="Times New Roman" panose="02020603050405020304" pitchFamily="18" charset="0"/>
                        </a:rPr>
                        <a:t>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extLst>
                  <a:ext uri="{0D108BD9-81ED-4DB2-BD59-A6C34878D82A}">
                    <a16:rowId xmlns:a16="http://schemas.microsoft.com/office/drawing/2014/main" val="1457987232"/>
                  </a:ext>
                </a:extLst>
              </a:tr>
              <a:tr h="222697">
                <a:tc>
                  <a:txBody>
                    <a:bodyPr/>
                    <a:lstStyle/>
                    <a:p>
                      <a:pPr algn="l" fontAlgn="ctr">
                        <a:buNone/>
                      </a:pPr>
                      <a:r>
                        <a:rPr lang="en-GB" sz="1200" u="none" strike="noStrike">
                          <a:effectLst/>
                          <a:latin typeface="Times New Roman" panose="02020603050405020304" pitchFamily="18" charset="0"/>
                          <a:cs typeface="Times New Roman" panose="02020603050405020304" pitchFamily="18" charset="0"/>
                        </a:rPr>
                        <a:t>Revenue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solidFill>
                      <a:schemeClr val="tx2"/>
                    </a:solidFill>
                  </a:tcPr>
                </a:tc>
                <a:tc>
                  <a:txBody>
                    <a:bodyPr/>
                    <a:lstStyle/>
                    <a:p>
                      <a:pPr algn="r" fontAlgn="ctr">
                        <a:buNone/>
                      </a:pPr>
                      <a:r>
                        <a:rPr lang="en-GB" sz="1200" u="none" strike="noStrike">
                          <a:effectLst/>
                          <a:latin typeface="Times New Roman" panose="02020603050405020304" pitchFamily="18" charset="0"/>
                          <a:cs typeface="Times New Roman" panose="02020603050405020304" pitchFamily="18" charset="0"/>
                        </a:rPr>
                        <a:t>569.0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r" fontAlgn="ctr">
                        <a:buNone/>
                      </a:pPr>
                      <a:r>
                        <a:rPr lang="en-GB" sz="1200" u="none" strike="noStrike">
                          <a:effectLst/>
                          <a:latin typeface="Times New Roman" panose="02020603050405020304" pitchFamily="18" charset="0"/>
                          <a:cs typeface="Times New Roman" panose="02020603050405020304" pitchFamily="18" charset="0"/>
                        </a:rPr>
                        <a:t>125.3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r" fontAlgn="ctr">
                        <a:buNone/>
                      </a:pPr>
                      <a:r>
                        <a:rPr lang="en-GB" sz="1200" u="none" strike="noStrike">
                          <a:effectLst/>
                          <a:latin typeface="Times New Roman" panose="02020603050405020304" pitchFamily="18" charset="0"/>
                          <a:cs typeface="Times New Roman" panose="02020603050405020304" pitchFamily="18" charset="0"/>
                        </a:rPr>
                        <a:t>112.6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r" fontAlgn="ctr">
                        <a:buNone/>
                      </a:pPr>
                      <a:r>
                        <a:rPr lang="en-GB" sz="1200" u="none" strike="noStrike">
                          <a:effectLst/>
                          <a:latin typeface="Times New Roman" panose="02020603050405020304" pitchFamily="18" charset="0"/>
                          <a:cs typeface="Times New Roman" panose="02020603050405020304" pitchFamily="18" charset="0"/>
                        </a:rPr>
                        <a:t>103.6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r" fontAlgn="ctr">
                        <a:buNone/>
                      </a:pPr>
                      <a:r>
                        <a:rPr lang="en-GB" sz="1200" u="none" strike="noStrike">
                          <a:effectLst/>
                          <a:latin typeface="Times New Roman" panose="02020603050405020304" pitchFamily="18" charset="0"/>
                          <a:cs typeface="Times New Roman" panose="02020603050405020304" pitchFamily="18" charset="0"/>
                        </a:rPr>
                        <a:t>77.7 </a:t>
                      </a:r>
                      <a:endParaRPr lang="en-GB" sz="1200" b="0" i="0" u="none" strike="noStrike">
                        <a:solidFill>
                          <a:srgbClr val="FF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r" fontAlgn="ctr">
                        <a:buNone/>
                      </a:pPr>
                      <a:r>
                        <a:rPr lang="en-GB" sz="1200" u="none" strike="noStrike">
                          <a:effectLst/>
                          <a:latin typeface="Times New Roman" panose="02020603050405020304" pitchFamily="18" charset="0"/>
                          <a:cs typeface="Times New Roman" panose="02020603050405020304" pitchFamily="18" charset="0"/>
                        </a:rPr>
                        <a:t>51.6 </a:t>
                      </a:r>
                      <a:endParaRPr lang="en-GB" sz="1200" b="0" i="0" u="none" strike="noStrike">
                        <a:solidFill>
                          <a:srgbClr val="FF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r" fontAlgn="ctr">
                        <a:buNone/>
                      </a:pPr>
                      <a:r>
                        <a:rPr lang="en-GB" sz="1200" u="none" strike="noStrike">
                          <a:effectLst/>
                          <a:latin typeface="Times New Roman" panose="02020603050405020304" pitchFamily="18" charset="0"/>
                          <a:cs typeface="Times New Roman" panose="02020603050405020304" pitchFamily="18" charset="0"/>
                        </a:rPr>
                        <a:t>26.0 </a:t>
                      </a:r>
                      <a:endParaRPr lang="en-GB" sz="1200" b="0" i="0" u="none" strike="noStrike">
                        <a:solidFill>
                          <a:srgbClr val="FF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r" fontAlgn="ctr">
                        <a:buNone/>
                      </a:pPr>
                      <a:r>
                        <a:rPr lang="en-GB" sz="1200" u="none" strike="noStrike">
                          <a:effectLst/>
                          <a:latin typeface="Times New Roman" panose="02020603050405020304" pitchFamily="18" charset="0"/>
                          <a:cs typeface="Times New Roman" panose="02020603050405020304" pitchFamily="18" charset="0"/>
                        </a:rPr>
                        <a:t>0.0 </a:t>
                      </a:r>
                      <a:endParaRPr lang="en-GB" sz="1200" b="0" i="0" u="none" strike="noStrike">
                        <a:solidFill>
                          <a:srgbClr val="FF0000"/>
                        </a:solidFill>
                        <a:effectLst/>
                        <a:latin typeface="Times New Roman" panose="02020603050405020304" pitchFamily="18" charset="0"/>
                        <a:cs typeface="Times New Roman" panose="02020603050405020304" pitchFamily="18" charset="0"/>
                      </a:endParaRPr>
                    </a:p>
                  </a:txBody>
                  <a:tcPr marL="7300" marR="7300" marT="7300" marB="0" anchor="ctr"/>
                </a:tc>
                <a:extLst>
                  <a:ext uri="{0D108BD9-81ED-4DB2-BD59-A6C34878D82A}">
                    <a16:rowId xmlns:a16="http://schemas.microsoft.com/office/drawing/2014/main" val="3844640120"/>
                  </a:ext>
                </a:extLst>
              </a:tr>
              <a:tr h="222697">
                <a:tc>
                  <a:txBody>
                    <a:bodyPr/>
                    <a:lstStyle/>
                    <a:p>
                      <a:pPr algn="l" fontAlgn="ctr">
                        <a:buNone/>
                      </a:pPr>
                      <a:r>
                        <a:rPr lang="en-GB" sz="1200" u="none" strike="noStrike">
                          <a:effectLst/>
                          <a:latin typeface="Times New Roman" panose="02020603050405020304" pitchFamily="18" charset="0"/>
                          <a:cs typeface="Times New Roman" panose="02020603050405020304" pitchFamily="18" charset="0"/>
                        </a:rPr>
                        <a:t>YoY Growth %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solidFill>
                      <a:schemeClr val="tx2"/>
                    </a:solidFill>
                  </a:tcPr>
                </a:tc>
                <a:tc>
                  <a:txBody>
                    <a:bodyPr/>
                    <a:lstStyle/>
                    <a:p>
                      <a:pPr algn="r" fontAlgn="ctr">
                        <a:buNone/>
                      </a:pPr>
                      <a:r>
                        <a:rPr lang="en-GB" sz="1200" u="none" strike="noStrike">
                          <a:effectLst/>
                          <a:latin typeface="Times New Roman" panose="02020603050405020304" pitchFamily="18" charset="0"/>
                          <a:cs typeface="Times New Roman" panose="02020603050405020304" pitchFamily="18" charset="0"/>
                        </a:rPr>
                        <a:t>4.17%</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r" fontAlgn="ctr">
                        <a:buNone/>
                      </a:pPr>
                      <a:r>
                        <a:rPr lang="en-GB" sz="1200" u="none" strike="noStrike">
                          <a:effectLst/>
                          <a:latin typeface="Times New Roman" panose="02020603050405020304" pitchFamily="18" charset="0"/>
                          <a:cs typeface="Times New Roman" panose="02020603050405020304" pitchFamily="18" charset="0"/>
                        </a:rPr>
                        <a:t>-77.98%</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r" fontAlgn="ctr">
                        <a:buNone/>
                      </a:pPr>
                      <a:r>
                        <a:rPr lang="en-GB" sz="1200" u="none" strike="noStrike">
                          <a:effectLst/>
                          <a:latin typeface="Times New Roman" panose="02020603050405020304" pitchFamily="18" charset="0"/>
                          <a:cs typeface="Times New Roman" panose="02020603050405020304" pitchFamily="18" charset="0"/>
                        </a:rPr>
                        <a:t>-10.17%</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r" fontAlgn="ctr">
                        <a:buNone/>
                      </a:pPr>
                      <a:r>
                        <a:rPr lang="en-GB" sz="1200" u="none" strike="noStrike">
                          <a:effectLst/>
                          <a:latin typeface="Times New Roman" panose="02020603050405020304" pitchFamily="18" charset="0"/>
                          <a:cs typeface="Times New Roman" panose="02020603050405020304" pitchFamily="18" charset="0"/>
                        </a:rPr>
                        <a:t>-7.97%</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r" fontAlgn="ctr">
                        <a:buNone/>
                      </a:pPr>
                      <a:r>
                        <a:rPr lang="en-GB" sz="1200" u="none" strike="noStrike">
                          <a:effectLst/>
                          <a:latin typeface="Times New Roman" panose="02020603050405020304" pitchFamily="18" charset="0"/>
                          <a:cs typeface="Times New Roman" panose="02020603050405020304" pitchFamily="18" charset="0"/>
                        </a:rPr>
                        <a:t>-24.99%</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r" fontAlgn="ctr">
                        <a:buNone/>
                      </a:pPr>
                      <a:r>
                        <a:rPr lang="en-GB" sz="1200" u="none" strike="noStrike">
                          <a:effectLst/>
                          <a:latin typeface="Times New Roman" panose="02020603050405020304" pitchFamily="18" charset="0"/>
                          <a:cs typeface="Times New Roman" panose="02020603050405020304" pitchFamily="18" charset="0"/>
                        </a:rPr>
                        <a:t>-33.59%</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r" fontAlgn="ctr">
                        <a:buNone/>
                      </a:pPr>
                      <a:r>
                        <a:rPr lang="en-GB" sz="1200" u="none" strike="noStrike">
                          <a:effectLst/>
                          <a:latin typeface="Times New Roman" panose="02020603050405020304" pitchFamily="18" charset="0"/>
                          <a:cs typeface="Times New Roman" panose="02020603050405020304" pitchFamily="18" charset="0"/>
                        </a:rPr>
                        <a:t>-49.61%</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r" fontAlgn="ctr">
                        <a:buNone/>
                      </a:pPr>
                      <a:r>
                        <a:rPr lang="en-GB" sz="1200" u="none" strike="noStrike">
                          <a:effectLst/>
                          <a:latin typeface="Times New Roman" panose="02020603050405020304" pitchFamily="18" charset="0"/>
                          <a:cs typeface="Times New Roman" panose="02020603050405020304" pitchFamily="18" charset="0"/>
                        </a:rPr>
                        <a:t>-100.00%</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extLst>
                  <a:ext uri="{0D108BD9-81ED-4DB2-BD59-A6C34878D82A}">
                    <a16:rowId xmlns:a16="http://schemas.microsoft.com/office/drawing/2014/main" val="1614316486"/>
                  </a:ext>
                </a:extLst>
              </a:tr>
              <a:tr h="222697">
                <a:tc>
                  <a:txBody>
                    <a:bodyPr/>
                    <a:lstStyle/>
                    <a:p>
                      <a:pPr algn="l" fontAlgn="ctr">
                        <a:buNone/>
                      </a:pPr>
                      <a:r>
                        <a:rPr lang="en-GB" sz="1200" u="none" strike="noStrike">
                          <a:effectLst/>
                          <a:latin typeface="Times New Roman" panose="02020603050405020304" pitchFamily="18" charset="0"/>
                          <a:cs typeface="Times New Roman" panose="02020603050405020304" pitchFamily="18" charset="0"/>
                        </a:rPr>
                        <a:t>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solidFill>
                      <a:schemeClr val="tx2"/>
                    </a:solidFill>
                  </a:tcPr>
                </a:tc>
                <a:tc>
                  <a:txBody>
                    <a:bodyPr/>
                    <a:lstStyle/>
                    <a:p>
                      <a:pPr algn="l" fontAlgn="ctr">
                        <a:buNone/>
                      </a:pPr>
                      <a:r>
                        <a:rPr lang="en-GB" sz="1200" u="none" strike="noStrike">
                          <a:effectLst/>
                          <a:latin typeface="Times New Roman" panose="02020603050405020304" pitchFamily="18" charset="0"/>
                          <a:cs typeface="Times New Roman" panose="02020603050405020304" pitchFamily="18" charset="0"/>
                        </a:rPr>
                        <a:t>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l" fontAlgn="ctr">
                        <a:buNone/>
                      </a:pPr>
                      <a:r>
                        <a:rPr lang="en-GB" sz="1200" u="none" strike="noStrike">
                          <a:effectLst/>
                          <a:latin typeface="Times New Roman" panose="02020603050405020304" pitchFamily="18" charset="0"/>
                          <a:cs typeface="Times New Roman" panose="02020603050405020304" pitchFamily="18" charset="0"/>
                        </a:rPr>
                        <a:t>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l" fontAlgn="ctr">
                        <a:buNone/>
                      </a:pPr>
                      <a:r>
                        <a:rPr lang="en-GB" sz="1200" u="none" strike="noStrike">
                          <a:effectLst/>
                          <a:latin typeface="Times New Roman" panose="02020603050405020304" pitchFamily="18" charset="0"/>
                          <a:cs typeface="Times New Roman" panose="02020603050405020304" pitchFamily="18" charset="0"/>
                        </a:rPr>
                        <a:t>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l" fontAlgn="ctr">
                        <a:buNone/>
                      </a:pPr>
                      <a:r>
                        <a:rPr lang="en-GB" sz="1200" u="none" strike="noStrike">
                          <a:effectLst/>
                          <a:latin typeface="Times New Roman" panose="02020603050405020304" pitchFamily="18" charset="0"/>
                          <a:cs typeface="Times New Roman" panose="02020603050405020304" pitchFamily="18" charset="0"/>
                        </a:rPr>
                        <a:t>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l" fontAlgn="ctr">
                        <a:buNone/>
                      </a:pPr>
                      <a:r>
                        <a:rPr lang="en-GB" sz="1200" u="none" strike="noStrike">
                          <a:effectLst/>
                          <a:latin typeface="Times New Roman" panose="02020603050405020304" pitchFamily="18" charset="0"/>
                          <a:cs typeface="Times New Roman" panose="02020603050405020304" pitchFamily="18" charset="0"/>
                        </a:rPr>
                        <a:t>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l" fontAlgn="ctr">
                        <a:buNone/>
                      </a:pPr>
                      <a:r>
                        <a:rPr lang="en-GB" sz="1200" u="none" strike="noStrike">
                          <a:effectLst/>
                          <a:latin typeface="Times New Roman" panose="02020603050405020304" pitchFamily="18" charset="0"/>
                          <a:cs typeface="Times New Roman" panose="02020603050405020304" pitchFamily="18" charset="0"/>
                        </a:rPr>
                        <a:t>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l" fontAlgn="ctr">
                        <a:buNone/>
                      </a:pPr>
                      <a:r>
                        <a:rPr lang="en-GB" sz="1200" u="none" strike="noStrike">
                          <a:effectLst/>
                          <a:latin typeface="Times New Roman" panose="02020603050405020304" pitchFamily="18" charset="0"/>
                          <a:cs typeface="Times New Roman" panose="02020603050405020304" pitchFamily="18" charset="0"/>
                        </a:rPr>
                        <a:t>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l" fontAlgn="ctr">
                        <a:buNone/>
                      </a:pPr>
                      <a:r>
                        <a:rPr lang="en-GB" sz="1200" u="none" strike="noStrike">
                          <a:effectLst/>
                          <a:latin typeface="Times New Roman" panose="02020603050405020304" pitchFamily="18" charset="0"/>
                          <a:cs typeface="Times New Roman" panose="02020603050405020304" pitchFamily="18" charset="0"/>
                        </a:rPr>
                        <a:t>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extLst>
                  <a:ext uri="{0D108BD9-81ED-4DB2-BD59-A6C34878D82A}">
                    <a16:rowId xmlns:a16="http://schemas.microsoft.com/office/drawing/2014/main" val="419582063"/>
                  </a:ext>
                </a:extLst>
              </a:tr>
              <a:tr h="222697">
                <a:tc>
                  <a:txBody>
                    <a:bodyPr/>
                    <a:lstStyle/>
                    <a:p>
                      <a:pPr algn="l" fontAlgn="ctr">
                        <a:buNone/>
                      </a:pPr>
                      <a:r>
                        <a:rPr lang="en-GB" sz="1200" u="none" strike="noStrike">
                          <a:effectLst/>
                          <a:latin typeface="Times New Roman" panose="02020603050405020304" pitchFamily="18" charset="0"/>
                          <a:cs typeface="Times New Roman" panose="02020603050405020304" pitchFamily="18" charset="0"/>
                        </a:rPr>
                        <a:t> </a:t>
                      </a:r>
                      <a:endParaRPr lang="en-GB" sz="1200" b="1"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solidFill>
                      <a:schemeClr val="tx2"/>
                    </a:solidFill>
                  </a:tcPr>
                </a:tc>
                <a:tc>
                  <a:txBody>
                    <a:bodyPr/>
                    <a:lstStyle/>
                    <a:p>
                      <a:pPr algn="l" fontAlgn="ctr">
                        <a:buNone/>
                      </a:pPr>
                      <a:r>
                        <a:rPr lang="en-GB" sz="1200" u="none" strike="noStrike">
                          <a:effectLst/>
                          <a:latin typeface="Times New Roman" panose="02020603050405020304" pitchFamily="18" charset="0"/>
                          <a:cs typeface="Times New Roman" panose="02020603050405020304" pitchFamily="18" charset="0"/>
                        </a:rPr>
                        <a:t>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l" fontAlgn="ctr">
                        <a:buNone/>
                      </a:pPr>
                      <a:r>
                        <a:rPr lang="en-GB" sz="1200" u="none" strike="noStrike">
                          <a:effectLst/>
                          <a:latin typeface="Times New Roman" panose="02020603050405020304" pitchFamily="18" charset="0"/>
                          <a:cs typeface="Times New Roman" panose="02020603050405020304" pitchFamily="18" charset="0"/>
                        </a:rPr>
                        <a:t>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l" fontAlgn="ctr">
                        <a:buNone/>
                      </a:pPr>
                      <a:r>
                        <a:rPr lang="en-GB" sz="1200" u="none" strike="noStrike">
                          <a:effectLst/>
                          <a:latin typeface="Times New Roman" panose="02020603050405020304" pitchFamily="18" charset="0"/>
                          <a:cs typeface="Times New Roman" panose="02020603050405020304" pitchFamily="18" charset="0"/>
                        </a:rPr>
                        <a:t>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l" fontAlgn="ctr">
                        <a:buNone/>
                      </a:pPr>
                      <a:r>
                        <a:rPr lang="en-GB" sz="1200" u="none" strike="noStrike">
                          <a:effectLst/>
                          <a:latin typeface="Times New Roman" panose="02020603050405020304" pitchFamily="18" charset="0"/>
                          <a:cs typeface="Times New Roman" panose="02020603050405020304" pitchFamily="18" charset="0"/>
                        </a:rPr>
                        <a:t>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l" fontAlgn="ctr">
                        <a:buNone/>
                      </a:pPr>
                      <a:r>
                        <a:rPr lang="en-GB" sz="1200" u="none" strike="noStrike">
                          <a:effectLst/>
                          <a:latin typeface="Times New Roman" panose="02020603050405020304" pitchFamily="18" charset="0"/>
                          <a:cs typeface="Times New Roman" panose="02020603050405020304" pitchFamily="18" charset="0"/>
                        </a:rPr>
                        <a:t>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l" fontAlgn="ctr">
                        <a:buNone/>
                      </a:pPr>
                      <a:r>
                        <a:rPr lang="en-GB" sz="1200" u="none" strike="noStrike">
                          <a:effectLst/>
                          <a:latin typeface="Times New Roman" panose="02020603050405020304" pitchFamily="18" charset="0"/>
                          <a:cs typeface="Times New Roman" panose="02020603050405020304" pitchFamily="18" charset="0"/>
                        </a:rPr>
                        <a:t>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l" fontAlgn="ctr">
                        <a:buNone/>
                      </a:pPr>
                      <a:r>
                        <a:rPr lang="en-GB" sz="1200" u="none" strike="noStrike">
                          <a:effectLst/>
                          <a:latin typeface="Times New Roman" panose="02020603050405020304" pitchFamily="18" charset="0"/>
                          <a:cs typeface="Times New Roman" panose="02020603050405020304" pitchFamily="18" charset="0"/>
                        </a:rPr>
                        <a:t>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l" fontAlgn="ctr">
                        <a:buNone/>
                      </a:pPr>
                      <a:r>
                        <a:rPr lang="en-GB" sz="1200" u="none" strike="noStrike">
                          <a:effectLst/>
                          <a:latin typeface="Times New Roman" panose="02020603050405020304" pitchFamily="18" charset="0"/>
                          <a:cs typeface="Times New Roman" panose="02020603050405020304" pitchFamily="18" charset="0"/>
                        </a:rPr>
                        <a:t>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extLst>
                  <a:ext uri="{0D108BD9-81ED-4DB2-BD59-A6C34878D82A}">
                    <a16:rowId xmlns:a16="http://schemas.microsoft.com/office/drawing/2014/main" val="2996037103"/>
                  </a:ext>
                </a:extLst>
              </a:tr>
              <a:tr h="222697">
                <a:tc>
                  <a:txBody>
                    <a:bodyPr/>
                    <a:lstStyle/>
                    <a:p>
                      <a:pPr algn="l" fontAlgn="b">
                        <a:buNone/>
                      </a:pPr>
                      <a:r>
                        <a:rPr lang="en-GB" sz="1200" u="none" strike="noStrike">
                          <a:effectLst/>
                          <a:latin typeface="Times New Roman" panose="02020603050405020304" pitchFamily="18" charset="0"/>
                          <a:cs typeface="Times New Roman" panose="02020603050405020304" pitchFamily="18" charset="0"/>
                        </a:rPr>
                        <a:t>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b">
                    <a:solidFill>
                      <a:schemeClr val="tx2"/>
                    </a:solidFill>
                  </a:tcPr>
                </a:tc>
                <a:tc>
                  <a:txBody>
                    <a:bodyPr/>
                    <a:lstStyle/>
                    <a:p>
                      <a:pPr algn="l" fontAlgn="b">
                        <a:buNone/>
                      </a:pPr>
                      <a:r>
                        <a:rPr lang="en-GB" sz="1200" u="none" strike="noStrike">
                          <a:effectLst/>
                          <a:latin typeface="Times New Roman" panose="02020603050405020304" pitchFamily="18" charset="0"/>
                          <a:cs typeface="Times New Roman" panose="02020603050405020304" pitchFamily="18" charset="0"/>
                        </a:rPr>
                        <a:t>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b"/>
                </a:tc>
                <a:tc>
                  <a:txBody>
                    <a:bodyPr/>
                    <a:lstStyle/>
                    <a:p>
                      <a:pPr algn="l" fontAlgn="b">
                        <a:buNone/>
                      </a:pPr>
                      <a:r>
                        <a:rPr lang="en-GB" sz="1200" u="none" strike="noStrike">
                          <a:effectLst/>
                          <a:latin typeface="Times New Roman" panose="02020603050405020304" pitchFamily="18" charset="0"/>
                          <a:cs typeface="Times New Roman" panose="02020603050405020304" pitchFamily="18" charset="0"/>
                        </a:rPr>
                        <a:t>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b"/>
                </a:tc>
                <a:tc>
                  <a:txBody>
                    <a:bodyPr/>
                    <a:lstStyle/>
                    <a:p>
                      <a:pPr algn="l" fontAlgn="b">
                        <a:buNone/>
                      </a:pPr>
                      <a:r>
                        <a:rPr lang="en-GB" sz="1200" u="none" strike="noStrike">
                          <a:effectLst/>
                          <a:latin typeface="Times New Roman" panose="02020603050405020304" pitchFamily="18" charset="0"/>
                          <a:cs typeface="Times New Roman" panose="02020603050405020304" pitchFamily="18" charset="0"/>
                        </a:rPr>
                        <a:t>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b"/>
                </a:tc>
                <a:tc>
                  <a:txBody>
                    <a:bodyPr/>
                    <a:lstStyle/>
                    <a:p>
                      <a:pPr algn="l" fontAlgn="b">
                        <a:buNone/>
                      </a:pPr>
                      <a:r>
                        <a:rPr lang="en-GB" sz="1200" u="none" strike="noStrike">
                          <a:effectLst/>
                          <a:latin typeface="Times New Roman" panose="02020603050405020304" pitchFamily="18" charset="0"/>
                          <a:cs typeface="Times New Roman" panose="02020603050405020304" pitchFamily="18" charset="0"/>
                        </a:rPr>
                        <a:t>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b"/>
                </a:tc>
                <a:tc>
                  <a:txBody>
                    <a:bodyPr/>
                    <a:lstStyle/>
                    <a:p>
                      <a:pPr algn="l" fontAlgn="b">
                        <a:buNone/>
                      </a:pPr>
                      <a:r>
                        <a:rPr lang="en-GB" sz="1200" u="none" strike="noStrike">
                          <a:effectLst/>
                          <a:latin typeface="Times New Roman" panose="02020603050405020304" pitchFamily="18" charset="0"/>
                          <a:cs typeface="Times New Roman" panose="02020603050405020304" pitchFamily="18" charset="0"/>
                        </a:rPr>
                        <a:t>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b"/>
                </a:tc>
                <a:tc>
                  <a:txBody>
                    <a:bodyPr/>
                    <a:lstStyle/>
                    <a:p>
                      <a:pPr algn="l" fontAlgn="b">
                        <a:buNone/>
                      </a:pPr>
                      <a:r>
                        <a:rPr lang="en-GB" sz="1200" u="none" strike="noStrike">
                          <a:effectLst/>
                          <a:latin typeface="Times New Roman" panose="02020603050405020304" pitchFamily="18" charset="0"/>
                          <a:cs typeface="Times New Roman" panose="02020603050405020304" pitchFamily="18" charset="0"/>
                        </a:rPr>
                        <a:t>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b"/>
                </a:tc>
                <a:tc>
                  <a:txBody>
                    <a:bodyPr/>
                    <a:lstStyle/>
                    <a:p>
                      <a:pPr algn="l" fontAlgn="b">
                        <a:buNone/>
                      </a:pPr>
                      <a:r>
                        <a:rPr lang="en-GB" sz="1200" u="none" strike="noStrike">
                          <a:effectLst/>
                          <a:latin typeface="Times New Roman" panose="02020603050405020304" pitchFamily="18" charset="0"/>
                          <a:cs typeface="Times New Roman" panose="02020603050405020304" pitchFamily="18" charset="0"/>
                        </a:rPr>
                        <a:t>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b"/>
                </a:tc>
                <a:tc>
                  <a:txBody>
                    <a:bodyPr/>
                    <a:lstStyle/>
                    <a:p>
                      <a:pPr algn="l" fontAlgn="b">
                        <a:buNone/>
                      </a:pPr>
                      <a:r>
                        <a:rPr lang="en-GB" sz="1200" u="none" strike="noStrike">
                          <a:effectLst/>
                          <a:latin typeface="Times New Roman" panose="02020603050405020304" pitchFamily="18" charset="0"/>
                          <a:cs typeface="Times New Roman" panose="02020603050405020304" pitchFamily="18" charset="0"/>
                        </a:rPr>
                        <a:t>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b"/>
                </a:tc>
                <a:extLst>
                  <a:ext uri="{0D108BD9-81ED-4DB2-BD59-A6C34878D82A}">
                    <a16:rowId xmlns:a16="http://schemas.microsoft.com/office/drawing/2014/main" val="1091857369"/>
                  </a:ext>
                </a:extLst>
              </a:tr>
              <a:tr h="222697">
                <a:tc>
                  <a:txBody>
                    <a:bodyPr/>
                    <a:lstStyle/>
                    <a:p>
                      <a:pPr algn="ctr" fontAlgn="ctr">
                        <a:buNone/>
                      </a:pPr>
                      <a:r>
                        <a:rPr lang="en-GB" sz="1200" u="none" strike="noStrike">
                          <a:effectLst/>
                          <a:latin typeface="Times New Roman" panose="02020603050405020304" pitchFamily="18" charset="0"/>
                          <a:cs typeface="Times New Roman" panose="02020603050405020304" pitchFamily="18" charset="0"/>
                        </a:rPr>
                        <a:t>(€ millions) </a:t>
                      </a:r>
                      <a:endParaRPr lang="en-GB" sz="1200" b="1"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solidFill>
                      <a:schemeClr val="tx2"/>
                    </a:solidFill>
                  </a:tcPr>
                </a:tc>
                <a:tc>
                  <a:txBody>
                    <a:bodyPr/>
                    <a:lstStyle/>
                    <a:p>
                      <a:pPr algn="ctr" fontAlgn="ctr">
                        <a:buNone/>
                      </a:pPr>
                      <a:r>
                        <a:rPr lang="en-GB" sz="1200" u="none" strike="noStrike">
                          <a:effectLst/>
                          <a:latin typeface="Times New Roman" panose="02020603050405020304" pitchFamily="18" charset="0"/>
                          <a:cs typeface="Times New Roman" panose="02020603050405020304" pitchFamily="18" charset="0"/>
                        </a:rPr>
                        <a:t>2022A</a:t>
                      </a:r>
                      <a:endParaRPr lang="en-GB" sz="1200" b="1"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ctr" fontAlgn="ctr">
                        <a:buNone/>
                      </a:pPr>
                      <a:r>
                        <a:rPr lang="en-GB" sz="1200" u="none" strike="noStrike">
                          <a:effectLst/>
                          <a:latin typeface="Times New Roman" panose="02020603050405020304" pitchFamily="18" charset="0"/>
                          <a:cs typeface="Times New Roman" panose="02020603050405020304" pitchFamily="18" charset="0"/>
                        </a:rPr>
                        <a:t>2023A</a:t>
                      </a:r>
                      <a:endParaRPr lang="en-GB" sz="1200" b="1"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ctr" fontAlgn="ctr">
                        <a:buNone/>
                      </a:pPr>
                      <a:r>
                        <a:rPr lang="en-GB" sz="1200" u="none" strike="noStrike">
                          <a:effectLst/>
                          <a:latin typeface="Times New Roman" panose="02020603050405020304" pitchFamily="18" charset="0"/>
                          <a:cs typeface="Times New Roman" panose="02020603050405020304" pitchFamily="18" charset="0"/>
                        </a:rPr>
                        <a:t>2024A</a:t>
                      </a:r>
                      <a:endParaRPr lang="en-GB" sz="1200" b="1"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ctr" fontAlgn="ctr">
                        <a:buNone/>
                      </a:pPr>
                      <a:r>
                        <a:rPr lang="en-GB" sz="1200" u="none" strike="noStrike">
                          <a:effectLst/>
                          <a:latin typeface="Times New Roman" panose="02020603050405020304" pitchFamily="18" charset="0"/>
                          <a:cs typeface="Times New Roman" panose="02020603050405020304" pitchFamily="18" charset="0"/>
                        </a:rPr>
                        <a:t>2025E</a:t>
                      </a:r>
                      <a:endParaRPr lang="en-GB" sz="1200" b="1"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ctr" fontAlgn="ctr">
                        <a:buNone/>
                      </a:pPr>
                      <a:r>
                        <a:rPr lang="en-GB" sz="1200" u="none" strike="noStrike">
                          <a:effectLst/>
                          <a:latin typeface="Times New Roman" panose="02020603050405020304" pitchFamily="18" charset="0"/>
                          <a:cs typeface="Times New Roman" panose="02020603050405020304" pitchFamily="18" charset="0"/>
                        </a:rPr>
                        <a:t>2026F</a:t>
                      </a:r>
                      <a:endParaRPr lang="en-GB" sz="1200" b="1"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ctr" fontAlgn="ctr">
                        <a:buNone/>
                      </a:pPr>
                      <a:r>
                        <a:rPr lang="en-GB" sz="1200" u="none" strike="noStrike">
                          <a:effectLst/>
                          <a:latin typeface="Times New Roman" panose="02020603050405020304" pitchFamily="18" charset="0"/>
                          <a:cs typeface="Times New Roman" panose="02020603050405020304" pitchFamily="18" charset="0"/>
                        </a:rPr>
                        <a:t>2027F</a:t>
                      </a:r>
                      <a:endParaRPr lang="en-GB" sz="1200" b="1"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ctr" fontAlgn="ctr">
                        <a:buNone/>
                      </a:pPr>
                      <a:r>
                        <a:rPr lang="en-GB" sz="1200" u="none" strike="noStrike">
                          <a:effectLst/>
                          <a:latin typeface="Times New Roman" panose="02020603050405020304" pitchFamily="18" charset="0"/>
                          <a:cs typeface="Times New Roman" panose="02020603050405020304" pitchFamily="18" charset="0"/>
                        </a:rPr>
                        <a:t>2028F</a:t>
                      </a:r>
                      <a:endParaRPr lang="en-GB" sz="1200" b="1"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ctr" fontAlgn="ctr">
                        <a:buNone/>
                      </a:pPr>
                      <a:r>
                        <a:rPr lang="en-GB" sz="1200" u="none" strike="noStrike">
                          <a:effectLst/>
                          <a:latin typeface="Times New Roman" panose="02020603050405020304" pitchFamily="18" charset="0"/>
                          <a:cs typeface="Times New Roman" panose="02020603050405020304" pitchFamily="18" charset="0"/>
                        </a:rPr>
                        <a:t>2029F</a:t>
                      </a:r>
                      <a:endParaRPr lang="en-GB" sz="1200" b="1"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extLst>
                  <a:ext uri="{0D108BD9-81ED-4DB2-BD59-A6C34878D82A}">
                    <a16:rowId xmlns:a16="http://schemas.microsoft.com/office/drawing/2014/main" val="776268"/>
                  </a:ext>
                </a:extLst>
              </a:tr>
              <a:tr h="222697">
                <a:tc>
                  <a:txBody>
                    <a:bodyPr/>
                    <a:lstStyle/>
                    <a:p>
                      <a:pPr algn="l" fontAlgn="ctr">
                        <a:buNone/>
                      </a:pPr>
                      <a:r>
                        <a:rPr lang="en-GB" sz="1200" u="none" strike="noStrike">
                          <a:effectLst/>
                          <a:latin typeface="Times New Roman" panose="02020603050405020304" pitchFamily="18" charset="0"/>
                          <a:cs typeface="Times New Roman" panose="02020603050405020304" pitchFamily="18" charset="0"/>
                        </a:rPr>
                        <a:t>Company </a:t>
                      </a:r>
                      <a:endParaRPr lang="en-GB" sz="1200" b="1"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solidFill>
                      <a:schemeClr val="tx2"/>
                    </a:solidFill>
                  </a:tcPr>
                </a:tc>
                <a:tc>
                  <a:txBody>
                    <a:bodyPr/>
                    <a:lstStyle/>
                    <a:p>
                      <a:pPr algn="l" fontAlgn="ctr">
                        <a:buNone/>
                      </a:pPr>
                      <a:r>
                        <a:rPr lang="en-GB" sz="1200" u="none" strike="noStrike">
                          <a:effectLst/>
                          <a:latin typeface="Times New Roman" panose="02020603050405020304" pitchFamily="18" charset="0"/>
                          <a:cs typeface="Times New Roman" panose="02020603050405020304" pitchFamily="18" charset="0"/>
                        </a:rPr>
                        <a:t>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l" fontAlgn="ctr">
                        <a:buNone/>
                      </a:pPr>
                      <a:r>
                        <a:rPr lang="en-GB" sz="1200" u="none" strike="noStrike">
                          <a:effectLst/>
                          <a:latin typeface="Times New Roman" panose="02020603050405020304" pitchFamily="18" charset="0"/>
                          <a:cs typeface="Times New Roman" panose="02020603050405020304" pitchFamily="18" charset="0"/>
                        </a:rPr>
                        <a:t>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l" fontAlgn="ctr">
                        <a:buNone/>
                      </a:pPr>
                      <a:r>
                        <a:rPr lang="en-GB" sz="1200" u="none" strike="noStrike">
                          <a:effectLst/>
                          <a:latin typeface="Times New Roman" panose="02020603050405020304" pitchFamily="18" charset="0"/>
                          <a:cs typeface="Times New Roman" panose="02020603050405020304" pitchFamily="18" charset="0"/>
                        </a:rPr>
                        <a:t>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l" fontAlgn="ctr">
                        <a:buNone/>
                      </a:pPr>
                      <a:r>
                        <a:rPr lang="en-GB" sz="1200" u="none" strike="noStrike">
                          <a:effectLst/>
                          <a:latin typeface="Times New Roman" panose="02020603050405020304" pitchFamily="18" charset="0"/>
                          <a:cs typeface="Times New Roman" panose="02020603050405020304" pitchFamily="18" charset="0"/>
                        </a:rPr>
                        <a:t>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l" fontAlgn="ctr">
                        <a:buNone/>
                      </a:pPr>
                      <a:r>
                        <a:rPr lang="en-GB" sz="1200" u="none" strike="noStrike">
                          <a:effectLst/>
                          <a:latin typeface="Times New Roman" panose="02020603050405020304" pitchFamily="18" charset="0"/>
                          <a:cs typeface="Times New Roman" panose="02020603050405020304" pitchFamily="18" charset="0"/>
                        </a:rPr>
                        <a:t>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l" fontAlgn="ctr">
                        <a:buNone/>
                      </a:pPr>
                      <a:r>
                        <a:rPr lang="en-GB" sz="1200" u="none" strike="noStrike">
                          <a:effectLst/>
                          <a:latin typeface="Times New Roman" panose="02020603050405020304" pitchFamily="18" charset="0"/>
                          <a:cs typeface="Times New Roman" panose="02020603050405020304" pitchFamily="18" charset="0"/>
                        </a:rPr>
                        <a:t>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l" fontAlgn="ctr">
                        <a:buNone/>
                      </a:pPr>
                      <a:r>
                        <a:rPr lang="en-GB" sz="1200" u="none" strike="noStrike">
                          <a:effectLst/>
                          <a:latin typeface="Times New Roman" panose="02020603050405020304" pitchFamily="18" charset="0"/>
                          <a:cs typeface="Times New Roman" panose="02020603050405020304" pitchFamily="18" charset="0"/>
                        </a:rPr>
                        <a:t>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l" fontAlgn="ctr">
                        <a:buNone/>
                      </a:pPr>
                      <a:r>
                        <a:rPr lang="en-GB" sz="1200" u="none" strike="noStrike">
                          <a:effectLst/>
                          <a:latin typeface="Times New Roman" panose="02020603050405020304" pitchFamily="18" charset="0"/>
                          <a:cs typeface="Times New Roman" panose="02020603050405020304" pitchFamily="18" charset="0"/>
                        </a:rPr>
                        <a:t>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extLst>
                  <a:ext uri="{0D108BD9-81ED-4DB2-BD59-A6C34878D82A}">
                    <a16:rowId xmlns:a16="http://schemas.microsoft.com/office/drawing/2014/main" val="809854638"/>
                  </a:ext>
                </a:extLst>
              </a:tr>
              <a:tr h="222697">
                <a:tc>
                  <a:txBody>
                    <a:bodyPr/>
                    <a:lstStyle/>
                    <a:p>
                      <a:pPr algn="l" fontAlgn="ctr">
                        <a:buNone/>
                      </a:pPr>
                      <a:r>
                        <a:rPr lang="en-GB" sz="1200" u="none" strike="noStrike">
                          <a:effectLst/>
                          <a:latin typeface="Times New Roman" panose="02020603050405020304" pitchFamily="18" charset="0"/>
                          <a:cs typeface="Times New Roman" panose="02020603050405020304" pitchFamily="18" charset="0"/>
                        </a:rPr>
                        <a:t>Revenue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solidFill>
                      <a:schemeClr val="tx2"/>
                    </a:solidFill>
                  </a:tcPr>
                </a:tc>
                <a:tc>
                  <a:txBody>
                    <a:bodyPr/>
                    <a:lstStyle/>
                    <a:p>
                      <a:pPr algn="r" fontAlgn="ctr">
                        <a:buNone/>
                      </a:pPr>
                      <a:r>
                        <a:rPr lang="en-GB" sz="1200" u="none" strike="noStrike">
                          <a:effectLst/>
                          <a:latin typeface="Times New Roman" panose="02020603050405020304" pitchFamily="18" charset="0"/>
                          <a:cs typeface="Times New Roman" panose="02020603050405020304" pitchFamily="18" charset="0"/>
                        </a:rPr>
                        <a:t>6,620.0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r" fontAlgn="ctr">
                        <a:buNone/>
                      </a:pPr>
                      <a:r>
                        <a:rPr lang="en-GB" sz="1200" u="none" strike="noStrike">
                          <a:effectLst/>
                          <a:latin typeface="Times New Roman" panose="02020603050405020304" pitchFamily="18" charset="0"/>
                          <a:cs typeface="Times New Roman" panose="02020603050405020304" pitchFamily="18" charset="0"/>
                        </a:rPr>
                        <a:t>6,271.3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r" fontAlgn="ctr">
                        <a:buNone/>
                      </a:pPr>
                      <a:r>
                        <a:rPr lang="en-GB" sz="1200" u="none" strike="noStrike">
                          <a:effectLst/>
                          <a:latin typeface="Times New Roman" panose="02020603050405020304" pitchFamily="18" charset="0"/>
                          <a:cs typeface="Times New Roman" panose="02020603050405020304" pitchFamily="18" charset="0"/>
                        </a:rPr>
                        <a:t>6,454.6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r" fontAlgn="ctr">
                        <a:buNone/>
                      </a:pPr>
                      <a:r>
                        <a:rPr lang="en-GB" sz="1200" u="none" strike="noStrike">
                          <a:effectLst/>
                          <a:latin typeface="Times New Roman" panose="02020603050405020304" pitchFamily="18" charset="0"/>
                          <a:cs typeface="Times New Roman" panose="02020603050405020304" pitchFamily="18" charset="0"/>
                        </a:rPr>
                        <a:t>6,821.5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r" fontAlgn="ctr">
                        <a:buNone/>
                      </a:pPr>
                      <a:r>
                        <a:rPr lang="en-GB" sz="1200" u="none" strike="noStrike">
                          <a:effectLst/>
                          <a:latin typeface="Times New Roman" panose="02020603050405020304" pitchFamily="18" charset="0"/>
                          <a:cs typeface="Times New Roman" panose="02020603050405020304" pitchFamily="18" charset="0"/>
                        </a:rPr>
                        <a:t>7,157.0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r" fontAlgn="ctr">
                        <a:buNone/>
                      </a:pPr>
                      <a:r>
                        <a:rPr lang="en-GB" sz="1200" u="none" strike="noStrike">
                          <a:effectLst/>
                          <a:latin typeface="Times New Roman" panose="02020603050405020304" pitchFamily="18" charset="0"/>
                          <a:cs typeface="Times New Roman" panose="02020603050405020304" pitchFamily="18" charset="0"/>
                        </a:rPr>
                        <a:t>7,475.6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r" fontAlgn="ctr">
                        <a:buNone/>
                      </a:pPr>
                      <a:r>
                        <a:rPr lang="en-GB" sz="1200" u="none" strike="noStrike">
                          <a:effectLst/>
                          <a:latin typeface="Times New Roman" panose="02020603050405020304" pitchFamily="18" charset="0"/>
                          <a:cs typeface="Times New Roman" panose="02020603050405020304" pitchFamily="18" charset="0"/>
                        </a:rPr>
                        <a:t>7,774.8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r" fontAlgn="ctr">
                        <a:buNone/>
                      </a:pPr>
                      <a:r>
                        <a:rPr lang="en-GB" sz="1200" u="none" strike="noStrike">
                          <a:effectLst/>
                          <a:latin typeface="Times New Roman" panose="02020603050405020304" pitchFamily="18" charset="0"/>
                          <a:cs typeface="Times New Roman" panose="02020603050405020304" pitchFamily="18" charset="0"/>
                        </a:rPr>
                        <a:t>8,048.6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extLst>
                  <a:ext uri="{0D108BD9-81ED-4DB2-BD59-A6C34878D82A}">
                    <a16:rowId xmlns:a16="http://schemas.microsoft.com/office/drawing/2014/main" val="4228170377"/>
                  </a:ext>
                </a:extLst>
              </a:tr>
              <a:tr h="222697">
                <a:tc>
                  <a:txBody>
                    <a:bodyPr/>
                    <a:lstStyle/>
                    <a:p>
                      <a:pPr algn="l" fontAlgn="ctr">
                        <a:buNone/>
                      </a:pPr>
                      <a:r>
                        <a:rPr lang="en-GB" sz="1200" u="none" strike="noStrike">
                          <a:effectLst/>
                          <a:latin typeface="Times New Roman" panose="02020603050405020304" pitchFamily="18" charset="0"/>
                          <a:cs typeface="Times New Roman" panose="02020603050405020304" pitchFamily="18" charset="0"/>
                        </a:rPr>
                        <a:t>YoY Growth %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solidFill>
                      <a:schemeClr val="tx2"/>
                    </a:solidFill>
                  </a:tcPr>
                </a:tc>
                <a:tc>
                  <a:txBody>
                    <a:bodyPr/>
                    <a:lstStyle/>
                    <a:p>
                      <a:pPr algn="r" fontAlgn="ctr">
                        <a:buNone/>
                      </a:pPr>
                      <a:r>
                        <a:rPr lang="en-GB" sz="1200" u="none" strike="noStrike">
                          <a:effectLst/>
                          <a:latin typeface="Times New Roman" panose="02020603050405020304" pitchFamily="18" charset="0"/>
                          <a:cs typeface="Times New Roman" panose="02020603050405020304" pitchFamily="18" charset="0"/>
                        </a:rPr>
                        <a:t>-9.53%</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r" fontAlgn="ctr">
                        <a:buNone/>
                      </a:pPr>
                      <a:r>
                        <a:rPr lang="en-GB" sz="1200" u="none" strike="noStrike">
                          <a:effectLst/>
                          <a:latin typeface="Times New Roman" panose="02020603050405020304" pitchFamily="18" charset="0"/>
                          <a:cs typeface="Times New Roman" panose="02020603050405020304" pitchFamily="18" charset="0"/>
                        </a:rPr>
                        <a:t>-5.27%</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r" fontAlgn="ctr">
                        <a:buNone/>
                      </a:pPr>
                      <a:r>
                        <a:rPr lang="en-GB" sz="1200" u="none" strike="noStrike">
                          <a:effectLst/>
                          <a:latin typeface="Times New Roman" panose="02020603050405020304" pitchFamily="18" charset="0"/>
                          <a:cs typeface="Times New Roman" panose="02020603050405020304" pitchFamily="18" charset="0"/>
                        </a:rPr>
                        <a:t>2.92%</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r" fontAlgn="ctr">
                        <a:buNone/>
                      </a:pPr>
                      <a:r>
                        <a:rPr lang="en-GB" sz="1200" u="none" strike="noStrike">
                          <a:effectLst/>
                          <a:latin typeface="Times New Roman" panose="02020603050405020304" pitchFamily="18" charset="0"/>
                          <a:cs typeface="Times New Roman" panose="02020603050405020304" pitchFamily="18" charset="0"/>
                        </a:rPr>
                        <a:t>5.68%</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r" fontAlgn="ctr">
                        <a:buNone/>
                      </a:pPr>
                      <a:r>
                        <a:rPr lang="en-GB" sz="1200" u="none" strike="noStrike">
                          <a:effectLst/>
                          <a:latin typeface="Times New Roman" panose="02020603050405020304" pitchFamily="18" charset="0"/>
                          <a:cs typeface="Times New Roman" panose="02020603050405020304" pitchFamily="18" charset="0"/>
                        </a:rPr>
                        <a:t>4.92%</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r" fontAlgn="ctr">
                        <a:buNone/>
                      </a:pPr>
                      <a:r>
                        <a:rPr lang="en-GB" sz="1200" u="none" strike="noStrike">
                          <a:effectLst/>
                          <a:latin typeface="Times New Roman" panose="02020603050405020304" pitchFamily="18" charset="0"/>
                          <a:cs typeface="Times New Roman" panose="02020603050405020304" pitchFamily="18" charset="0"/>
                        </a:rPr>
                        <a:t>4.45%</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r" fontAlgn="ctr">
                        <a:buNone/>
                      </a:pPr>
                      <a:r>
                        <a:rPr lang="en-GB" sz="1200" u="none" strike="noStrike">
                          <a:effectLst/>
                          <a:latin typeface="Times New Roman" panose="02020603050405020304" pitchFamily="18" charset="0"/>
                          <a:cs typeface="Times New Roman" panose="02020603050405020304" pitchFamily="18" charset="0"/>
                        </a:rPr>
                        <a:t>4.00%</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r" fontAlgn="ctr">
                        <a:buNone/>
                      </a:pPr>
                      <a:r>
                        <a:rPr lang="en-GB" sz="1200" u="none" strike="noStrike">
                          <a:effectLst/>
                          <a:latin typeface="Times New Roman" panose="02020603050405020304" pitchFamily="18" charset="0"/>
                          <a:cs typeface="Times New Roman" panose="02020603050405020304" pitchFamily="18" charset="0"/>
                        </a:rPr>
                        <a:t>3.52%</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extLst>
                  <a:ext uri="{0D108BD9-81ED-4DB2-BD59-A6C34878D82A}">
                    <a16:rowId xmlns:a16="http://schemas.microsoft.com/office/drawing/2014/main" val="114528456"/>
                  </a:ext>
                </a:extLst>
              </a:tr>
              <a:tr h="222697">
                <a:tc>
                  <a:txBody>
                    <a:bodyPr/>
                    <a:lstStyle/>
                    <a:p>
                      <a:pPr algn="l" fontAlgn="ctr">
                        <a:buNone/>
                      </a:pPr>
                      <a:r>
                        <a:rPr lang="en-GB" sz="1200" u="none" strike="noStrike">
                          <a:effectLst/>
                          <a:latin typeface="Times New Roman" panose="02020603050405020304" pitchFamily="18" charset="0"/>
                          <a:cs typeface="Times New Roman" panose="02020603050405020304" pitchFamily="18" charset="0"/>
                        </a:rPr>
                        <a:t>EBITDA Margin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solidFill>
                      <a:schemeClr val="tx2"/>
                    </a:solidFill>
                  </a:tcPr>
                </a:tc>
                <a:tc>
                  <a:txBody>
                    <a:bodyPr/>
                    <a:lstStyle/>
                    <a:p>
                      <a:pPr algn="r" fontAlgn="ctr">
                        <a:buNone/>
                      </a:pPr>
                      <a:r>
                        <a:rPr lang="en-GB" sz="1200" u="none" strike="noStrike">
                          <a:effectLst/>
                          <a:latin typeface="Times New Roman" panose="02020603050405020304" pitchFamily="18" charset="0"/>
                          <a:cs typeface="Times New Roman" panose="02020603050405020304" pitchFamily="18" charset="0"/>
                        </a:rPr>
                        <a:t>4.17%</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r" fontAlgn="ctr">
                        <a:buNone/>
                      </a:pPr>
                      <a:r>
                        <a:rPr lang="en-GB" sz="1200" u="none" strike="noStrike">
                          <a:effectLst/>
                          <a:latin typeface="Times New Roman" panose="02020603050405020304" pitchFamily="18" charset="0"/>
                          <a:cs typeface="Times New Roman" panose="02020603050405020304" pitchFamily="18" charset="0"/>
                        </a:rPr>
                        <a:t>4.44%</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r" fontAlgn="ctr">
                        <a:buNone/>
                      </a:pPr>
                      <a:r>
                        <a:rPr lang="en-GB" sz="1200" u="none" strike="noStrike">
                          <a:effectLst/>
                          <a:latin typeface="Times New Roman" panose="02020603050405020304" pitchFamily="18" charset="0"/>
                          <a:cs typeface="Times New Roman" panose="02020603050405020304" pitchFamily="18" charset="0"/>
                        </a:rPr>
                        <a:t>3.90%</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r" fontAlgn="ctr">
                        <a:buNone/>
                      </a:pPr>
                      <a:r>
                        <a:rPr lang="en-GB" sz="1200" u="none" strike="noStrike">
                          <a:effectLst/>
                          <a:latin typeface="Times New Roman" panose="02020603050405020304" pitchFamily="18" charset="0"/>
                          <a:cs typeface="Times New Roman" panose="02020603050405020304" pitchFamily="18" charset="0"/>
                        </a:rPr>
                        <a:t>4.85%</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l" fontAlgn="ctr">
                        <a:buNone/>
                      </a:pPr>
                      <a:r>
                        <a:rPr lang="en-GB" sz="1200" u="none" strike="noStrike">
                          <a:effectLst/>
                          <a:latin typeface="Times New Roman" panose="02020603050405020304" pitchFamily="18" charset="0"/>
                          <a:cs typeface="Times New Roman" panose="02020603050405020304" pitchFamily="18" charset="0"/>
                        </a:rPr>
                        <a:t>-</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l" fontAlgn="ctr">
                        <a:buNone/>
                      </a:pPr>
                      <a:r>
                        <a:rPr lang="en-GB" sz="1200" u="none" strike="noStrike">
                          <a:effectLst/>
                          <a:latin typeface="Times New Roman" panose="02020603050405020304" pitchFamily="18" charset="0"/>
                          <a:cs typeface="Times New Roman" panose="02020603050405020304" pitchFamily="18" charset="0"/>
                        </a:rPr>
                        <a:t>-</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l" fontAlgn="ctr">
                        <a:buNone/>
                      </a:pPr>
                      <a:r>
                        <a:rPr lang="en-GB" sz="1200" u="none" strike="noStrike">
                          <a:effectLst/>
                          <a:latin typeface="Times New Roman" panose="02020603050405020304" pitchFamily="18" charset="0"/>
                          <a:cs typeface="Times New Roman" panose="02020603050405020304" pitchFamily="18" charset="0"/>
                        </a:rPr>
                        <a:t>-</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l" fontAlgn="ctr">
                        <a:buNone/>
                      </a:pPr>
                      <a:r>
                        <a:rPr lang="en-GB" sz="1200" u="none" strike="noStrike">
                          <a:effectLst/>
                          <a:latin typeface="Times New Roman" panose="02020603050405020304" pitchFamily="18" charset="0"/>
                          <a:cs typeface="Times New Roman" panose="02020603050405020304" pitchFamily="18" charset="0"/>
                        </a:rPr>
                        <a:t>-</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extLst>
                  <a:ext uri="{0D108BD9-81ED-4DB2-BD59-A6C34878D82A}">
                    <a16:rowId xmlns:a16="http://schemas.microsoft.com/office/drawing/2014/main" val="2266193764"/>
                  </a:ext>
                </a:extLst>
              </a:tr>
              <a:tr h="222697">
                <a:tc>
                  <a:txBody>
                    <a:bodyPr/>
                    <a:lstStyle/>
                    <a:p>
                      <a:pPr algn="l" fontAlgn="ctr">
                        <a:buNone/>
                      </a:pPr>
                      <a:r>
                        <a:rPr lang="en-GB" sz="1200" u="none" strike="noStrike" dirty="0">
                          <a:effectLst/>
                          <a:latin typeface="Times New Roman" panose="02020603050405020304" pitchFamily="18" charset="0"/>
                          <a:cs typeface="Times New Roman" panose="02020603050405020304" pitchFamily="18" charset="0"/>
                        </a:rPr>
                        <a:t>EBIT Margin % </a:t>
                      </a:r>
                      <a:endParaRPr lang="en-GB"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solidFill>
                      <a:schemeClr val="tx2"/>
                    </a:solidFill>
                  </a:tcPr>
                </a:tc>
                <a:tc>
                  <a:txBody>
                    <a:bodyPr/>
                    <a:lstStyle/>
                    <a:p>
                      <a:pPr algn="r" fontAlgn="ctr">
                        <a:buNone/>
                      </a:pPr>
                      <a:r>
                        <a:rPr lang="en-GB" sz="1200" u="none" strike="noStrike" dirty="0">
                          <a:effectLst/>
                          <a:latin typeface="Times New Roman" panose="02020603050405020304" pitchFamily="18" charset="0"/>
                          <a:cs typeface="Times New Roman" panose="02020603050405020304" pitchFamily="18" charset="0"/>
                        </a:rPr>
                        <a:t>2.41%</a:t>
                      </a:r>
                      <a:endParaRPr lang="en-GB"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r" fontAlgn="ctr">
                        <a:buNone/>
                      </a:pPr>
                      <a:r>
                        <a:rPr lang="en-GB" sz="1200" u="none" strike="noStrike" dirty="0">
                          <a:effectLst/>
                          <a:latin typeface="Times New Roman" panose="02020603050405020304" pitchFamily="18" charset="0"/>
                          <a:cs typeface="Times New Roman" panose="02020603050405020304" pitchFamily="18" charset="0"/>
                        </a:rPr>
                        <a:t>2.45%</a:t>
                      </a:r>
                      <a:endParaRPr lang="en-GB"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r" fontAlgn="ctr">
                        <a:buNone/>
                      </a:pPr>
                      <a:r>
                        <a:rPr lang="en-GB" sz="1200" u="none" strike="noStrike" dirty="0">
                          <a:effectLst/>
                          <a:latin typeface="Times New Roman" panose="02020603050405020304" pitchFamily="18" charset="0"/>
                          <a:cs typeface="Times New Roman" panose="02020603050405020304" pitchFamily="18" charset="0"/>
                        </a:rPr>
                        <a:t>1.85%</a:t>
                      </a:r>
                      <a:endParaRPr lang="en-GB"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r" fontAlgn="ctr">
                        <a:buNone/>
                      </a:pPr>
                      <a:r>
                        <a:rPr lang="en-GB" sz="1200" u="none" strike="noStrike">
                          <a:effectLst/>
                          <a:latin typeface="Times New Roman" panose="02020603050405020304" pitchFamily="18" charset="0"/>
                          <a:cs typeface="Times New Roman" panose="02020603050405020304" pitchFamily="18" charset="0"/>
                        </a:rPr>
                        <a:t>3.34%</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r" fontAlgn="ctr">
                        <a:buNone/>
                      </a:pPr>
                      <a:r>
                        <a:rPr lang="en-GB" sz="1200" u="none" strike="noStrike" dirty="0">
                          <a:effectLst/>
                          <a:latin typeface="Times New Roman" panose="02020603050405020304" pitchFamily="18" charset="0"/>
                          <a:cs typeface="Times New Roman" panose="02020603050405020304" pitchFamily="18" charset="0"/>
                        </a:rPr>
                        <a:t>3.50%</a:t>
                      </a:r>
                      <a:endParaRPr lang="en-GB"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r" fontAlgn="ctr">
                        <a:buNone/>
                      </a:pPr>
                      <a:r>
                        <a:rPr lang="en-GB" sz="1200" u="none" strike="noStrike" dirty="0">
                          <a:effectLst/>
                          <a:latin typeface="Times New Roman" panose="02020603050405020304" pitchFamily="18" charset="0"/>
                          <a:cs typeface="Times New Roman" panose="02020603050405020304" pitchFamily="18" charset="0"/>
                        </a:rPr>
                        <a:t>3.35%</a:t>
                      </a:r>
                      <a:endParaRPr lang="en-GB"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r" fontAlgn="ctr">
                        <a:buNone/>
                      </a:pPr>
                      <a:r>
                        <a:rPr lang="en-GB" sz="1200" u="none" strike="noStrike" dirty="0">
                          <a:effectLst/>
                          <a:latin typeface="Times New Roman" panose="02020603050405020304" pitchFamily="18" charset="0"/>
                          <a:cs typeface="Times New Roman" panose="02020603050405020304" pitchFamily="18" charset="0"/>
                        </a:rPr>
                        <a:t>3.20%</a:t>
                      </a:r>
                      <a:endParaRPr lang="en-GB"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r" fontAlgn="ctr">
                        <a:buNone/>
                      </a:pPr>
                      <a:r>
                        <a:rPr lang="en-GB" sz="1200" u="none" strike="noStrike" dirty="0">
                          <a:effectLst/>
                          <a:latin typeface="Times New Roman" panose="02020603050405020304" pitchFamily="18" charset="0"/>
                          <a:cs typeface="Times New Roman" panose="02020603050405020304" pitchFamily="18" charset="0"/>
                        </a:rPr>
                        <a:t>3.00%</a:t>
                      </a:r>
                      <a:endParaRPr lang="en-GB"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extLst>
                  <a:ext uri="{0D108BD9-81ED-4DB2-BD59-A6C34878D82A}">
                    <a16:rowId xmlns:a16="http://schemas.microsoft.com/office/drawing/2014/main" val="3039944317"/>
                  </a:ext>
                </a:extLst>
              </a:tr>
              <a:tr h="222697">
                <a:tc>
                  <a:txBody>
                    <a:bodyPr/>
                    <a:lstStyle/>
                    <a:p>
                      <a:pPr algn="l" fontAlgn="ctr">
                        <a:buNone/>
                      </a:pPr>
                      <a:r>
                        <a:rPr lang="en-GB" sz="1200" u="none" strike="noStrike">
                          <a:effectLst/>
                          <a:latin typeface="Times New Roman" panose="02020603050405020304" pitchFamily="18" charset="0"/>
                          <a:cs typeface="Times New Roman" panose="02020603050405020304" pitchFamily="18" charset="0"/>
                        </a:rPr>
                        <a:t>EBIT (calc.) </a:t>
                      </a:r>
                      <a:endParaRPr lang="en-GB" sz="1200" b="1"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solidFill>
                      <a:schemeClr val="tx2"/>
                    </a:solidFill>
                  </a:tcPr>
                </a:tc>
                <a:tc>
                  <a:txBody>
                    <a:bodyPr/>
                    <a:lstStyle/>
                    <a:p>
                      <a:pPr algn="r" fontAlgn="ctr">
                        <a:buNone/>
                      </a:pPr>
                      <a:r>
                        <a:rPr lang="en-GB" sz="1200" u="none" strike="noStrike">
                          <a:effectLst/>
                          <a:latin typeface="Times New Roman" panose="02020603050405020304" pitchFamily="18" charset="0"/>
                          <a:cs typeface="Times New Roman" panose="02020603050405020304" pitchFamily="18" charset="0"/>
                        </a:rPr>
                        <a:t>159.5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r" fontAlgn="ctr">
                        <a:buNone/>
                      </a:pPr>
                      <a:r>
                        <a:rPr lang="en-GB" sz="1200" u="none" strike="noStrike">
                          <a:effectLst/>
                          <a:latin typeface="Times New Roman" panose="02020603050405020304" pitchFamily="18" charset="0"/>
                          <a:cs typeface="Times New Roman" panose="02020603050405020304" pitchFamily="18" charset="0"/>
                        </a:rPr>
                        <a:t>153.6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r" fontAlgn="ctr">
                        <a:buNone/>
                      </a:pPr>
                      <a:r>
                        <a:rPr lang="en-GB" sz="1200" u="none" strike="noStrike">
                          <a:effectLst/>
                          <a:latin typeface="Times New Roman" panose="02020603050405020304" pitchFamily="18" charset="0"/>
                          <a:cs typeface="Times New Roman" panose="02020603050405020304" pitchFamily="18" charset="0"/>
                        </a:rPr>
                        <a:t>119.4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r" fontAlgn="ctr">
                        <a:buNone/>
                      </a:pPr>
                      <a:r>
                        <a:rPr lang="en-GB" sz="1200" u="none" strike="noStrike">
                          <a:effectLst/>
                          <a:latin typeface="Times New Roman" panose="02020603050405020304" pitchFamily="18" charset="0"/>
                          <a:cs typeface="Times New Roman" panose="02020603050405020304" pitchFamily="18" charset="0"/>
                        </a:rPr>
                        <a:t>227.8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r" fontAlgn="ctr">
                        <a:buNone/>
                      </a:pPr>
                      <a:r>
                        <a:rPr lang="en-GB" sz="1200" u="none" strike="noStrike">
                          <a:effectLst/>
                          <a:latin typeface="Times New Roman" panose="02020603050405020304" pitchFamily="18" charset="0"/>
                          <a:cs typeface="Times New Roman" panose="02020603050405020304" pitchFamily="18" charset="0"/>
                        </a:rPr>
                        <a:t>250.5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r" fontAlgn="ctr">
                        <a:buNone/>
                      </a:pPr>
                      <a:r>
                        <a:rPr lang="en-GB" sz="1200" u="none" strike="noStrike">
                          <a:effectLst/>
                          <a:latin typeface="Times New Roman" panose="02020603050405020304" pitchFamily="18" charset="0"/>
                          <a:cs typeface="Times New Roman" panose="02020603050405020304" pitchFamily="18" charset="0"/>
                        </a:rPr>
                        <a:t>250.4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r" fontAlgn="ctr">
                        <a:buNone/>
                      </a:pPr>
                      <a:r>
                        <a:rPr lang="en-GB" sz="1200" u="none" strike="noStrike">
                          <a:effectLst/>
                          <a:latin typeface="Times New Roman" panose="02020603050405020304" pitchFamily="18" charset="0"/>
                          <a:cs typeface="Times New Roman" panose="02020603050405020304" pitchFamily="18" charset="0"/>
                        </a:rPr>
                        <a:t>248.8 </a:t>
                      </a:r>
                      <a:endParaRPr lang="en-GB" sz="1200" b="0" i="0" u="none" strike="noStrike">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tc>
                  <a:txBody>
                    <a:bodyPr/>
                    <a:lstStyle/>
                    <a:p>
                      <a:pPr algn="r" fontAlgn="ctr">
                        <a:buNone/>
                      </a:pPr>
                      <a:r>
                        <a:rPr lang="en-GB" sz="1200" u="none" strike="noStrike" dirty="0">
                          <a:effectLst/>
                          <a:latin typeface="Times New Roman" panose="02020603050405020304" pitchFamily="18" charset="0"/>
                          <a:cs typeface="Times New Roman" panose="02020603050405020304" pitchFamily="18" charset="0"/>
                        </a:rPr>
                        <a:t>241.5 </a:t>
                      </a:r>
                      <a:endParaRPr lang="en-GB"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300" marR="7300" marT="7300" marB="0" anchor="ctr"/>
                </a:tc>
                <a:extLst>
                  <a:ext uri="{0D108BD9-81ED-4DB2-BD59-A6C34878D82A}">
                    <a16:rowId xmlns:a16="http://schemas.microsoft.com/office/drawing/2014/main" val="3471341375"/>
                  </a:ext>
                </a:extLst>
              </a:tr>
            </a:tbl>
          </a:graphicData>
        </a:graphic>
      </p:graphicFrame>
      <p:graphicFrame>
        <p:nvGraphicFramePr>
          <p:cNvPr id="22" name="Table 21">
            <a:extLst>
              <a:ext uri="{FF2B5EF4-FFF2-40B4-BE49-F238E27FC236}">
                <a16:creationId xmlns:a16="http://schemas.microsoft.com/office/drawing/2014/main" id="{518CE355-567C-3384-567F-BA4A4607FD4E}"/>
              </a:ext>
            </a:extLst>
          </p:cNvPr>
          <p:cNvGraphicFramePr>
            <a:graphicFrameLocks noGrp="1"/>
          </p:cNvGraphicFramePr>
          <p:nvPr>
            <p:extLst>
              <p:ext uri="{D42A27DB-BD31-4B8C-83A1-F6EECF244321}">
                <p14:modId xmlns:p14="http://schemas.microsoft.com/office/powerpoint/2010/main" val="1683494465"/>
              </p:ext>
            </p:extLst>
          </p:nvPr>
        </p:nvGraphicFramePr>
        <p:xfrm>
          <a:off x="1059038" y="8336324"/>
          <a:ext cx="3294807" cy="857250"/>
        </p:xfrm>
        <a:graphic>
          <a:graphicData uri="http://schemas.openxmlformats.org/drawingml/2006/table">
            <a:tbl>
              <a:tblPr>
                <a:tableStyleId>{5C22544A-7EE6-4342-B048-85BDC9FD1C3A}</a:tableStyleId>
              </a:tblPr>
              <a:tblGrid>
                <a:gridCol w="3294807">
                  <a:extLst>
                    <a:ext uri="{9D8B030D-6E8A-4147-A177-3AD203B41FA5}">
                      <a16:colId xmlns:a16="http://schemas.microsoft.com/office/drawing/2014/main" val="1354394171"/>
                    </a:ext>
                  </a:extLst>
                </a:gridCol>
              </a:tblGrid>
              <a:tr h="342816">
                <a:tc>
                  <a:txBody>
                    <a:bodyPr/>
                    <a:lstStyle/>
                    <a:p>
                      <a:pPr algn="l" fontAlgn="b">
                        <a:buNone/>
                      </a:pPr>
                      <a:r>
                        <a:rPr lang="en-GB" sz="1100" u="none" strike="noStrike" dirty="0">
                          <a:effectLst/>
                        </a:rPr>
                        <a:t>Rf = 2.77% (Dutch 10-year government bond)</a:t>
                      </a:r>
                    </a:p>
                    <a:p>
                      <a:pPr algn="l" fontAlgn="b">
                        <a:buNone/>
                      </a:pPr>
                      <a:endParaRPr lang="en-GB" sz="1100" u="none" strike="noStrike" dirty="0">
                        <a:effectLst/>
                      </a:endParaRPr>
                    </a:p>
                    <a:p>
                      <a:pPr lvl="0" algn="l">
                        <a:buNone/>
                      </a:pPr>
                      <a:r>
                        <a:rPr lang="en-GB" sz="1100" u="none" strike="noStrike" dirty="0">
                          <a:effectLst/>
                        </a:rPr>
                        <a:t>Rp= 8.96% </a:t>
                      </a:r>
                      <a:endParaRPr lang="en-GB" dirty="0"/>
                    </a:p>
                  </a:txBody>
                  <a:tcPr marL="9525" marR="9525" marT="9525" marB="0" anchor="b"/>
                </a:tc>
                <a:extLst>
                  <a:ext uri="{0D108BD9-81ED-4DB2-BD59-A6C34878D82A}">
                    <a16:rowId xmlns:a16="http://schemas.microsoft.com/office/drawing/2014/main" val="1136942811"/>
                  </a:ext>
                </a:extLst>
              </a:tr>
              <a:tr h="342816">
                <a:tc>
                  <a:txBody>
                    <a:bodyPr/>
                    <a:lstStyle/>
                    <a:p>
                      <a:pPr algn="l" fontAlgn="b">
                        <a:buNone/>
                      </a:pPr>
                      <a:endParaRPr lang="en-GB" sz="1100" u="none" strike="noStrike" dirty="0">
                        <a:effectLst/>
                      </a:endParaRPr>
                    </a:p>
                    <a:p>
                      <a:pPr lvl="0" algn="l">
                        <a:buNone/>
                      </a:pPr>
                      <a:r>
                        <a:rPr lang="en-GB" sz="1100" u="none" strike="noStrike" dirty="0">
                          <a:effectLst/>
                        </a:rPr>
                        <a:t>Beta = 1.05 - slightly higher cyclicality than the market</a:t>
                      </a:r>
                      <a:endParaRPr lang="en-US" dirty="0"/>
                    </a:p>
                  </a:txBody>
                  <a:tcPr marL="9525" marR="9525" marT="9525" marB="0" anchor="b"/>
                </a:tc>
                <a:extLst>
                  <a:ext uri="{0D108BD9-81ED-4DB2-BD59-A6C34878D82A}">
                    <a16:rowId xmlns:a16="http://schemas.microsoft.com/office/drawing/2014/main" val="3500311181"/>
                  </a:ext>
                </a:extLst>
              </a:tr>
            </a:tbl>
          </a:graphicData>
        </a:graphic>
      </p:graphicFrame>
      <p:sp>
        <p:nvSpPr>
          <p:cNvPr id="11" name="TextBox 49">
            <a:extLst>
              <a:ext uri="{FF2B5EF4-FFF2-40B4-BE49-F238E27FC236}">
                <a16:creationId xmlns:a16="http://schemas.microsoft.com/office/drawing/2014/main" id="{72485A9A-CF2E-2B1D-AC51-5679C6183818}"/>
              </a:ext>
            </a:extLst>
          </p:cNvPr>
          <p:cNvSpPr txBox="1"/>
          <p:nvPr/>
        </p:nvSpPr>
        <p:spPr>
          <a:xfrm>
            <a:off x="3233349" y="9250434"/>
            <a:ext cx="8782188" cy="466474"/>
          </a:xfrm>
          <a:prstGeom prst="rect">
            <a:avLst/>
          </a:prstGeom>
        </p:spPr>
        <p:txBody>
          <a:bodyPr wrap="square" lIns="0" tIns="0" rIns="0" bIns="0" rtlCol="0" anchor="t">
            <a:spAutoFit/>
          </a:bodyPr>
          <a:lstStyle/>
          <a:p>
            <a:pPr algn="ctr">
              <a:lnSpc>
                <a:spcPts val="4060"/>
              </a:lnSpc>
              <a:spcBef>
                <a:spcPct val="0"/>
              </a:spcBef>
            </a:pPr>
            <a:r>
              <a:rPr lang="en-US" sz="2400" dirty="0">
                <a:solidFill>
                  <a:schemeClr val="bg1">
                    <a:lumMod val="50000"/>
                  </a:schemeClr>
                </a:solidFill>
                <a:latin typeface="Times New Roman" panose="02020603050405020304" pitchFamily="18" charset="0"/>
                <a:ea typeface="Times New Roman"/>
                <a:cs typeface="Times New Roman" panose="02020603050405020304" pitchFamily="18" charset="0"/>
                <a:sym typeface="Times New Roman"/>
              </a:rPr>
              <a:t>29/10/25		      Royal Bam Group – (XAMS</a:t>
            </a:r>
            <a:r>
              <a:rPr lang="en-US" sz="2400" dirty="0">
                <a:solidFill>
                  <a:schemeClr val="bg1">
                    <a:lumMod val="50000"/>
                  </a:schemeClr>
                </a:solidFill>
                <a:latin typeface="Times New Roman" panose="02020603050405020304" pitchFamily="18" charset="0"/>
                <a:ea typeface="Times New Roman"/>
                <a:cs typeface="Times New Roman" panose="02020603050405020304" pitchFamily="18" charset="0"/>
                <a:sym typeface="Wingdings" pitchFamily="2" charset="2"/>
              </a:rPr>
              <a:t>:</a:t>
            </a:r>
            <a:r>
              <a:rPr lang="en-US" sz="2400" dirty="0">
                <a:solidFill>
                  <a:schemeClr val="bg1">
                    <a:lumMod val="50000"/>
                  </a:schemeClr>
                </a:solidFill>
                <a:latin typeface="Times New Roman" panose="02020603050405020304" pitchFamily="18" charset="0"/>
                <a:ea typeface="Times New Roman"/>
                <a:cs typeface="Times New Roman" panose="02020603050405020304" pitchFamily="18" charset="0"/>
                <a:sym typeface="Times New Roman"/>
              </a:rPr>
              <a:t> BAMNB)</a:t>
            </a:r>
          </a:p>
        </p:txBody>
      </p:sp>
    </p:spTree>
    <p:extLst>
      <p:ext uri="{BB962C8B-B14F-4D97-AF65-F5344CB8AC3E}">
        <p14:creationId xmlns:p14="http://schemas.microsoft.com/office/powerpoint/2010/main" val="32646596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23487A"/>
        </a:solidFill>
        <a:effectLst/>
      </p:bgPr>
    </p:bg>
    <p:spTree>
      <p:nvGrpSpPr>
        <p:cNvPr id="1" name="">
          <a:extLst>
            <a:ext uri="{FF2B5EF4-FFF2-40B4-BE49-F238E27FC236}">
              <a16:creationId xmlns:a16="http://schemas.microsoft.com/office/drawing/2014/main" id="{B2C5FDF5-D392-D64A-7859-66FD73DAFDF6}"/>
            </a:ext>
          </a:extLst>
        </p:cNvPr>
        <p:cNvGrpSpPr/>
        <p:nvPr/>
      </p:nvGrpSpPr>
      <p:grpSpPr>
        <a:xfrm>
          <a:off x="0" y="0"/>
          <a:ext cx="0" cy="0"/>
          <a:chOff x="0" y="0"/>
          <a:chExt cx="0" cy="0"/>
        </a:xfrm>
      </p:grpSpPr>
      <p:grpSp>
        <p:nvGrpSpPr>
          <p:cNvPr id="11" name="Group 6">
            <a:extLst>
              <a:ext uri="{FF2B5EF4-FFF2-40B4-BE49-F238E27FC236}">
                <a16:creationId xmlns:a16="http://schemas.microsoft.com/office/drawing/2014/main" id="{5054E205-BAB6-D254-530C-777109B5D376}"/>
              </a:ext>
            </a:extLst>
          </p:cNvPr>
          <p:cNvGrpSpPr/>
          <p:nvPr/>
        </p:nvGrpSpPr>
        <p:grpSpPr>
          <a:xfrm>
            <a:off x="456059" y="284282"/>
            <a:ext cx="17349108" cy="9581340"/>
            <a:chOff x="0" y="-28575"/>
            <a:chExt cx="5293499" cy="2923425"/>
          </a:xfrm>
        </p:grpSpPr>
        <p:sp>
          <p:nvSpPr>
            <p:cNvPr id="12" name="Freeform 7">
              <a:extLst>
                <a:ext uri="{FF2B5EF4-FFF2-40B4-BE49-F238E27FC236}">
                  <a16:creationId xmlns:a16="http://schemas.microsoft.com/office/drawing/2014/main" id="{4FCE93DE-7432-88A6-0917-AD8A92A36BB0}"/>
                </a:ext>
              </a:extLst>
            </p:cNvPr>
            <p:cNvSpPr/>
            <p:nvPr/>
          </p:nvSpPr>
          <p:spPr>
            <a:xfrm>
              <a:off x="0" y="0"/>
              <a:ext cx="5293499" cy="2894850"/>
            </a:xfrm>
            <a:custGeom>
              <a:avLst/>
              <a:gdLst/>
              <a:ahLst/>
              <a:cxnLst/>
              <a:rect l="l" t="t" r="r" b="b"/>
              <a:pathLst>
                <a:path w="5293499" h="2894850">
                  <a:moveTo>
                    <a:pt x="0" y="0"/>
                  </a:moveTo>
                  <a:lnTo>
                    <a:pt x="5293499" y="0"/>
                  </a:lnTo>
                  <a:lnTo>
                    <a:pt x="5293499" y="2894850"/>
                  </a:lnTo>
                  <a:lnTo>
                    <a:pt x="0" y="2894850"/>
                  </a:lnTo>
                  <a:close/>
                </a:path>
              </a:pathLst>
            </a:custGeom>
            <a:solidFill>
              <a:srgbClr val="FFFFFF"/>
            </a:solidFill>
          </p:spPr>
          <p:txBody>
            <a:bodyPr/>
            <a:lstStyle/>
            <a:p>
              <a:endParaRPr lang="en-GB"/>
            </a:p>
          </p:txBody>
        </p:sp>
        <p:sp>
          <p:nvSpPr>
            <p:cNvPr id="17" name="TextBox 8">
              <a:extLst>
                <a:ext uri="{FF2B5EF4-FFF2-40B4-BE49-F238E27FC236}">
                  <a16:creationId xmlns:a16="http://schemas.microsoft.com/office/drawing/2014/main" id="{D6BC80B2-263C-0252-EF54-AF6DCAC7A4D5}"/>
                </a:ext>
              </a:extLst>
            </p:cNvPr>
            <p:cNvSpPr txBox="1"/>
            <p:nvPr/>
          </p:nvSpPr>
          <p:spPr>
            <a:xfrm>
              <a:off x="0" y="-28575"/>
              <a:ext cx="5293499" cy="2923425"/>
            </a:xfrm>
            <a:prstGeom prst="rect">
              <a:avLst/>
            </a:prstGeom>
          </p:spPr>
          <p:txBody>
            <a:bodyPr lIns="43850" tIns="43850" rIns="43850" bIns="43850" rtlCol="0" anchor="ctr"/>
            <a:lstStyle/>
            <a:p>
              <a:pPr algn="ctr">
                <a:lnSpc>
                  <a:spcPts val="2296"/>
                </a:lnSpc>
                <a:spcBef>
                  <a:spcPct val="0"/>
                </a:spcBef>
              </a:pPr>
              <a:endParaRPr/>
            </a:p>
          </p:txBody>
        </p:sp>
      </p:grpSp>
      <p:sp>
        <p:nvSpPr>
          <p:cNvPr id="9" name="Freeform 9">
            <a:extLst>
              <a:ext uri="{FF2B5EF4-FFF2-40B4-BE49-F238E27FC236}">
                <a16:creationId xmlns:a16="http://schemas.microsoft.com/office/drawing/2014/main" id="{DDB9D5D2-7265-2741-8ABC-F0B9B234CA11}"/>
              </a:ext>
            </a:extLst>
          </p:cNvPr>
          <p:cNvSpPr/>
          <p:nvPr/>
        </p:nvSpPr>
        <p:spPr>
          <a:xfrm>
            <a:off x="16305847" y="8621010"/>
            <a:ext cx="1526094" cy="1266333"/>
          </a:xfrm>
          <a:custGeom>
            <a:avLst/>
            <a:gdLst/>
            <a:ahLst/>
            <a:cxnLst/>
            <a:rect l="l" t="t" r="r" b="b"/>
            <a:pathLst>
              <a:path w="1526094" h="1266333">
                <a:moveTo>
                  <a:pt x="0" y="0"/>
                </a:moveTo>
                <a:lnTo>
                  <a:pt x="1526094" y="0"/>
                </a:lnTo>
                <a:lnTo>
                  <a:pt x="1526094" y="1266333"/>
                </a:lnTo>
                <a:lnTo>
                  <a:pt x="0" y="1266333"/>
                </a:lnTo>
                <a:lnTo>
                  <a:pt x="0" y="0"/>
                </a:lnTo>
                <a:close/>
              </a:path>
            </a:pathLst>
          </a:custGeom>
          <a:blipFill>
            <a:blip r:embed="rId3"/>
            <a:stretch>
              <a:fillRect l="-83932" t="-92948" r="-86060" b="-132427"/>
            </a:stretch>
          </a:blipFill>
        </p:spPr>
        <p:txBody>
          <a:bodyPr/>
          <a:lstStyle/>
          <a:p>
            <a:endParaRPr lang="en-GB"/>
          </a:p>
        </p:txBody>
      </p:sp>
      <p:sp>
        <p:nvSpPr>
          <p:cNvPr id="10" name="AutoShape 10">
            <a:extLst>
              <a:ext uri="{FF2B5EF4-FFF2-40B4-BE49-F238E27FC236}">
                <a16:creationId xmlns:a16="http://schemas.microsoft.com/office/drawing/2014/main" id="{6B9A81B4-0E34-9EA7-F18A-D33640C14A8E}"/>
              </a:ext>
            </a:extLst>
          </p:cNvPr>
          <p:cNvSpPr/>
          <p:nvPr/>
        </p:nvSpPr>
        <p:spPr>
          <a:xfrm>
            <a:off x="2209802" y="9254177"/>
            <a:ext cx="13744971" cy="0"/>
          </a:xfrm>
          <a:prstGeom prst="line">
            <a:avLst/>
          </a:prstGeom>
          <a:ln w="38100" cap="flat">
            <a:solidFill>
              <a:srgbClr val="214779"/>
            </a:solidFill>
            <a:prstDash val="solid"/>
            <a:headEnd type="none" w="sm" len="sm"/>
            <a:tailEnd type="none" w="sm" len="sm"/>
          </a:ln>
        </p:spPr>
        <p:txBody>
          <a:bodyPr/>
          <a:lstStyle/>
          <a:p>
            <a:endParaRPr lang="en-GB"/>
          </a:p>
        </p:txBody>
      </p:sp>
      <p:sp>
        <p:nvSpPr>
          <p:cNvPr id="15" name="TextBox 49">
            <a:extLst>
              <a:ext uri="{FF2B5EF4-FFF2-40B4-BE49-F238E27FC236}">
                <a16:creationId xmlns:a16="http://schemas.microsoft.com/office/drawing/2014/main" id="{CB5D6F59-5B1D-55DE-1867-E5B12BD9B517}"/>
              </a:ext>
            </a:extLst>
          </p:cNvPr>
          <p:cNvSpPr txBox="1"/>
          <p:nvPr/>
        </p:nvSpPr>
        <p:spPr>
          <a:xfrm>
            <a:off x="3586275" y="9269282"/>
            <a:ext cx="11142224" cy="466474"/>
          </a:xfrm>
          <a:prstGeom prst="rect">
            <a:avLst/>
          </a:prstGeom>
        </p:spPr>
        <p:txBody>
          <a:bodyPr lIns="0" tIns="0" rIns="0" bIns="0" rtlCol="0" anchor="t">
            <a:spAutoFit/>
          </a:bodyPr>
          <a:lstStyle/>
          <a:p>
            <a:pPr algn="ctr">
              <a:lnSpc>
                <a:spcPts val="4060"/>
              </a:lnSpc>
              <a:spcBef>
                <a:spcPct val="0"/>
              </a:spcBef>
            </a:pPr>
            <a:r>
              <a:rPr lang="en-US" sz="2000">
                <a:solidFill>
                  <a:schemeClr val="bg1">
                    <a:lumMod val="50000"/>
                  </a:schemeClr>
                </a:solidFill>
                <a:latin typeface="Times New Roman" panose="02020603050405020304" pitchFamily="18" charset="0"/>
                <a:ea typeface="Times New Roman"/>
                <a:cs typeface="Times New Roman" panose="02020603050405020304" pitchFamily="18" charset="0"/>
                <a:sym typeface="Times New Roman"/>
              </a:rPr>
              <a:t>Royal Bam Group – (XAMS</a:t>
            </a:r>
            <a:r>
              <a:rPr lang="en-US" sz="2000">
                <a:solidFill>
                  <a:schemeClr val="bg1">
                    <a:lumMod val="50000"/>
                  </a:schemeClr>
                </a:solidFill>
                <a:latin typeface="Times New Roman" panose="02020603050405020304" pitchFamily="18" charset="0"/>
                <a:ea typeface="Times New Roman"/>
                <a:cs typeface="Times New Roman" panose="02020603050405020304" pitchFamily="18" charset="0"/>
                <a:sym typeface="Wingdings" pitchFamily="2" charset="2"/>
              </a:rPr>
              <a:t>:</a:t>
            </a:r>
            <a:r>
              <a:rPr lang="en-US" sz="2000">
                <a:solidFill>
                  <a:schemeClr val="bg1">
                    <a:lumMod val="50000"/>
                  </a:schemeClr>
                </a:solidFill>
                <a:latin typeface="Times New Roman" panose="02020603050405020304" pitchFamily="18" charset="0"/>
                <a:ea typeface="Times New Roman"/>
                <a:cs typeface="Times New Roman" panose="02020603050405020304" pitchFamily="18" charset="0"/>
                <a:sym typeface="Times New Roman"/>
              </a:rPr>
              <a:t> BAMNB)</a:t>
            </a:r>
          </a:p>
        </p:txBody>
      </p:sp>
      <p:sp>
        <p:nvSpPr>
          <p:cNvPr id="13" name="TextBox 11">
            <a:extLst>
              <a:ext uri="{FF2B5EF4-FFF2-40B4-BE49-F238E27FC236}">
                <a16:creationId xmlns:a16="http://schemas.microsoft.com/office/drawing/2014/main" id="{85E4AEF5-EF50-83B7-752C-B272FB0A5567}"/>
              </a:ext>
            </a:extLst>
          </p:cNvPr>
          <p:cNvSpPr txBox="1"/>
          <p:nvPr/>
        </p:nvSpPr>
        <p:spPr>
          <a:xfrm>
            <a:off x="973240" y="730971"/>
            <a:ext cx="5237748" cy="615553"/>
          </a:xfrm>
          <a:prstGeom prst="rect">
            <a:avLst/>
          </a:prstGeom>
        </p:spPr>
        <p:txBody>
          <a:bodyPr wrap="square" lIns="0" tIns="0" rIns="0" bIns="0" rtlCol="0" anchor="t">
            <a:spAutoFit/>
          </a:bodyPr>
          <a:lstStyle/>
          <a:p>
            <a:pPr>
              <a:lnSpc>
                <a:spcPts val="4759"/>
              </a:lnSpc>
              <a:spcBef>
                <a:spcPct val="0"/>
              </a:spcBef>
            </a:pPr>
            <a:r>
              <a:rPr lang="en-US" sz="4400" dirty="0">
                <a:latin typeface="Times New Roman" panose="02020603050405020304" pitchFamily="18" charset="0"/>
                <a:ea typeface="Montserrat"/>
                <a:cs typeface="Times New Roman" panose="02020603050405020304" pitchFamily="18" charset="0"/>
                <a:sym typeface="Montserrat"/>
              </a:rPr>
              <a:t>Disclaimer</a:t>
            </a:r>
          </a:p>
        </p:txBody>
      </p:sp>
      <p:sp>
        <p:nvSpPr>
          <p:cNvPr id="16" name="AutoShape 10">
            <a:extLst>
              <a:ext uri="{FF2B5EF4-FFF2-40B4-BE49-F238E27FC236}">
                <a16:creationId xmlns:a16="http://schemas.microsoft.com/office/drawing/2014/main" id="{2F8D6597-9C45-A593-05DF-1EE2926C50AB}"/>
              </a:ext>
            </a:extLst>
          </p:cNvPr>
          <p:cNvSpPr/>
          <p:nvPr/>
        </p:nvSpPr>
        <p:spPr>
          <a:xfrm>
            <a:off x="973240" y="1362172"/>
            <a:ext cx="13744971" cy="0"/>
          </a:xfrm>
          <a:prstGeom prst="line">
            <a:avLst/>
          </a:prstGeom>
          <a:ln w="38100" cap="flat">
            <a:solidFill>
              <a:srgbClr val="214779"/>
            </a:solidFill>
            <a:prstDash val="solid"/>
            <a:headEnd type="none" w="sm" len="sm"/>
            <a:tailEnd type="none" w="sm" len="sm"/>
          </a:ln>
        </p:spPr>
        <p:txBody>
          <a:bodyPr/>
          <a:lstStyle/>
          <a:p>
            <a:endParaRPr lang="en-GB">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B2EFDEED-8944-F2E4-A343-C8C20B6E26FE}"/>
              </a:ext>
            </a:extLst>
          </p:cNvPr>
          <p:cNvSpPr txBox="1"/>
          <p:nvPr/>
        </p:nvSpPr>
        <p:spPr>
          <a:xfrm>
            <a:off x="974017" y="1661852"/>
            <a:ext cx="15579142" cy="683264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rtl="0"/>
            <a:r>
              <a:rPr lang="en-HK" sz="2000" b="1" i="0" dirty="0">
                <a:solidFill>
                  <a:srgbClr val="000000"/>
                </a:solidFill>
                <a:effectLst/>
                <a:latin typeface="Times New Roman" panose="02020603050405020304" pitchFamily="18" charset="0"/>
                <a:cs typeface="Times New Roman" panose="02020603050405020304" pitchFamily="18" charset="0"/>
              </a:rPr>
              <a:t>Analyst Disclaimer</a:t>
            </a:r>
            <a:endParaRPr lang="en-HK" sz="2000" dirty="0">
              <a:effectLst/>
              <a:latin typeface="Times New Roman" panose="02020603050405020304" pitchFamily="18" charset="0"/>
              <a:cs typeface="Times New Roman" panose="02020603050405020304" pitchFamily="18" charset="0"/>
            </a:endParaRPr>
          </a:p>
          <a:p>
            <a:pPr algn="l" rtl="0"/>
            <a:r>
              <a:rPr lang="en-HK" sz="2000" b="0" i="0" dirty="0">
                <a:solidFill>
                  <a:srgbClr val="000000"/>
                </a:solidFill>
                <a:effectLst/>
                <a:latin typeface="Times New Roman" panose="02020603050405020304" pitchFamily="18" charset="0"/>
                <a:cs typeface="Times New Roman" panose="02020603050405020304" pitchFamily="18" charset="0"/>
              </a:rPr>
              <a:t>This communication is prepared by students at the Newcastle University for the sole and educational purpose of the Newcastle University Investment Fund. The Newcastle University Investment Fund is not authorised, supervised, nor regulated by any financial authority in the world to provide financial services or advisory. The Newcastle University Investment Fund may hold a position in any security mentioned and may change that position at any</a:t>
            </a:r>
            <a:r>
              <a:rPr lang="en-HK" sz="2000" dirty="0">
                <a:latin typeface="Times New Roman" panose="02020603050405020304" pitchFamily="18" charset="0"/>
                <a:cs typeface="Times New Roman" panose="02020603050405020304" pitchFamily="18" charset="0"/>
              </a:rPr>
              <a:t> </a:t>
            </a:r>
            <a:r>
              <a:rPr lang="en-HK" sz="2000" b="0" i="0" dirty="0">
                <a:solidFill>
                  <a:srgbClr val="000000"/>
                </a:solidFill>
                <a:effectLst/>
                <a:latin typeface="Times New Roman" panose="02020603050405020304" pitchFamily="18" charset="0"/>
                <a:cs typeface="Times New Roman" panose="02020603050405020304" pitchFamily="18" charset="0"/>
              </a:rPr>
              <a:t>time, without public announcement.</a:t>
            </a:r>
          </a:p>
          <a:p>
            <a:pPr algn="l" rtl="0"/>
            <a:endParaRPr lang="en-HK" sz="2000" dirty="0">
              <a:effectLst/>
              <a:latin typeface="Times New Roman" panose="02020603050405020304" pitchFamily="18" charset="0"/>
              <a:cs typeface="Times New Roman" panose="02020603050405020304" pitchFamily="18" charset="0"/>
            </a:endParaRPr>
          </a:p>
          <a:p>
            <a:pPr algn="l" rtl="0"/>
            <a:r>
              <a:rPr lang="en-HK" sz="2000" b="1" i="0" dirty="0">
                <a:solidFill>
                  <a:srgbClr val="000000"/>
                </a:solidFill>
                <a:effectLst/>
                <a:latin typeface="Times New Roman" panose="02020603050405020304" pitchFamily="18" charset="0"/>
                <a:cs typeface="Times New Roman" panose="02020603050405020304" pitchFamily="18" charset="0"/>
              </a:rPr>
              <a:t>General Disclaimer</a:t>
            </a:r>
            <a:endParaRPr lang="en-HK" sz="2000" dirty="0">
              <a:effectLst/>
              <a:latin typeface="Times New Roman" panose="02020603050405020304" pitchFamily="18" charset="0"/>
              <a:cs typeface="Times New Roman" panose="02020603050405020304" pitchFamily="18" charset="0"/>
            </a:endParaRPr>
          </a:p>
          <a:p>
            <a:pPr algn="l" rtl="0"/>
            <a:r>
              <a:rPr lang="en-HK" sz="2000" b="0" i="0" dirty="0">
                <a:solidFill>
                  <a:srgbClr val="000000"/>
                </a:solidFill>
                <a:effectLst/>
                <a:latin typeface="Times New Roman" panose="02020603050405020304" pitchFamily="18" charset="0"/>
                <a:cs typeface="Times New Roman" panose="02020603050405020304" pitchFamily="18" charset="0"/>
              </a:rPr>
              <a:t>The information in this pitch is not intended to be and does not constitute investment or financial advice. You should not make any decision based on the information provided without conducting independent due diligence. This communication may contain an investment recommendation, however, the Newcastle University Investment Fund and all members disclaim all liability for providing this investment recommendation and accept no liability whatsoever for any direct, indirect or consequential loss arising from its use. Not all investment strategies are appropriate at all times, and past performance is not necessarily a guide to future performance. You should consider yourself warned that following the investment recommendations of untrained University students is unlikely to be a profitable investment strategy.</a:t>
            </a:r>
          </a:p>
          <a:p>
            <a:pPr algn="l" rtl="0"/>
            <a:endParaRPr lang="en-HK" sz="2000" dirty="0">
              <a:effectLst/>
              <a:latin typeface="Times New Roman" panose="02020603050405020304" pitchFamily="18" charset="0"/>
              <a:cs typeface="Times New Roman" panose="02020603050405020304" pitchFamily="18" charset="0"/>
            </a:endParaRPr>
          </a:p>
          <a:p>
            <a:pPr algn="l" rtl="0"/>
            <a:r>
              <a:rPr lang="en-HK" sz="2000" b="0" i="0" dirty="0">
                <a:solidFill>
                  <a:srgbClr val="000000"/>
                </a:solidFill>
                <a:effectLst/>
                <a:latin typeface="Times New Roman" panose="02020603050405020304" pitchFamily="18" charset="0"/>
                <a:cs typeface="Times New Roman" panose="02020603050405020304" pitchFamily="18" charset="0"/>
              </a:rPr>
              <a:t>Any opinions or estimates expressed herein reflect the judgment of the author(s) as of the date the presentation was prepared and are subject to change at any time without notice. Unless otherwise stated, the information or opinions presented, or the research or analysis upon which they are based, are valid at the point of publication, as they are not updated in real time to take account of changes in the financial markets or new news about the issuer or financial instruments. The author(s) may provide hyperlinks to websites of entities mentioned in this investment recommendation, however the</a:t>
            </a:r>
          </a:p>
          <a:p>
            <a:pPr algn="l" rtl="0"/>
            <a:r>
              <a:rPr lang="en-HK" sz="2000" b="0" i="0" dirty="0">
                <a:solidFill>
                  <a:srgbClr val="000000"/>
                </a:solidFill>
                <a:effectLst/>
                <a:latin typeface="Times New Roman" panose="02020603050405020304" pitchFamily="18" charset="0"/>
                <a:cs typeface="Times New Roman" panose="02020603050405020304" pitchFamily="18" charset="0"/>
              </a:rPr>
              <a:t>inclusion of a link does not imply that the Newcastle University Investment Fund endorses, recommends or approves any material on the linked page or accessible from it.</a:t>
            </a:r>
            <a:br>
              <a:rPr lang="en-US"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ea typeface="Calibri"/>
              <a:cs typeface="Times New Roman" panose="02020603050405020304" pitchFamily="18" charset="0"/>
            </a:endParaRPr>
          </a:p>
          <a:p>
            <a:endParaRPr lang="en-GB" sz="2000" dirty="0">
              <a:latin typeface="Times New Roman" panose="02020603050405020304" pitchFamily="18" charset="0"/>
              <a:ea typeface="Calibri"/>
              <a:cs typeface="Times New Roman" panose="02020603050405020304" pitchFamily="18" charset="0"/>
            </a:endParaRPr>
          </a:p>
        </p:txBody>
      </p:sp>
    </p:spTree>
    <p:extLst>
      <p:ext uri="{BB962C8B-B14F-4D97-AF65-F5344CB8AC3E}">
        <p14:creationId xmlns:p14="http://schemas.microsoft.com/office/powerpoint/2010/main" val="2650266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4442</TotalTime>
  <Words>4432</Words>
  <Application>Microsoft Macintosh PowerPoint</Application>
  <PresentationFormat>Custom</PresentationFormat>
  <Paragraphs>749</Paragraphs>
  <Slides>11</Slides>
  <Notes>11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Times New Roman</vt:lpstr>
      <vt:lpstr>Cambria Math</vt:lpstr>
      <vt:lpstr>Calibri</vt:lpstr>
      <vt:lpstr>Calibri Light</vt:lpstr>
      <vt:lpstr>Montserrat</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Executive Summary</dc:title>
  <dc:creator>Sam Bundy (UG)</dc:creator>
  <cp:lastModifiedBy>Oscar Peters (UG)</cp:lastModifiedBy>
  <cp:revision>10</cp:revision>
  <dcterms:created xsi:type="dcterms:W3CDTF">2006-08-16T00:00:00Z</dcterms:created>
  <dcterms:modified xsi:type="dcterms:W3CDTF">2025-11-25T10:09:10Z</dcterms:modified>
  <dc:identifier>DAG2-4ih6B4</dc:identifier>
</cp:coreProperties>
</file>